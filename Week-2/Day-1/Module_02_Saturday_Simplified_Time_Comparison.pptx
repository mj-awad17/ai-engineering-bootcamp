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700" y="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viewProps" Target="viewProp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tableStyles" Target="tableStyle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731520"/>
            <a:ext cx="2926080" cy="2926080"/>
          </a:xfrm>
          <a:prstGeom prst="ellipse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789920" y="3108960"/>
            <a:ext cx="1005840" cy="1005840"/>
          </a:xfrm>
          <a:prstGeom prst="ellipse">
            <a:avLst/>
          </a:prstGeom>
          <a:solidFill>
            <a:srgbClr val="EBC2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621792"/>
            <a:ext cx="822960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EBC26C"/>
                </a:solidFill>
                <a:latin typeface="Aptos"/>
              </a:defRPr>
            </a:pPr>
            <a:r>
              <a:t>AI ENGINEERING BOOTCAMP  /  MODULE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399032"/>
            <a:ext cx="10058400" cy="9601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4600" b="1">
                <a:solidFill>
                  <a:srgbClr val="FFFFFF"/>
                </a:solidFill>
                <a:latin typeface="Aptos"/>
              </a:defRPr>
            </a:pPr>
            <a:r>
              <a:t>Saturday | Data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51176"/>
            <a:ext cx="9144000" cy="6583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3100" b="0">
                <a:solidFill>
                  <a:srgbClr val="FFFFFF"/>
                </a:solidFill>
                <a:latin typeface="Aptos"/>
              </a:defRPr>
            </a:pPr>
            <a:r>
              <a:t>NumPy &amp; Numerical Computing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49039"/>
            <a:ext cx="7498079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51560" y="3941063"/>
            <a:ext cx="6995160" cy="31089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142C40"/>
                </a:solidFill>
                <a:latin typeface="Aptos"/>
              </a:defRPr>
            </a:pPr>
            <a:r>
              <a:t>8 HOURS  •  CONCEPT → METHODS → CODE → PRACTICE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6016752"/>
            <a:ext cx="9144000" cy="3200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FFFFFF"/>
                </a:solidFill>
                <a:latin typeface="Aptos"/>
              </a:defRPr>
            </a:pPr>
            <a:r>
              <a:t>Editable slides • Google Colab practice • Step-by-step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Today's 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TOPICS TO DISCUSS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6344" y="1636776"/>
            <a:ext cx="11119104" cy="4526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77240" y="1923427"/>
            <a:ext cx="384048" cy="384048"/>
          </a:xfrm>
          <a:prstGeom prst="ellipse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96112" y="1965960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08176" y="1911095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Python Lists vs NumPy Arrays: Correctness &amp; Runtime</a:t>
            </a:r>
          </a:p>
        </p:txBody>
      </p:sp>
      <p:sp>
        <p:nvSpPr>
          <p:cNvPr id="14" name="Oval 13"/>
          <p:cNvSpPr/>
          <p:nvPr/>
        </p:nvSpPr>
        <p:spPr>
          <a:xfrm>
            <a:off x="786384" y="2715767"/>
            <a:ext cx="384048" cy="379337"/>
          </a:xfrm>
          <a:prstGeom prst="ellipse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770632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08176" y="2715768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NumPy Array Creation, Shapes &amp; Data Types</a:t>
            </a:r>
          </a:p>
        </p:txBody>
      </p:sp>
      <p:sp>
        <p:nvSpPr>
          <p:cNvPr id="17" name="Oval 16"/>
          <p:cNvSpPr/>
          <p:nvPr/>
        </p:nvSpPr>
        <p:spPr>
          <a:xfrm>
            <a:off x="756874" y="3503396"/>
            <a:ext cx="384048" cy="384048"/>
          </a:xfrm>
          <a:prstGeom prst="ellipse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96112" y="3575303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08176" y="3520439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Multi-dimensional arrays &amp; initialization</a:t>
            </a:r>
          </a:p>
        </p:txBody>
      </p:sp>
      <p:sp>
        <p:nvSpPr>
          <p:cNvPr id="20" name="Oval 19"/>
          <p:cNvSpPr/>
          <p:nvPr/>
        </p:nvSpPr>
        <p:spPr>
          <a:xfrm>
            <a:off x="841248" y="4361688"/>
            <a:ext cx="384048" cy="384048"/>
          </a:xfrm>
          <a:prstGeom prst="ellipse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6112" y="4379975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325112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NumPy indexing, slicing &amp; reshaping</a:t>
            </a:r>
          </a:p>
        </p:txBody>
      </p:sp>
      <p:sp>
        <p:nvSpPr>
          <p:cNvPr id="23" name="Oval 22"/>
          <p:cNvSpPr/>
          <p:nvPr/>
        </p:nvSpPr>
        <p:spPr>
          <a:xfrm>
            <a:off x="841248" y="5166360"/>
            <a:ext cx="384048" cy="384048"/>
          </a:xfrm>
          <a:prstGeom prst="ellipse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96112" y="5184648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08176" y="5129784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Reshape, Flatten, Transpose &amp; Combine Arrays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0" y="1947672"/>
            <a:ext cx="384048" cy="384048"/>
          </a:xfrm>
          <a:prstGeom prst="ellipse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55664" y="1965960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67728" y="1911095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Vectorized Arithmetic, Dot Product &amp; Matrix Math</a:t>
            </a:r>
          </a:p>
        </p:txBody>
      </p:sp>
      <p:sp>
        <p:nvSpPr>
          <p:cNvPr id="29" name="Oval 28"/>
          <p:cNvSpPr/>
          <p:nvPr/>
        </p:nvSpPr>
        <p:spPr>
          <a:xfrm>
            <a:off x="6400800" y="2752344"/>
            <a:ext cx="384048" cy="384048"/>
          </a:xfrm>
          <a:prstGeom prst="ellipse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55664" y="2770632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67728" y="2715768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NumPy descriptive statistics &amp; axes</a:t>
            </a:r>
          </a:p>
        </p:txBody>
      </p:sp>
      <p:sp>
        <p:nvSpPr>
          <p:cNvPr id="32" name="Oval 31"/>
          <p:cNvSpPr/>
          <p:nvPr/>
        </p:nvSpPr>
        <p:spPr>
          <a:xfrm>
            <a:off x="6400800" y="3557015"/>
            <a:ext cx="384048" cy="384048"/>
          </a:xfrm>
          <a:prstGeom prst="ellipse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55664" y="3575303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67728" y="3520439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Array comparisons, boolean masks &amp; where</a:t>
            </a:r>
          </a:p>
        </p:txBody>
      </p:sp>
      <p:sp>
        <p:nvSpPr>
          <p:cNvPr id="35" name="Oval 34"/>
          <p:cNvSpPr/>
          <p:nvPr/>
        </p:nvSpPr>
        <p:spPr>
          <a:xfrm>
            <a:off x="6400800" y="4361688"/>
            <a:ext cx="384048" cy="384048"/>
          </a:xfrm>
          <a:prstGeom prst="ellipse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55664" y="4379975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67728" y="4325112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Broadcasting: operations on compatible shapes</a:t>
            </a:r>
          </a:p>
        </p:txBody>
      </p:sp>
      <p:sp>
        <p:nvSpPr>
          <p:cNvPr id="38" name="Oval 37"/>
          <p:cNvSpPr/>
          <p:nvPr/>
        </p:nvSpPr>
        <p:spPr>
          <a:xfrm>
            <a:off x="6400800" y="5166360"/>
            <a:ext cx="384048" cy="384048"/>
          </a:xfrm>
          <a:prstGeom prst="ellipse">
            <a:avLst/>
          </a:prstGeom>
          <a:solidFill>
            <a:srgbClr val="142C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55664" y="5184648"/>
            <a:ext cx="274320" cy="1828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FFFFFF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67728" y="5129784"/>
            <a:ext cx="461772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800" b="1">
                <a:solidFill>
                  <a:srgbClr val="1F3648"/>
                </a:solidFill>
                <a:latin typeface="Aptos"/>
              </a:defRPr>
            </a:pPr>
            <a:r>
              <a:t>Missing values, infinity, saving arrays &amp; AI readin…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What Is NumPy?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INTRODUCTION 1 OF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DEFINITION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NumPy is a Python library for efficient numerical computing.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7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CORE OBJECT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The ndarray stores data in a typed, multi-dimensional array.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PURPOSE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Numerical operations work across entire arrays, often without Python loops.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607040" cy="4206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008E8A"/>
                </a:solidFill>
                <a:latin typeface="Aptos"/>
              </a:defRPr>
            </a:pPr>
            <a:r>
              <a:t>NumPy = Numerical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Why Learn NumPy?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INTRODUCTION 2 OF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Vectorized math reduces Python-level iteration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7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Shapes and dtypes organize matrices, features and batches.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RELIABILITY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Broadcasting and axis operations simplify repeatable calculations.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607040" cy="4206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008E8A"/>
                </a:solidFill>
                <a:latin typeface="Aptos"/>
              </a:defRPr>
            </a:pPr>
            <a:r>
              <a:t>Performance is measured; it depends on task, size and device.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Where NumPy Is Used in AI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INTRODUCTION 3 OF 3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A table of training examples becomes a numerical matrix 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7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WEIGHTS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Models store parameters and calculations as arrays.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IMAGES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Image data may be represented as height × width × channels.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607040" cy="4206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008E8A"/>
                </a:solidFill>
                <a:latin typeface="Aptos"/>
              </a:defRPr>
            </a:pPr>
            <a:r>
              <a:t>DATA  →  NUMERIC ARRAYS  →  MODEL INPUT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How Today Builds Your Skills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LESSON SEQUENCE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9808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1 / UNDERSTAND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Define the idea and identify why it matters.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98847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2 / 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8847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Read commented code and observe the output.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19" y="1719072"/>
            <a:ext cx="3566160" cy="30906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47888" y="1901952"/>
            <a:ext cx="320040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3 / PRACTICE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331720"/>
            <a:ext cx="3154679" cy="23225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Solve two independent exercises per topic.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129784"/>
            <a:ext cx="10607040" cy="42062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200" b="1">
                <a:solidFill>
                  <a:srgbClr val="008E8A"/>
                </a:solidFill>
                <a:latin typeface="Aptos"/>
              </a:defRPr>
            </a:pPr>
            <a:r>
              <a:t>Each lesson progresses from easy → medium → applied.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Python Lists vs NumPy Arrays: Correctness and Runtime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04288"/>
            <a:ext cx="10543032" cy="7406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A benchmark measures how long equivalent computations take on a given machine and input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9692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For many numerical operations, NumPy performs work in optimized compiled loops, reducing Python per-element overhead.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Python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Same numeric task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NumPy array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rPr dirty="0"/>
              <a:t>For many numerical operations, NumPy performs work in optimized compiled loops, reducing Python per-element overhead.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Python list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Flexible container; may hold mixed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np.ndarray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Fixed-</a:t>
            </a:r>
            <a:r>
              <a:rPr dirty="0" err="1"/>
              <a:t>dtype</a:t>
            </a:r>
            <a:r>
              <a:rPr dirty="0"/>
              <a:t> numerical array designed for vectorization.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time.time()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Read the clock in seconds; subtract two readings to time code.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round()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Display elapsed seconds with fewer decimal places.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np.allclose()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Check numerical results, allowing small float differences.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Compare Python list and NumPy speed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0908792" cy="43286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597896" cy="36393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Work with numerical arrays.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import time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Measure how long the code takes.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numbers = list(range(100000))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Make 100,000 numbers.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arr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(numbers)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Convert list into an array.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start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Start timing the Python list.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list_result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[x + 5 for x in numbers]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Add 5 to each value.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list_time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 - start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Calculate list 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start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Start timing the NumPy array.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array_result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arr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+ 5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Add 5 to all values at once.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numpy_time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 - start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Calculate NumPy 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print("List:", round(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list_time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, 5))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Show list 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print("NumPy:", round(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numpy_time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, 5))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Show array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612367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rPr dirty="0"/>
              <a:t>OUTPUT  List and NumPy times in seconds (actual values vary)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Measure the Python list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597896" cy="36393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time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Python's timing library.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numbers = list(range(100000))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Create input numbers.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start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Record the starting 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result = [x + 5 for x in numbers]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Add 5 using a loop.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1F3648"/>
                </a:solidFill>
                <a:latin typeface="Consolas"/>
              </a:rPr>
              <a:t>list_time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() - start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Find elapsed seconds.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print("List time:", round(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list_time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, 5))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Show runtime.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List time: your measured seconds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Measure the NumPy array 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597896" cy="36393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the NumPy library.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time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the timing library.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1F3648"/>
                </a:solidFill>
                <a:latin typeface="Consolas"/>
              </a:rPr>
              <a:t>arr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np.arange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(100000)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Create numeric values.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start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Record the starting 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result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arr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+ 5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Add 5 using NumPy vectorization.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 err="1">
                <a:solidFill>
                  <a:srgbClr val="1F3648"/>
                </a:solidFill>
                <a:latin typeface="Consolas"/>
              </a:rPr>
              <a:t>numpy_time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() - start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Find elapsed seconds.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print("NumPy time:", round(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numpy_time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, 5))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Show runtime.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NumPy time: your measured seconds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Compare smaller and larger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128248" cy="4343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01368"/>
            <a:ext cx="10597896" cy="36393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Numerical array operations.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import time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Simple execution-time measurement.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for size in [1000, 100000]: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Try two data sizes.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values = list(range(size))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Make a Python list.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arr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(values)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Convert it to NumPy.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start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Start the list timer.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list_result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[x + 5 for x in values]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List operation.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list_time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 - start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List elapsed 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start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Start the NumPy timer.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array_result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arr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+ 5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NumPy operation.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numpy_time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 - start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NumPy elapsed 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    print(size, round(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list_time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, 5), round(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numpy_time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, 5))</a:t>
            </a:r>
            <a:endParaRPr dirty="0">
              <a:solidFill>
                <a:srgbClr val="1F3648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088" y="6080760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rPr dirty="0"/>
              <a:t>OUTPUT  Each row: size, list time, NumPy time (seconds)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Practice 1: Benchmark multiplication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rPr dirty="0"/>
              <a:t>Time a list comprehension and NumPy expression that multiply 100,000 numbers by three.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430682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597896" cy="3639311"/>
          </a:xfrm>
          <a:prstGeom prst="rect">
            <a:avLst/>
          </a:prstGeom>
          <a:noFill/>
        </p:spPr>
        <p:txBody>
          <a:bodyPr wrap="none" lIns="0" tIns="0" rIns="0" bIns="0">
            <a:noAutofit/>
          </a:bodyPr>
          <a:lstStyle/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Import NumPy arrays.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import time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Import a simple timer.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values = list(range(100000))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Prepare 100,000 values.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arr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(values)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Make matching NumPy array.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start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Start Python list timing.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list_result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[x * 3 for x in values]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Multiply values.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list_time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 - start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Save list runtime.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start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Start NumPy timing.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array_result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arr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* 3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Multiply the entire array.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 err="1">
                <a:solidFill>
                  <a:srgbClr val="1F3648"/>
                </a:solidFill>
                <a:latin typeface="Consolas"/>
              </a:rPr>
              <a:t>numpy_time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time.time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() - start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Save NumPy runtime.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print(round(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list_time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, 5))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Display list seconds.</a:t>
            </a:r>
          </a:p>
          <a:p>
            <a:pPr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1F3648"/>
                </a:solidFill>
                <a:latin typeface="Consolas"/>
              </a:rPr>
              <a:t>print(round(</a:t>
            </a:r>
            <a:r>
              <a:rPr sz="2000" dirty="0" err="1">
                <a:solidFill>
                  <a:srgbClr val="1F3648"/>
                </a:solidFill>
                <a:latin typeface="Consolas"/>
              </a:rPr>
              <a:t>numpy_time</a:t>
            </a:r>
            <a:r>
              <a:rPr sz="2000" dirty="0">
                <a:solidFill>
                  <a:srgbClr val="1F3648"/>
                </a:solidFill>
                <a:latin typeface="Consolas"/>
              </a:rPr>
              <a:t>, 5))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  # Display NumPy seconds.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6112764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rPr dirty="0"/>
              <a:t>OUTPUT  Two measured times (seconds; values vary)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Practice 2: Verify equivalent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rPr dirty="0"/>
              <a:t>Check that both list and array methods produce the same first five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433425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884390" cy="249497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Load array tools.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numbers = list(range(10))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Create common input.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 err="1">
                <a:solidFill>
                  <a:srgbClr val="1F3648"/>
                </a:solidFill>
                <a:latin typeface="Consolas"/>
              </a:rPr>
              <a:t>python_values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 = [x + 2 for x in numbers]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Python computation.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 err="1">
                <a:solidFill>
                  <a:srgbClr val="1F3648"/>
                </a:solidFill>
                <a:latin typeface="Consolas"/>
              </a:rPr>
              <a:t>array_values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(numbers) + 2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NumPy computation.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python_values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[:5])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First five Python results.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array_values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[:5])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First five array results.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assert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python_values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 ==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array_values.tolist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Compare both results.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6071616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rPr dirty="0"/>
              <a:t>OUTPUT  [2, 3, 4, 5, 6]    |    [2 3 4 5 6]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01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rPr dirty="0"/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" y="2121408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A benchmark measures how long equivalent computations take on a given machine and input size.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93008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For many numerical operations, NumPy performs work in optimized compiled loops, reducing Python per-element overhead.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7375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Timing varies by machine, package version, array size and first-run overhead; never promise a universal speedup.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NumPy Array Creation, Shapes and Data Types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04288"/>
            <a:ext cx="10543032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A NumPy </a:t>
            </a:r>
            <a:r>
              <a:rPr sz="2400" dirty="0" err="1"/>
              <a:t>ndarray</a:t>
            </a:r>
            <a:r>
              <a:rPr sz="2400" dirty="0"/>
              <a:t> stores many values of a usually common type in a fast numerical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Use arrays for numerical calculations on complete datasets instead of writing many repeated loops.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Input numbers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ndarray + dtype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Inspect shape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t>Use arrays for numerical calculations on complete datasets instead of writing many repeated loops.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rPr dirty="0" err="1"/>
              <a:t>np.array</a:t>
            </a:r>
            <a:r>
              <a:rPr dirty="0"/>
              <a:t>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3092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Create an array from a Python sequence.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rPr dirty="0"/>
              <a:t>shape / </a:t>
            </a:r>
            <a:r>
              <a:rPr dirty="0" err="1"/>
              <a:t>ndim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Read dimensions and axis lengths.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rPr dirty="0"/>
              <a:t>size / </a:t>
            </a:r>
            <a:r>
              <a:rPr dirty="0" err="1"/>
              <a:t>dtype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Read element count and data type.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rPr dirty="0" err="1"/>
              <a:t>astype</a:t>
            </a:r>
            <a:r>
              <a:rPr dirty="0"/>
              <a:t>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3092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Convert array elements to a target </a:t>
            </a:r>
            <a:r>
              <a:rPr dirty="0" err="1"/>
              <a:t>dtype</a:t>
            </a:r>
            <a:r>
              <a:rPr dirty="0"/>
              <a:t>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rPr dirty="0" err="1"/>
              <a:t>np.arange</a:t>
            </a:r>
            <a:r>
              <a:rPr dirty="0"/>
              <a:t>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Generate regularly spaced numbers.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Array from a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844315" cy="1805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Import numerical-array library.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([70, 80, 90])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Make a numeric array.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print(marks)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Display its elements.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print("Shape:",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marks.shape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Count axis lengths.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[70 80 90]    |    Shape: (3,)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Create regular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874772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values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np.arange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(2, 11, 2)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Start 2; stop before 11; step 2.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print("Even values:", values)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Show the new array.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print("Type:",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values.dtype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Show stored element 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Even values: [ 2  4  6  8 10]    |    Type: int64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Zero-filled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704854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attendance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np.zeros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(4,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dtype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=int)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Make four integer zeros.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attendance[0] = 1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Update the first attendance entry.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print(attendance)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Display updated attendance.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[1 0 0 0]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Data type conversion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025180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([50, 80, 90])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Default integer </a:t>
            </a:r>
            <a:r>
              <a:rPr sz="2400" dirty="0" err="1">
                <a:solidFill>
                  <a:srgbClr val="008E8A"/>
                </a:solidFill>
                <a:latin typeface="Consolas"/>
              </a:rPr>
              <a:t>dtype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 err="1">
                <a:solidFill>
                  <a:srgbClr val="1F3648"/>
                </a:solidFill>
                <a:latin typeface="Consolas"/>
              </a:rPr>
              <a:t>float_marks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marks.astype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(float)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Return converted copy.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marks.dtype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Display original integer type.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float_marks.dtype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Display floating-point 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int64    |    float64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Practice 1: Create a grade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Make a NumPy array with four grades: 65, 75, 85, 95. Print its shape and average.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9685344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grades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([65, 75, 85, 95])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Store four grades.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print("Shape:",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grades.shape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Inspect array size.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print("Average:",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grades.mean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Calculate mean.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Shape: (4,)    |    Average: 80.0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Practice 2: Create a 3×2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Make a 3-row, 2-column NumPy array of any six numbers. Print shape, ndim and dtype.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573407" cy="1777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matrix =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([[1, 2], [3, 4], [5, 6]])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Create 3-by-2 values.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print("Shape:",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matrix.shape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Show axis lengths.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print("Dimensions:",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matrix.ndim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Count axes.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print("Data type:",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matrix.dtype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Inspect element type.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Shape: (3, 2)    |    Dimensions: 2    |    Data type: int64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02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67027"/>
            <a:ext cx="10424160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A NumPy </a:t>
            </a:r>
            <a:r>
              <a:rPr sz="2400" dirty="0" err="1"/>
              <a:t>ndarray</a:t>
            </a:r>
            <a:r>
              <a:rPr sz="2400" dirty="0"/>
              <a:t> stores many values of a usually common type in a fast numerical structure.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984" y="3404303"/>
            <a:ext cx="10424160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Use arrays for numerical calculations on complete datasets instead of writing many repeated loops.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773168"/>
            <a:ext cx="10424160" cy="75495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200" dirty="0" err="1"/>
              <a:t>np.arange</a:t>
            </a:r>
            <a:r>
              <a:rPr sz="2200" dirty="0"/>
              <a:t>() does not include the stop value. A shape of (3,) differs from shape (3, 1). </a:t>
            </a:r>
            <a:r>
              <a:rPr sz="2200" dirty="0" err="1"/>
              <a:t>dtype</a:t>
            </a:r>
            <a:r>
              <a:rPr sz="2200" dirty="0"/>
              <a:t> often describes the array elements, not an individual Python variable.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Multi-dimensional arrays and initialization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88151"/>
            <a:ext cx="10543032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NumPy arrays can have one, two, or more dimensions; an initialization function creates useful starting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" y="3955598"/>
            <a:ext cx="10543032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Matrices represent training batches, weights, tables of features, and image-like data.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Desired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Create an array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Ready numeric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t>Matrices represent training batches, weights, tables of features, and image-like data.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rPr dirty="0"/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rPr dirty="0" err="1"/>
              <a:t>np.array</a:t>
            </a:r>
            <a:r>
              <a:rPr dirty="0"/>
              <a:t>([...])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Convert nested lists to a matrix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np.zeros(shape)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Fill a given shape with zeros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np.ones(shape)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Fill a given shape with 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np.full(shape,value)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Fill every cell with one value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np.eye(n)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Create an n-by-n identity matrix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Build one- and two-dimensional arrays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9005670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one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([2, 4, 6])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Single axis.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two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([[1, 2], [3, 4]])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Rows and columns.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one.ndim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one.shape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Inspect first array.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two.ndim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two.shape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Inspect second array.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1 (3,)    |    2 (2, 2)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Zeros, ones and fixed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252807" cy="1805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np.zeros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((2, 3)))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Two rows of zero values.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np.ones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((2, 2)))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Two-by-two matrix of ones.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np.full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((2, 2), 7))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All entries are seven.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[[0. 0. 0.]    |     [0. 0. 0.]]    |    [[1. 1.]    |     [1. 1.]]    |    [[7 7]    |     [7 7]]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Identity matrix and evenly spaced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365017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np.eye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(3))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Diagonal ones, elsewhere zeros.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np.arange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(2, 11, 2))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Integer steps ending before 11.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np.linspace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(0, 1, 5))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Five evenly spaced points.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[[1. 0. 0.]    |     [0. 1. 0.]    |     [0. 0. 1.]]    |    [ 2  4  6  8 10]    |    [0.   0.25 0.5  0.75 1.  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Repeatable random matrices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044690" cy="156607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 err="1">
                <a:solidFill>
                  <a:srgbClr val="1F3648"/>
                </a:solidFill>
                <a:latin typeface="Consolas"/>
              </a:rPr>
              <a:t>rng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np.random.default_rng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Seed makes example reproducible.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rng.integers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(1, 10, size=(2, 3)))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Random integer matrix.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rng.random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(3))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Three floats from 0 to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[[9 6 7]    |     [9 6 7]]    |    [0.22520719 0.30016628 0.87355345]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Practice 1: Initializers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Create a 3x3 matrix of sevens and a 4x4 identity matrix.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397077" cy="15410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32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32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32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32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3200" dirty="0" err="1">
                <a:solidFill>
                  <a:srgbClr val="1F3648"/>
                </a:solidFill>
                <a:latin typeface="Consolas"/>
              </a:rPr>
              <a:t>np.full</a:t>
            </a:r>
            <a:r>
              <a:rPr sz="3200" dirty="0">
                <a:solidFill>
                  <a:srgbClr val="1F3648"/>
                </a:solidFill>
                <a:latin typeface="Consolas"/>
              </a:rPr>
              <a:t>((3, 3), 7))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  # Matrix of sevens.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32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3200" dirty="0" err="1">
                <a:solidFill>
                  <a:srgbClr val="1F3648"/>
                </a:solidFill>
                <a:latin typeface="Consolas"/>
              </a:rPr>
              <a:t>np.eye</a:t>
            </a:r>
            <a:r>
              <a:rPr sz="3200" dirty="0">
                <a:solidFill>
                  <a:srgbClr val="1F3648"/>
                </a:solidFill>
                <a:latin typeface="Consolas"/>
              </a:rPr>
              <a:t>(4))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  # Four-by-four identity.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Run this Colab cell to inspect the complete result.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Practice 2: Values on a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rPr dirty="0"/>
              <a:t>Create values from 0 to 20 by fives, then 6 equally spaced values between 0 and 1.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03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844315" cy="134838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np.arange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(0, 21, 5))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Start=0, stop&lt;21, step=5.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np.linspace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(0, 1, 6))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Six equal divisions.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[ 0  5 10 15 20]    |    [0.  0.2 0.4 0.6 0.8 1. ]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rPr sz="2000"/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rPr sz="2000"/>
              <a:t>03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rPr sz="2000"/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rPr sz="2000"/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rPr sz="2000"/>
              <a:t>042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1" name="TextBox 10"/>
          <p:cNvSpPr txBox="1"/>
          <p:nvPr/>
        </p:nvSpPr>
        <p:spPr>
          <a:xfrm>
            <a:off x="886968" y="1768948"/>
            <a:ext cx="1046988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rPr sz="2000" dirty="0"/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021856"/>
            <a:ext cx="10424160" cy="68967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000" dirty="0"/>
              <a:t>NumPy arrays can have one, two, or more dimensions; an initialization function creates useful starting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6948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rPr sz="2000"/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1042416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000" dirty="0"/>
              <a:t>Matrices represent training batches, weights, tables of features, and image-like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000"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rPr sz="2000"/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10912"/>
            <a:ext cx="10424160" cy="357277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000"/>
              <a:t>np.empty() does not fill with zeros; its uninitialized contents are not predictable.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rPr dirty="0"/>
              <a:t>04  /  </a:t>
            </a:r>
            <a:r>
              <a:rPr dirty="0" err="1"/>
              <a:t>NumPy</a:t>
            </a:r>
            <a:r>
              <a:rPr dirty="0"/>
              <a:t> indexing, slicing and reshaping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04288"/>
            <a:ext cx="10543032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Indexing selects one array element; slicing selects a range; reshaping changes axis dimensions.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These operations let us access numeric subsets without manually copying values.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42133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rPr sz="2400" dirty="0"/>
              <a:t>Indices/slices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42133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rPr sz="2400" dirty="0"/>
              <a:t>Select values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42133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rPr sz="2400" dirty="0"/>
              <a:t>Subset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rPr dirty="0"/>
              <a:t>These operations let us access numeric subsets without manually copying values.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rPr dirty="0" err="1"/>
              <a:t>arr</a:t>
            </a:r>
            <a:r>
              <a:rPr dirty="0"/>
              <a:t>[0]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First element; indexing begins at zero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arr[1:4]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Elements at indexes 1, 2, 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matrix[1,0]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Row 1, column 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arr.reshape(2,3)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Change shape with same number of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81928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arr[:,1]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rPr dirty="0"/>
              <a:t>All rows in second column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First and last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225556" cy="1805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Import array tools.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ages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([18, 21, 19, 23])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Create ages.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print("First:", ages[0])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Position zero.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print("Last:", ages[-1])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Negative index from end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First: 18    |    Last: 23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Slice part of an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041484" cy="18269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arrays.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prices=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([100, 120, 140, 160, 180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#Five prices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print(prices[1:4])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Get indexes 1, 2, 3.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print(prices[:2])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Get first two prices.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[120 140 160]    |    [100 120]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Select matrix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704854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arrays.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([[80, 90], [70, 85], [95, 88]])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Three rows.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print("Second student's math:", marks[1, 0])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Row 1, col 0.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print("English grades:", marks[:, 1])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Every row, col 1.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Second student's math: 70    |    English grades: [90 85 88]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Reshape 1D to 2D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9515425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numbers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np.arange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(1, 7)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Values 1 through 6.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grid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numbers.reshape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(2, 3)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Two rows, three columns.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print("New shape:",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grid.shape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Confirm dimensions.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print(grid)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Display the reshaped array.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New shape: (2, 3)    |    [[1 2 3]    |     [4 5 6]]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Practice 1: Select a slice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9180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rPr dirty="0"/>
              <a:t>Create [10,20,30,40,50,60</a:t>
            </a:r>
            <a:r>
              <a:rPr lang="en-US" dirty="0"/>
              <a:t>,70</a:t>
            </a:r>
            <a:r>
              <a:rPr dirty="0"/>
              <a:t>]. Print the third element and the middle three.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025180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data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([10, 20, 30, 40, 50, 60</a:t>
            </a:r>
            <a:r>
              <a:rPr lang="en-US" sz="2400" dirty="0">
                <a:solidFill>
                  <a:srgbClr val="1F3648"/>
                </a:solidFill>
                <a:latin typeface="Consolas"/>
              </a:rPr>
              <a:t>,70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</a:t>
            </a:r>
            <a:r>
              <a:rPr lang="en-US" sz="2400" dirty="0">
                <a:solidFill>
                  <a:srgbClr val="008E8A"/>
                </a:solidFill>
                <a:latin typeface="Consolas"/>
              </a:rPr>
              <a:t>7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values.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print("Third:", data[2])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Index 2 is third.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print("Middle:", data[2:5])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Indexes 2,3,4.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Third: 30    |    Middle: [30 40 50]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Practice 2: Extract a matrix column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Create [[3,4],[5,6],[7,8]] and print its second column.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534935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values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([[3, 4], [5, 6], [7, 8]])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Three rows.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 err="1">
                <a:solidFill>
                  <a:srgbClr val="1F3648"/>
                </a:solidFill>
                <a:latin typeface="Consolas"/>
              </a:rPr>
              <a:t>second_column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= values[:, 1]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Select column 1 from all rows.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print("Second column:",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second_column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Show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Second column: [4 6 8]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04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3055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Indexing selects one array element; slicing selects a range; reshaping changes axis dimensions.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These operations let us access numeric subsets without manually copying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18888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An index outside the array raises </a:t>
            </a:r>
            <a:r>
              <a:rPr dirty="0" err="1"/>
              <a:t>IndexError</a:t>
            </a:r>
            <a:r>
              <a:rPr dirty="0"/>
              <a:t>. reshape() cannot change the number of elements. Slicing with 1:4 selects three elements, not four.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Reshape, Flatten, Transpose and Combine Arrays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04288"/>
            <a:ext cx="10543032" cy="3693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Reshaping rearranges how the same data is indexed; transpose swaps axes, 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67704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lang="en-US" dirty="0"/>
              <a:t>Flatten() always returns a copy of the array, while ravel() returns a view (no copy) whenever possible, so changing the ravel result can change the original array.</a:t>
            </a:r>
            <a:endParaRPr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Original shape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Reshape / stack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New shape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t>Machine learning systems expect arrays with carefully chosen sample and feature dimensions.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reshape()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Change shape without changing element count.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ravel() / flatten()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Produce a one-dimensional array.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T / transpose()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Swap row and column axes.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vstack() / hstack()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Combine arrays vertically or horizontally.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np.split()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Divide an array into specified chunks.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Make a matrix from six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449977" cy="1805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np.arange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(1, 7)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Six values, from 1 through 6.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a.reshape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(2, 3))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Two rows and three columns.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a.reshape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(3, 2))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Three rows and two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[[1 2 3]    |     [4 5 6]]    |    [[1 2]    |     [3 4]    |     [5 6]]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Flatten a matrix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252807" cy="1805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([[1, 2], [3, 4]])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A 2D matrix.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a.flatten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Return a one-dimensional copy.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a.ravel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Flatten; may share memory.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[1 2 3 4]    |    [1 2 3 4]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Transpose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874772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([[2, 80], [5, 95]])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Two students x two features.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a.T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Rows become columns.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print("Original:",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a.shape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Original shape.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print("Transposed:",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a.T.shape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New shape.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[[ 2  5]    |     [80 95]]    |    Original: (2, 2)    |    Transposed: (2, 2)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Vertical and horizontal stacking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025180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</a:t>
            </a:r>
            <a:r>
              <a:rPr sz="24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([1, 2, 3])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First vector.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b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([4, 5, 6])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Second vector.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np.vstack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((a, b)))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Combine as two rows.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np.hstack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((a, b)))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Combine into one longer vector.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[[1 2 3]    |     [4 5 6]]    |    [1 2 3 4 5 6]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Practice 1: Rows and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Reshape numbers 1–12 into a 3x4 matrix. Print its second row.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708060" cy="13701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</a:t>
            </a:r>
            <a:r>
              <a:rPr sz="28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matrix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np.arange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(1, 13).reshape(3, 4)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#Build a 3x4 matrix.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print(matrix[1])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Index one selects row two.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[5 6 7 8]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Practice 2: Flatten and transpose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Create a 2x3 array, print its flattened values and transposed shape.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599055" cy="1676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Load </a:t>
            </a:r>
            <a:r>
              <a:rPr sz="26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([[1, 2, 3], [4, 5, 6]])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Create matrix.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a.flatten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())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All values in one row-like sequence.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a.T.shape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Three rows and two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[1 2 3 4 5 6]    |    (3, 2)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05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2396" y="2112264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Reshaping rearranges how the same data is indexed; transpose swaps axes, while flatten produces a one-dimensional copy.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447288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Machine learning systems expect arrays with carefully chosen sample and feature dimensions.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1091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reshape() only works if the total number of elements is unchanged.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Vectorized Arithmetic, Dot Product and Matrix Math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04288"/>
            <a:ext cx="10543032" cy="7406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Array arithmetic works element by element; the dot product and matrix multiplication combine numerical dimensions.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9692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Neural networks frequently calculate weighted sums and matrix products for batches of features.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Numeric arrays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Vectorized operation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Computed features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rPr dirty="0"/>
              <a:t>Neural networks frequently calculate weighted sums and matrix products for batches of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+, -, *, 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Perform elementwise arithmetic.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np.square() / np.sqrt()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Square values or take square roots.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np.dot() / @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Calculate dot products / matrix products.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np.sum()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Aggregate values; axis selects direction.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np.clip()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Limit values to lower/upper bounds.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Arithmetic on two arrays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164824" cy="4014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041484" cy="22618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</a:t>
            </a:r>
            <a:r>
              <a:rPr sz="28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([1, 2, 3])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First vector.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b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([4, 5, 6])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Second vector.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np.add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(a, b))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Sum element by element.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np.multiply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(a, b))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Multiply element by element.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[5 7 9]    |    [ 4 10 18]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Square and square roots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055638" cy="1805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</a:t>
            </a:r>
            <a:r>
              <a:rPr sz="28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([1, 4, 9])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Positive square numbers.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np.square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(a))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Square all elements.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np.sqrt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(a))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Calculate square roots.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[ 1 16 81]    |    [1. 2. 3.]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Dot product as weighted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7" y="1645920"/>
            <a:ext cx="11306417" cy="401421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238654" cy="22618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</a:t>
            </a:r>
            <a:r>
              <a:rPr sz="28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features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([2, 3])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Two feature values.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weights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([0.5, 1.5])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One weight per feature.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score = np.dot(features, weights)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Multiply then sum.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print("Weighted score:", score)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One scalar score.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Weighted score: 5.5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Matrix multiplication for batches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365017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</a:t>
            </a:r>
            <a:r>
              <a:rPr sz="24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features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([[2, 3], [4, 1]])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Two rows of inputs.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weights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([[1], [2]])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Two weights, one output.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outputs = features @ weights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Calculate one output per row.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print(outputs)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Result shape is (2,1).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[[8]    |     [6]]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Practice 1: Elementwise vs dot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For arrays [1,2,3] and [4,5,6], show elementwise product and dot product.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849124" cy="258506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32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32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32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  # Import </a:t>
            </a:r>
            <a:r>
              <a:rPr sz="32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32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32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3200" dirty="0">
                <a:solidFill>
                  <a:srgbClr val="1F3648"/>
                </a:solidFill>
                <a:latin typeface="Consolas"/>
              </a:rPr>
              <a:t>([1, 2, 3])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  # First array.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3200" dirty="0">
                <a:solidFill>
                  <a:srgbClr val="1F3648"/>
                </a:solidFill>
                <a:latin typeface="Consolas"/>
              </a:rPr>
              <a:t>b = </a:t>
            </a:r>
            <a:r>
              <a:rPr sz="32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3200" dirty="0">
                <a:solidFill>
                  <a:srgbClr val="1F3648"/>
                </a:solidFill>
                <a:latin typeface="Consolas"/>
              </a:rPr>
              <a:t>([4, 5, 6])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  # Second array.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3200" dirty="0">
                <a:solidFill>
                  <a:srgbClr val="1F3648"/>
                </a:solidFill>
                <a:latin typeface="Consolas"/>
              </a:rPr>
              <a:t>print(a * b)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  # Elementwise product.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3200" dirty="0">
                <a:solidFill>
                  <a:srgbClr val="1F3648"/>
                </a:solidFill>
                <a:latin typeface="Consolas"/>
              </a:rPr>
              <a:t>print(np.dot(a, b))</a:t>
            </a:r>
            <a:r>
              <a:rPr sz="3200" dirty="0">
                <a:solidFill>
                  <a:srgbClr val="008E8A"/>
                </a:solidFill>
                <a:latin typeface="Consolas"/>
              </a:rPr>
              <a:t>  # Sum of pairwise products.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[ 4 10 18]    |    32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Practice 2: Weighted sum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Compute dot product of [4,5] with weights [0.2,0.8].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9858468" cy="1805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Import </a:t>
            </a:r>
            <a:r>
              <a:rPr sz="28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values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([4, 5])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Two features.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weights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([0.2, 0.8])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Sum is one.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print(np.dot(values, weights))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Weighted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4.800000000000001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06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121408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Array arithmetic works element by element; the dot product and matrix multiplication combine numerical dimensions.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511296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Neural networks frequently calculate weighted sums and matrix products for batches of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" y="4832465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Elementwise multiplication (*) and matrix multiplication (@) are different operations; check shapes first.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NumPy descriptive statistics and axes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04288"/>
            <a:ext cx="10543032" cy="7406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Summary statistics describe the center, spread and extremes of numerical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9692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Mean, variance and standard deviation help normalize numerical features for machine-learning training.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Rows /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Axis aggregation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Summary statistics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t>Mean, variance and standard deviation help normalize numerical features for machine-learning training.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np.sum(a,axis=...)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Add along chosen axis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np.mean(a)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Arithmetic average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np.median(a)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Middle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np.std(a)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Standard deviation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np.min(a)/np.max(a)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Find extremes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Total, mean, median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34845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147282" cy="210019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Load </a:t>
            </a:r>
            <a:r>
              <a:rPr sz="2600" dirty="0" err="1">
                <a:solidFill>
                  <a:srgbClr val="008E8A"/>
                </a:solidFill>
                <a:latin typeface="Consolas"/>
              </a:rPr>
              <a:t>NumPy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([60, 70, 90, 100])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Four students.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print("Total:",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np.sum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(marks))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Add all marks.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print("Mean:",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np.mean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(marks))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Arithmetic average.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print("Median:",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np.median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(marks))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Middle of sorted marks.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Total: 320    |    Mean: 80.0    |    Median: 80.0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Standard deviation and extremes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756150" cy="20195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5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5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5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5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500" dirty="0">
                <a:solidFill>
                  <a:srgbClr val="1F3648"/>
                </a:solidFill>
                <a:latin typeface="Consolas"/>
              </a:rPr>
              <a:t>sales = </a:t>
            </a:r>
            <a:r>
              <a:rPr sz="25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500" dirty="0">
                <a:solidFill>
                  <a:srgbClr val="1F3648"/>
                </a:solidFill>
                <a:latin typeface="Consolas"/>
              </a:rPr>
              <a:t>([10, 20, 30, 40])</a:t>
            </a:r>
            <a:r>
              <a:rPr sz="2500" dirty="0">
                <a:solidFill>
                  <a:srgbClr val="008E8A"/>
                </a:solidFill>
                <a:latin typeface="Consolas"/>
              </a:rPr>
              <a:t>  # Sales values.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500" dirty="0">
                <a:solidFill>
                  <a:srgbClr val="1F3648"/>
                </a:solidFill>
                <a:latin typeface="Consolas"/>
              </a:rPr>
              <a:t>print("Std:", round(</a:t>
            </a:r>
            <a:r>
              <a:rPr sz="2500" dirty="0" err="1">
                <a:solidFill>
                  <a:srgbClr val="1F3648"/>
                </a:solidFill>
                <a:latin typeface="Consolas"/>
              </a:rPr>
              <a:t>np.std</a:t>
            </a:r>
            <a:r>
              <a:rPr sz="2500" dirty="0">
                <a:solidFill>
                  <a:srgbClr val="1F3648"/>
                </a:solidFill>
                <a:latin typeface="Consolas"/>
              </a:rPr>
              <a:t>(sales), 2))</a:t>
            </a:r>
            <a:r>
              <a:rPr sz="2500" dirty="0">
                <a:solidFill>
                  <a:srgbClr val="008E8A"/>
                </a:solidFill>
                <a:latin typeface="Consolas"/>
              </a:rPr>
              <a:t>  # Spread around mean.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500" dirty="0">
                <a:solidFill>
                  <a:srgbClr val="1F3648"/>
                </a:solidFill>
                <a:latin typeface="Consolas"/>
              </a:rPr>
              <a:t>print("Min:", </a:t>
            </a:r>
            <a:r>
              <a:rPr sz="2500" dirty="0" err="1">
                <a:solidFill>
                  <a:srgbClr val="1F3648"/>
                </a:solidFill>
                <a:latin typeface="Consolas"/>
              </a:rPr>
              <a:t>np.min</a:t>
            </a:r>
            <a:r>
              <a:rPr sz="2500" dirty="0">
                <a:solidFill>
                  <a:srgbClr val="1F3648"/>
                </a:solidFill>
                <a:latin typeface="Consolas"/>
              </a:rPr>
              <a:t>(sales))</a:t>
            </a:r>
            <a:r>
              <a:rPr sz="2500" dirty="0">
                <a:solidFill>
                  <a:srgbClr val="008E8A"/>
                </a:solidFill>
                <a:latin typeface="Consolas"/>
              </a:rPr>
              <a:t>  # Smallest value.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500" dirty="0">
                <a:solidFill>
                  <a:srgbClr val="1F3648"/>
                </a:solidFill>
                <a:latin typeface="Consolas"/>
              </a:rPr>
              <a:t>print("Max:", </a:t>
            </a:r>
            <a:r>
              <a:rPr sz="2500" dirty="0" err="1">
                <a:solidFill>
                  <a:srgbClr val="1F3648"/>
                </a:solidFill>
                <a:latin typeface="Consolas"/>
              </a:rPr>
              <a:t>np.max</a:t>
            </a:r>
            <a:r>
              <a:rPr sz="2500" dirty="0">
                <a:solidFill>
                  <a:srgbClr val="1F3648"/>
                </a:solidFill>
                <a:latin typeface="Consolas"/>
              </a:rPr>
              <a:t>(sales))</a:t>
            </a:r>
            <a:r>
              <a:rPr sz="2500" dirty="0">
                <a:solidFill>
                  <a:srgbClr val="008E8A"/>
                </a:solidFill>
                <a:latin typeface="Consolas"/>
              </a:rPr>
              <a:t>  # Largest value.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Std: 11.18    |    Min: 10    |    Max: 40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Summarize by axis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874772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([[70, 80], [90, 100]])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Students by subjects.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print("Per subject:",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np.mean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(marks, axis=0))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Down rows.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print("Per student:",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np.mean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(marks, axis=1))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Across columns.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Per subject: [80. 90.]    |    Per student: [75. 95.]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Simple feature standardization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449977" cy="27185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x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([10., 20., 30.])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Raw feature.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mean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np.mean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(x)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Compute feature center.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std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np.std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(x)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Compute feature spread.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z = (x - mean) / std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Standardize relative to both.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np.round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(z, 2))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View standardized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[-1.22  0.    1.22]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Practice 1: Two-axis averages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Make a 2x3 matrix and compute means by row and by column.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781798" cy="16761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([[60, 70, 80], [75, 85, 95]])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Two learners.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np.mean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(a, axis=1))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Row averages.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6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600" dirty="0" err="1">
                <a:solidFill>
                  <a:srgbClr val="1F3648"/>
                </a:solidFill>
                <a:latin typeface="Consolas"/>
              </a:rPr>
              <a:t>np.mean</a:t>
            </a:r>
            <a:r>
              <a:rPr sz="2600" dirty="0">
                <a:solidFill>
                  <a:srgbClr val="1F3648"/>
                </a:solidFill>
                <a:latin typeface="Consolas"/>
              </a:rPr>
              <a:t>(a, axis=0))</a:t>
            </a:r>
            <a:r>
              <a:rPr sz="2600" dirty="0">
                <a:solidFill>
                  <a:srgbClr val="008E8A"/>
                </a:solidFill>
                <a:latin typeface="Consolas"/>
              </a:rPr>
              <a:t>  # Column averages.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[70. 85.]    |    [67.5 77.5 87.5]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Practice 2: Standardize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For [2.,4.,6.], compute mean, standard deviation and standardized array.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025180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Import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x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([2., 4., 6.])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Numerical input.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np.mean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(x),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np.std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(x))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Descriptive numbers.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print((x -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np.mean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(x)) /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np.std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(x))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Standardized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4.0 1.632993161855452    |    [-1.22474487  0.          1.22474487]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07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6771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Summary statistics describe the center, spread and extremes of numerical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" y="3493008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Mean, variance and standard deviation help normalize numerical features for machine-learning training.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18888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Training standardization parameters should be learned from training data, not from the test dataset (avoid leakage).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Array comparisons, boolean masks and where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04288"/>
            <a:ext cx="10543032" cy="7406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Comparisons return True/False arrays that can filter or conditionally replace numerical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9692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Masks help select students above a threshold and detect invalid values in model features.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Boolean mask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Filtered values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t>Masks help select students above a threshold and detect invalid values in model features.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a &gt; threshold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Create a boolean mask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a[mask]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Keep matching entries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np.where(condition,a,b)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Choose values conditionally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np.array_equal(a,b)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Check entire-array equality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np.any(mask)/np.all(mask)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Test whether any/all are True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Boolean comparison of scores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8835752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([42, 85, 61, 90])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Student marks.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mask = marks &gt;= 60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Compare every mark.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print(mask)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Booleans for pass threshold.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print(marks[mask])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Keep only passing marks.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[False  True  True  True]    |    [85 61 90]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Use where to label a threshold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044690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ages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([12, 18, 21])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Three ages.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labels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np.where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(ages &gt;= 18, "Adult", "Minor")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Choose labels.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print(labels)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Return text array.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['Minor' 'Adult' 'Adult']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Compare arrays for equality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8835752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([2, 4, 6])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First array.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b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([2, 5, 6])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Second array.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print(a == b)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Compare each corresponding value.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np.array_equal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(a, b))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Whole-array equality.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 True False  True]    |    False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Any and all 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039882" cy="177721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scores =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([45, 75, 110])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Data may contain invalid marks.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invalid = (scores &lt; 0) | (scores &gt; 100)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Find invalid entries.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print("Any invalid:",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np.any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(invalid))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At least one bad value.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200" dirty="0">
                <a:solidFill>
                  <a:srgbClr val="1F3648"/>
                </a:solidFill>
                <a:latin typeface="Consolas"/>
              </a:rPr>
              <a:t>print("All valid:", </a:t>
            </a:r>
            <a:r>
              <a:rPr sz="2200" dirty="0" err="1">
                <a:solidFill>
                  <a:srgbClr val="1F3648"/>
                </a:solidFill>
                <a:latin typeface="Consolas"/>
              </a:rPr>
              <a:t>np.all</a:t>
            </a:r>
            <a:r>
              <a:rPr sz="2200" dirty="0">
                <a:solidFill>
                  <a:srgbClr val="1F3648"/>
                </a:solidFill>
                <a:latin typeface="Consolas"/>
              </a:rPr>
              <a:t>(~invalid))</a:t>
            </a:r>
            <a:r>
              <a:rPr sz="2200" dirty="0">
                <a:solidFill>
                  <a:srgbClr val="008E8A"/>
                </a:solidFill>
                <a:latin typeface="Consolas"/>
              </a:rPr>
              <a:t>  # Every entry passes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Any invalid: True    |    All valid: False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Practice 1: Filter high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Keep only values &gt;=80 from [70,85,91,60].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099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449977" cy="134838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x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([70, 85, 91, 60])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Input values.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print(x[x &gt;= 80])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Select values passing threshold.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[85 91]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Practice 2: Tag pass/fail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Use np.where() to label [45,65,80] as Pass when &gt;=50.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704854" cy="115589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x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([45, 65, 80])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Exam scores.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np.where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(x &gt;= 50, "Pass", "Fail"))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Conditional labels.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['Fail' 'Pass' 'Pass']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08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26771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Comparisons return True/False arrays that can filter or conditionally replace numerical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63931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Masks help select students above a threshold and detect invalid values in model features.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2862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Use `&amp;` and `|` for elementwise conditions, with parentheses around each comparison. Python `and` is not </a:t>
            </a:r>
            <a:r>
              <a:rPr dirty="0" err="1"/>
              <a:t>arraywise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Broadcasting: operations on compatible shapes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304288"/>
            <a:ext cx="10543032" cy="7406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Broadcasting lets NumPy perform operations between arrays of differing but compatible shapes.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96926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t>Use broadcasting to add a bias or normalize each feature column without manually looping over every record.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Two shapes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Broadcast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Result array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t>Use broadcasting to add a bias or normalize each feature column without manually looping over every record.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a + scalar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Apply one scalar to every entry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matrix + row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Add a row vector to each matrix row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arr.shape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Check compatible dimensions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np.newaxis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Insert a length-one axis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np.broadcast_shapes(a,b)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Check if shapes can broadcast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Add a scalar to every score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844315" cy="134838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([50, 70, 85])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Three scores.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print(marks + 5)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Broadcast scalar 5 to all elements.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[55 75 90]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Add per-subject bonuses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916450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([[60, 70], [80, 90]])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# Two students, two subjects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bonuses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([5, 10])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Bonus for each column.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print(marks + bonuses)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Broadcast bonuses to both rows.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[[ 65  80]    |     [ 85 100]]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Column vector times row vector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9661299" cy="180511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([[1], [2], [3]])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Shape (3,1).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b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([10, 20])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Shape (2,).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print(a * b)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Result broadcasts to shape (3,2).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[[10 20]    |     [20 40]    |     [30 60]]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Center each feature separately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534935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x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([[2., 100.], [4., 200.]])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Two feature columns.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means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x.mean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(axis=0)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One mean for each column.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print(x - means)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Subtract means using broadcasting.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 -1. -50.]    |     [  1.  50.]]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Practice 1: Column adjustments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Add [5,10] to each row of matrix [[10,20],[30,40]].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449977" cy="134838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x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([[10, 20], [30, 40]])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Student values.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print(x +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([5, 10]))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One bonus per column.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[[15 30]    |     [35 50]]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Practice 2: Multiply shapes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469359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rPr dirty="0"/>
              <a:t>Multiply a (3,1) array [[</a:t>
            </a:r>
            <a:r>
              <a:rPr lang="en-US" dirty="0"/>
              <a:t>5</a:t>
            </a:r>
            <a:r>
              <a:rPr dirty="0"/>
              <a:t>],[</a:t>
            </a:r>
            <a:r>
              <a:rPr lang="en-US" dirty="0"/>
              <a:t>7</a:t>
            </a:r>
            <a:r>
              <a:rPr dirty="0"/>
              <a:t>],[</a:t>
            </a:r>
            <a:r>
              <a:rPr lang="en-US" dirty="0"/>
              <a:t>9</a:t>
            </a:r>
            <a:r>
              <a:rPr dirty="0"/>
              <a:t>]] by [</a:t>
            </a:r>
            <a:r>
              <a:rPr lang="en-US" dirty="0"/>
              <a:t>5</a:t>
            </a:r>
            <a:r>
              <a:rPr dirty="0"/>
              <a:t>,</a:t>
            </a:r>
            <a:r>
              <a:rPr lang="en-US" dirty="0"/>
              <a:t>15</a:t>
            </a:r>
            <a:r>
              <a:rPr dirty="0"/>
              <a:t>]. Print shape.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9069791" cy="22618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([[1], [2], [3]])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Three-by-one.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b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([10, 20])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Two elements.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c = a * b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NumPy broadcasts to three-by-two.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print(c,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c.shape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Inspect values and shape.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[[10 20]    |     [20 40]    |     [30 60]] (3, 2)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09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" y="210769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Broadcasting lets NumPy perform operations between arrays of differing but compatible shapes.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0872" y="3435637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Use broadcasting to add a bias or normalize each feature column without manually looping over every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" y="4828622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Broadcasting is not arbitrary: trailing dimensions must be equal or one of them must be 1.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Missing values, infinity, saving arrays and AI readiness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DEFINITION + PURPOSE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691640"/>
            <a:ext cx="10954512" cy="1508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95528" y="1874520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WHAT IS IT?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200164"/>
            <a:ext cx="10543032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Numerical data may contain </a:t>
            </a:r>
            <a:r>
              <a:rPr sz="2400" dirty="0" err="1"/>
              <a:t>NaN</a:t>
            </a:r>
            <a:r>
              <a:rPr sz="2400" dirty="0"/>
              <a:t> (missing/unavailable) and infinity; validate them before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419856"/>
            <a:ext cx="10954512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5528" y="3602736"/>
            <a:ext cx="10588752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WHY DO WE USE IT?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8" y="4032504"/>
            <a:ext cx="10543032" cy="820225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sz="2400" dirty="0"/>
              <a:t>Save intermediate arrays for reproducible experiments and ensure model input values are finite.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The idea in one picture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LEARN THE WORKFLOW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Raw numeric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2277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6344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Validate / save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7536" y="4736592"/>
            <a:ext cx="512064" cy="329184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2500" b="1">
                <a:solidFill>
                  <a:srgbClr val="008E8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66760" y="4480560"/>
            <a:ext cx="3063240" cy="960120"/>
          </a:xfrm>
          <a:prstGeom prst="roundRect">
            <a:avLst>
              <a:gd name="adj" fmla="val 10000"/>
            </a:avLst>
          </a:prstGeom>
          <a:solidFill>
            <a:srgbClr val="EAF1FD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458200" y="4663440"/>
            <a:ext cx="2880360" cy="5303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ctr"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142C40"/>
                </a:solidFill>
                <a:latin typeface="Aptos"/>
              </a:defRPr>
            </a:pPr>
            <a:r>
              <a:t>Training input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8952" y="1993392"/>
            <a:ext cx="10661904" cy="17373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8408" y="2231136"/>
            <a:ext cx="10149840" cy="12618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400" b="0">
                <a:solidFill>
                  <a:srgbClr val="142C40"/>
                </a:solidFill>
                <a:latin typeface="Aptos"/>
              </a:defRPr>
            </a:pPr>
            <a:r>
              <a:t>Save intermediate arrays for reproducible experiments and ensure model input values are finite.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650992"/>
            <a:ext cx="10332720" cy="36576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1">
                <a:solidFill>
                  <a:srgbClr val="008E8A"/>
                </a:solidFill>
                <a:latin typeface="Aptos"/>
              </a:defRPr>
            </a:pPr>
            <a:r>
              <a:t>Key idea: one small transformation, checked before moving on.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Important Functions &amp; Methods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WHAT EACH METHOD DOES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np.isnan()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Locate missing numeric NaN values.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np.isfinite()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Check for neither NaN nor infinity.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3504" y="445312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77240" y="460857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np.nan_to_num()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8406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Replace NaN/infinity with numeric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35624" y="161848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177393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np.save()/np.load()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942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Persist and restore .npy arrays.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35624" y="3035808"/>
            <a:ext cx="5349240" cy="1225296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09360" y="3191256"/>
            <a:ext cx="5047488" cy="34747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1">
                <a:solidFill>
                  <a:srgbClr val="008E8A"/>
                </a:solidFill>
                <a:latin typeface="Aptos"/>
              </a:defRPr>
            </a:pPr>
            <a:r>
              <a:t>np.random.default_rng()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3666744"/>
            <a:ext cx="5020056" cy="47548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0">
                <a:solidFill>
                  <a:srgbClr val="1F3648"/>
                </a:solidFill>
                <a:latin typeface="Aptos"/>
              </a:defRPr>
            </a:pPr>
            <a:r>
              <a:t>Make a reproducible random generator.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Detect missing values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365017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x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([1.0,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np.nan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, 3.0])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Data with missing number.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np.isnan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(x))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Boolean mask of missing entries.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np.isfinite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(x))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Check valid finite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[False  True False]    |    [ True False  True]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Safely fill non-finite numbers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089574" cy="154741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x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([1.,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np.nan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, np.inf])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Three numerical cases.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clean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np.nan_to_num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(x, nan=0.,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posinf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=999.)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# Choose replacements.</a:t>
            </a:r>
            <a:endParaRPr sz="2400" dirty="0">
              <a:solidFill>
                <a:srgbClr val="008E8A"/>
              </a:solidFill>
              <a:latin typeface="Consolas"/>
            </a:endParaRP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print(clean)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Display finite result.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  1.   0. 999.]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Save and reload one array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1238654" cy="226183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7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7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7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7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700" dirty="0">
                <a:solidFill>
                  <a:srgbClr val="1F3648"/>
                </a:solidFill>
                <a:latin typeface="Consolas"/>
              </a:rPr>
              <a:t>marks = </a:t>
            </a:r>
            <a:r>
              <a:rPr sz="27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700" dirty="0">
                <a:solidFill>
                  <a:srgbClr val="1F3648"/>
                </a:solidFill>
                <a:latin typeface="Consolas"/>
              </a:rPr>
              <a:t>([80, 90, 95])</a:t>
            </a:r>
            <a:r>
              <a:rPr sz="2700" dirty="0">
                <a:solidFill>
                  <a:srgbClr val="008E8A"/>
                </a:solidFill>
                <a:latin typeface="Consolas"/>
              </a:rPr>
              <a:t>  # Data to store.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700" dirty="0" err="1">
                <a:solidFill>
                  <a:srgbClr val="1F3648"/>
                </a:solidFill>
                <a:latin typeface="Consolas"/>
              </a:rPr>
              <a:t>np.save</a:t>
            </a:r>
            <a:r>
              <a:rPr sz="2700" dirty="0">
                <a:solidFill>
                  <a:srgbClr val="1F3648"/>
                </a:solidFill>
                <a:latin typeface="Consolas"/>
              </a:rPr>
              <a:t>("</a:t>
            </a:r>
            <a:r>
              <a:rPr sz="2700" dirty="0" err="1">
                <a:solidFill>
                  <a:srgbClr val="1F3648"/>
                </a:solidFill>
                <a:latin typeface="Consolas"/>
              </a:rPr>
              <a:t>marks.npy</a:t>
            </a:r>
            <a:r>
              <a:rPr sz="2700" dirty="0">
                <a:solidFill>
                  <a:srgbClr val="1F3648"/>
                </a:solidFill>
                <a:latin typeface="Consolas"/>
              </a:rPr>
              <a:t>", marks)</a:t>
            </a:r>
            <a:r>
              <a:rPr sz="2700" dirty="0">
                <a:solidFill>
                  <a:srgbClr val="008E8A"/>
                </a:solidFill>
                <a:latin typeface="Consolas"/>
              </a:rPr>
              <a:t>  # Write a NumPy binary file.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700" dirty="0">
                <a:solidFill>
                  <a:srgbClr val="1F3648"/>
                </a:solidFill>
                <a:latin typeface="Consolas"/>
              </a:rPr>
              <a:t>loaded = </a:t>
            </a:r>
            <a:r>
              <a:rPr sz="2700" dirty="0" err="1">
                <a:solidFill>
                  <a:srgbClr val="1F3648"/>
                </a:solidFill>
                <a:latin typeface="Consolas"/>
              </a:rPr>
              <a:t>np.load</a:t>
            </a:r>
            <a:r>
              <a:rPr sz="2700" dirty="0">
                <a:solidFill>
                  <a:srgbClr val="1F3648"/>
                </a:solidFill>
                <a:latin typeface="Consolas"/>
              </a:rPr>
              <a:t>("</a:t>
            </a:r>
            <a:r>
              <a:rPr sz="2700" dirty="0" err="1">
                <a:solidFill>
                  <a:srgbClr val="1F3648"/>
                </a:solidFill>
                <a:latin typeface="Consolas"/>
              </a:rPr>
              <a:t>marks.npy</a:t>
            </a:r>
            <a:r>
              <a:rPr sz="2700" dirty="0">
                <a:solidFill>
                  <a:srgbClr val="1F3648"/>
                </a:solidFill>
                <a:latin typeface="Consolas"/>
              </a:rPr>
              <a:t>")</a:t>
            </a:r>
            <a:r>
              <a:rPr sz="2700" dirty="0">
                <a:solidFill>
                  <a:srgbClr val="008E8A"/>
                </a:solidFill>
                <a:latin typeface="Consolas"/>
              </a:rPr>
              <a:t>  # Reopen the saved array.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7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700" dirty="0" err="1">
                <a:solidFill>
                  <a:srgbClr val="1F3648"/>
                </a:solidFill>
                <a:latin typeface="Consolas"/>
              </a:rPr>
              <a:t>loaded.tolist</a:t>
            </a:r>
            <a:r>
              <a:rPr sz="2700" dirty="0">
                <a:solidFill>
                  <a:srgbClr val="1F3648"/>
                </a:solidFill>
                <a:latin typeface="Consolas"/>
              </a:rPr>
              <a:t>())</a:t>
            </a:r>
            <a:r>
              <a:rPr sz="2700" dirty="0">
                <a:solidFill>
                  <a:srgbClr val="008E8A"/>
                </a:solidFill>
                <a:latin typeface="Consolas"/>
              </a:rPr>
              <a:t>  # Verify saved content.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[80, 90, 95]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Check input for model training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RUNNABLE CODE EXAMPLE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974158" cy="193892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features =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([[2., 80.], [4., 90.]])</a:t>
            </a:r>
            <a:r>
              <a:rPr sz="2000" dirty="0">
                <a:solidFill>
                  <a:srgbClr val="008E8A"/>
                </a:solidFill>
                <a:latin typeface="Consolas"/>
              </a:rPr>
              <a:t>#Features of two learners.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assert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features.ndim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 == 2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Expect rows and columns.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assert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np.isfinite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(features).all()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Reject </a:t>
            </a:r>
            <a:r>
              <a:rPr sz="2400" dirty="0" err="1">
                <a:solidFill>
                  <a:srgbClr val="008E8A"/>
                </a:solidFill>
                <a:latin typeface="Consolas"/>
              </a:rPr>
              <a:t>NaN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and infinities.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400" dirty="0">
                <a:solidFill>
                  <a:srgbClr val="1F3648"/>
                </a:solidFill>
                <a:latin typeface="Consolas"/>
              </a:rPr>
              <a:t>print("Ready:", </a:t>
            </a:r>
            <a:r>
              <a:rPr sz="2400" dirty="0" err="1">
                <a:solidFill>
                  <a:srgbClr val="1F3648"/>
                </a:solidFill>
                <a:latin typeface="Consolas"/>
              </a:rPr>
              <a:t>features.shape</a:t>
            </a:r>
            <a:r>
              <a:rPr sz="2400" dirty="0">
                <a:solidFill>
                  <a:srgbClr val="1F3648"/>
                </a:solidFill>
                <a:latin typeface="Consolas"/>
              </a:rPr>
              <a:t>)</a:t>
            </a:r>
            <a:r>
              <a:rPr sz="2400" dirty="0">
                <a:solidFill>
                  <a:srgbClr val="008E8A"/>
                </a:solidFill>
                <a:latin typeface="Consolas"/>
              </a:rPr>
              <a:t>  # Show confirmed shape.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Ready: (2, 2)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Practice 1: Replace missing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Replace NaN in [1, NaN, 3] with -1, then print the cleaned array.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Practice 1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10252807" cy="134838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([1.,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np.nan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, 3.])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Input values.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np.nan_to_num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(a, nan=-1.))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Replace missing.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[ 1. -1.  3.]</a:t>
            </a: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Practice 2: Save/load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TRY IT INDEPENDENTLY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719072"/>
            <a:ext cx="10835640" cy="3291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1947672"/>
            <a:ext cx="10049256" cy="45720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1">
                <a:solidFill>
                  <a:srgbClr val="008E8A"/>
                </a:solidFill>
                <a:latin typeface="Aptos"/>
              </a:defRPr>
            </a:pPr>
            <a:r>
              <a:t>YOUR CODING TASK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2578608"/>
            <a:ext cx="9829800" cy="155448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700" b="1">
                <a:solidFill>
                  <a:srgbClr val="142C40"/>
                </a:solidFill>
                <a:latin typeface="Aptos"/>
              </a:defRPr>
            </a:pPr>
            <a:r>
              <a:t>Save array [10,20,30] as practice.npy, reload it and assert equality.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276088"/>
            <a:ext cx="10835640" cy="685800"/>
          </a:xfrm>
          <a:prstGeom prst="roundRect">
            <a:avLst>
              <a:gd name="adj" fmla="val 10000"/>
            </a:avLst>
          </a:prstGeom>
          <a:solidFill>
            <a:srgbClr val="E6F5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5458968"/>
            <a:ext cx="10232136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700" b="1">
                <a:solidFill>
                  <a:srgbClr val="008E8A"/>
                </a:solidFill>
                <a:latin typeface="Aptos"/>
              </a:defRPr>
            </a:pPr>
            <a:r>
              <a:t>Use Google Colab  •  Write descriptive # comments  •  Verify your output</a:t>
            </a: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Practice 2 | Worked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WORKED SOLUTION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645920"/>
            <a:ext cx="11018520" cy="3977639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68096" y="1828800"/>
            <a:ext cx="9661299" cy="271856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import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numpy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 as np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Load NumPy.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([10, 20, 30])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Values to save.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 err="1">
                <a:solidFill>
                  <a:srgbClr val="1F3648"/>
                </a:solidFill>
                <a:latin typeface="Consolas"/>
              </a:rPr>
              <a:t>np.save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("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practice.npy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", a)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Store as .</a:t>
            </a:r>
            <a:r>
              <a:rPr sz="2800" dirty="0" err="1">
                <a:solidFill>
                  <a:srgbClr val="008E8A"/>
                </a:solidFill>
                <a:latin typeface="Consolas"/>
              </a:rPr>
              <a:t>npy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b =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np.load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("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practice.npy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")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Read from file.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assert </a:t>
            </a:r>
            <a:r>
              <a:rPr sz="2800" dirty="0" err="1">
                <a:solidFill>
                  <a:srgbClr val="1F3648"/>
                </a:solidFill>
                <a:latin typeface="Consolas"/>
              </a:rPr>
              <a:t>np.array_equal</a:t>
            </a:r>
            <a:r>
              <a:rPr sz="2800" dirty="0">
                <a:solidFill>
                  <a:srgbClr val="1F3648"/>
                </a:solidFill>
                <a:latin typeface="Consolas"/>
              </a:rPr>
              <a:t>(a, b)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Check exact match.</a:t>
            </a:r>
          </a:p>
          <a:p>
            <a:pPr>
              <a:lnSpc>
                <a:spcPct val="106000"/>
              </a:lnSpc>
              <a:spcAft>
                <a:spcPts val="0"/>
              </a:spcAft>
            </a:pPr>
            <a:r>
              <a:rPr sz="2800" dirty="0">
                <a:solidFill>
                  <a:srgbClr val="1F3648"/>
                </a:solidFill>
                <a:latin typeface="Consolas"/>
              </a:rPr>
              <a:t>print(b)</a:t>
            </a:r>
            <a:r>
              <a:rPr sz="2800" dirty="0">
                <a:solidFill>
                  <a:srgbClr val="008E8A"/>
                </a:solidFill>
                <a:latin typeface="Consolas"/>
              </a:rPr>
              <a:t>  # Show reloaded values.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5733288"/>
            <a:ext cx="10799064" cy="50292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600" b="0">
                <a:solidFill>
                  <a:srgbClr val="142C40"/>
                </a:solidFill>
                <a:latin typeface="Aptos"/>
              </a:defRPr>
            </a:pPr>
            <a:r>
              <a:t>OUTPUT  [10 20 30]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10  /  Quick Recap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REMEMBER BEFORE THE NEXT TOPIC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126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16550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86968" y="18379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089404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Numerical data may contain </a:t>
            </a:r>
            <a:r>
              <a:rPr dirty="0" err="1"/>
              <a:t>NaN</a:t>
            </a:r>
            <a:r>
              <a:rPr dirty="0"/>
              <a:t> (missing/unavailable) and infinity; validate them before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0266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86968" y="32095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USEFUL FOR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3507756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Save intermediate arrays for reproducible experiments and ensure model input values are finite.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398264"/>
            <a:ext cx="10835640" cy="1197864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86968" y="4581144"/>
            <a:ext cx="10469880" cy="30175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COMMON 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818888"/>
            <a:ext cx="10424160" cy="4297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000" b="0">
                <a:solidFill>
                  <a:srgbClr val="142C40"/>
                </a:solidFill>
                <a:latin typeface="Aptos"/>
              </a:defRPr>
            </a:pPr>
            <a:r>
              <a:rPr dirty="0"/>
              <a:t>Runtime files in </a:t>
            </a:r>
            <a:r>
              <a:rPr dirty="0" err="1"/>
              <a:t>Colab</a:t>
            </a:r>
            <a:r>
              <a:rPr dirty="0"/>
              <a:t> are temporary; use Google Drive or download the files if persistence beyond a reset is required.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08E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84632" y="256032"/>
            <a:ext cx="9144000" cy="25603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200" b="1">
                <a:solidFill>
                  <a:srgbClr val="008E8A"/>
                </a:solidFill>
                <a:latin typeface="Aptos"/>
              </a:defRPr>
            </a:pPr>
            <a:r>
              <a:t>MODULE 02   /   SATURDAY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4632" y="667512"/>
            <a:ext cx="10972800" cy="548640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2900" b="1">
                <a:solidFill>
                  <a:srgbClr val="142C40"/>
                </a:solidFill>
                <a:latin typeface="Aptos"/>
              </a:defRPr>
            </a:pPr>
            <a:r>
              <a:t>Official References &amp; Further Practice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34440"/>
            <a:ext cx="10972800" cy="21945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100" b="1">
                <a:solidFill>
                  <a:srgbClr val="64778A"/>
                </a:solidFill>
                <a:latin typeface="Aptos"/>
              </a:defRPr>
            </a:pPr>
            <a:r>
              <a:t>VERIFIED DOCUMENTATION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93776" y="6547104"/>
            <a:ext cx="11201400" cy="9144"/>
          </a:xfrm>
          <a:prstGeom prst="rect">
            <a:avLst/>
          </a:prstGeom>
          <a:solidFill>
            <a:srgbClr val="D7E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93776" y="6583680"/>
            <a:ext cx="914400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900" b="1">
                <a:solidFill>
                  <a:srgbClr val="64778A"/>
                </a:solidFill>
                <a:latin typeface="Aptos"/>
              </a:defRPr>
            </a:pPr>
            <a:r>
              <a:t>AI ENGINEERING  /  DATA ANALYSIS &amp; ENGINEERING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83112" y="6574536"/>
            <a:ext cx="548640" cy="201168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 algn="r">
              <a:lnSpc>
                <a:spcPct val="108000"/>
              </a:lnSpc>
              <a:spcAft>
                <a:spcPts val="500"/>
              </a:spcAft>
              <a:defRPr sz="1000" b="1">
                <a:solidFill>
                  <a:srgbClr val="008E8A"/>
                </a:solidFill>
                <a:latin typeface="Aptos"/>
              </a:defRPr>
            </a:pPr>
            <a: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" y="1755648"/>
            <a:ext cx="108356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32688" y="1874519"/>
            <a:ext cx="3749039" cy="3931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008E8A"/>
                </a:solidFill>
                <a:latin typeface="Aptos"/>
              </a:defRPr>
            </a:pPr>
            <a:r>
              <a:t>NumPy user guide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883664"/>
            <a:ext cx="6492240" cy="40233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142C40"/>
                </a:solidFill>
                <a:latin typeface="Aptos"/>
              </a:defRPr>
            </a:pPr>
            <a:r>
              <a:t>https://numpy.org/doc/stable/user/absolute_beginners.html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" y="2688336"/>
            <a:ext cx="10835640" cy="74980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D7E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32688" y="2807208"/>
            <a:ext cx="3749039" cy="393192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900" b="1">
                <a:solidFill>
                  <a:srgbClr val="008E8A"/>
                </a:solidFill>
                <a:latin typeface="Aptos"/>
              </a:defRPr>
            </a:pPr>
            <a:r>
              <a:t>NumPy creation functions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816352"/>
            <a:ext cx="6492240" cy="402336"/>
          </a:xfrm>
          <a:prstGeom prst="rect">
            <a:avLst/>
          </a:prstGeom>
          <a:noFill/>
        </p:spPr>
        <p:txBody>
          <a:bodyPr wrap="square" lIns="0" tIns="18288" rIns="0" bIns="18288" anchor="t">
            <a:spAutoFit/>
          </a:bodyPr>
          <a:lstStyle/>
          <a:p>
            <a:pPr>
              <a:lnSpc>
                <a:spcPct val="108000"/>
              </a:lnSpc>
              <a:spcAft>
                <a:spcPts val="500"/>
              </a:spcAft>
              <a:defRPr sz="1500" b="0">
                <a:solidFill>
                  <a:srgbClr val="142C40"/>
                </a:solidFill>
                <a:latin typeface="Aptos"/>
              </a:defRPr>
            </a:pPr>
            <a:r>
              <a:t>https://numpy.org/doc/stable/user/basics.creation.html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816</TotalTime>
  <Words>9345</Words>
  <Application>Microsoft Office PowerPoint</Application>
  <PresentationFormat>Widescreen</PresentationFormat>
  <Paragraphs>1363</Paragraphs>
  <Slides>127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127</vt:i4>
      </vt:variant>
    </vt:vector>
  </HeadingPairs>
  <TitlesOfParts>
    <vt:vector size="132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au84b</cp:lastModifiedBy>
  <cp:revision>26</cp:revision>
  <dcterms:created xsi:type="dcterms:W3CDTF">2013-01-27T09:14:16Z</dcterms:created>
  <dcterms:modified xsi:type="dcterms:W3CDTF">2026-10-31T11:36:59Z</dcterms:modified>
  <cp:category/>
</cp:coreProperties>
</file>