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6"/>
  </p:notesMasterIdLst>
  <p:sldIdLst>
    <p:sldId id="256" r:id="rId2"/>
    <p:sldId id="257" r:id="rId3"/>
    <p:sldId id="258" r:id="rId4"/>
    <p:sldId id="259" r:id="rId5"/>
    <p:sldId id="260" r:id="rId6"/>
    <p:sldId id="261" r:id="rId7"/>
    <p:sldId id="262" r:id="rId8"/>
    <p:sldId id="263" r:id="rId9"/>
    <p:sldId id="264" r:id="rId10"/>
    <p:sldId id="265" r:id="rId11"/>
    <p:sldId id="368" r:id="rId12"/>
    <p:sldId id="266" r:id="rId13"/>
    <p:sldId id="267" r:id="rId14"/>
    <p:sldId id="268" r:id="rId15"/>
    <p:sldId id="269" r:id="rId16"/>
    <p:sldId id="370" r:id="rId17"/>
    <p:sldId id="371"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72" r:id="rId104"/>
    <p:sldId id="373" r:id="rId105"/>
    <p:sldId id="374" r:id="rId106"/>
    <p:sldId id="375" r:id="rId107"/>
    <p:sldId id="376" r:id="rId108"/>
    <p:sldId id="377" r:id="rId109"/>
    <p:sldId id="355" r:id="rId110"/>
    <p:sldId id="356" r:id="rId111"/>
    <p:sldId id="357" r:id="rId112"/>
    <p:sldId id="358" r:id="rId113"/>
    <p:sldId id="359" r:id="rId114"/>
    <p:sldId id="360" r:id="rId115"/>
    <p:sldId id="361" r:id="rId116"/>
    <p:sldId id="378" r:id="rId117"/>
    <p:sldId id="379" r:id="rId118"/>
    <p:sldId id="380" r:id="rId119"/>
    <p:sldId id="381" r:id="rId120"/>
    <p:sldId id="382" r:id="rId121"/>
    <p:sldId id="383" r:id="rId122"/>
    <p:sldId id="384" r:id="rId123"/>
    <p:sldId id="385" r:id="rId124"/>
    <p:sldId id="367" r:id="rId12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D38D1F6-16B3-44A1-B031-68BA71334C7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7" name="PlaceHolder 1"/>
          <p:cNvSpPr>
            <a:spLocks noGrp="1" noRot="1" noChangeAspect="1"/>
          </p:cNvSpPr>
          <p:nvPr>
            <p:ph type="sldImg"/>
          </p:nvPr>
        </p:nvSpPr>
        <p:spPr>
          <a:xfrm>
            <a:off x="685800" y="1143000"/>
            <a:ext cx="5486400" cy="3086100"/>
          </a:xfrm>
          <a:prstGeom prst="rect">
            <a:avLst/>
          </a:prstGeom>
          <a:ln w="0">
            <a:noFill/>
          </a:ln>
        </p:spPr>
      </p:sp>
      <p:sp>
        <p:nvSpPr>
          <p:cNvPr id="17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Explain the goal in everyday language: we will take a small task list and make it save information. The full web interface is for a later stage.</a:t>
            </a:r>
          </a:p>
        </p:txBody>
      </p:sp>
      <p:sp>
        <p:nvSpPr>
          <p:cNvPr id="1779"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821D966-261D-4A06-AE41-888CD99688E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0" name="PlaceHolder 1"/>
          <p:cNvSpPr>
            <a:spLocks noGrp="1" noRot="1" noChangeAspect="1"/>
          </p:cNvSpPr>
          <p:nvPr>
            <p:ph type="sldImg"/>
          </p:nvPr>
        </p:nvSpPr>
        <p:spPr>
          <a:xfrm>
            <a:off x="685800" y="1143000"/>
            <a:ext cx="5486400" cy="3086100"/>
          </a:xfrm>
          <a:prstGeom prst="rect">
            <a:avLst/>
          </a:prstGeom>
          <a:ln w="0">
            <a:noFill/>
          </a:ln>
        </p:spPr>
      </p:sp>
      <p:sp>
        <p:nvSpPr>
          <p:cNvPr id="17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Assure students they do not have to master every tool in one day. We focus on understanding and running small examples.</a:t>
            </a:r>
          </a:p>
        </p:txBody>
      </p:sp>
      <p:sp>
        <p:nvSpPr>
          <p:cNvPr id="1782"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14B61D-14B4-4B94-8853-B68306DCE8C0}"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3" name="PlaceHolder 1"/>
          <p:cNvSpPr>
            <a:spLocks noGrp="1" noRot="1" noChangeAspect="1"/>
          </p:cNvSpPr>
          <p:nvPr>
            <p:ph type="sldImg"/>
          </p:nvPr>
        </p:nvSpPr>
        <p:spPr>
          <a:xfrm>
            <a:off x="685800" y="1143000"/>
            <a:ext cx="5486400" cy="3086100"/>
          </a:xfrm>
          <a:prstGeom prst="rect">
            <a:avLst/>
          </a:prstGeom>
          <a:ln w="0">
            <a:noFill/>
          </a:ln>
        </p:spPr>
      </p:sp>
      <p:sp>
        <p:nvSpPr>
          <p:cNvPr id="17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Use this pattern for all OOP and SQL exercises. Short independent tries are more important than covering too many advanced topics.</a:t>
            </a:r>
          </a:p>
        </p:txBody>
      </p:sp>
      <p:sp>
        <p:nvSpPr>
          <p:cNvPr id="1785"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4CF2ABA-5D34-417C-A99D-35F30C3E97BC}"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6" name="PlaceHolder 1"/>
          <p:cNvSpPr>
            <a:spLocks noGrp="1" noRot="1" noChangeAspect="1"/>
          </p:cNvSpPr>
          <p:nvPr>
            <p:ph type="sldImg"/>
          </p:nvPr>
        </p:nvSpPr>
        <p:spPr>
          <a:xfrm>
            <a:off x="685800" y="1143000"/>
            <a:ext cx="5486400" cy="3086100"/>
          </a:xfrm>
          <a:prstGeom prst="rect">
            <a:avLst/>
          </a:prstGeom>
          <a:ln w="0">
            <a:noFill/>
          </a:ln>
        </p:spPr>
      </p:sp>
      <p:sp>
        <p:nvSpPr>
          <p:cNvPr id="17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Store student or task information in a file. Give a familiar real-life example before starting coding.</a:t>
            </a:r>
          </a:p>
        </p:txBody>
      </p:sp>
      <p:sp>
        <p:nvSpPr>
          <p:cNvPr id="1788"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76C5847-2244-4A04-9427-CB0BC95C4802}"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9" name="PlaceHolder 1"/>
          <p:cNvSpPr>
            <a:spLocks noGrp="1" noRot="1" noChangeAspect="1"/>
          </p:cNvSpPr>
          <p:nvPr>
            <p:ph type="sldImg"/>
          </p:nvPr>
        </p:nvSpPr>
        <p:spPr>
          <a:xfrm>
            <a:off x="685800" y="1143000"/>
            <a:ext cx="5486400" cy="3086100"/>
          </a:xfrm>
          <a:prstGeom prst="rect">
            <a:avLst/>
          </a:prstGeom>
          <a:ln w="0">
            <a:noFill/>
          </a:ln>
        </p:spPr>
      </p:sp>
      <p:sp>
        <p:nvSpPr>
          <p:cNvPr id="17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Contrast a list in memory versus data saved in a file. In Google Colab, /content is temporary and Drive is needed for durable storage.</a:t>
            </a:r>
          </a:p>
        </p:txBody>
      </p:sp>
      <p:sp>
        <p:nvSpPr>
          <p:cNvPr id="1791"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950286-2807-4E90-AB4F-7AED0789C585}"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 name="PlaceHolder 1"/>
          <p:cNvSpPr>
            <a:spLocks noGrp="1" noRot="1" noChangeAspect="1"/>
          </p:cNvSpPr>
          <p:nvPr>
            <p:ph type="sldImg"/>
          </p:nvPr>
        </p:nvSpPr>
        <p:spPr>
          <a:xfrm>
            <a:off x="685800" y="1143000"/>
            <a:ext cx="5486400" cy="3086100"/>
          </a:xfrm>
          <a:prstGeom prst="rect">
            <a:avLst/>
          </a:prstGeom>
          <a:ln w="0">
            <a:noFill/>
          </a:ln>
        </p:spPr>
      </p:sp>
      <p:sp>
        <p:nvSpPr>
          <p:cNvPr id="17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Show the Files sidebar of Colab. Distinguish file content from its location.</a:t>
            </a:r>
          </a:p>
        </p:txBody>
      </p:sp>
      <p:sp>
        <p:nvSpPr>
          <p:cNvPr id="1794"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1FECB3-AB4F-465A-9594-D08AC6DA4F66}"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5" name="PlaceHolder 1"/>
          <p:cNvSpPr>
            <a:spLocks noGrp="1" noRot="1" noChangeAspect="1"/>
          </p:cNvSpPr>
          <p:nvPr>
            <p:ph type="sldImg"/>
          </p:nvPr>
        </p:nvSpPr>
        <p:spPr>
          <a:xfrm>
            <a:off x="685800" y="1143000"/>
            <a:ext cx="5486400" cy="3086100"/>
          </a:xfrm>
          <a:prstGeom prst="rect">
            <a:avLst/>
          </a:prstGeom>
          <a:ln w="0">
            <a:noFill/>
          </a:ln>
        </p:spPr>
      </p:sp>
      <p:sp>
        <p:nvSpPr>
          <p:cNvPr id="17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Students confuse w and a. Use the analogy of erasing a notebook vs adding the next line.</a:t>
            </a:r>
          </a:p>
        </p:txBody>
      </p:sp>
      <p:sp>
        <p:nvSpPr>
          <p:cNvPr id="1797"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08AC446-1AB6-4F12-BDDB-E91B5345A78F}"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8" name="PlaceHolder 1"/>
          <p:cNvSpPr>
            <a:spLocks noGrp="1" noRot="1" noChangeAspect="1"/>
          </p:cNvSpPr>
          <p:nvPr>
            <p:ph type="sldImg"/>
          </p:nvPr>
        </p:nvSpPr>
        <p:spPr>
          <a:xfrm>
            <a:off x="685800" y="1143000"/>
            <a:ext cx="5486400" cy="3086100"/>
          </a:xfrm>
          <a:prstGeom prst="rect">
            <a:avLst/>
          </a:prstGeom>
          <a:ln w="0">
            <a:noFill/>
          </a:ln>
        </p:spPr>
      </p:sp>
      <p:sp>
        <p:nvSpPr>
          <p:cNvPr id="17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00"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4D83158-A930-4781-BDA8-85559933D985}"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1" name="PlaceHolder 1"/>
          <p:cNvSpPr>
            <a:spLocks noGrp="1" noRot="1" noChangeAspect="1"/>
          </p:cNvSpPr>
          <p:nvPr>
            <p:ph type="sldImg"/>
          </p:nvPr>
        </p:nvSpPr>
        <p:spPr>
          <a:xfrm>
            <a:off x="685800" y="1143000"/>
            <a:ext cx="5486400" cy="3086100"/>
          </a:xfrm>
          <a:prstGeom prst="rect">
            <a:avLst/>
          </a:prstGeom>
          <a:ln w="0">
            <a:noFill/>
          </a:ln>
        </p:spPr>
      </p:sp>
      <p:sp>
        <p:nvSpPr>
          <p:cNvPr id="18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Run after the previous slide so tasks.txt already exists.</a:t>
            </a:r>
          </a:p>
        </p:txBody>
      </p:sp>
      <p:sp>
        <p:nvSpPr>
          <p:cNvPr id="1803"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475A29B-42F4-4E30-A2B6-260209D26032}"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4" name="PlaceHolder 1"/>
          <p:cNvSpPr>
            <a:spLocks noGrp="1" noRot="1" noChangeAspect="1"/>
          </p:cNvSpPr>
          <p:nvPr>
            <p:ph type="sldImg"/>
          </p:nvPr>
        </p:nvSpPr>
        <p:spPr>
          <a:xfrm>
            <a:off x="685800" y="1143000"/>
            <a:ext cx="5486400" cy="3086100"/>
          </a:xfrm>
          <a:prstGeom prst="rect">
            <a:avLst/>
          </a:prstGeom>
          <a:ln w="0">
            <a:noFill/>
          </a:ln>
        </p:spPr>
      </p:sp>
      <p:sp>
        <p:nvSpPr>
          <p:cNvPr id="18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806"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32EF3E-6683-4898-9C4B-4197663BD70E}"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4" name="PlaceHolder 1"/>
          <p:cNvSpPr>
            <a:spLocks noGrp="1" noRot="1" noChangeAspect="1"/>
          </p:cNvSpPr>
          <p:nvPr>
            <p:ph type="sldImg"/>
          </p:nvPr>
        </p:nvSpPr>
        <p:spPr>
          <a:xfrm>
            <a:off x="685800" y="1143000"/>
            <a:ext cx="5486400" cy="3086100"/>
          </a:xfrm>
          <a:prstGeom prst="rect">
            <a:avLst/>
          </a:prstGeom>
          <a:ln w="0">
            <a:noFill/>
          </a:ln>
        </p:spPr>
      </p:sp>
      <p:sp>
        <p:nvSpPr>
          <p:cNvPr id="18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806"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32EF3E-6683-4898-9C4B-4197663BD70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86979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7" name="PlaceHolder 1"/>
          <p:cNvSpPr>
            <a:spLocks noGrp="1" noRot="1" noChangeAspect="1"/>
          </p:cNvSpPr>
          <p:nvPr>
            <p:ph type="sldImg"/>
          </p:nvPr>
        </p:nvSpPr>
        <p:spPr>
          <a:xfrm>
            <a:off x="685800" y="1143000"/>
            <a:ext cx="5486400" cy="3086100"/>
          </a:xfrm>
          <a:prstGeom prst="rect">
            <a:avLst/>
          </a:prstGeom>
          <a:ln w="0">
            <a:noFill/>
          </a:ln>
        </p:spPr>
      </p:sp>
      <p:sp>
        <p:nvSpPr>
          <p:cNvPr id="18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Now show the answer. Walk through the commented code. Ask learners how their solutions differ and why both might work.</a:t>
            </a:r>
          </a:p>
        </p:txBody>
      </p:sp>
      <p:sp>
        <p:nvSpPr>
          <p:cNvPr id="1809"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05C105-7081-4BF6-87A2-DBDC82D80C4B}"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0" name="PlaceHolder 1"/>
          <p:cNvSpPr>
            <a:spLocks noGrp="1" noRot="1" noChangeAspect="1"/>
          </p:cNvSpPr>
          <p:nvPr>
            <p:ph type="sldImg"/>
          </p:nvPr>
        </p:nvSpPr>
        <p:spPr>
          <a:xfrm>
            <a:off x="685800" y="1143000"/>
            <a:ext cx="5486400" cy="3086100"/>
          </a:xfrm>
          <a:prstGeom prst="rect">
            <a:avLst/>
          </a:prstGeom>
          <a:ln w="0">
            <a:noFill/>
          </a:ln>
        </p:spPr>
      </p:sp>
      <p:sp>
        <p:nvSpPr>
          <p:cNvPr id="18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Show a mini table with name and marks on board. CSV is not the same as a real Excel spreadsheet.</a:t>
            </a:r>
          </a:p>
        </p:txBody>
      </p:sp>
      <p:sp>
        <p:nvSpPr>
          <p:cNvPr id="1812"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C10916-ABC3-4683-B2FD-7EB369B276E0}"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3" name="PlaceHolder 1"/>
          <p:cNvSpPr>
            <a:spLocks noGrp="1" noRot="1" noChangeAspect="1"/>
          </p:cNvSpPr>
          <p:nvPr>
            <p:ph type="sldImg"/>
          </p:nvPr>
        </p:nvSpPr>
        <p:spPr>
          <a:xfrm>
            <a:off x="685800" y="1143000"/>
            <a:ext cx="5486400" cy="3086100"/>
          </a:xfrm>
          <a:prstGeom prst="rect">
            <a:avLst/>
          </a:prstGeom>
          <a:ln w="0">
            <a:noFill/>
          </a:ln>
        </p:spPr>
      </p:sp>
      <p:sp>
        <p:nvSpPr>
          <p:cNvPr id="18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Explain JSON as labeled boxes: {"title":"Read", "done":false}. JSON stores booleans as true/false, Python uses True/False.</a:t>
            </a:r>
          </a:p>
        </p:txBody>
      </p:sp>
      <p:sp>
        <p:nvSpPr>
          <p:cNvPr id="1815"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F555A7F-D814-47AA-964B-C6B111465245}"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6" name="PlaceHolder 1"/>
          <p:cNvSpPr>
            <a:spLocks noGrp="1" noRot="1" noChangeAspect="1"/>
          </p:cNvSpPr>
          <p:nvPr>
            <p:ph type="sldImg"/>
          </p:nvPr>
        </p:nvSpPr>
        <p:spPr>
          <a:xfrm>
            <a:off x="685800" y="1143000"/>
            <a:ext cx="5486400" cy="3086100"/>
          </a:xfrm>
          <a:prstGeom prst="rect">
            <a:avLst/>
          </a:prstGeom>
          <a:ln w="0">
            <a:noFill/>
          </a:ln>
        </p:spPr>
      </p:sp>
      <p:sp>
        <p:nvSpPr>
          <p:cNvPr id="18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18"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8415E2-CFE8-48BC-9B3C-A00E87D4156B}"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4" name="PlaceHolder 1"/>
          <p:cNvSpPr>
            <a:spLocks noGrp="1" noRot="1" noChangeAspect="1"/>
          </p:cNvSpPr>
          <p:nvPr>
            <p:ph type="sldImg"/>
          </p:nvPr>
        </p:nvSpPr>
        <p:spPr>
          <a:xfrm>
            <a:off x="685800" y="1143000"/>
            <a:ext cx="5486400" cy="3086100"/>
          </a:xfrm>
          <a:prstGeom prst="rect">
            <a:avLst/>
          </a:prstGeom>
          <a:ln w="0">
            <a:noFill/>
          </a:ln>
        </p:spPr>
      </p:sp>
      <p:sp>
        <p:nvSpPr>
          <p:cNvPr id="18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806"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32EF3E-6683-4898-9C4B-4197663BD70E}"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4028003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6" name="PlaceHolder 1"/>
          <p:cNvSpPr>
            <a:spLocks noGrp="1" noRot="1" noChangeAspect="1"/>
          </p:cNvSpPr>
          <p:nvPr>
            <p:ph type="sldImg"/>
          </p:nvPr>
        </p:nvSpPr>
        <p:spPr>
          <a:xfrm>
            <a:off x="685800" y="1143000"/>
            <a:ext cx="5486400" cy="3086100"/>
          </a:xfrm>
          <a:prstGeom prst="rect">
            <a:avLst/>
          </a:prstGeom>
          <a:ln w="0">
            <a:noFill/>
          </a:ln>
        </p:spPr>
      </p:sp>
      <p:sp>
        <p:nvSpPr>
          <p:cNvPr id="18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18"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8415E2-CFE8-48BC-9B3C-A00E87D4156B}"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119935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9" name="PlaceHolder 1"/>
          <p:cNvSpPr>
            <a:spLocks noGrp="1" noRot="1" noChangeAspect="1"/>
          </p:cNvSpPr>
          <p:nvPr>
            <p:ph type="sldImg"/>
          </p:nvPr>
        </p:nvSpPr>
        <p:spPr>
          <a:xfrm>
            <a:off x="685800" y="1143000"/>
            <a:ext cx="5486400" cy="3086100"/>
          </a:xfrm>
          <a:prstGeom prst="rect">
            <a:avLst/>
          </a:prstGeom>
          <a:ln w="0">
            <a:noFill/>
          </a:ln>
        </p:spPr>
      </p:sp>
      <p:sp>
        <p:nvSpPr>
          <p:cNvPr id="18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Help the program respond to expected problems. Give a familiar real-life example before starting coding.</a:t>
            </a:r>
          </a:p>
        </p:txBody>
      </p:sp>
      <p:sp>
        <p:nvSpPr>
          <p:cNvPr id="1821"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281EC6-0830-4035-BAA1-BD5A5FC1A5BE}"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 name="PlaceHolder 1"/>
          <p:cNvSpPr>
            <a:spLocks noGrp="1" noRot="1" noChangeAspect="1"/>
          </p:cNvSpPr>
          <p:nvPr>
            <p:ph type="sldImg"/>
          </p:nvPr>
        </p:nvSpPr>
        <p:spPr>
          <a:xfrm>
            <a:off x="685800" y="1143000"/>
            <a:ext cx="5486400" cy="3086100"/>
          </a:xfrm>
          <a:prstGeom prst="rect">
            <a:avLst/>
          </a:prstGeom>
          <a:ln w="0">
            <a:noFill/>
          </a:ln>
        </p:spPr>
      </p:sp>
      <p:sp>
        <p:nvSpPr>
          <p:cNvPr id="18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Distinguish a syntax error from a runtime exception. Encourage students to read the last traceback line.</a:t>
            </a:r>
          </a:p>
        </p:txBody>
      </p:sp>
      <p:sp>
        <p:nvSpPr>
          <p:cNvPr id="1824"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0D4C7B-F254-49C7-9AE0-129A3401580C}"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5" name="PlaceHolder 1"/>
          <p:cNvSpPr>
            <a:spLocks noGrp="1" noRot="1" noChangeAspect="1"/>
          </p:cNvSpPr>
          <p:nvPr>
            <p:ph type="sldImg"/>
          </p:nvPr>
        </p:nvSpPr>
        <p:spPr>
          <a:xfrm>
            <a:off x="685800" y="1143000"/>
            <a:ext cx="5486400" cy="3086100"/>
          </a:xfrm>
          <a:prstGeom prst="rect">
            <a:avLst/>
          </a:prstGeom>
          <a:ln w="0">
            <a:noFill/>
          </a:ln>
        </p:spPr>
      </p:sp>
      <p:sp>
        <p:nvSpPr>
          <p:cNvPr id="18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27"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F13EEA-D6A3-429C-A335-11153E033772}"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8" name="PlaceHolder 1"/>
          <p:cNvSpPr>
            <a:spLocks noGrp="1" noRot="1" noChangeAspect="1"/>
          </p:cNvSpPr>
          <p:nvPr>
            <p:ph type="sldImg"/>
          </p:nvPr>
        </p:nvSpPr>
        <p:spPr>
          <a:xfrm>
            <a:off x="685800" y="1143000"/>
            <a:ext cx="5486400" cy="3086100"/>
          </a:xfrm>
          <a:prstGeom prst="rect">
            <a:avLst/>
          </a:prstGeom>
          <a:ln w="0">
            <a:noFill/>
          </a:ln>
        </p:spPr>
      </p:sp>
      <p:sp>
        <p:nvSpPr>
          <p:cNvPr id="18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30"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C95D87C-2887-4DD4-AE42-83216FADAA20}"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1" name="PlaceHolder 1"/>
          <p:cNvSpPr>
            <a:spLocks noGrp="1" noRot="1" noChangeAspect="1"/>
          </p:cNvSpPr>
          <p:nvPr>
            <p:ph type="sldImg"/>
          </p:nvPr>
        </p:nvSpPr>
        <p:spPr>
          <a:xfrm>
            <a:off x="685800" y="1143000"/>
            <a:ext cx="5486400" cy="3086100"/>
          </a:xfrm>
          <a:prstGeom prst="rect">
            <a:avLst/>
          </a:prstGeom>
          <a:ln w="0">
            <a:noFill/>
          </a:ln>
        </p:spPr>
      </p:sp>
      <p:sp>
        <p:nvSpPr>
          <p:cNvPr id="18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833"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045046-3B88-4777-90E3-69B474449639}"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4" name="PlaceHolder 1"/>
          <p:cNvSpPr>
            <a:spLocks noGrp="1" noRot="1" noChangeAspect="1"/>
          </p:cNvSpPr>
          <p:nvPr>
            <p:ph type="sldImg"/>
          </p:nvPr>
        </p:nvSpPr>
        <p:spPr>
          <a:xfrm>
            <a:off x="685800" y="1143000"/>
            <a:ext cx="5486400" cy="3086100"/>
          </a:xfrm>
          <a:prstGeom prst="rect">
            <a:avLst/>
          </a:prstGeom>
          <a:ln w="0">
            <a:noFill/>
          </a:ln>
        </p:spPr>
      </p:sp>
      <p:sp>
        <p:nvSpPr>
          <p:cNvPr id="18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Now show the answer. Walk through the commented code. Ask learners how their solutions differ and why both might work.</a:t>
            </a:r>
          </a:p>
        </p:txBody>
      </p:sp>
      <p:sp>
        <p:nvSpPr>
          <p:cNvPr id="1836"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E72059-ABDD-49C1-8D04-AC14B2F2ADBF}"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7" name="PlaceHolder 1"/>
          <p:cNvSpPr>
            <a:spLocks noGrp="1" noRot="1" noChangeAspect="1"/>
          </p:cNvSpPr>
          <p:nvPr>
            <p:ph type="sldImg"/>
          </p:nvPr>
        </p:nvSpPr>
        <p:spPr>
          <a:xfrm>
            <a:off x="685800" y="1143000"/>
            <a:ext cx="5486400" cy="3086100"/>
          </a:xfrm>
          <a:prstGeom prst="rect">
            <a:avLst/>
          </a:prstGeom>
          <a:ln w="0">
            <a:noFill/>
          </a:ln>
        </p:spPr>
      </p:sp>
      <p:sp>
        <p:nvSpPr>
          <p:cNvPr id="18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39"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3475D83-F31F-4784-8704-8D5A3454E78F}"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0" name="PlaceHolder 1"/>
          <p:cNvSpPr>
            <a:spLocks noGrp="1" noRot="1" noChangeAspect="1"/>
          </p:cNvSpPr>
          <p:nvPr>
            <p:ph type="sldImg"/>
          </p:nvPr>
        </p:nvSpPr>
        <p:spPr>
          <a:xfrm>
            <a:off x="685800" y="1143000"/>
            <a:ext cx="5486400" cy="3086100"/>
          </a:xfrm>
          <a:prstGeom prst="rect">
            <a:avLst/>
          </a:prstGeom>
          <a:ln w="0">
            <a:noFill/>
          </a:ln>
        </p:spPr>
      </p:sp>
      <p:sp>
        <p:nvSpPr>
          <p:cNvPr id="18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Use functions, imports, docstrings, and simple structure. Give a familiar real-life example before starting coding.</a:t>
            </a:r>
          </a:p>
        </p:txBody>
      </p:sp>
      <p:sp>
        <p:nvSpPr>
          <p:cNvPr id="1842"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2C16B92-E7F0-45CB-A52B-71428864DB43}"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 name="PlaceHolder 1"/>
          <p:cNvSpPr>
            <a:spLocks noGrp="1" noRot="1" noChangeAspect="1"/>
          </p:cNvSpPr>
          <p:nvPr>
            <p:ph type="sldImg"/>
          </p:nvPr>
        </p:nvSpPr>
        <p:spPr>
          <a:xfrm>
            <a:off x="685800" y="1143000"/>
            <a:ext cx="5486400" cy="3086100"/>
          </a:xfrm>
          <a:prstGeom prst="rect">
            <a:avLst/>
          </a:prstGeom>
          <a:ln w="0">
            <a:noFill/>
          </a:ln>
        </p:spPr>
      </p:sp>
      <p:sp>
        <p:nvSpPr>
          <p:cNvPr id="18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Google Colab supports imports. Most beginner examples need only built-in modules.</a:t>
            </a:r>
          </a:p>
        </p:txBody>
      </p:sp>
      <p:sp>
        <p:nvSpPr>
          <p:cNvPr id="1845"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E6FC129-BD3E-4806-9AB6-95F197BD91A7}"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6" name="PlaceHolder 1"/>
          <p:cNvSpPr>
            <a:spLocks noGrp="1" noRot="1" noChangeAspect="1"/>
          </p:cNvSpPr>
          <p:nvPr>
            <p:ph type="sldImg"/>
          </p:nvPr>
        </p:nvSpPr>
        <p:spPr>
          <a:xfrm>
            <a:off x="685800" y="1143000"/>
            <a:ext cx="5486400" cy="3086100"/>
          </a:xfrm>
          <a:prstGeom prst="rect">
            <a:avLst/>
          </a:prstGeom>
          <a:ln w="0">
            <a:noFill/>
          </a:ln>
        </p:spPr>
      </p:sp>
      <p:sp>
        <p:nvSpPr>
          <p:cNvPr id="18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Compare a huge function with two small ones. Emphasize inputs, processing, outputs.</a:t>
            </a:r>
          </a:p>
        </p:txBody>
      </p:sp>
      <p:sp>
        <p:nvSpPr>
          <p:cNvPr id="1848"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A8045B-DD12-4086-96A8-2A3A4CB087B3}"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9" name="PlaceHolder 1"/>
          <p:cNvSpPr>
            <a:spLocks noGrp="1" noRot="1" noChangeAspect="1"/>
          </p:cNvSpPr>
          <p:nvPr>
            <p:ph type="sldImg"/>
          </p:nvPr>
        </p:nvSpPr>
        <p:spPr>
          <a:xfrm>
            <a:off x="685800" y="1143000"/>
            <a:ext cx="5486400" cy="3086100"/>
          </a:xfrm>
          <a:prstGeom prst="rect">
            <a:avLst/>
          </a:prstGeom>
          <a:ln w="0">
            <a:noFill/>
          </a:ln>
        </p:spPr>
      </p:sp>
      <p:sp>
        <p:nvSpPr>
          <p:cNvPr id="18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51"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4BEAAD-CC43-479A-A745-39F48756E480}"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2" name="PlaceHolder 1"/>
          <p:cNvSpPr>
            <a:spLocks noGrp="1" noRot="1" noChangeAspect="1"/>
          </p:cNvSpPr>
          <p:nvPr>
            <p:ph type="sldImg"/>
          </p:nvPr>
        </p:nvSpPr>
        <p:spPr>
          <a:xfrm>
            <a:off x="685800" y="1143000"/>
            <a:ext cx="5486400" cy="3086100"/>
          </a:xfrm>
          <a:prstGeom prst="rect">
            <a:avLst/>
          </a:prstGeom>
          <a:ln w="0">
            <a:noFill/>
          </a:ln>
        </p:spPr>
      </p:sp>
      <p:sp>
        <p:nvSpPr>
          <p:cNvPr id="18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Give one example of each case. Ask the class to state the most important difference in one sentence.</a:t>
            </a:r>
          </a:p>
        </p:txBody>
      </p:sp>
      <p:sp>
        <p:nvSpPr>
          <p:cNvPr id="1854"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DAFAD8-56DF-4082-AF39-C6B0820A440F}"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5" name="PlaceHolder 1"/>
          <p:cNvSpPr>
            <a:spLocks noGrp="1" noRot="1" noChangeAspect="1"/>
          </p:cNvSpPr>
          <p:nvPr>
            <p:ph type="sldImg"/>
          </p:nvPr>
        </p:nvSpPr>
        <p:spPr>
          <a:xfrm>
            <a:off x="685800" y="1143000"/>
            <a:ext cx="5486400" cy="3086100"/>
          </a:xfrm>
          <a:prstGeom prst="rect">
            <a:avLst/>
          </a:prstGeom>
          <a:ln w="0">
            <a:noFill/>
          </a:ln>
        </p:spPr>
      </p:sp>
      <p:sp>
        <p:nvSpPr>
          <p:cNvPr id="18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Explain type hints as labels rather than security guards. The runtime permits mismatches unless validation is added.</a:t>
            </a:r>
          </a:p>
        </p:txBody>
      </p:sp>
      <p:sp>
        <p:nvSpPr>
          <p:cNvPr id="1857"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148C869-C5AA-4311-B817-3DADF84346D7}"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8" name="PlaceHolder 1"/>
          <p:cNvSpPr>
            <a:spLocks noGrp="1" noRot="1" noChangeAspect="1"/>
          </p:cNvSpPr>
          <p:nvPr>
            <p:ph type="sldImg"/>
          </p:nvPr>
        </p:nvSpPr>
        <p:spPr>
          <a:xfrm>
            <a:off x="685800" y="1143000"/>
            <a:ext cx="5486400" cy="3086100"/>
          </a:xfrm>
          <a:prstGeom prst="rect">
            <a:avLst/>
          </a:prstGeom>
          <a:ln w="0">
            <a:noFill/>
          </a:ln>
        </p:spPr>
      </p:sp>
      <p:sp>
        <p:nvSpPr>
          <p:cNvPr id="18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Use task tracker example: get user input, call add_task, save list. This is the seed of multi-file design.</a:t>
            </a:r>
          </a:p>
        </p:txBody>
      </p:sp>
      <p:sp>
        <p:nvSpPr>
          <p:cNvPr id="1860"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51F9181-7E16-4025-9DB0-0B8A0D7E6F3D}"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1" name="PlaceHolder 1"/>
          <p:cNvSpPr>
            <a:spLocks noGrp="1" noRot="1" noChangeAspect="1"/>
          </p:cNvSpPr>
          <p:nvPr>
            <p:ph type="sldImg"/>
          </p:nvPr>
        </p:nvSpPr>
        <p:spPr>
          <a:xfrm>
            <a:off x="685800" y="1143000"/>
            <a:ext cx="5486400" cy="3086100"/>
          </a:xfrm>
          <a:prstGeom prst="rect">
            <a:avLst/>
          </a:prstGeom>
          <a:ln w="0">
            <a:noFill/>
          </a:ln>
        </p:spPr>
      </p:sp>
      <p:sp>
        <p:nvSpPr>
          <p:cNvPr id="18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If Colab Secrets are used, use the key icon and demonstrate with dummy values only.</a:t>
            </a:r>
          </a:p>
        </p:txBody>
      </p:sp>
      <p:sp>
        <p:nvSpPr>
          <p:cNvPr id="1863"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1C9FCCB-467C-45A9-B1CA-D3D65856D1B3}"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4" name="PlaceHolder 1"/>
          <p:cNvSpPr>
            <a:spLocks noGrp="1" noRot="1" noChangeAspect="1"/>
          </p:cNvSpPr>
          <p:nvPr>
            <p:ph type="sldImg"/>
          </p:nvPr>
        </p:nvSpPr>
        <p:spPr>
          <a:xfrm>
            <a:off x="685800" y="1143000"/>
            <a:ext cx="5486400" cy="3086100"/>
          </a:xfrm>
          <a:prstGeom prst="rect">
            <a:avLst/>
          </a:prstGeom>
          <a:ln w="0">
            <a:noFill/>
          </a:ln>
        </p:spPr>
      </p:sp>
      <p:sp>
        <p:nvSpPr>
          <p:cNvPr id="18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Learn one idea, see one small example, then try it. Give a familiar real-life example before starting coding.</a:t>
            </a:r>
          </a:p>
        </p:txBody>
      </p:sp>
      <p:sp>
        <p:nvSpPr>
          <p:cNvPr id="1866"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C9A49E5-53EF-4336-83F3-C9FCC08D91D8}"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7" name="PlaceHolder 1"/>
          <p:cNvSpPr>
            <a:spLocks noGrp="1" noRot="1" noChangeAspect="1"/>
          </p:cNvSpPr>
          <p:nvPr>
            <p:ph type="sldImg"/>
          </p:nvPr>
        </p:nvSpPr>
        <p:spPr>
          <a:xfrm>
            <a:off x="685800" y="1143000"/>
            <a:ext cx="5486400" cy="3086100"/>
          </a:xfrm>
          <a:prstGeom prst="rect">
            <a:avLst/>
          </a:prstGeom>
          <a:ln w="0">
            <a:noFill/>
          </a:ln>
        </p:spPr>
      </p:sp>
      <p:sp>
        <p:nvSpPr>
          <p:cNvPr id="18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Use student record analogy: name and age are attributes; introduce() is a method. Don’t introduce every OOP term simultaneously.</a:t>
            </a:r>
          </a:p>
        </p:txBody>
      </p:sp>
      <p:sp>
        <p:nvSpPr>
          <p:cNvPr id="1869"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AB6E51D-9032-4219-9273-C08AB89E48B0}"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0" name="PlaceHolder 1"/>
          <p:cNvSpPr>
            <a:spLocks noGrp="1" noRot="1" noChangeAspect="1"/>
          </p:cNvSpPr>
          <p:nvPr>
            <p:ph type="sldImg"/>
          </p:nvPr>
        </p:nvSpPr>
        <p:spPr>
          <a:xfrm>
            <a:off x="685800" y="1143000"/>
            <a:ext cx="5486400" cy="3086100"/>
          </a:xfrm>
          <a:prstGeom prst="rect">
            <a:avLst/>
          </a:prstGeom>
          <a:ln w="0">
            <a:noFill/>
          </a:ln>
        </p:spPr>
      </p:sp>
      <p:sp>
        <p:nvSpPr>
          <p:cNvPr id="18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72"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92E67C5-1077-410C-A12E-CFF4EFAFBBF9}"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 name="PlaceHolder 1"/>
          <p:cNvSpPr>
            <a:spLocks noGrp="1" noRot="1" noChangeAspect="1"/>
          </p:cNvSpPr>
          <p:nvPr>
            <p:ph type="sldImg"/>
          </p:nvPr>
        </p:nvSpPr>
        <p:spPr>
          <a:xfrm>
            <a:off x="685800" y="1143000"/>
            <a:ext cx="5486400" cy="3086100"/>
          </a:xfrm>
          <a:prstGeom prst="rect">
            <a:avLst/>
          </a:prstGeom>
          <a:ln w="0">
            <a:noFill/>
          </a:ln>
        </p:spPr>
      </p:sp>
      <p:sp>
        <p:nvSpPr>
          <p:cNvPr id="18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875"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712227-0290-48A4-AFC9-16C3517257F2}"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6" name="PlaceHolder 1"/>
          <p:cNvSpPr>
            <a:spLocks noGrp="1" noRot="1" noChangeAspect="1"/>
          </p:cNvSpPr>
          <p:nvPr>
            <p:ph type="sldImg"/>
          </p:nvPr>
        </p:nvSpPr>
        <p:spPr>
          <a:xfrm>
            <a:off x="685800" y="1143000"/>
            <a:ext cx="5486400" cy="3086100"/>
          </a:xfrm>
          <a:prstGeom prst="rect">
            <a:avLst/>
          </a:prstGeom>
          <a:ln w="0">
            <a:noFill/>
          </a:ln>
        </p:spPr>
      </p:sp>
      <p:sp>
        <p:nvSpPr>
          <p:cNvPr id="18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Now show the answer. Walk through the commented code. Ask learners how their solutions differ and why both might work.</a:t>
            </a:r>
          </a:p>
        </p:txBody>
      </p:sp>
      <p:sp>
        <p:nvSpPr>
          <p:cNvPr id="1878"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EF740BF-041D-462F-9D77-285E6BF5AD18}"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9" name="PlaceHolder 1"/>
          <p:cNvSpPr>
            <a:spLocks noGrp="1" noRot="1" noChangeAspect="1"/>
          </p:cNvSpPr>
          <p:nvPr>
            <p:ph type="sldImg"/>
          </p:nvPr>
        </p:nvSpPr>
        <p:spPr>
          <a:xfrm>
            <a:off x="685800" y="1143000"/>
            <a:ext cx="5486400" cy="3086100"/>
          </a:xfrm>
          <a:prstGeom prst="rect">
            <a:avLst/>
          </a:prstGeom>
          <a:ln w="0">
            <a:noFill/>
          </a:ln>
        </p:spPr>
      </p:sp>
      <p:sp>
        <p:nvSpPr>
          <p:cNvPr id="18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Attributes are fields on objects, like labels on a student file.</a:t>
            </a:r>
          </a:p>
        </p:txBody>
      </p:sp>
      <p:sp>
        <p:nvSpPr>
          <p:cNvPr id="1881"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4B02A55-188C-4FCF-AA1F-9F1A7BF1EC30}"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2" name="PlaceHolder 1"/>
          <p:cNvSpPr>
            <a:spLocks noGrp="1" noRot="1" noChangeAspect="1"/>
          </p:cNvSpPr>
          <p:nvPr>
            <p:ph type="sldImg"/>
          </p:nvPr>
        </p:nvSpPr>
        <p:spPr>
          <a:xfrm>
            <a:off x="685800" y="1143000"/>
            <a:ext cx="5486400" cy="3086100"/>
          </a:xfrm>
          <a:prstGeom prst="rect">
            <a:avLst/>
          </a:prstGeom>
          <a:ln w="0">
            <a:noFill/>
          </a:ln>
        </p:spPr>
      </p:sp>
      <p:sp>
        <p:nvSpPr>
          <p:cNvPr id="18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84"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02DE681-6763-4716-B4D0-4C4B443E166C}"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5" name="PlaceHolder 1"/>
          <p:cNvSpPr>
            <a:spLocks noGrp="1" noRot="1" noChangeAspect="1"/>
          </p:cNvSpPr>
          <p:nvPr>
            <p:ph type="sldImg"/>
          </p:nvPr>
        </p:nvSpPr>
        <p:spPr>
          <a:xfrm>
            <a:off x="685800" y="1143000"/>
            <a:ext cx="5486400" cy="3086100"/>
          </a:xfrm>
          <a:prstGeom prst="rect">
            <a:avLst/>
          </a:prstGeom>
          <a:ln w="0">
            <a:noFill/>
          </a:ln>
        </p:spPr>
      </p:sp>
      <p:sp>
        <p:nvSpPr>
          <p:cNvPr id="18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887"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B2190D2-699D-4F1C-81B9-6CF5A70AA83D}"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8" name="PlaceHolder 1"/>
          <p:cNvSpPr>
            <a:spLocks noGrp="1" noRot="1" noChangeAspect="1"/>
          </p:cNvSpPr>
          <p:nvPr>
            <p:ph type="sldImg"/>
          </p:nvPr>
        </p:nvSpPr>
        <p:spPr>
          <a:xfrm>
            <a:off x="685800" y="1143000"/>
            <a:ext cx="5486400" cy="3086100"/>
          </a:xfrm>
          <a:prstGeom prst="rect">
            <a:avLst/>
          </a:prstGeom>
          <a:ln w="0">
            <a:noFill/>
          </a:ln>
        </p:spPr>
      </p:sp>
      <p:sp>
        <p:nvSpPr>
          <p:cNvPr id="18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Now show the answer. Walk through the commented code. Ask learners how their solutions differ and why both might work.</a:t>
            </a:r>
          </a:p>
        </p:txBody>
      </p:sp>
      <p:sp>
        <p:nvSpPr>
          <p:cNvPr id="1890"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0B89CDF-FF25-41E9-B9A0-126D45D0E30E}" type="slidenum">
              <a:rPr lang="en-US" sz="1200" b="0" u="none" strike="noStrike">
                <a:solidFill>
                  <a:schemeClr val="dk1"/>
                </a:solidFill>
                <a:effectLst/>
                <a:uFillTx/>
                <a:latin typeface="+mn-lt"/>
                <a:ea typeface="+mn-ea"/>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1" name="PlaceHolder 1"/>
          <p:cNvSpPr>
            <a:spLocks noGrp="1" noRot="1" noChangeAspect="1"/>
          </p:cNvSpPr>
          <p:nvPr>
            <p:ph type="sldImg"/>
          </p:nvPr>
        </p:nvSpPr>
        <p:spPr>
          <a:xfrm>
            <a:off x="685800" y="1143000"/>
            <a:ext cx="5486400" cy="3086100"/>
          </a:xfrm>
          <a:prstGeom prst="rect">
            <a:avLst/>
          </a:prstGeom>
          <a:ln w="0">
            <a:noFill/>
          </a:ln>
        </p:spPr>
      </p:sp>
      <p:sp>
        <p:nvSpPr>
          <p:cNvPr id="18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Clarify __init__ is an initialization method; strictly object construction occurs before it. For beginners call it constructor as conventional shorthand.</a:t>
            </a:r>
          </a:p>
        </p:txBody>
      </p:sp>
      <p:sp>
        <p:nvSpPr>
          <p:cNvPr id="1893"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89E3FAF-81E3-45A6-AC4E-F4B3EA095030}"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 name="PlaceHolder 1"/>
          <p:cNvSpPr>
            <a:spLocks noGrp="1" noRot="1" noChangeAspect="1"/>
          </p:cNvSpPr>
          <p:nvPr>
            <p:ph type="sldImg"/>
          </p:nvPr>
        </p:nvSpPr>
        <p:spPr>
          <a:xfrm>
            <a:off x="685800" y="1143000"/>
            <a:ext cx="5486400" cy="3086100"/>
          </a:xfrm>
          <a:prstGeom prst="rect">
            <a:avLst/>
          </a:prstGeom>
          <a:ln w="0">
            <a:noFill/>
          </a:ln>
        </p:spPr>
      </p:sp>
      <p:sp>
        <p:nvSpPr>
          <p:cNvPr id="18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896"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2FEE16-72BE-4F16-A967-551C60C08E4D}" type="slidenum">
              <a:rPr lang="en-US" sz="1200" b="0" u="none" strike="noStrike">
                <a:solidFill>
                  <a:schemeClr val="dk1"/>
                </a:solidFill>
                <a:effectLst/>
                <a:uFillTx/>
                <a:latin typeface="+mn-lt"/>
                <a:ea typeface="+mn-ea"/>
              </a:rPr>
              <a:t>43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7" name="PlaceHolder 1"/>
          <p:cNvSpPr>
            <a:spLocks noGrp="1" noRot="1" noChangeAspect="1"/>
          </p:cNvSpPr>
          <p:nvPr>
            <p:ph type="sldImg"/>
          </p:nvPr>
        </p:nvSpPr>
        <p:spPr>
          <a:xfrm>
            <a:off x="685800" y="1143000"/>
            <a:ext cx="5486400" cy="3086100"/>
          </a:xfrm>
          <a:prstGeom prst="rect">
            <a:avLst/>
          </a:prstGeom>
          <a:ln w="0">
            <a:noFill/>
          </a:ln>
        </p:spPr>
      </p:sp>
      <p:sp>
        <p:nvSpPr>
          <p:cNvPr id="18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899"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B86F7D-A179-4DEF-9356-5E720E46DD2F}" type="slidenum">
              <a:rPr lang="en-US" sz="1200" b="0" u="none" strike="noStrike">
                <a:solidFill>
                  <a:schemeClr val="dk1"/>
                </a:solidFill>
                <a:effectLst/>
                <a:uFillTx/>
                <a:latin typeface="+mn-lt"/>
                <a:ea typeface="+mn-ea"/>
              </a:rPr>
              <a:t>44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0" name="PlaceHolder 1"/>
          <p:cNvSpPr>
            <a:spLocks noGrp="1" noRot="1" noChangeAspect="1"/>
          </p:cNvSpPr>
          <p:nvPr>
            <p:ph type="sldImg"/>
          </p:nvPr>
        </p:nvSpPr>
        <p:spPr>
          <a:xfrm>
            <a:off x="685800" y="1143000"/>
            <a:ext cx="5486400" cy="3086100"/>
          </a:xfrm>
          <a:prstGeom prst="rect">
            <a:avLst/>
          </a:prstGeom>
          <a:ln w="0">
            <a:noFill/>
          </a:ln>
        </p:spPr>
      </p:sp>
      <p:sp>
        <p:nvSpPr>
          <p:cNvPr id="19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Now show the answer. Walk through the commented code. Ask learners how their solutions differ and why both might work.</a:t>
            </a:r>
          </a:p>
        </p:txBody>
      </p:sp>
      <p:sp>
        <p:nvSpPr>
          <p:cNvPr id="1902"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2CFB2B2-9030-4AE4-BB70-7ECE39633200}" type="slidenum">
              <a:rPr lang="en-US" sz="1200" b="0" u="none" strike="noStrike">
                <a:solidFill>
                  <a:schemeClr val="dk1"/>
                </a:solidFill>
                <a:effectLst/>
                <a:uFillTx/>
                <a:latin typeface="+mn-lt"/>
                <a:ea typeface="+mn-ea"/>
              </a:rPr>
              <a:t>45</a:t>
            </a:fld>
            <a:endParaRPr lang="en-US" sz="1200" b="0" u="none" strike="noStrike">
              <a:solidFill>
                <a:srgbClr val="000000"/>
              </a:solidFill>
              <a:effectLst/>
              <a:uFillTx/>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3" name="PlaceHolder 1"/>
          <p:cNvSpPr>
            <a:spLocks noGrp="1" noRot="1" noChangeAspect="1"/>
          </p:cNvSpPr>
          <p:nvPr>
            <p:ph type="sldImg"/>
          </p:nvPr>
        </p:nvSpPr>
        <p:spPr>
          <a:xfrm>
            <a:off x="685800" y="1143000"/>
            <a:ext cx="5486400" cy="3086100"/>
          </a:xfrm>
          <a:prstGeom prst="rect">
            <a:avLst/>
          </a:prstGeom>
          <a:ln w="0">
            <a:noFill/>
          </a:ln>
        </p:spPr>
      </p:sp>
      <p:sp>
        <p:nvSpPr>
          <p:cNvPr id="19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Analogy: Student data is name; Student action is greet().</a:t>
            </a:r>
          </a:p>
        </p:txBody>
      </p:sp>
      <p:sp>
        <p:nvSpPr>
          <p:cNvPr id="1905"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E9FCC0-CB59-4E95-8564-4799D1AADDE6}" type="slidenum">
              <a:rPr lang="en-US" sz="1200" b="0" u="none" strike="noStrike">
                <a:solidFill>
                  <a:schemeClr val="dk1"/>
                </a:solidFill>
                <a:effectLst/>
                <a:uFillTx/>
                <a:latin typeface="+mn-lt"/>
                <a:ea typeface="+mn-ea"/>
              </a:rPr>
              <a:t>46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6" name="PlaceHolder 1"/>
          <p:cNvSpPr>
            <a:spLocks noGrp="1" noRot="1" noChangeAspect="1"/>
          </p:cNvSpPr>
          <p:nvPr>
            <p:ph type="sldImg"/>
          </p:nvPr>
        </p:nvSpPr>
        <p:spPr>
          <a:xfrm>
            <a:off x="685800" y="1143000"/>
            <a:ext cx="5486400" cy="3086100"/>
          </a:xfrm>
          <a:prstGeom prst="rect">
            <a:avLst/>
          </a:prstGeom>
          <a:ln w="0">
            <a:noFill/>
          </a:ln>
        </p:spPr>
      </p:sp>
      <p:sp>
        <p:nvSpPr>
          <p:cNvPr id="19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908"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B53969D-AF08-4919-B4C9-CE3CDCAD3435}" type="slidenum">
              <a:rPr lang="en-US" sz="1200" b="0" u="none" strike="noStrike">
                <a:solidFill>
                  <a:schemeClr val="dk1"/>
                </a:solidFill>
                <a:effectLst/>
                <a:uFillTx/>
                <a:latin typeface="+mn-lt"/>
                <a:ea typeface="+mn-ea"/>
              </a:rPr>
              <a:t>47</a:t>
            </a:fld>
            <a:endParaRPr lang="en-US"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9" name="PlaceHolder 1"/>
          <p:cNvSpPr>
            <a:spLocks noGrp="1" noRot="1" noChangeAspect="1"/>
          </p:cNvSpPr>
          <p:nvPr>
            <p:ph type="sldImg"/>
          </p:nvPr>
        </p:nvSpPr>
        <p:spPr>
          <a:xfrm>
            <a:off x="685800" y="1143000"/>
            <a:ext cx="5486400" cy="3086100"/>
          </a:xfrm>
          <a:prstGeom prst="rect">
            <a:avLst/>
          </a:prstGeom>
          <a:ln w="0">
            <a:noFill/>
          </a:ln>
        </p:spPr>
      </p:sp>
      <p:sp>
        <p:nvSpPr>
          <p:cNvPr id="19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911"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11165C-03B0-4053-9DD0-01BB76B1CC9C}" type="slidenum">
              <a:rPr lang="en-US" sz="1200" b="0" u="none" strike="noStrike">
                <a:solidFill>
                  <a:schemeClr val="dk1"/>
                </a:solidFill>
                <a:effectLst/>
                <a:uFillTx/>
                <a:latin typeface="+mn-lt"/>
                <a:ea typeface="+mn-ea"/>
              </a:rPr>
              <a:t>48</a:t>
            </a:fld>
            <a:endParaRPr lang="en-US" sz="12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2" name="PlaceHolder 1"/>
          <p:cNvSpPr>
            <a:spLocks noGrp="1" noRot="1" noChangeAspect="1"/>
          </p:cNvSpPr>
          <p:nvPr>
            <p:ph type="sldImg"/>
          </p:nvPr>
        </p:nvSpPr>
        <p:spPr>
          <a:xfrm>
            <a:off x="685800" y="1143000"/>
            <a:ext cx="5486400" cy="3086100"/>
          </a:xfrm>
          <a:prstGeom prst="rect">
            <a:avLst/>
          </a:prstGeom>
          <a:ln w="0">
            <a:noFill/>
          </a:ln>
        </p:spPr>
      </p:sp>
      <p:sp>
        <p:nvSpPr>
          <p:cNvPr id="19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Now show the answer. Walk through the commented code. Ask learners how their solutions differ and why both might work.</a:t>
            </a:r>
          </a:p>
        </p:txBody>
      </p:sp>
      <p:sp>
        <p:nvSpPr>
          <p:cNvPr id="1914"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BFC1F2-0EC7-4725-8D00-FEA3679BA8D3}" type="slidenum">
              <a:rPr lang="en-US" sz="1200" b="0" u="none" strike="noStrike">
                <a:solidFill>
                  <a:schemeClr val="dk1"/>
                </a:solidFill>
                <a:effectLst/>
                <a:uFillTx/>
                <a:latin typeface="+mn-lt"/>
                <a:ea typeface="+mn-ea"/>
              </a:rPr>
              <a:t>49</a:t>
            </a:fld>
            <a:endParaRPr lang="en-US" sz="12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5" name="PlaceHolder 1"/>
          <p:cNvSpPr>
            <a:spLocks noGrp="1" noRot="1" noChangeAspect="1"/>
          </p:cNvSpPr>
          <p:nvPr>
            <p:ph type="sldImg"/>
          </p:nvPr>
        </p:nvSpPr>
        <p:spPr>
          <a:xfrm>
            <a:off x="685800" y="1143000"/>
            <a:ext cx="5486400" cy="3086100"/>
          </a:xfrm>
          <a:prstGeom prst="rect">
            <a:avLst/>
          </a:prstGeom>
          <a:ln w="0">
            <a:noFill/>
          </a:ln>
        </p:spPr>
      </p:sp>
      <p:sp>
        <p:nvSpPr>
          <p:cNvPr id="19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Do not imply _balance is private enforced. Use validation from set_balance.</a:t>
            </a:r>
          </a:p>
        </p:txBody>
      </p:sp>
      <p:sp>
        <p:nvSpPr>
          <p:cNvPr id="1917"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56DB04B-3939-4AF9-B56D-084259F61C18}" type="slidenum">
              <a:rPr lang="en-US" sz="1200" b="0" u="none" strike="noStrike">
                <a:solidFill>
                  <a:schemeClr val="dk1"/>
                </a:solidFill>
                <a:effectLst/>
                <a:uFillTx/>
                <a:latin typeface="+mn-lt"/>
                <a:ea typeface="+mn-ea"/>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8" name="PlaceHolder 1"/>
          <p:cNvSpPr>
            <a:spLocks noGrp="1" noRot="1" noChangeAspect="1"/>
          </p:cNvSpPr>
          <p:nvPr>
            <p:ph type="sldImg"/>
          </p:nvPr>
        </p:nvSpPr>
        <p:spPr>
          <a:xfrm>
            <a:off x="685800" y="1143000"/>
            <a:ext cx="5486400" cy="3086100"/>
          </a:xfrm>
          <a:prstGeom prst="rect">
            <a:avLst/>
          </a:prstGeom>
          <a:ln w="0">
            <a:noFill/>
          </a:ln>
        </p:spPr>
      </p:sp>
      <p:sp>
        <p:nvSpPr>
          <p:cNvPr id="19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920"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1AE7902-B254-4DED-B1D1-AB1E31D456C9}" type="slidenum">
              <a:rPr lang="en-US" sz="1200" b="0" u="none" strike="noStrike">
                <a:solidFill>
                  <a:schemeClr val="dk1"/>
                </a:solidFill>
                <a:effectLst/>
                <a:uFillTx/>
                <a:latin typeface="+mn-lt"/>
                <a:ea typeface="+mn-ea"/>
              </a:rPr>
              <a:t>51</a:t>
            </a:fld>
            <a:endParaRPr lang="en-US" sz="1200" b="0" u="none" strike="noStrike">
              <a:solidFill>
                <a:srgbClr val="000000"/>
              </a:solidFill>
              <a:effectLst/>
              <a:uFillTx/>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1" name="PlaceHolder 1"/>
          <p:cNvSpPr>
            <a:spLocks noGrp="1" noRot="1" noChangeAspect="1"/>
          </p:cNvSpPr>
          <p:nvPr>
            <p:ph type="sldImg"/>
          </p:nvPr>
        </p:nvSpPr>
        <p:spPr>
          <a:xfrm>
            <a:off x="685800" y="1143000"/>
            <a:ext cx="5486400" cy="3086100"/>
          </a:xfrm>
          <a:prstGeom prst="rect">
            <a:avLst/>
          </a:prstGeom>
          <a:ln w="0">
            <a:noFill/>
          </a:ln>
        </p:spPr>
      </p:sp>
      <p:sp>
        <p:nvSpPr>
          <p:cNvPr id="19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923"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BEDDBBE-D190-4531-93A0-9EEB8E530719}" type="slidenum">
              <a:rPr lang="en-US" sz="1200" b="0" u="none" strike="noStrike">
                <a:solidFill>
                  <a:schemeClr val="dk1"/>
                </a:solidFill>
                <a:effectLst/>
                <a:uFillTx/>
                <a:latin typeface="+mn-lt"/>
                <a:ea typeface="+mn-ea"/>
              </a:rPr>
              <a:t>52</a:t>
            </a:fld>
            <a:endParaRPr lang="en-US" sz="1200" b="0" u="none" strike="noStrike">
              <a:solidFill>
                <a:srgbClr val="000000"/>
              </a:solidFill>
              <a:effectLst/>
              <a:uFillTx/>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4" name="PlaceHolder 1"/>
          <p:cNvSpPr>
            <a:spLocks noGrp="1" noRot="1" noChangeAspect="1"/>
          </p:cNvSpPr>
          <p:nvPr>
            <p:ph type="sldImg"/>
          </p:nvPr>
        </p:nvSpPr>
        <p:spPr>
          <a:xfrm>
            <a:off x="685800" y="1143000"/>
            <a:ext cx="5486400" cy="3086100"/>
          </a:xfrm>
          <a:prstGeom prst="rect">
            <a:avLst/>
          </a:prstGeom>
          <a:ln w="0">
            <a:noFill/>
          </a:ln>
        </p:spPr>
      </p:sp>
      <p:sp>
        <p:nvSpPr>
          <p:cNvPr id="19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Explain this answer assumes the Account class from the prior example has been defined in a previous Colab cell.</a:t>
            </a:r>
          </a:p>
        </p:txBody>
      </p:sp>
      <p:sp>
        <p:nvSpPr>
          <p:cNvPr id="1926"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B016DF-9BAF-4796-A853-6A376F196B4D}" type="slidenum">
              <a:rPr lang="en-US" sz="1200" b="0" u="none" strike="noStrike">
                <a:solidFill>
                  <a:schemeClr val="dk1"/>
                </a:solidFill>
                <a:effectLst/>
                <a:uFillTx/>
                <a:latin typeface="+mn-lt"/>
                <a:ea typeface="+mn-ea"/>
              </a:rPr>
              <a:t>53</a:t>
            </a:fld>
            <a:endParaRPr lang="en-US" sz="1200" b="0" u="none" strike="noStrike">
              <a:solidFill>
                <a:srgbClr val="000000"/>
              </a:solidFill>
              <a:effectLst/>
              <a:uFillTx/>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7" name="PlaceHolder 1"/>
          <p:cNvSpPr>
            <a:spLocks noGrp="1" noRot="1" noChangeAspect="1"/>
          </p:cNvSpPr>
          <p:nvPr>
            <p:ph type="sldImg"/>
          </p:nvPr>
        </p:nvSpPr>
        <p:spPr>
          <a:xfrm>
            <a:off x="685800" y="1143000"/>
            <a:ext cx="5486400" cy="3086100"/>
          </a:xfrm>
          <a:prstGeom prst="rect">
            <a:avLst/>
          </a:prstGeom>
          <a:ln w="0">
            <a:noFill/>
          </a:ln>
        </p:spPr>
      </p:sp>
      <p:sp>
        <p:nvSpPr>
          <p:cNvPr id="19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Use is-a test: a Dog is an Animal; a Car is not an Engine (composition).</a:t>
            </a:r>
          </a:p>
        </p:txBody>
      </p:sp>
      <p:sp>
        <p:nvSpPr>
          <p:cNvPr id="1929"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1D82E32-F79C-4FBD-8A56-57F79475F5D1}" type="slidenum">
              <a:rPr lang="en-US" sz="1200" b="0" u="none" strike="noStrike">
                <a:solidFill>
                  <a:schemeClr val="dk1"/>
                </a:solidFill>
                <a:effectLst/>
                <a:uFillTx/>
                <a:latin typeface="+mn-lt"/>
                <a:ea typeface="+mn-ea"/>
              </a:rPr>
              <a:t>54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0" name="PlaceHolder 1"/>
          <p:cNvSpPr>
            <a:spLocks noGrp="1" noRot="1" noChangeAspect="1"/>
          </p:cNvSpPr>
          <p:nvPr>
            <p:ph type="sldImg"/>
          </p:nvPr>
        </p:nvSpPr>
        <p:spPr>
          <a:xfrm>
            <a:off x="685800" y="1143000"/>
            <a:ext cx="5486400" cy="3086100"/>
          </a:xfrm>
          <a:prstGeom prst="rect">
            <a:avLst/>
          </a:prstGeom>
          <a:ln w="0">
            <a:noFill/>
          </a:ln>
        </p:spPr>
      </p:sp>
      <p:sp>
        <p:nvSpPr>
          <p:cNvPr id="19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932"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0D69C5-6A8E-46EF-885B-27AE8788E154}" type="slidenum">
              <a:rPr lang="en-US" sz="1200" b="0" u="none" strike="noStrike">
                <a:solidFill>
                  <a:schemeClr val="dk1"/>
                </a:solidFill>
                <a:effectLst/>
                <a:uFillTx/>
                <a:latin typeface="+mn-lt"/>
                <a:ea typeface="+mn-ea"/>
              </a:rPr>
              <a:t>55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3" name="PlaceHolder 1"/>
          <p:cNvSpPr>
            <a:spLocks noGrp="1" noRot="1" noChangeAspect="1"/>
          </p:cNvSpPr>
          <p:nvPr>
            <p:ph type="sldImg"/>
          </p:nvPr>
        </p:nvSpPr>
        <p:spPr>
          <a:xfrm>
            <a:off x="685800" y="1143000"/>
            <a:ext cx="5486400" cy="3086100"/>
          </a:xfrm>
          <a:prstGeom prst="rect">
            <a:avLst/>
          </a:prstGeom>
          <a:ln w="0">
            <a:noFill/>
          </a:ln>
        </p:spPr>
      </p:sp>
      <p:sp>
        <p:nvSpPr>
          <p:cNvPr id="19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935"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3E0E77D-378A-4DBE-AC50-606E661C23A5}" type="slidenum">
              <a:rPr lang="en-US" sz="1200" b="0" u="none" strike="noStrike">
                <a:solidFill>
                  <a:schemeClr val="dk1"/>
                </a:solidFill>
                <a:effectLst/>
                <a:uFillTx/>
                <a:latin typeface="+mn-lt"/>
                <a:ea typeface="+mn-ea"/>
              </a:rPr>
              <a:t>56</a:t>
            </a:fld>
            <a:endParaRPr lang="en-US" sz="1200" b="0" u="none" strike="noStrike">
              <a:solidFill>
                <a:srgbClr val="000000"/>
              </a:solidFill>
              <a:effectLst/>
              <a:uFillTx/>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6" name="PlaceHolder 1"/>
          <p:cNvSpPr>
            <a:spLocks noGrp="1" noRot="1" noChangeAspect="1"/>
          </p:cNvSpPr>
          <p:nvPr>
            <p:ph type="sldImg"/>
          </p:nvPr>
        </p:nvSpPr>
        <p:spPr>
          <a:xfrm>
            <a:off x="685800" y="1143000"/>
            <a:ext cx="5486400" cy="3086100"/>
          </a:xfrm>
          <a:prstGeom prst="rect">
            <a:avLst/>
          </a:prstGeom>
          <a:ln w="0">
            <a:noFill/>
          </a:ln>
        </p:spPr>
      </p:sp>
      <p:sp>
        <p:nvSpPr>
          <p:cNvPr id="19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Assumes Animal is already defined in preceding Colab cell or rerun prior sample.</a:t>
            </a:r>
          </a:p>
        </p:txBody>
      </p:sp>
      <p:sp>
        <p:nvSpPr>
          <p:cNvPr id="1938"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368D978-2C2B-4928-BFEF-20F4BBE968F1}" type="slidenum">
              <a:rPr lang="en-US" sz="1200" b="0" u="none" strike="noStrike">
                <a:solidFill>
                  <a:schemeClr val="dk1"/>
                </a:solidFill>
                <a:effectLst/>
                <a:uFillTx/>
                <a:latin typeface="+mn-lt"/>
                <a:ea typeface="+mn-ea"/>
              </a:rPr>
              <a:t>57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9" name="PlaceHolder 1"/>
          <p:cNvSpPr>
            <a:spLocks noGrp="1" noRot="1" noChangeAspect="1"/>
          </p:cNvSpPr>
          <p:nvPr>
            <p:ph type="sldImg"/>
          </p:nvPr>
        </p:nvSpPr>
        <p:spPr>
          <a:xfrm>
            <a:off x="685800" y="1143000"/>
            <a:ext cx="5486400" cy="3086100"/>
          </a:xfrm>
          <a:prstGeom prst="rect">
            <a:avLst/>
          </a:prstGeom>
          <a:ln w="0">
            <a:noFill/>
          </a:ln>
        </p:spPr>
      </p:sp>
      <p:sp>
        <p:nvSpPr>
          <p:cNvPr id="19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Distinguish overloading from overriding briefly. Overriding is core here.</a:t>
            </a:r>
          </a:p>
        </p:txBody>
      </p:sp>
      <p:sp>
        <p:nvSpPr>
          <p:cNvPr id="1941"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44F76B-C77B-4836-A602-0349854007F4}"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2" name="PlaceHolder 1"/>
          <p:cNvSpPr>
            <a:spLocks noGrp="1" noRot="1" noChangeAspect="1"/>
          </p:cNvSpPr>
          <p:nvPr>
            <p:ph type="sldImg"/>
          </p:nvPr>
        </p:nvSpPr>
        <p:spPr>
          <a:xfrm>
            <a:off x="685800" y="1143000"/>
            <a:ext cx="5486400" cy="3086100"/>
          </a:xfrm>
          <a:prstGeom prst="rect">
            <a:avLst/>
          </a:prstGeom>
          <a:ln w="0">
            <a:noFill/>
          </a:ln>
        </p:spPr>
      </p:sp>
      <p:sp>
        <p:nvSpPr>
          <p:cNvPr id="19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944"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37F08A1-265B-4915-B852-88B60594F3B4}" type="slidenum">
              <a:rPr lang="en-US" sz="1200" b="0" u="none" strike="noStrike">
                <a:solidFill>
                  <a:schemeClr val="dk1"/>
                </a:solidFill>
                <a:effectLst/>
                <a:uFillTx/>
                <a:latin typeface="+mn-lt"/>
                <a:ea typeface="+mn-ea"/>
              </a:rPr>
              <a:t>59</a:t>
            </a:fld>
            <a:endParaRPr lang="en-US" sz="1200" b="0" u="none" strike="noStrike">
              <a:solidFill>
                <a:srgbClr val="000000"/>
              </a:solidFill>
              <a:effectLst/>
              <a:uFillTx/>
              <a:latin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 name="PlaceHolder 1"/>
          <p:cNvSpPr>
            <a:spLocks noGrp="1" noRot="1" noChangeAspect="1"/>
          </p:cNvSpPr>
          <p:nvPr>
            <p:ph type="sldImg"/>
          </p:nvPr>
        </p:nvSpPr>
        <p:spPr>
          <a:xfrm>
            <a:off x="685800" y="1143000"/>
            <a:ext cx="5486400" cy="3086100"/>
          </a:xfrm>
          <a:prstGeom prst="rect">
            <a:avLst/>
          </a:prstGeom>
          <a:ln w="0">
            <a:noFill/>
          </a:ln>
        </p:spPr>
      </p:sp>
      <p:sp>
        <p:nvSpPr>
          <p:cNvPr id="19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947"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5C0C4E-E404-4C33-8634-0202E307D6C7}" type="slidenum">
              <a:rPr lang="en-US" sz="1200" b="0" u="none" strike="noStrike">
                <a:solidFill>
                  <a:schemeClr val="dk1"/>
                </a:solidFill>
                <a:effectLst/>
                <a:uFillTx/>
                <a:latin typeface="+mn-lt"/>
                <a:ea typeface="+mn-ea"/>
              </a:rPr>
              <a:t>60</a:t>
            </a:fld>
            <a:endParaRPr lang="en-US" sz="1200" b="0" u="none" strike="noStrike">
              <a:solidFill>
                <a:srgbClr val="000000"/>
              </a:solidFill>
              <a:effectLst/>
              <a:uFillTx/>
              <a:latin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 name="PlaceHolder 1"/>
          <p:cNvSpPr>
            <a:spLocks noGrp="1" noRot="1" noChangeAspect="1"/>
          </p:cNvSpPr>
          <p:nvPr>
            <p:ph type="sldImg"/>
          </p:nvPr>
        </p:nvSpPr>
        <p:spPr>
          <a:xfrm>
            <a:off x="685800" y="1143000"/>
            <a:ext cx="5486400" cy="3086100"/>
          </a:xfrm>
          <a:prstGeom prst="rect">
            <a:avLst/>
          </a:prstGeom>
          <a:ln w="0">
            <a:noFill/>
          </a:ln>
        </p:spPr>
      </p:sp>
      <p:sp>
        <p:nvSpPr>
          <p:cNvPr id="19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Assumes Animal has already been defined.</a:t>
            </a:r>
          </a:p>
        </p:txBody>
      </p:sp>
      <p:sp>
        <p:nvSpPr>
          <p:cNvPr id="1950"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C49239-62B2-48DF-A93C-81A93B5B99BF}"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1" name="PlaceHolder 1"/>
          <p:cNvSpPr>
            <a:spLocks noGrp="1" noRot="1" noChangeAspect="1"/>
          </p:cNvSpPr>
          <p:nvPr>
            <p:ph type="sldImg"/>
          </p:nvPr>
        </p:nvSpPr>
        <p:spPr>
          <a:xfrm>
            <a:off x="685800" y="1143000"/>
            <a:ext cx="5486400" cy="3086100"/>
          </a:xfrm>
          <a:prstGeom prst="rect">
            <a:avLst/>
          </a:prstGeom>
          <a:ln w="0">
            <a:noFill/>
          </a:ln>
        </p:spPr>
      </p:sp>
      <p:sp>
        <p:nvSpPr>
          <p:cNvPr id="19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Do not teach abc module for beginners; explain concept using a simple calculation method.</a:t>
            </a:r>
          </a:p>
        </p:txBody>
      </p:sp>
      <p:sp>
        <p:nvSpPr>
          <p:cNvPr id="1953"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EF17B1D-6E0C-4026-A86F-53B0AC3A64A7}" type="slidenum">
              <a:rPr lang="en-US" sz="1200" b="0" u="none" strike="noStrike">
                <a:solidFill>
                  <a:schemeClr val="dk1"/>
                </a:solidFill>
                <a:effectLst/>
                <a:uFillTx/>
                <a:latin typeface="+mn-lt"/>
                <a:ea typeface="+mn-ea"/>
              </a:rPr>
              <a:t>62</a:t>
            </a:fld>
            <a:endParaRPr lang="en-US" sz="1200" b="0" u="none" strike="noStrike">
              <a:solidFill>
                <a:srgbClr val="000000"/>
              </a:solidFill>
              <a:effectLst/>
              <a:uFillTx/>
              <a:latin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4" name="PlaceHolder 1"/>
          <p:cNvSpPr>
            <a:spLocks noGrp="1" noRot="1" noChangeAspect="1"/>
          </p:cNvSpPr>
          <p:nvPr>
            <p:ph type="sldImg"/>
          </p:nvPr>
        </p:nvSpPr>
        <p:spPr>
          <a:xfrm>
            <a:off x="685800" y="1143000"/>
            <a:ext cx="5486400" cy="3086100"/>
          </a:xfrm>
          <a:prstGeom prst="rect">
            <a:avLst/>
          </a:prstGeom>
          <a:ln w="0">
            <a:noFill/>
          </a:ln>
        </p:spPr>
      </p:sp>
      <p:sp>
        <p:nvSpPr>
          <p:cNvPr id="19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956"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0D15D0F-38E7-43F8-AFBF-E656C09BEF9C}" type="slidenum">
              <a:rPr lang="en-US" sz="1200" b="0" u="none" strike="noStrike">
                <a:solidFill>
                  <a:schemeClr val="dk1"/>
                </a:solidFill>
                <a:effectLst/>
                <a:uFillTx/>
                <a:latin typeface="+mn-lt"/>
                <a:ea typeface="+mn-ea"/>
              </a:rPr>
              <a:t>63</a:t>
            </a:fld>
            <a:endParaRPr lang="en-US" sz="1200" b="0" u="none" strike="noStrike">
              <a:solidFill>
                <a:srgbClr val="000000"/>
              </a:solidFill>
              <a:effectLst/>
              <a:uFillTx/>
              <a:latin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7" name="PlaceHolder 1"/>
          <p:cNvSpPr>
            <a:spLocks noGrp="1" noRot="1" noChangeAspect="1"/>
          </p:cNvSpPr>
          <p:nvPr>
            <p:ph type="sldImg"/>
          </p:nvPr>
        </p:nvSpPr>
        <p:spPr>
          <a:xfrm>
            <a:off x="685800" y="1143000"/>
            <a:ext cx="5486400" cy="3086100"/>
          </a:xfrm>
          <a:prstGeom prst="rect">
            <a:avLst/>
          </a:prstGeom>
          <a:ln w="0">
            <a:noFill/>
          </a:ln>
        </p:spPr>
      </p:sp>
      <p:sp>
        <p:nvSpPr>
          <p:cNvPr id="19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959"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3B9BEB1-D06C-4ABC-8574-447BE1732B1B}" type="slidenum">
              <a:rPr lang="en-US" sz="1200" b="0" u="none" strike="noStrike">
                <a:solidFill>
                  <a:schemeClr val="dk1"/>
                </a:solidFill>
                <a:effectLst/>
                <a:uFillTx/>
                <a:latin typeface="+mn-lt"/>
                <a:ea typeface="+mn-ea"/>
              </a:rPr>
              <a:t>64</a:t>
            </a:fld>
            <a:endParaRPr lang="en-US" sz="1200" b="0" u="none" strike="noStrike">
              <a:solidFill>
                <a:srgbClr val="000000"/>
              </a:solidFill>
              <a:effectLst/>
              <a:uFillTx/>
              <a:latin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0" name="PlaceHolder 1"/>
          <p:cNvSpPr>
            <a:spLocks noGrp="1" noRot="1" noChangeAspect="1"/>
          </p:cNvSpPr>
          <p:nvPr>
            <p:ph type="sldImg"/>
          </p:nvPr>
        </p:nvSpPr>
        <p:spPr>
          <a:xfrm>
            <a:off x="685800" y="1143000"/>
            <a:ext cx="5486400" cy="3086100"/>
          </a:xfrm>
          <a:prstGeom prst="rect">
            <a:avLst/>
          </a:prstGeom>
          <a:ln w="0">
            <a:noFill/>
          </a:ln>
        </p:spPr>
      </p:sp>
      <p:sp>
        <p:nvSpPr>
          <p:cNvPr id="19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Now show the answer. Walk through the commented code. Ask learners how their solutions differ and why both might work.</a:t>
            </a:r>
          </a:p>
        </p:txBody>
      </p:sp>
      <p:sp>
        <p:nvSpPr>
          <p:cNvPr id="1962"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3080AF-50DD-4FCC-923C-B50B4B33B396}" type="slidenum">
              <a:rPr lang="en-US" sz="1200" b="0" u="none" strike="noStrike">
                <a:solidFill>
                  <a:schemeClr val="dk1"/>
                </a:solidFill>
                <a:effectLst/>
                <a:uFillTx/>
                <a:latin typeface="+mn-lt"/>
                <a:ea typeface="+mn-ea"/>
              </a:rPr>
              <a:t>65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 name="PlaceHolder 1"/>
          <p:cNvSpPr>
            <a:spLocks noGrp="1" noRot="1" noChangeAspect="1"/>
          </p:cNvSpPr>
          <p:nvPr>
            <p:ph type="sldImg"/>
          </p:nvPr>
        </p:nvSpPr>
        <p:spPr>
          <a:xfrm>
            <a:off x="685800" y="1143000"/>
            <a:ext cx="5486400" cy="3086100"/>
          </a:xfrm>
          <a:prstGeom prst="rect">
            <a:avLst/>
          </a:prstGeom>
          <a:ln w="0">
            <a:noFill/>
          </a:ln>
        </p:spPr>
      </p:sp>
      <p:sp>
        <p:nvSpPr>
          <p:cNvPr id="19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Choose simple list of Book instances; avoid multi-level hierarchy.</a:t>
            </a:r>
          </a:p>
        </p:txBody>
      </p:sp>
      <p:sp>
        <p:nvSpPr>
          <p:cNvPr id="1965"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B91E386-7CF6-4532-B206-F737FB466F56}" type="slidenum">
              <a:rPr lang="en-US" sz="1200" b="0" u="none" strike="noStrike">
                <a:solidFill>
                  <a:schemeClr val="dk1"/>
                </a:solidFill>
                <a:effectLst/>
                <a:uFillTx/>
                <a:latin typeface="+mn-lt"/>
                <a:ea typeface="+mn-ea"/>
              </a:rPr>
              <a:t>66</a:t>
            </a:fld>
            <a:endParaRPr lang="en-US" sz="1200" b="0" u="none" strike="noStrike">
              <a:solidFill>
                <a:srgbClr val="000000"/>
              </a:solidFill>
              <a:effectLst/>
              <a:uFillTx/>
              <a:latin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 name="PlaceHolder 1"/>
          <p:cNvSpPr>
            <a:spLocks noGrp="1" noRot="1" noChangeAspect="1"/>
          </p:cNvSpPr>
          <p:nvPr>
            <p:ph type="sldImg"/>
          </p:nvPr>
        </p:nvSpPr>
        <p:spPr>
          <a:xfrm>
            <a:off x="685800" y="1143000"/>
            <a:ext cx="5486400" cy="3086100"/>
          </a:xfrm>
          <a:prstGeom prst="rect">
            <a:avLst/>
          </a:prstGeom>
          <a:ln w="0">
            <a:noFill/>
          </a:ln>
        </p:spPr>
      </p:sp>
      <p:sp>
        <p:nvSpPr>
          <p:cNvPr id="19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1968"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0A75A59-5E32-46E1-BCBF-078AF7DB0482}" type="slidenum">
              <a:rPr lang="en-US" sz="1200" b="0" u="none" strike="noStrike">
                <a:solidFill>
                  <a:schemeClr val="dk1"/>
                </a:solidFill>
                <a:effectLst/>
                <a:uFillTx/>
                <a:latin typeface="+mn-lt"/>
                <a:ea typeface="+mn-ea"/>
              </a:rPr>
              <a:t>67</a:t>
            </a:fld>
            <a:endParaRPr lang="en-US" sz="1200" b="0" u="none" strike="noStrike">
              <a:solidFill>
                <a:srgbClr val="000000"/>
              </a:solidFill>
              <a:effectLst/>
              <a:uFillTx/>
              <a:latin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9" name="PlaceHolder 1"/>
          <p:cNvSpPr>
            <a:spLocks noGrp="1" noRot="1" noChangeAspect="1"/>
          </p:cNvSpPr>
          <p:nvPr>
            <p:ph type="sldImg"/>
          </p:nvPr>
        </p:nvSpPr>
        <p:spPr>
          <a:xfrm>
            <a:off x="685800" y="1143000"/>
            <a:ext cx="5486400" cy="3086100"/>
          </a:xfrm>
          <a:prstGeom prst="rect">
            <a:avLst/>
          </a:prstGeom>
          <a:ln w="0">
            <a:noFill/>
          </a:ln>
        </p:spPr>
      </p:sp>
      <p:sp>
        <p:nvSpPr>
          <p:cNvPr id="19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1971"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1855BE3-6BCE-4218-B95D-3A04F898BF49}" type="slidenum">
              <a:rPr lang="en-US" sz="1200" b="0" u="none" strike="noStrike">
                <a:solidFill>
                  <a:schemeClr val="dk1"/>
                </a:solidFill>
                <a:effectLst/>
                <a:uFillTx/>
                <a:latin typeface="+mn-lt"/>
                <a:ea typeface="+mn-ea"/>
              </a:rPr>
              <a:t>68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2" name="PlaceHolder 1"/>
          <p:cNvSpPr>
            <a:spLocks noGrp="1" noRot="1" noChangeAspect="1"/>
          </p:cNvSpPr>
          <p:nvPr>
            <p:ph type="sldImg"/>
          </p:nvPr>
        </p:nvSpPr>
        <p:spPr>
          <a:xfrm>
            <a:off x="685800" y="1143000"/>
            <a:ext cx="5486400" cy="3086100"/>
          </a:xfrm>
          <a:prstGeom prst="rect">
            <a:avLst/>
          </a:prstGeom>
          <a:ln w="0">
            <a:noFill/>
          </a:ln>
        </p:spPr>
      </p:sp>
      <p:sp>
        <p:nvSpPr>
          <p:cNvPr id="19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This answer assumes the earlier Book and Library classes.</a:t>
            </a:r>
          </a:p>
        </p:txBody>
      </p:sp>
      <p:sp>
        <p:nvSpPr>
          <p:cNvPr id="1974"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02AB74C-8DD2-44D5-A5F9-207618E70AD9}" type="slidenum">
              <a:rPr lang="en-US" sz="1200" b="0" u="none" strike="noStrike">
                <a:solidFill>
                  <a:schemeClr val="dk1"/>
                </a:solidFill>
                <a:effectLst/>
                <a:uFillTx/>
                <a:latin typeface="+mn-lt"/>
                <a:ea typeface="+mn-ea"/>
              </a:rPr>
              <a:t>69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5" name="PlaceHolder 1"/>
          <p:cNvSpPr>
            <a:spLocks noGrp="1" noRot="1" noChangeAspect="1"/>
          </p:cNvSpPr>
          <p:nvPr>
            <p:ph type="sldImg"/>
          </p:nvPr>
        </p:nvSpPr>
        <p:spPr>
          <a:xfrm>
            <a:off x="685800" y="1143000"/>
            <a:ext cx="5486400" cy="3086100"/>
          </a:xfrm>
          <a:prstGeom prst="rect">
            <a:avLst/>
          </a:prstGeom>
          <a:ln w="0">
            <a:noFill/>
          </a:ln>
        </p:spPr>
      </p:sp>
      <p:sp>
        <p:nvSpPr>
          <p:cNvPr id="19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Give one example of each case. Ask the class to state the most important difference in one sentence.</a:t>
            </a:r>
          </a:p>
        </p:txBody>
      </p:sp>
      <p:sp>
        <p:nvSpPr>
          <p:cNvPr id="1977"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06955E-A5A8-4D34-AAEB-B74BFF316AD6}" type="slidenum">
              <a:rPr lang="en-US" sz="1200" b="0" u="none" strike="noStrike">
                <a:solidFill>
                  <a:schemeClr val="dk1"/>
                </a:solidFill>
                <a:effectLst/>
                <a:uFillTx/>
                <a:latin typeface="+mn-lt"/>
                <a:ea typeface="+mn-ea"/>
              </a:rPr>
              <a:t>70</a:t>
            </a:fld>
            <a:endParaRPr lang="en-US" sz="1200" b="0" u="none" strike="noStrike">
              <a:solidFill>
                <a:srgbClr val="000000"/>
              </a:solidFill>
              <a:effectLst/>
              <a:uFillTx/>
              <a:latin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8" name="PlaceHolder 1"/>
          <p:cNvSpPr>
            <a:spLocks noGrp="1" noRot="1" noChangeAspect="1"/>
          </p:cNvSpPr>
          <p:nvPr>
            <p:ph type="sldImg"/>
          </p:nvPr>
        </p:nvSpPr>
        <p:spPr>
          <a:xfrm>
            <a:off x="685800" y="1143000"/>
            <a:ext cx="5486400" cy="3086100"/>
          </a:xfrm>
          <a:prstGeom prst="rect">
            <a:avLst/>
          </a:prstGeom>
          <a:ln w="0">
            <a:noFill/>
          </a:ln>
        </p:spPr>
      </p:sp>
      <p:sp>
        <p:nvSpPr>
          <p:cNvPr id="19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Think of commits as saved checkpoints. Give a familiar real-life example before starting coding.</a:t>
            </a:r>
          </a:p>
        </p:txBody>
      </p:sp>
      <p:sp>
        <p:nvSpPr>
          <p:cNvPr id="1980"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7D1C00-9CEB-4378-B947-5E6070CBD870}" type="slidenum">
              <a:rPr lang="en-US" sz="1200" b="0" u="none" strike="noStrike">
                <a:solidFill>
                  <a:schemeClr val="dk1"/>
                </a:solidFill>
                <a:effectLst/>
                <a:uFillTx/>
                <a:latin typeface="+mn-lt"/>
                <a:ea typeface="+mn-ea"/>
              </a:rPr>
              <a:t>71</a:t>
            </a:fld>
            <a:endParaRPr lang="en-US" sz="1200" b="0" u="none" strike="noStrike">
              <a:solidFill>
                <a:srgbClr val="000000"/>
              </a:solidFill>
              <a:effectLst/>
              <a:uFillTx/>
              <a:latin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1" name="PlaceHolder 1"/>
          <p:cNvSpPr>
            <a:spLocks noGrp="1" noRot="1" noChangeAspect="1"/>
          </p:cNvSpPr>
          <p:nvPr>
            <p:ph type="sldImg"/>
          </p:nvPr>
        </p:nvSpPr>
        <p:spPr>
          <a:xfrm>
            <a:off x="685800" y="1143000"/>
            <a:ext cx="5486400" cy="3086100"/>
          </a:xfrm>
          <a:prstGeom prst="rect">
            <a:avLst/>
          </a:prstGeom>
          <a:ln w="0">
            <a:noFill/>
          </a:ln>
        </p:spPr>
      </p:sp>
      <p:sp>
        <p:nvSpPr>
          <p:cNvPr id="19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Compare Git to local save history and GitHub to online collaboration.</a:t>
            </a:r>
          </a:p>
        </p:txBody>
      </p:sp>
      <p:sp>
        <p:nvSpPr>
          <p:cNvPr id="1983"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DB13158-0644-4DE1-85A2-8C423C218E86}" type="slidenum">
              <a:rPr lang="en-US" sz="1200" b="0" u="none" strike="noStrike">
                <a:solidFill>
                  <a:schemeClr val="dk1"/>
                </a:solidFill>
                <a:effectLst/>
                <a:uFillTx/>
                <a:latin typeface="+mn-lt"/>
                <a:ea typeface="+mn-ea"/>
              </a:rPr>
              <a:t>72</a:t>
            </a:fld>
            <a:endParaRPr lang="en-US" sz="1200" b="0" u="none" strike="noStrike">
              <a:solidFill>
                <a:srgbClr val="000000"/>
              </a:solidFill>
              <a:effectLst/>
              <a:uFillTx/>
              <a:latin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4" name="PlaceHolder 1"/>
          <p:cNvSpPr>
            <a:spLocks noGrp="1" noRot="1" noChangeAspect="1"/>
          </p:cNvSpPr>
          <p:nvPr>
            <p:ph type="sldImg"/>
          </p:nvPr>
        </p:nvSpPr>
        <p:spPr>
          <a:xfrm>
            <a:off x="685800" y="1143000"/>
            <a:ext cx="5486400" cy="3086100"/>
          </a:xfrm>
          <a:prstGeom prst="rect">
            <a:avLst/>
          </a:prstGeom>
          <a:ln w="0">
            <a:noFill/>
          </a:ln>
        </p:spPr>
      </p:sp>
      <p:sp>
        <p:nvSpPr>
          <p:cNvPr id="19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Use conceptual explanation first. Commands run in a local terminal or GitHub Codespaces, not ordinary Colab Python cells.</a:t>
            </a:r>
          </a:p>
        </p:txBody>
      </p:sp>
      <p:sp>
        <p:nvSpPr>
          <p:cNvPr id="1986" name="PlaceHolder 3"/>
          <p:cNvSpPr>
            <a:spLocks noGrp="1"/>
          </p:cNvSpPr>
          <p:nvPr>
            <p:ph type="sldNum" idx="7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A90307-FE6B-4EC3-B710-EBFE04016F74}" type="slidenum">
              <a:rPr lang="en-US" sz="1200" b="0" u="none" strike="noStrike">
                <a:solidFill>
                  <a:schemeClr val="dk1"/>
                </a:solidFill>
                <a:effectLst/>
                <a:uFillTx/>
                <a:latin typeface="+mn-lt"/>
                <a:ea typeface="+mn-ea"/>
              </a:rPr>
              <a:t>73</a:t>
            </a:fld>
            <a:endParaRPr lang="en-US" sz="1200" b="0" u="none" strike="noStrike">
              <a:solidFill>
                <a:srgbClr val="000000"/>
              </a:solidFill>
              <a:effectLst/>
              <a:uFillTx/>
              <a:latin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7" name="PlaceHolder 1"/>
          <p:cNvSpPr>
            <a:spLocks noGrp="1" noRot="1" noChangeAspect="1"/>
          </p:cNvSpPr>
          <p:nvPr>
            <p:ph type="sldImg"/>
          </p:nvPr>
        </p:nvSpPr>
        <p:spPr>
          <a:xfrm>
            <a:off x="685800" y="1143000"/>
            <a:ext cx="5486400" cy="3086100"/>
          </a:xfrm>
          <a:prstGeom prst="rect">
            <a:avLst/>
          </a:prstGeom>
          <a:ln w="0">
            <a:noFill/>
          </a:ln>
        </p:spPr>
      </p:sp>
      <p:sp>
        <p:nvSpPr>
          <p:cNvPr id="19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Give one example of each case. Ask the class to state the most important difference in one sentence.</a:t>
            </a:r>
          </a:p>
        </p:txBody>
      </p:sp>
      <p:sp>
        <p:nvSpPr>
          <p:cNvPr id="1989" name="PlaceHolder 3"/>
          <p:cNvSpPr>
            <a:spLocks noGrp="1"/>
          </p:cNvSpPr>
          <p:nvPr>
            <p:ph type="sldNum" idx="7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B79728-8725-44D3-880F-DD822A4EAF34}" type="slidenum">
              <a:rPr lang="en-US" sz="1200" b="0" u="none" strike="noStrike">
                <a:solidFill>
                  <a:schemeClr val="dk1"/>
                </a:solidFill>
                <a:effectLst/>
                <a:uFillTx/>
                <a:latin typeface="+mn-lt"/>
                <a:ea typeface="+mn-ea"/>
              </a:rPr>
              <a:t>74</a:t>
            </a:fld>
            <a:endParaRPr lang="en-US" sz="1200" b="0" u="none" strike="noStrike">
              <a:solidFill>
                <a:srgbClr val="000000"/>
              </a:solidFill>
              <a:effectLst/>
              <a:uFillTx/>
              <a:latin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0" name="PlaceHolder 1"/>
          <p:cNvSpPr>
            <a:spLocks noGrp="1" noRot="1" noChangeAspect="1"/>
          </p:cNvSpPr>
          <p:nvPr>
            <p:ph type="sldImg"/>
          </p:nvPr>
        </p:nvSpPr>
        <p:spPr>
          <a:xfrm>
            <a:off x="685800" y="1143000"/>
            <a:ext cx="5486400" cy="3086100"/>
          </a:xfrm>
          <a:prstGeom prst="rect">
            <a:avLst/>
          </a:prstGeom>
          <a:ln w="0">
            <a:noFill/>
          </a:ln>
        </p:spPr>
      </p:sp>
      <p:sp>
        <p:nvSpPr>
          <p:cNvPr id="19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Brief introduction only; students do not need to resolve complex conflicts today.</a:t>
            </a:r>
          </a:p>
        </p:txBody>
      </p:sp>
      <p:sp>
        <p:nvSpPr>
          <p:cNvPr id="1992" name="PlaceHolder 3"/>
          <p:cNvSpPr>
            <a:spLocks noGrp="1"/>
          </p:cNvSpPr>
          <p:nvPr>
            <p:ph type="sldNum" idx="7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A2B46F-E756-4AB3-9DFA-1EF2C7885632}"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3" name="PlaceHolder 1"/>
          <p:cNvSpPr>
            <a:spLocks noGrp="1" noRot="1" noChangeAspect="1"/>
          </p:cNvSpPr>
          <p:nvPr>
            <p:ph type="sldImg"/>
          </p:nvPr>
        </p:nvSpPr>
        <p:spPr>
          <a:xfrm>
            <a:off x="685800" y="1143000"/>
            <a:ext cx="5486400" cy="3086100"/>
          </a:xfrm>
          <a:prstGeom prst="rect">
            <a:avLst/>
          </a:prstGeom>
          <a:ln w="0">
            <a:noFill/>
          </a:ln>
        </p:spPr>
      </p:sp>
      <p:sp>
        <p:nvSpPr>
          <p:cNvPr id="19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Understand requests and responses before building an API. Give a familiar real-life example before starting coding.</a:t>
            </a:r>
          </a:p>
        </p:txBody>
      </p:sp>
      <p:sp>
        <p:nvSpPr>
          <p:cNvPr id="1995" name="PlaceHolder 3"/>
          <p:cNvSpPr>
            <a:spLocks noGrp="1"/>
          </p:cNvSpPr>
          <p:nvPr>
            <p:ph type="sldNum" idx="7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2F0B6A8-9208-4253-BE52-5DA09AFE51DA}" type="slidenum">
              <a:rPr lang="en-US" sz="1200" b="0" u="none" strike="noStrike">
                <a:solidFill>
                  <a:schemeClr val="dk1"/>
                </a:solidFill>
                <a:effectLst/>
                <a:uFillTx/>
                <a:latin typeface="+mn-lt"/>
                <a:ea typeface="+mn-ea"/>
              </a:rPr>
              <a:t>76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 name="PlaceHolder 1"/>
          <p:cNvSpPr>
            <a:spLocks noGrp="1" noRot="1" noChangeAspect="1"/>
          </p:cNvSpPr>
          <p:nvPr>
            <p:ph type="sldImg"/>
          </p:nvPr>
        </p:nvSpPr>
        <p:spPr>
          <a:xfrm>
            <a:off x="685800" y="1143000"/>
            <a:ext cx="5486400" cy="3086100"/>
          </a:xfrm>
          <a:prstGeom prst="rect">
            <a:avLst/>
          </a:prstGeom>
          <a:ln w="0">
            <a:noFill/>
          </a:ln>
        </p:spPr>
      </p:sp>
      <p:sp>
        <p:nvSpPr>
          <p:cNvPr id="19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waiter analogy is not technically the API itself but makes request/response easy to understand.</a:t>
            </a:r>
          </a:p>
        </p:txBody>
      </p:sp>
      <p:sp>
        <p:nvSpPr>
          <p:cNvPr id="1998"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E7A9ED-98BE-4F19-811E-3BFA4E618636}" type="slidenum">
              <a:rPr lang="en-US" sz="1200" b="0" u="none" strike="noStrike">
                <a:solidFill>
                  <a:schemeClr val="dk1"/>
                </a:solidFill>
                <a:effectLst/>
                <a:uFillTx/>
                <a:latin typeface="+mn-lt"/>
                <a:ea typeface="+mn-ea"/>
              </a:rPr>
              <a:t>77</a:t>
            </a:fld>
            <a:endParaRPr lang="en-US" sz="1200" b="0" u="none" strike="noStrike">
              <a:solidFill>
                <a:srgbClr val="000000"/>
              </a:solidFill>
              <a:effectLst/>
              <a:uFillTx/>
              <a:latin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9" name="PlaceHolder 1"/>
          <p:cNvSpPr>
            <a:spLocks noGrp="1" noRot="1" noChangeAspect="1"/>
          </p:cNvSpPr>
          <p:nvPr>
            <p:ph type="sldImg"/>
          </p:nvPr>
        </p:nvSpPr>
        <p:spPr>
          <a:xfrm>
            <a:off x="685800" y="1143000"/>
            <a:ext cx="5486400" cy="3086100"/>
          </a:xfrm>
          <a:prstGeom prst="rect">
            <a:avLst/>
          </a:prstGeom>
          <a:ln w="0">
            <a:noFill/>
          </a:ln>
        </p:spPr>
      </p:sp>
      <p:sp>
        <p:nvSpPr>
          <p:cNvPr id="20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Use an example asking for a student record; do not discuss host, port, sockets.</a:t>
            </a:r>
          </a:p>
        </p:txBody>
      </p:sp>
      <p:sp>
        <p:nvSpPr>
          <p:cNvPr id="2001" name="PlaceHolder 3"/>
          <p:cNvSpPr>
            <a:spLocks noGrp="1"/>
          </p:cNvSpPr>
          <p:nvPr>
            <p:ph type="sldNum" idx="7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B75B3B3-5004-4ABE-B118-A460AAC0BF28}" type="slidenum">
              <a:rPr lang="en-US" sz="1200" b="0" u="none" strike="noStrike">
                <a:solidFill>
                  <a:schemeClr val="dk1"/>
                </a:solidFill>
                <a:effectLst/>
                <a:uFillTx/>
                <a:latin typeface="+mn-lt"/>
                <a:ea typeface="+mn-ea"/>
              </a:rPr>
              <a:t>78</a:t>
            </a:fld>
            <a:endParaRPr lang="en-US" sz="1200" b="0" u="none" strike="noStrike">
              <a:solidFill>
                <a:srgbClr val="000000"/>
              </a:solidFill>
              <a:effectLst/>
              <a:uFillTx/>
              <a:latin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2" name="PlaceHolder 1"/>
          <p:cNvSpPr>
            <a:spLocks noGrp="1" noRot="1" noChangeAspect="1"/>
          </p:cNvSpPr>
          <p:nvPr>
            <p:ph type="sldImg"/>
          </p:nvPr>
        </p:nvSpPr>
        <p:spPr>
          <a:xfrm>
            <a:off x="685800" y="1143000"/>
            <a:ext cx="5486400" cy="3086100"/>
          </a:xfrm>
          <a:prstGeom prst="rect">
            <a:avLst/>
          </a:prstGeom>
          <a:ln w="0">
            <a:noFill/>
          </a:ln>
        </p:spPr>
      </p:sp>
      <p:sp>
        <p:nvSpPr>
          <p:cNvPr id="20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Give one example of each case. Ask the class to state the most important difference in one sentence.</a:t>
            </a:r>
          </a:p>
        </p:txBody>
      </p:sp>
      <p:sp>
        <p:nvSpPr>
          <p:cNvPr id="2004" name="PlaceHolder 3"/>
          <p:cNvSpPr>
            <a:spLocks noGrp="1"/>
          </p:cNvSpPr>
          <p:nvPr>
            <p:ph type="sldNum" idx="7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4AC107-52A3-4A02-981C-6C9989FAF88A}" type="slidenum">
              <a:rPr lang="en-US" sz="1200" b="0" u="none" strike="noStrike">
                <a:solidFill>
                  <a:schemeClr val="dk1"/>
                </a:solidFill>
                <a:effectLst/>
                <a:uFillTx/>
                <a:latin typeface="+mn-lt"/>
                <a:ea typeface="+mn-ea"/>
              </a:rPr>
              <a:t>79</a:t>
            </a:fld>
            <a:endParaRPr lang="en-US" sz="1200" b="0" u="none" strike="noStrike">
              <a:solidFill>
                <a:srgbClr val="000000"/>
              </a:solidFill>
              <a:effectLst/>
              <a:uFillTx/>
              <a:latin typeface="Times New Roman"/>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5" name="PlaceHolder 1"/>
          <p:cNvSpPr>
            <a:spLocks noGrp="1" noRot="1" noChangeAspect="1"/>
          </p:cNvSpPr>
          <p:nvPr>
            <p:ph type="sldImg"/>
          </p:nvPr>
        </p:nvSpPr>
        <p:spPr>
          <a:xfrm>
            <a:off x="685800" y="1143000"/>
            <a:ext cx="5486400" cy="3086100"/>
          </a:xfrm>
          <a:prstGeom prst="rect">
            <a:avLst/>
          </a:prstGeom>
          <a:ln w="0">
            <a:noFill/>
          </a:ln>
        </p:spPr>
      </p:sp>
      <p:sp>
        <p:nvSpPr>
          <p:cNvPr id="20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Keep other codes for later. Clarify 422 is common with FastAPI validation but not essential right now.</a:t>
            </a:r>
          </a:p>
        </p:txBody>
      </p:sp>
      <p:sp>
        <p:nvSpPr>
          <p:cNvPr id="2007" name="PlaceHolder 3"/>
          <p:cNvSpPr>
            <a:spLocks noGrp="1"/>
          </p:cNvSpPr>
          <p:nvPr>
            <p:ph type="sldNum" idx="8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14AF57B-391E-45E3-A16E-3D20C4069DEC}"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8" name="PlaceHolder 1"/>
          <p:cNvSpPr>
            <a:spLocks noGrp="1" noRot="1" noChangeAspect="1"/>
          </p:cNvSpPr>
          <p:nvPr>
            <p:ph type="sldImg"/>
          </p:nvPr>
        </p:nvSpPr>
        <p:spPr>
          <a:xfrm>
            <a:off x="685800" y="1143000"/>
            <a:ext cx="5486400" cy="3086100"/>
          </a:xfrm>
          <a:prstGeom prst="rect">
            <a:avLst/>
          </a:prstGeom>
          <a:ln w="0">
            <a:noFill/>
          </a:ln>
        </p:spPr>
      </p:sp>
      <p:sp>
        <p:nvSpPr>
          <p:cNvPr id="20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Explain that this example is API-style data represented as Python dict, not actual JSON text/network request.</a:t>
            </a:r>
          </a:p>
        </p:txBody>
      </p:sp>
      <p:sp>
        <p:nvSpPr>
          <p:cNvPr id="2010" name="PlaceHolder 3"/>
          <p:cNvSpPr>
            <a:spLocks noGrp="1"/>
          </p:cNvSpPr>
          <p:nvPr>
            <p:ph type="sldNum" idx="8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E5BE2B4-4978-4B09-801C-92EDDC9AB954}" type="slidenum">
              <a:rPr lang="en-US" sz="1200" b="0" u="none" strike="noStrike">
                <a:solidFill>
                  <a:schemeClr val="dk1"/>
                </a:solidFill>
                <a:effectLst/>
                <a:uFillTx/>
                <a:latin typeface="+mn-lt"/>
                <a:ea typeface="+mn-ea"/>
              </a:rPr>
              <a:t>81</a:t>
            </a:fld>
            <a:endParaRPr lang="en-US" sz="1200" b="0" u="none" strike="noStrike">
              <a:solidFill>
                <a:srgbClr val="000000"/>
              </a:solidFill>
              <a:effectLst/>
              <a:uFillTx/>
              <a:latin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1" name="PlaceHolder 1"/>
          <p:cNvSpPr>
            <a:spLocks noGrp="1" noRot="1" noChangeAspect="1"/>
          </p:cNvSpPr>
          <p:nvPr>
            <p:ph type="sldImg"/>
          </p:nvPr>
        </p:nvSpPr>
        <p:spPr>
          <a:xfrm>
            <a:off x="685800" y="1143000"/>
            <a:ext cx="5486400" cy="3086100"/>
          </a:xfrm>
          <a:prstGeom prst="rect">
            <a:avLst/>
          </a:prstGeom>
          <a:ln w="0">
            <a:noFill/>
          </a:ln>
        </p:spPr>
      </p:sp>
      <p:sp>
        <p:nvSpPr>
          <p:cNvPr id="20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First learn CRUD with a Python list, then SQL. Give a familiar real-life example before starting coding.</a:t>
            </a:r>
          </a:p>
        </p:txBody>
      </p:sp>
      <p:sp>
        <p:nvSpPr>
          <p:cNvPr id="2013" name="PlaceHolder 3"/>
          <p:cNvSpPr>
            <a:spLocks noGrp="1"/>
          </p:cNvSpPr>
          <p:nvPr>
            <p:ph type="sldNum" idx="8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506D9F-6A2A-4B0F-9620-2A75326B96CE}" type="slidenum">
              <a:rPr lang="en-US" sz="1200" b="0" u="none" strike="noStrike">
                <a:solidFill>
                  <a:schemeClr val="dk1"/>
                </a:solidFill>
                <a:effectLst/>
                <a:uFillTx/>
                <a:latin typeface="+mn-lt"/>
                <a:ea typeface="+mn-ea"/>
              </a:rPr>
              <a:t>82</a:t>
            </a:fld>
            <a:endParaRPr lang="en-US" sz="1200" b="0" u="none" strike="noStrike">
              <a:solidFill>
                <a:srgbClr val="000000"/>
              </a:solidFill>
              <a:effectLst/>
              <a:uFillTx/>
              <a:latin typeface="Times New Roman"/>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4" name="PlaceHolder 1"/>
          <p:cNvSpPr>
            <a:spLocks noGrp="1" noRot="1" noChangeAspect="1"/>
          </p:cNvSpPr>
          <p:nvPr>
            <p:ph type="sldImg"/>
          </p:nvPr>
        </p:nvSpPr>
        <p:spPr>
          <a:xfrm>
            <a:off x="685800" y="1143000"/>
            <a:ext cx="5486400" cy="3086100"/>
          </a:xfrm>
          <a:prstGeom prst="rect">
            <a:avLst/>
          </a:prstGeom>
          <a:ln w="0">
            <a:noFill/>
          </a:ln>
        </p:spPr>
      </p:sp>
      <p:sp>
        <p:nvSpPr>
          <p:cNvPr id="20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Use a paper to-do list: add, see, edit, cross out. Teach this before any SQL commands.</a:t>
            </a:r>
          </a:p>
        </p:txBody>
      </p:sp>
      <p:sp>
        <p:nvSpPr>
          <p:cNvPr id="2016" name="PlaceHolder 3"/>
          <p:cNvSpPr>
            <a:spLocks noGrp="1"/>
          </p:cNvSpPr>
          <p:nvPr>
            <p:ph type="sldNum" idx="8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8009813-DFAE-4951-BB54-723EC2BFE008}" type="slidenum">
              <a:rPr lang="en-US" sz="1200" b="0" u="none" strike="noStrike">
                <a:solidFill>
                  <a:schemeClr val="dk1"/>
                </a:solidFill>
                <a:effectLst/>
                <a:uFillTx/>
                <a:latin typeface="+mn-lt"/>
                <a:ea typeface="+mn-ea"/>
              </a:rPr>
              <a:t>83</a:t>
            </a:fld>
            <a:endParaRPr lang="en-US" sz="1200" b="0" u="none" strike="noStrike">
              <a:solidFill>
                <a:srgbClr val="000000"/>
              </a:solidFill>
              <a:effectLst/>
              <a:uFillTx/>
              <a:latin typeface="Times New Roman"/>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 name="PlaceHolder 1"/>
          <p:cNvSpPr>
            <a:spLocks noGrp="1" noRot="1" noChangeAspect="1"/>
          </p:cNvSpPr>
          <p:nvPr>
            <p:ph type="sldImg"/>
          </p:nvPr>
        </p:nvSpPr>
        <p:spPr>
          <a:xfrm>
            <a:off x="685800" y="1143000"/>
            <a:ext cx="5486400" cy="3086100"/>
          </a:xfrm>
          <a:prstGeom prst="rect">
            <a:avLst/>
          </a:prstGeom>
          <a:ln w="0">
            <a:noFill/>
          </a:ln>
        </p:spPr>
      </p:sp>
      <p:sp>
        <p:nvSpPr>
          <p:cNvPr id="20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Have students name a CRUD example from a contacts app.</a:t>
            </a:r>
          </a:p>
        </p:txBody>
      </p:sp>
      <p:sp>
        <p:nvSpPr>
          <p:cNvPr id="2019" name="PlaceHolder 3"/>
          <p:cNvSpPr>
            <a:spLocks noGrp="1"/>
          </p:cNvSpPr>
          <p:nvPr>
            <p:ph type="sldNum" idx="8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37E5DBD-B0D0-4F76-BADF-4E0F648CB04C}" type="slidenum">
              <a:rPr lang="en-US" sz="1200" b="0" u="none" strike="noStrike">
                <a:solidFill>
                  <a:schemeClr val="dk1"/>
                </a:solidFill>
                <a:effectLst/>
                <a:uFillTx/>
                <a:latin typeface="+mn-lt"/>
                <a:ea typeface="+mn-ea"/>
              </a:rPr>
              <a:t>84</a:t>
            </a:fld>
            <a:endParaRPr lang="en-US" sz="1200" b="0" u="none" strike="noStrike">
              <a:solidFill>
                <a:srgbClr val="000000"/>
              </a:solidFill>
              <a:effectLst/>
              <a:uFillTx/>
              <a:latin typeface="Times New Roman"/>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0" name="PlaceHolder 1"/>
          <p:cNvSpPr>
            <a:spLocks noGrp="1" noRot="1" noChangeAspect="1"/>
          </p:cNvSpPr>
          <p:nvPr>
            <p:ph type="sldImg"/>
          </p:nvPr>
        </p:nvSpPr>
        <p:spPr>
          <a:xfrm>
            <a:off x="685800" y="1143000"/>
            <a:ext cx="5486400" cy="3086100"/>
          </a:xfrm>
          <a:prstGeom prst="rect">
            <a:avLst/>
          </a:prstGeom>
          <a:ln w="0">
            <a:noFill/>
          </a:ln>
        </p:spPr>
      </p:sp>
      <p:sp>
        <p:nvSpPr>
          <p:cNvPr id="20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2022" name="PlaceHolder 3"/>
          <p:cNvSpPr>
            <a:spLocks noGrp="1"/>
          </p:cNvSpPr>
          <p:nvPr>
            <p:ph type="sldNum" idx="8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49765E-6A61-4298-9F5F-4E1BB664F773}" type="slidenum">
              <a:rPr lang="en-US" sz="1200" b="0" u="none" strike="noStrike">
                <a:solidFill>
                  <a:schemeClr val="dk1"/>
                </a:solidFill>
                <a:effectLst/>
                <a:uFillTx/>
                <a:latin typeface="+mn-lt"/>
                <a:ea typeface="+mn-ea"/>
              </a:rPr>
              <a:t>85</a:t>
            </a:fld>
            <a:endParaRPr lang="en-US" sz="1200" b="0" u="none" strike="noStrike">
              <a:solidFill>
                <a:srgbClr val="000000"/>
              </a:solidFill>
              <a:effectLst/>
              <a:uFillTx/>
              <a:latin typeface="Times New Roman"/>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PlaceHolder 1"/>
          <p:cNvSpPr>
            <a:spLocks noGrp="1" noRot="1" noChangeAspect="1"/>
          </p:cNvSpPr>
          <p:nvPr>
            <p:ph type="sldImg"/>
          </p:nvPr>
        </p:nvSpPr>
        <p:spPr>
          <a:xfrm>
            <a:off x="685800" y="1143000"/>
            <a:ext cx="5486400" cy="3086100"/>
          </a:xfrm>
          <a:prstGeom prst="rect">
            <a:avLst/>
          </a:prstGeom>
          <a:ln w="0">
            <a:noFill/>
          </a:ln>
        </p:spPr>
      </p:sp>
      <p:sp>
        <p:nvSpPr>
          <p:cNvPr id="20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2025" name="PlaceHolder 3"/>
          <p:cNvSpPr>
            <a:spLocks noGrp="1"/>
          </p:cNvSpPr>
          <p:nvPr>
            <p:ph type="sldNum" idx="8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C93663-9434-4172-B2F1-CC67371193A0}" type="slidenum">
              <a:rPr lang="en-US" sz="1200" b="0" u="none" strike="noStrike">
                <a:solidFill>
                  <a:schemeClr val="dk1"/>
                </a:solidFill>
                <a:effectLst/>
                <a:uFillTx/>
                <a:latin typeface="+mn-lt"/>
                <a:ea typeface="+mn-ea"/>
              </a:rPr>
              <a:t>86</a:t>
            </a:fld>
            <a:endParaRPr lang="en-US" sz="1200" b="0" u="none" strike="noStrike">
              <a:solidFill>
                <a:srgbClr val="000000"/>
              </a:solidFill>
              <a:effectLst/>
              <a:uFillTx/>
              <a:latin typeface="Times New Roman"/>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6" name="PlaceHolder 1"/>
          <p:cNvSpPr>
            <a:spLocks noGrp="1" noRot="1" noChangeAspect="1"/>
          </p:cNvSpPr>
          <p:nvPr>
            <p:ph type="sldImg"/>
          </p:nvPr>
        </p:nvSpPr>
        <p:spPr>
          <a:xfrm>
            <a:off x="685800" y="1143000"/>
            <a:ext cx="5486400" cy="3086100"/>
          </a:xfrm>
          <a:prstGeom prst="rect">
            <a:avLst/>
          </a:prstGeom>
          <a:ln w="0">
            <a:noFill/>
          </a:ln>
        </p:spPr>
      </p:sp>
      <p:sp>
        <p:nvSpPr>
          <p:cNvPr id="20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Now show the answer. Walk through the commented code. Ask learners how their solutions differ and why both might work.</a:t>
            </a:r>
          </a:p>
        </p:txBody>
      </p:sp>
      <p:sp>
        <p:nvSpPr>
          <p:cNvPr id="2028" name="PlaceHolder 3"/>
          <p:cNvSpPr>
            <a:spLocks noGrp="1"/>
          </p:cNvSpPr>
          <p:nvPr>
            <p:ph type="sldNum" idx="8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0F12FA-8535-42F1-AF8F-63EBE376E2EC}" type="slidenum">
              <a:rPr lang="en-US" sz="1200" b="0" u="none" strike="noStrike">
                <a:solidFill>
                  <a:schemeClr val="dk1"/>
                </a:solidFill>
                <a:effectLst/>
                <a:uFillTx/>
                <a:latin typeface="+mn-lt"/>
                <a:ea typeface="+mn-ea"/>
              </a:rPr>
              <a:t>87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9" name="PlaceHolder 1"/>
          <p:cNvSpPr>
            <a:spLocks noGrp="1" noRot="1" noChangeAspect="1"/>
          </p:cNvSpPr>
          <p:nvPr>
            <p:ph type="sldImg"/>
          </p:nvPr>
        </p:nvSpPr>
        <p:spPr>
          <a:xfrm>
            <a:off x="685800" y="1143000"/>
            <a:ext cx="5486400" cy="3086100"/>
          </a:xfrm>
          <a:prstGeom prst="rect">
            <a:avLst/>
          </a:prstGeom>
          <a:ln w="0">
            <a:noFill/>
          </a:ln>
        </p:spPr>
      </p:sp>
      <p:sp>
        <p:nvSpPr>
          <p:cNvPr id="20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Draw columns id and title on board and two example rows. A primary key helps identify which row to edit.</a:t>
            </a:r>
          </a:p>
        </p:txBody>
      </p:sp>
      <p:sp>
        <p:nvSpPr>
          <p:cNvPr id="2031" name="PlaceHolder 3"/>
          <p:cNvSpPr>
            <a:spLocks noGrp="1"/>
          </p:cNvSpPr>
          <p:nvPr>
            <p:ph type="sldNum" idx="8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4F0A0F4-56F6-48DC-B7C0-D2DB83C41760}" type="slidenum">
              <a:rPr lang="en-US" sz="1200" b="0" u="none" strike="noStrike">
                <a:solidFill>
                  <a:schemeClr val="dk1"/>
                </a:solidFill>
                <a:effectLst/>
                <a:uFillTx/>
                <a:latin typeface="+mn-lt"/>
                <a:ea typeface="+mn-ea"/>
              </a:rPr>
              <a:t>88</a:t>
            </a:fld>
            <a:endParaRPr lang="en-US" sz="1200" b="0" u="none" strike="noStrike">
              <a:solidFill>
                <a:srgbClr val="000000"/>
              </a:solidFill>
              <a:effectLst/>
              <a:uFillTx/>
              <a:latin typeface="Times New Roman"/>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2" name="PlaceHolder 1"/>
          <p:cNvSpPr>
            <a:spLocks noGrp="1" noRot="1" noChangeAspect="1"/>
          </p:cNvSpPr>
          <p:nvPr>
            <p:ph type="sldImg"/>
          </p:nvPr>
        </p:nvSpPr>
        <p:spPr>
          <a:xfrm>
            <a:off x="685800" y="1143000"/>
            <a:ext cx="5486400" cy="3086100"/>
          </a:xfrm>
          <a:prstGeom prst="rect">
            <a:avLst/>
          </a:prstGeom>
          <a:ln w="0">
            <a:noFill/>
          </a:ln>
        </p:spPr>
      </p:sp>
      <p:sp>
        <p:nvSpPr>
          <p:cNvPr id="20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Give one example of each case. Ask the class to state the most important difference in one sentence.</a:t>
            </a:r>
          </a:p>
        </p:txBody>
      </p:sp>
      <p:sp>
        <p:nvSpPr>
          <p:cNvPr id="2034" name="PlaceHolder 3"/>
          <p:cNvSpPr>
            <a:spLocks noGrp="1"/>
          </p:cNvSpPr>
          <p:nvPr>
            <p:ph type="sldNum" idx="8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BADC32F-9448-4101-8E1B-B3A4A60380E9}" type="slidenum">
              <a:rPr lang="en-US" sz="1200" b="0" u="none" strike="noStrike">
                <a:solidFill>
                  <a:schemeClr val="dk1"/>
                </a:solidFill>
                <a:effectLst/>
                <a:uFillTx/>
                <a:latin typeface="+mn-lt"/>
                <a:ea typeface="+mn-ea"/>
              </a:rPr>
              <a:t>89</a:t>
            </a:fld>
            <a:endParaRPr lang="en-US" sz="1200" b="0" u="none" strike="noStrike">
              <a:solidFill>
                <a:srgbClr val="000000"/>
              </a:solidFill>
              <a:effectLst/>
              <a:uFillTx/>
              <a:latin typeface="Times New Roman"/>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5" name="PlaceHolder 1"/>
          <p:cNvSpPr>
            <a:spLocks noGrp="1" noRot="1" noChangeAspect="1"/>
          </p:cNvSpPr>
          <p:nvPr>
            <p:ph type="sldImg"/>
          </p:nvPr>
        </p:nvSpPr>
        <p:spPr>
          <a:xfrm>
            <a:off x="685800" y="1143000"/>
            <a:ext cx="5486400" cy="3086100"/>
          </a:xfrm>
          <a:prstGeom prst="rect">
            <a:avLst/>
          </a:prstGeom>
          <a:ln w="0">
            <a:noFill/>
          </a:ln>
        </p:spPr>
      </p:sp>
      <p:sp>
        <p:nvSpPr>
          <p:cNvPr id="20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SQL comments use --, not Python #. Run in SQLite tool or within a Python sqlite3 execute string; this is SQL, not a Google Colab Python cell by itself.</a:t>
            </a:r>
          </a:p>
        </p:txBody>
      </p:sp>
      <p:sp>
        <p:nvSpPr>
          <p:cNvPr id="2037" name="PlaceHolder 3"/>
          <p:cNvSpPr>
            <a:spLocks noGrp="1"/>
          </p:cNvSpPr>
          <p:nvPr>
            <p:ph type="sldNum" idx="9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32FB750-2830-45AC-811A-60072DC0F04E}" type="slidenum">
              <a:rPr lang="en-US" sz="1200" b="0" u="none" strike="noStrike">
                <a:solidFill>
                  <a:schemeClr val="dk1"/>
                </a:solidFill>
                <a:effectLst/>
                <a:uFillTx/>
                <a:latin typeface="+mn-lt"/>
                <a:ea typeface="+mn-ea"/>
              </a:rPr>
              <a:t>90</a:t>
            </a:fld>
            <a:endParaRPr lang="en-US" sz="1200" b="0" u="none" strike="noStrike">
              <a:solidFill>
                <a:srgbClr val="000000"/>
              </a:solidFill>
              <a:effectLst/>
              <a:uFillTx/>
              <a:latin typeface="Times New Roman"/>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8" name="PlaceHolder 1"/>
          <p:cNvSpPr>
            <a:spLocks noGrp="1" noRot="1" noChangeAspect="1"/>
          </p:cNvSpPr>
          <p:nvPr>
            <p:ph type="sldImg"/>
          </p:nvPr>
        </p:nvSpPr>
        <p:spPr>
          <a:xfrm>
            <a:off x="685800" y="1143000"/>
            <a:ext cx="5486400" cy="3086100"/>
          </a:xfrm>
          <a:prstGeom prst="rect">
            <a:avLst/>
          </a:prstGeom>
          <a:ln w="0">
            <a:noFill/>
          </a:ln>
        </p:spPr>
      </p:sp>
      <p:sp>
        <p:nvSpPr>
          <p:cNvPr id="20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Run after a tasks table already exists.</a:t>
            </a:r>
          </a:p>
        </p:txBody>
      </p:sp>
      <p:sp>
        <p:nvSpPr>
          <p:cNvPr id="2040" name="PlaceHolder 3"/>
          <p:cNvSpPr>
            <a:spLocks noGrp="1"/>
          </p:cNvSpPr>
          <p:nvPr>
            <p:ph type="sldNum" idx="9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E4A510-65E1-4BFF-B540-11D274D1F517}" type="slidenum">
              <a:rPr lang="en-US" sz="1200" b="0" u="none" strike="noStrike">
                <a:solidFill>
                  <a:schemeClr val="dk1"/>
                </a:solidFill>
                <a:effectLst/>
                <a:uFillTx/>
                <a:latin typeface="+mn-lt"/>
                <a:ea typeface="+mn-ea"/>
              </a:rPr>
              <a:t>91</a:t>
            </a:fld>
            <a:endParaRPr lang="en-US" sz="1200" b="0" u="none" strike="noStrike">
              <a:solidFill>
                <a:srgbClr val="000000"/>
              </a:solidFill>
              <a:effectLst/>
              <a:uFillTx/>
              <a:latin typeface="Times New Roman"/>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1" name="PlaceHolder 1"/>
          <p:cNvSpPr>
            <a:spLocks noGrp="1" noRot="1" noChangeAspect="1"/>
          </p:cNvSpPr>
          <p:nvPr>
            <p:ph type="sldImg"/>
          </p:nvPr>
        </p:nvSpPr>
        <p:spPr>
          <a:xfrm>
            <a:off x="685800" y="1143000"/>
            <a:ext cx="5486400" cy="3086100"/>
          </a:xfrm>
          <a:prstGeom prst="rect">
            <a:avLst/>
          </a:prstGeom>
          <a:ln w="0">
            <a:noFill/>
          </a:ln>
        </p:spPr>
      </p:sp>
      <p:sp>
        <p:nvSpPr>
          <p:cNvPr id="20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Always stress WHERE. In a toy SQLite database, demonstrate before and after SELECT.</a:t>
            </a:r>
          </a:p>
        </p:txBody>
      </p:sp>
      <p:sp>
        <p:nvSpPr>
          <p:cNvPr id="2043" name="PlaceHolder 3"/>
          <p:cNvSpPr>
            <a:spLocks noGrp="1"/>
          </p:cNvSpPr>
          <p:nvPr>
            <p:ph type="sldNum" idx="9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E2ED38-61FF-408B-938B-FD4122F8E081}" type="slidenum">
              <a:rPr lang="en-US" sz="1200" b="0" u="none" strike="noStrike">
                <a:solidFill>
                  <a:schemeClr val="dk1"/>
                </a:solidFill>
                <a:effectLst/>
                <a:uFillTx/>
                <a:latin typeface="+mn-lt"/>
                <a:ea typeface="+mn-ea"/>
              </a:rPr>
              <a:t>92</a:t>
            </a:fld>
            <a:endParaRPr lang="en-US" sz="1200" b="0" u="none" strike="noStrike">
              <a:solidFill>
                <a:srgbClr val="000000"/>
              </a:solidFill>
              <a:effectLst/>
              <a:uFillTx/>
              <a:latin typeface="Times New Roman"/>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4" name="PlaceHolder 1"/>
          <p:cNvSpPr>
            <a:spLocks noGrp="1" noRot="1" noChangeAspect="1"/>
          </p:cNvSpPr>
          <p:nvPr>
            <p:ph type="sldImg"/>
          </p:nvPr>
        </p:nvSpPr>
        <p:spPr>
          <a:xfrm>
            <a:off x="685800" y="1143000"/>
            <a:ext cx="5486400" cy="3086100"/>
          </a:xfrm>
          <a:prstGeom prst="rect">
            <a:avLst/>
          </a:prstGeom>
          <a:ln w="0">
            <a:noFill/>
          </a:ln>
        </p:spPr>
      </p:sp>
      <p:sp>
        <p:nvSpPr>
          <p:cNvPr id="20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SQLite does not require an online account, server, or separate installation in Colab. Files in Colab are temporary unless copied to Drive.</a:t>
            </a:r>
          </a:p>
        </p:txBody>
      </p:sp>
      <p:sp>
        <p:nvSpPr>
          <p:cNvPr id="2046" name="PlaceHolder 3"/>
          <p:cNvSpPr>
            <a:spLocks noGrp="1"/>
          </p:cNvSpPr>
          <p:nvPr>
            <p:ph type="sldNum" idx="9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C399039-9234-4009-AA10-C54FD38668EB}" type="slidenum">
              <a:rPr lang="en-US" sz="1200" b="0" u="none" strike="noStrike">
                <a:solidFill>
                  <a:schemeClr val="dk1"/>
                </a:solidFill>
                <a:effectLst/>
                <a:uFillTx/>
                <a:latin typeface="+mn-lt"/>
                <a:ea typeface="+mn-ea"/>
              </a:rPr>
              <a:t>93</a:t>
            </a:fld>
            <a:endParaRPr lang="en-US" sz="1200" b="0" u="none" strike="noStrike">
              <a:solidFill>
                <a:srgbClr val="000000"/>
              </a:solidFill>
              <a:effectLst/>
              <a:uFillTx/>
              <a:latin typeface="Times New Roman"/>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7" name="PlaceHolder 1"/>
          <p:cNvSpPr>
            <a:spLocks noGrp="1" noRot="1" noChangeAspect="1"/>
          </p:cNvSpPr>
          <p:nvPr>
            <p:ph type="sldImg"/>
          </p:nvPr>
        </p:nvSpPr>
        <p:spPr>
          <a:xfrm>
            <a:off x="685800" y="1143000"/>
            <a:ext cx="5486400" cy="3086100"/>
          </a:xfrm>
          <a:prstGeom prst="rect">
            <a:avLst/>
          </a:prstGeom>
          <a:ln w="0">
            <a:noFill/>
          </a:ln>
        </p:spPr>
      </p:sp>
      <p:sp>
        <p:nvSpPr>
          <p:cNvPr id="20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Caution: rerunning the cell adds another Read row. Mention deliberate repetition.</a:t>
            </a:r>
          </a:p>
        </p:txBody>
      </p:sp>
      <p:sp>
        <p:nvSpPr>
          <p:cNvPr id="2049" name="PlaceHolder 3"/>
          <p:cNvSpPr>
            <a:spLocks noGrp="1"/>
          </p:cNvSpPr>
          <p:nvPr>
            <p:ph type="sldNum" idx="9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B3999A5-8F30-43E7-B369-90052ED7E102}" type="slidenum">
              <a:rPr lang="en-US" sz="1200" b="0" u="none" strike="noStrike">
                <a:solidFill>
                  <a:schemeClr val="dk1"/>
                </a:solidFill>
                <a:effectLst/>
                <a:uFillTx/>
                <a:latin typeface="+mn-lt"/>
                <a:ea typeface="+mn-ea"/>
              </a:rPr>
              <a:t>94</a:t>
            </a:fld>
            <a:endParaRPr lang="en-US" sz="1200" b="0" u="none" strike="noStrike">
              <a:solidFill>
                <a:srgbClr val="000000"/>
              </a:solidFill>
              <a:effectLst/>
              <a:uFillTx/>
              <a:latin typeface="Times New Roman"/>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PlaceHolder 1"/>
          <p:cNvSpPr>
            <a:spLocks noGrp="1" noRot="1" noChangeAspect="1"/>
          </p:cNvSpPr>
          <p:nvPr>
            <p:ph type="sldImg"/>
          </p:nvPr>
        </p:nvSpPr>
        <p:spPr>
          <a:xfrm>
            <a:off x="685800" y="1143000"/>
            <a:ext cx="5486400" cy="3086100"/>
          </a:xfrm>
          <a:prstGeom prst="rect">
            <a:avLst/>
          </a:prstGeom>
          <a:ln w="0">
            <a:noFill/>
          </a:ln>
        </p:spPr>
      </p:sp>
      <p:sp>
        <p:nvSpPr>
          <p:cNvPr id="20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Assumes previous slide created tasks.db and inserted a row. Multiple output lines possible after reruns.</a:t>
            </a:r>
          </a:p>
        </p:txBody>
      </p:sp>
      <p:sp>
        <p:nvSpPr>
          <p:cNvPr id="2052" name="PlaceHolder 3"/>
          <p:cNvSpPr>
            <a:spLocks noGrp="1"/>
          </p:cNvSpPr>
          <p:nvPr>
            <p:ph type="sldNum" idx="9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B5C9518-AE4A-4EBA-ABCB-89383E714BFA}" type="slidenum">
              <a:rPr lang="en-US" sz="1200" b="0" u="none" strike="noStrike">
                <a:solidFill>
                  <a:schemeClr val="dk1"/>
                </a:solidFill>
                <a:effectLst/>
                <a:uFillTx/>
                <a:latin typeface="+mn-lt"/>
                <a:ea typeface="+mn-ea"/>
              </a:rPr>
              <a:t>95</a:t>
            </a:fld>
            <a:endParaRPr lang="en-US" sz="1200" b="0" u="none" strike="noStrike">
              <a:solidFill>
                <a:srgbClr val="000000"/>
              </a:solidFill>
              <a:effectLst/>
              <a:uFillTx/>
              <a:latin typeface="Times New Roman"/>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PlaceHolder 1"/>
          <p:cNvSpPr>
            <a:spLocks noGrp="1" noRot="1" noChangeAspect="1"/>
          </p:cNvSpPr>
          <p:nvPr>
            <p:ph type="sldImg"/>
          </p:nvPr>
        </p:nvSpPr>
        <p:spPr>
          <a:xfrm>
            <a:off x="685800" y="1143000"/>
            <a:ext cx="5486400" cy="3086100"/>
          </a:xfrm>
          <a:prstGeom prst="rect">
            <a:avLst/>
          </a:prstGeom>
          <a:ln w="0">
            <a:noFill/>
          </a:ln>
        </p:spPr>
      </p:sp>
      <p:sp>
        <p:nvSpPr>
          <p:cNvPr id="20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Pause here and let students try. Give a hint before the next solution slide. Avoid revealing the answer immediately.</a:t>
            </a:r>
          </a:p>
        </p:txBody>
      </p:sp>
      <p:sp>
        <p:nvSpPr>
          <p:cNvPr id="2055" name="PlaceHolder 3"/>
          <p:cNvSpPr>
            <a:spLocks noGrp="1"/>
          </p:cNvSpPr>
          <p:nvPr>
            <p:ph type="sldNum" idx="9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3B748A3-6CDA-4A94-BEF8-66DEF1AE974F}" type="slidenum">
              <a:rPr lang="en-US" sz="1200" b="0" u="none" strike="noStrike">
                <a:solidFill>
                  <a:schemeClr val="dk1"/>
                </a:solidFill>
                <a:effectLst/>
                <a:uFillTx/>
                <a:latin typeface="+mn-lt"/>
                <a:ea typeface="+mn-ea"/>
              </a:rPr>
              <a:t>96</a:t>
            </a:fld>
            <a:endParaRPr lang="en-US" sz="1200" b="0" u="none" strike="noStrike">
              <a:solidFill>
                <a:srgbClr val="000000"/>
              </a:solidFill>
              <a:effectLst/>
              <a:uFillTx/>
              <a:latin typeface="Times New Roman"/>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PlaceHolder 1"/>
          <p:cNvSpPr>
            <a:spLocks noGrp="1" noRot="1" noChangeAspect="1"/>
          </p:cNvSpPr>
          <p:nvPr>
            <p:ph type="sldImg"/>
          </p:nvPr>
        </p:nvSpPr>
        <p:spPr>
          <a:xfrm>
            <a:off x="685800" y="1143000"/>
            <a:ext cx="5486400" cy="3086100"/>
          </a:xfrm>
          <a:prstGeom prst="rect">
            <a:avLst/>
          </a:prstGeom>
          <a:ln w="0">
            <a:noFill/>
          </a:ln>
        </p:spPr>
      </p:sp>
      <p:sp>
        <p:nvSpPr>
          <p:cNvPr id="20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If ID 1 does not exist in current database output is Not found. Begin with the earlier INSERT example in fresh notebook.</a:t>
            </a:r>
          </a:p>
        </p:txBody>
      </p:sp>
      <p:sp>
        <p:nvSpPr>
          <p:cNvPr id="2058" name="PlaceHolder 3"/>
          <p:cNvSpPr>
            <a:spLocks noGrp="1"/>
          </p:cNvSpPr>
          <p:nvPr>
            <p:ph type="sldNum" idx="9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7E08A7-31EE-4431-96DE-2FAA4C5A8B52}" type="slidenum">
              <a:rPr lang="en-US" sz="1200" b="0" u="none" strike="noStrike">
                <a:solidFill>
                  <a:schemeClr val="dk1"/>
                </a:solidFill>
                <a:effectLst/>
                <a:uFillTx/>
                <a:latin typeface="+mn-lt"/>
                <a:ea typeface="+mn-ea"/>
              </a:rPr>
              <a:t>97</a:t>
            </a:fld>
            <a:endParaRPr lang="en-US" sz="1200" b="0" u="none" strike="noStrike">
              <a:solidFill>
                <a:srgbClr val="000000"/>
              </a:solidFill>
              <a:effectLst/>
              <a:uFillTx/>
              <a:latin typeface="Times New Roman"/>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PlaceHolder 1"/>
          <p:cNvSpPr>
            <a:spLocks noGrp="1" noRot="1" noChangeAspect="1"/>
          </p:cNvSpPr>
          <p:nvPr>
            <p:ph type="sldImg"/>
          </p:nvPr>
        </p:nvSpPr>
        <p:spPr>
          <a:xfrm>
            <a:off x="685800" y="1143000"/>
            <a:ext cx="5486400" cy="3086100"/>
          </a:xfrm>
          <a:prstGeom prst="rect">
            <a:avLst/>
          </a:prstGeom>
          <a:ln w="0">
            <a:noFill/>
          </a:ln>
        </p:spPr>
      </p:sp>
      <p:sp>
        <p:nvSpPr>
          <p:cNvPr id="20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Explain with name containing quotes: placeholders also handle quoting safely.</a:t>
            </a:r>
          </a:p>
        </p:txBody>
      </p:sp>
      <p:sp>
        <p:nvSpPr>
          <p:cNvPr id="2061" name="PlaceHolder 3"/>
          <p:cNvSpPr>
            <a:spLocks noGrp="1"/>
          </p:cNvSpPr>
          <p:nvPr>
            <p:ph type="sldNum" idx="9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802689D-C05C-4FA4-AD78-A9229C2EA9A1}" type="slidenum">
              <a:rPr lang="en-US" sz="1200" b="0" u="none" strike="noStrike">
                <a:solidFill>
                  <a:schemeClr val="dk1"/>
                </a:solidFill>
                <a:effectLst/>
                <a:uFillTx/>
                <a:latin typeface="+mn-lt"/>
                <a:ea typeface="+mn-ea"/>
              </a:rPr>
              <a:t>98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2" name="PlaceHolder 1"/>
          <p:cNvSpPr>
            <a:spLocks noGrp="1" noRot="1" noChangeAspect="1"/>
          </p:cNvSpPr>
          <p:nvPr>
            <p:ph type="sldImg"/>
          </p:nvPr>
        </p:nvSpPr>
        <p:spPr>
          <a:xfrm>
            <a:off x="685800" y="1143000"/>
            <a:ext cx="5486400" cy="3086100"/>
          </a:xfrm>
          <a:prstGeom prst="rect">
            <a:avLst/>
          </a:prstGeom>
          <a:ln w="0">
            <a:noFill/>
          </a:ln>
        </p:spPr>
      </p:sp>
      <p:sp>
        <p:nvSpPr>
          <p:cNvPr id="20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Test a simple function before building larger apps. Give a familiar real-life example before starting coding.</a:t>
            </a:r>
          </a:p>
        </p:txBody>
      </p:sp>
      <p:sp>
        <p:nvSpPr>
          <p:cNvPr id="2064" name="PlaceHolder 3"/>
          <p:cNvSpPr>
            <a:spLocks noGrp="1"/>
          </p:cNvSpPr>
          <p:nvPr>
            <p:ph type="sldNum" idx="9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62E761-F4D2-4D3A-8C17-10B278543B48}" type="slidenum">
              <a:rPr lang="en-US" sz="1200" b="0" u="none" strike="noStrike">
                <a:solidFill>
                  <a:schemeClr val="dk1"/>
                </a:solidFill>
                <a:effectLst/>
                <a:uFillTx/>
                <a:latin typeface="+mn-lt"/>
                <a:ea typeface="+mn-ea"/>
              </a:rPr>
              <a:t>99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 name="PlaceHolder 1"/>
          <p:cNvSpPr>
            <a:spLocks noGrp="1" noRot="1" noChangeAspect="1"/>
          </p:cNvSpPr>
          <p:nvPr>
            <p:ph type="sldImg"/>
          </p:nvPr>
        </p:nvSpPr>
        <p:spPr>
          <a:xfrm>
            <a:off x="685800" y="1143000"/>
            <a:ext cx="5486400" cy="3086100"/>
          </a:xfrm>
          <a:prstGeom prst="rect">
            <a:avLst/>
          </a:prstGeom>
          <a:ln w="0">
            <a:noFill/>
          </a:ln>
        </p:spPr>
      </p:sp>
      <p:sp>
        <p:nvSpPr>
          <p:cNvPr id="20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Examples: total(2,3)=5; zero amount; non-number input.</a:t>
            </a:r>
          </a:p>
        </p:txBody>
      </p:sp>
      <p:sp>
        <p:nvSpPr>
          <p:cNvPr id="2067" name="PlaceHolder 3"/>
          <p:cNvSpPr>
            <a:spLocks noGrp="1"/>
          </p:cNvSpPr>
          <p:nvPr>
            <p:ph type="sldNum" idx="10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126BBDC-1147-4439-86F4-88698AC6B8A6}" type="slidenum">
              <a:rPr lang="en-US" sz="1200" b="0" u="none" strike="noStrike">
                <a:solidFill>
                  <a:schemeClr val="dk1"/>
                </a:solidFill>
                <a:effectLst/>
                <a:uFillTx/>
                <a:latin typeface="+mn-lt"/>
                <a:ea typeface="+mn-ea"/>
              </a:rPr>
              <a:t>100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 name="PlaceHolder 1"/>
          <p:cNvSpPr>
            <a:spLocks noGrp="1" noRot="1" noChangeAspect="1"/>
          </p:cNvSpPr>
          <p:nvPr>
            <p:ph type="sldImg"/>
          </p:nvPr>
        </p:nvSpPr>
        <p:spPr>
          <a:xfrm>
            <a:off x="685800" y="1143000"/>
            <a:ext cx="5486400" cy="3086100"/>
          </a:xfrm>
          <a:prstGeom prst="rect">
            <a:avLst/>
          </a:prstGeom>
          <a:ln w="0">
            <a:noFill/>
          </a:ln>
        </p:spPr>
      </p:sp>
      <p:sp>
        <p:nvSpPr>
          <p:cNvPr id="20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Ask learners to predict the output. Read the code from top to bottom. Explain each # comment and compare the actual output with the prediction.</a:t>
            </a:r>
          </a:p>
        </p:txBody>
      </p:sp>
      <p:sp>
        <p:nvSpPr>
          <p:cNvPr id="2070" name="PlaceHolder 3"/>
          <p:cNvSpPr>
            <a:spLocks noGrp="1"/>
          </p:cNvSpPr>
          <p:nvPr>
            <p:ph type="sldNum" idx="10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85C062C-BC53-4616-B96C-6259FF090B54}" type="slidenum">
              <a:rPr lang="en-US" sz="1200" b="0" u="none" strike="noStrike">
                <a:solidFill>
                  <a:schemeClr val="dk1"/>
                </a:solidFill>
                <a:effectLst/>
                <a:uFillTx/>
                <a:latin typeface="+mn-lt"/>
                <a:ea typeface="+mn-ea"/>
              </a:rPr>
              <a:t>101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1" name="PlaceHolder 1"/>
          <p:cNvSpPr>
            <a:spLocks noGrp="1" noRot="1" noChangeAspect="1"/>
          </p:cNvSpPr>
          <p:nvPr>
            <p:ph type="sldImg"/>
          </p:nvPr>
        </p:nvSpPr>
        <p:spPr>
          <a:xfrm>
            <a:off x="685800" y="1143000"/>
            <a:ext cx="5486400" cy="3086100"/>
          </a:xfrm>
          <a:prstGeom prst="rect">
            <a:avLst/>
          </a:prstGeom>
          <a:ln w="0">
            <a:noFill/>
          </a:ln>
        </p:spPr>
      </p:sp>
      <p:sp>
        <p:nvSpPr>
          <p:cNvPr id="20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Students can use assert in Colab now; pytest is an optional next step or Codespaces demonstration.</a:t>
            </a:r>
          </a:p>
        </p:txBody>
      </p:sp>
      <p:sp>
        <p:nvSpPr>
          <p:cNvPr id="2073" name="PlaceHolder 3"/>
          <p:cNvSpPr>
            <a:spLocks noGrp="1"/>
          </p:cNvSpPr>
          <p:nvPr>
            <p:ph type="sldNum" idx="10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621434-BBD7-46AE-B3A5-2C6E948EFFB7}" type="slidenum">
              <a:rPr lang="en-US" sz="1200" b="0" u="none" strike="noStrike">
                <a:solidFill>
                  <a:schemeClr val="dk1"/>
                </a:solidFill>
                <a:effectLst/>
                <a:uFillTx/>
                <a:latin typeface="+mn-lt"/>
                <a:ea typeface="+mn-ea"/>
              </a:rPr>
              <a:t>102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84 / 128 — What Is a Test?</a:t>
            </a:r>
          </a:p>
          <a:p>
            <a:r>
              <a:t>SAY TO STUDENTS:</a:t>
            </a:r>
          </a:p>
          <a:p>
            <a:r>
              <a:t>“What Is a Test?” — Start with the purpose: A test automatically checks whether code produces the expected result. Normal case: ordinary input (e.g., marks = 70). Edge case: boundary input (marks = 50). Invalid input: a value that should be rejected. Arrange → Act → Assert is a simple test structure.</a:t>
            </a:r>
          </a:p>
          <a:p>
            <a:r>
              <a:t>TEACHING APPROACH: Define the concept; illustrate it with the simplest example; run or describe the example; ask for the output; then practise.</a:t>
            </a:r>
          </a:p>
          <a:p>
            <a:r>
              <a:t>CONCEPT EXPLANATION:</a:t>
            </a:r>
          </a:p>
          <a:p>
            <a:r>
              <a:t>  A test automatically checks whether code produces the expected result.</a:t>
            </a:r>
          </a:p>
          <a:p>
            <a:r>
              <a:t>  Normal case: ordinary input (e.g., marks = 70).</a:t>
            </a:r>
          </a:p>
          <a:p>
            <a:r>
              <a:t>  Edge case: boundary input (marks = 50).</a:t>
            </a:r>
          </a:p>
          <a:p>
            <a:r>
              <a:t>  Invalid input: a value that should be rejected.</a:t>
            </a:r>
          </a:p>
          <a:p>
            <a:r>
              <a:t>  Arrange → Act → Assert is a simple test structure.</a:t>
            </a:r>
          </a:p>
          <a:p>
            <a:r>
              <a:t>CHECK FOR UNDERSTANDING: Ask one learner what the concept is, another to predict or explain one line, and a third to give a similar example.</a:t>
            </a:r>
          </a:p>
          <a:p>
            <a:r>
              <a:t>TOOLS: Use Google Colab for ordinary Python; Git and web frameworks are better demonstrated in GitHub Codespaces.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874050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85 / 128 — First Test: Plain assert</a:t>
            </a:r>
          </a:p>
          <a:p>
            <a:r>
              <a:t>SAY TO STUDENTS:</a:t>
            </a:r>
          </a:p>
          <a:p>
            <a:r>
              <a:t>“First Test: Plain assert” — Start with the purpose: Explain what the code will do before executing it. Ask learners to predict the output.</a:t>
            </a:r>
          </a:p>
          <a:p>
            <a:r>
              <a:t>TEACHING APPROACH: Define the concept; illustrate it with the simplest example; run or describe the example; ask for the output; then practise.</a:t>
            </a:r>
          </a:p>
          <a:p>
            <a:r>
              <a:t>CODE WALKTHROUGH (explain each important line):</a:t>
            </a:r>
          </a:p>
          <a:p>
            <a:r>
              <a:t>  def add(a, b):  # define a function  →  Defines a named function or method that can be called again.</a:t>
            </a:r>
          </a:p>
          <a:p>
            <a:r>
              <a:t>  return a + b  # send result back  →  Sends this value back to the calling code.</a:t>
            </a:r>
          </a:p>
          <a:p>
            <a:r>
              <a:t>  assert add(2, 3) == 5  →  Checks that the actual result matches an expected result.</a:t>
            </a:r>
          </a:p>
          <a:p>
            <a:r>
              <a:t>  print("Test passed")  # show the result  →  Displays information in the notebook output.</a:t>
            </a:r>
          </a:p>
          <a:p>
            <a:r>
              <a:t>CHECK FOR UNDERSTANDING: Ask one learner what the concept is, another to predict or explain one line, and a third to give a similar example.</a:t>
            </a:r>
          </a:p>
          <a:p>
            <a:r>
              <a:t>TOOLS: Use Google Colab for ordinary Python; Git and web frameworks are better demonstrated in GitHub Codespaces.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1254982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86 / 128 — pytest Test Function</a:t>
            </a:r>
          </a:p>
          <a:p>
            <a:r>
              <a:t>SAY TO STUDENTS:</a:t>
            </a:r>
          </a:p>
          <a:p>
            <a:r>
              <a:t>“pytest Test Function” — Start with the purpose: Explain what the code will do before executing it. Ask learners to predict the output.</a:t>
            </a:r>
          </a:p>
          <a:p>
            <a:r>
              <a:t>TEACHING APPROACH: Define the concept; illustrate it with the simplest example; run or describe the example; ask for the output; then practise.</a:t>
            </a:r>
          </a:p>
          <a:p>
            <a:r>
              <a:t>CODE WALKTHROUGH (explain each important line):</a:t>
            </a:r>
          </a:p>
          <a:p>
            <a:r>
              <a:t>  def is_pass(marks):  # define a function  →  Defines a named function or method that can be called again.</a:t>
            </a:r>
          </a:p>
          <a:p>
            <a:r>
              <a:t>  return marks &gt;= 50  # send result back  →  Sends this value back to the calling code.</a:t>
            </a:r>
          </a:p>
          <a:p>
            <a:r>
              <a:t>  def test_pass_mark():  # define a test  →  Defines a named function or method that can be called again.</a:t>
            </a:r>
          </a:p>
          <a:p>
            <a:r>
              <a:t>  assert is_pass(50) is True  →  Checks that the actual result matches an expected result.</a:t>
            </a:r>
          </a:p>
          <a:p>
            <a:r>
              <a:t>  def test_fail_mark():  # define a test  →  Defines a named function or method that can be called again.</a:t>
            </a:r>
          </a:p>
          <a:p>
            <a:r>
              <a:t>  assert is_pass(40) is False  →  Checks that the actual result matches an expected result.</a:t>
            </a:r>
          </a:p>
          <a:p>
            <a:r>
              <a:t>CHECK FOR UNDERSTANDING: Ask one learner what the concept is, another to predict or explain one line, and a third to give a similar example.</a:t>
            </a:r>
          </a:p>
          <a:p>
            <a:r>
              <a:t>TOOLS: Use Google Colab for ordinary Python; Git and web frameworks are better demonstrated in GitHub Codespaces.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8265070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87 / 128 — Normal, Edge and Failure Cases</a:t>
            </a:r>
          </a:p>
          <a:p>
            <a:r>
              <a:t>SAY TO STUDENTS:</a:t>
            </a:r>
          </a:p>
          <a:p>
            <a:r>
              <a:t>“Normal, Edge and Failure Cases” — Start with the purpose: A reliable test set checks more than the typical happy path. Normal: add a title such as "Read notes". Edge: title is only one character. Invalid: blank title should be rejected. Persistence: reload saved data after restarting.</a:t>
            </a:r>
          </a:p>
          <a:p>
            <a:r>
              <a:t>TEACHING APPROACH: Define the concept; illustrate it with the simplest example; run or describe the example; ask for the output; then practise.</a:t>
            </a:r>
          </a:p>
          <a:p>
            <a:r>
              <a:t>CONCEPT EXPLANATION:</a:t>
            </a:r>
          </a:p>
          <a:p>
            <a:r>
              <a:t>  A reliable test set checks more than the typical happy path.</a:t>
            </a:r>
          </a:p>
          <a:p>
            <a:r>
              <a:t>  Normal: add a title such as "Read notes".</a:t>
            </a:r>
          </a:p>
          <a:p>
            <a:r>
              <a:t>  Edge: title is only one character.</a:t>
            </a:r>
          </a:p>
          <a:p>
            <a:r>
              <a:t>  Invalid: blank title should be rejected.</a:t>
            </a:r>
          </a:p>
          <a:p>
            <a:r>
              <a:t>  Persistence: reload saved data after restarting.</a:t>
            </a:r>
          </a:p>
          <a:p>
            <a:r>
              <a:t>CHECK FOR UNDERSTANDING: Ask one learner what the concept is, another to predict or explain one line, and a third to give a similar example.</a:t>
            </a:r>
          </a:p>
          <a:p>
            <a:r>
              <a:t>TOOLS: Use Google Colab for ordinary Python; Git and web frameworks are better demonstrated in GitHub Codespaces.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9196892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88 / 128 — Debugging: Reproduce, Read, Fix</a:t>
            </a:r>
          </a:p>
          <a:p>
            <a:r>
              <a:t>SAY TO STUDENTS:</a:t>
            </a:r>
          </a:p>
          <a:p>
            <a:r>
              <a:t>“Debugging: Reproduce, Read, Fix” — Start with the purpose: Debugging means finding the cause of a problem and correcting it. Reproduce the error using the same steps and inputs. Read the traceback, especially error type and line number. Inspect variable values with print() or debugger breakpoints. Change one thing, rerun the test and confirm the fix.</a:t>
            </a:r>
          </a:p>
          <a:p>
            <a:r>
              <a:t>TEACHING APPROACH: Define the concept; illustrate it with the simplest example; run or describe the example; ask for the output; then practise.</a:t>
            </a:r>
          </a:p>
          <a:p>
            <a:r>
              <a:t>CONCEPT EXPLANATION:</a:t>
            </a:r>
          </a:p>
          <a:p>
            <a:r>
              <a:t>  Debugging means finding the cause of a problem and correcting it.</a:t>
            </a:r>
          </a:p>
          <a:p>
            <a:r>
              <a:t>  Reproduce the error using the same steps and inputs.</a:t>
            </a:r>
          </a:p>
          <a:p>
            <a:r>
              <a:t>  Read the traceback, especially error type and line number.</a:t>
            </a:r>
          </a:p>
          <a:p>
            <a:r>
              <a:t>  Inspect variable values with print() or debugger breakpoints.</a:t>
            </a:r>
          </a:p>
          <a:p>
            <a:r>
              <a:t>  Change one thing, rerun the test and confirm the fix.</a:t>
            </a:r>
          </a:p>
          <a:p>
            <a:r>
              <a:t>CHECK FOR UNDERSTANDING: Ask one learner what the concept is, another to predict or explain one line, and a third to give a similar example.</a:t>
            </a:r>
          </a:p>
          <a:p>
            <a:r>
              <a:t>TOOLS: Use Google Colab for ordinary Python; Git and web frameworks are better demonstrated in GitHub Codespaces.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9427837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89 / 128 — Debugging Example: Wrong Variable</a:t>
            </a:r>
          </a:p>
          <a:p>
            <a:r>
              <a:t>SAY TO STUDENTS:</a:t>
            </a:r>
          </a:p>
          <a:p>
            <a:r>
              <a:t>“Debugging Example: Wrong Variable” — Start with the purpose: Explain what the code will do before executing it. Ask learners to predict the output.</a:t>
            </a:r>
          </a:p>
          <a:p>
            <a:r>
              <a:t>TEACHING APPROACH: Define the concept; illustrate it with the simplest example; run or describe the example; ask for the output; then practise.</a:t>
            </a:r>
          </a:p>
          <a:p>
            <a:r>
              <a:t>CODE WALKTHROUGH (explain each important line):</a:t>
            </a:r>
          </a:p>
          <a:p>
            <a:r>
              <a:t>  price = 100  # store a value  →  Assigns a value or computed result to a variable.</a:t>
            </a:r>
          </a:p>
          <a:p>
            <a:r>
              <a:t>  quantity = 2  # store a value  →  Assigns a value or computed result to a variable.</a:t>
            </a:r>
          </a:p>
          <a:p>
            <a:r>
              <a:t>  total = price * quantity  # store a value  →  Assigns a value or computed result to a variable.</a:t>
            </a:r>
          </a:p>
          <a:p>
            <a:r>
              <a:t>  print(total)  # show the result  →  Displays information in the notebook output.</a:t>
            </a:r>
          </a:p>
          <a:p>
            <a:r>
              <a:t>CHECK FOR UNDERSTANDING: Ask one learner what the concept is, another to predict or explain one line, and a third to give a similar example.</a:t>
            </a:r>
          </a:p>
          <a:p>
            <a:r>
              <a:t>TOOLS: Use Google Colab for ordinary Python; Git and web frameworks are better demonstrated in GitHub Codespaces.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4808765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4" name="PlaceHolder 1"/>
          <p:cNvSpPr>
            <a:spLocks noGrp="1" noRot="1" noChangeAspect="1"/>
          </p:cNvSpPr>
          <p:nvPr>
            <p:ph type="sldImg"/>
          </p:nvPr>
        </p:nvSpPr>
        <p:spPr>
          <a:xfrm>
            <a:off x="685800" y="1143000"/>
            <a:ext cx="5486400" cy="3086100"/>
          </a:xfrm>
          <a:prstGeom prst="rect">
            <a:avLst/>
          </a:prstGeom>
          <a:ln w="0">
            <a:noFill/>
          </a:ln>
        </p:spPr>
      </p:sp>
      <p:sp>
        <p:nvSpPr>
          <p:cNvPr id="20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Distinguish syntax, runtime, and logic errors. Use slow demonstration: predict, run, inspect, correct.</a:t>
            </a:r>
          </a:p>
        </p:txBody>
      </p:sp>
      <p:sp>
        <p:nvSpPr>
          <p:cNvPr id="2076" name="PlaceHolder 3"/>
          <p:cNvSpPr>
            <a:spLocks noGrp="1"/>
          </p:cNvSpPr>
          <p:nvPr>
            <p:ph type="sldNum" idx="10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3A4288A-3C4D-4779-81BE-75573CE3F6C4}" type="slidenum">
              <a:rPr lang="en-US" sz="1200" b="0" u="none" strike="noStrike">
                <a:solidFill>
                  <a:schemeClr val="dk1"/>
                </a:solidFill>
                <a:effectLst/>
                <a:uFillTx/>
                <a:latin typeface="+mn-lt"/>
                <a:ea typeface="+mn-ea"/>
              </a:rPr>
              <a:t>109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7" name="PlaceHolder 1"/>
          <p:cNvSpPr>
            <a:spLocks noGrp="1" noRot="1" noChangeAspect="1"/>
          </p:cNvSpPr>
          <p:nvPr>
            <p:ph type="sldImg"/>
          </p:nvPr>
        </p:nvSpPr>
        <p:spPr>
          <a:xfrm>
            <a:off x="685800" y="1143000"/>
            <a:ext cx="5486400" cy="3086100"/>
          </a:xfrm>
          <a:prstGeom prst="rect">
            <a:avLst/>
          </a:prstGeom>
          <a:ln w="0">
            <a:noFill/>
          </a:ln>
        </p:spPr>
      </p:sp>
      <p:sp>
        <p:nvSpPr>
          <p:cNvPr id="20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Show learners the mistake by first writing / 2 on board, then correcting to len(marks).</a:t>
            </a:r>
          </a:p>
        </p:txBody>
      </p:sp>
      <p:sp>
        <p:nvSpPr>
          <p:cNvPr id="2079" name="PlaceHolder 3"/>
          <p:cNvSpPr>
            <a:spLocks noGrp="1"/>
          </p:cNvSpPr>
          <p:nvPr>
            <p:ph type="sldNum" idx="10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F2340CC-9ADB-4653-B2A1-53DD5EFCE1FC}" type="slidenum">
              <a:rPr lang="en-US" sz="1200" b="0" u="none" strike="noStrike">
                <a:solidFill>
                  <a:schemeClr val="dk1"/>
                </a:solidFill>
                <a:effectLst/>
                <a:uFillTx/>
                <a:latin typeface="+mn-lt"/>
                <a:ea typeface="+mn-ea"/>
              </a:rPr>
              <a:t>110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0" name="PlaceHolder 1"/>
          <p:cNvSpPr>
            <a:spLocks noGrp="1" noRot="1" noChangeAspect="1"/>
          </p:cNvSpPr>
          <p:nvPr>
            <p:ph type="sldImg"/>
          </p:nvPr>
        </p:nvSpPr>
        <p:spPr>
          <a:xfrm>
            <a:off x="685800" y="1143000"/>
            <a:ext cx="5486400" cy="3086100"/>
          </a:xfrm>
          <a:prstGeom prst="rect">
            <a:avLst/>
          </a:prstGeom>
          <a:ln w="0">
            <a:noFill/>
          </a:ln>
        </p:spPr>
      </p:sp>
      <p:sp>
        <p:nvSpPr>
          <p:cNvPr id="20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Recognise the tools; full coding can come later. Give a familiar real-life example before starting coding.</a:t>
            </a:r>
          </a:p>
        </p:txBody>
      </p:sp>
      <p:sp>
        <p:nvSpPr>
          <p:cNvPr id="2082" name="PlaceHolder 3"/>
          <p:cNvSpPr>
            <a:spLocks noGrp="1"/>
          </p:cNvSpPr>
          <p:nvPr>
            <p:ph type="sldNum" idx="10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131A8E-39A6-4863-BF67-C07056A3CB3B}" type="slidenum">
              <a:rPr lang="en-US" sz="1200" b="0" u="none" strike="noStrike">
                <a:solidFill>
                  <a:schemeClr val="dk1"/>
                </a:solidFill>
                <a:effectLst/>
                <a:uFillTx/>
                <a:latin typeface="+mn-lt"/>
                <a:ea typeface="+mn-ea"/>
              </a:rPr>
              <a:t>111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3" name="PlaceHolder 1"/>
          <p:cNvSpPr>
            <a:spLocks noGrp="1" noRot="1" noChangeAspect="1"/>
          </p:cNvSpPr>
          <p:nvPr>
            <p:ph type="sldImg"/>
          </p:nvPr>
        </p:nvSpPr>
        <p:spPr>
          <a:xfrm>
            <a:off x="685800" y="1143000"/>
            <a:ext cx="5486400" cy="3086100"/>
          </a:xfrm>
          <a:prstGeom prst="rect">
            <a:avLst/>
          </a:prstGeom>
          <a:ln w="0">
            <a:noFill/>
          </a:ln>
        </p:spPr>
      </p:sp>
      <p:sp>
        <p:nvSpPr>
          <p:cNvPr id="20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Do not set up a server in Colab; explain concept only. Browser-based Codespaces is an optional lab outside the core session.</a:t>
            </a:r>
          </a:p>
        </p:txBody>
      </p:sp>
      <p:sp>
        <p:nvSpPr>
          <p:cNvPr id="2085" name="PlaceHolder 3"/>
          <p:cNvSpPr>
            <a:spLocks noGrp="1"/>
          </p:cNvSpPr>
          <p:nvPr>
            <p:ph type="sldNum" idx="10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C73A93-0098-479B-824D-8163B7C949A1}" type="slidenum">
              <a:rPr lang="en-US" sz="1200" b="0" u="none" strike="noStrike">
                <a:solidFill>
                  <a:schemeClr val="dk1"/>
                </a:solidFill>
                <a:effectLst/>
                <a:uFillTx/>
                <a:latin typeface="+mn-lt"/>
                <a:ea typeface="+mn-ea"/>
              </a:rPr>
              <a:t>112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6" name="PlaceHolder 1"/>
          <p:cNvSpPr>
            <a:spLocks noGrp="1" noRot="1" noChangeAspect="1"/>
          </p:cNvSpPr>
          <p:nvPr>
            <p:ph type="sldImg"/>
          </p:nvPr>
        </p:nvSpPr>
        <p:spPr>
          <a:xfrm>
            <a:off x="685800" y="1143000"/>
            <a:ext cx="5486400" cy="3086100"/>
          </a:xfrm>
          <a:prstGeom prst="rect">
            <a:avLst/>
          </a:prstGeom>
          <a:ln w="0">
            <a:noFill/>
          </a:ln>
        </p:spPr>
      </p:sp>
      <p:sp>
        <p:nvSpPr>
          <p:cNvPr id="20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Avoid complex multi-file live coding today.</a:t>
            </a:r>
          </a:p>
        </p:txBody>
      </p:sp>
      <p:sp>
        <p:nvSpPr>
          <p:cNvPr id="2088" name="PlaceHolder 3"/>
          <p:cNvSpPr>
            <a:spLocks noGrp="1"/>
          </p:cNvSpPr>
          <p:nvPr>
            <p:ph type="sldNum" idx="10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F474185-E549-442D-A8A7-5F841125D5CA}" type="slidenum">
              <a:rPr lang="en-US" sz="1200" b="0" u="none" strike="noStrike">
                <a:solidFill>
                  <a:schemeClr val="dk1"/>
                </a:solidFill>
                <a:effectLst/>
                <a:uFillTx/>
                <a:latin typeface="+mn-lt"/>
                <a:ea typeface="+mn-ea"/>
              </a:rPr>
              <a:t>113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9" name="PlaceHolder 1"/>
          <p:cNvSpPr>
            <a:spLocks noGrp="1" noRot="1" noChangeAspect="1"/>
          </p:cNvSpPr>
          <p:nvPr>
            <p:ph type="sldImg"/>
          </p:nvPr>
        </p:nvSpPr>
        <p:spPr>
          <a:xfrm>
            <a:off x="685800" y="1143000"/>
            <a:ext cx="5486400" cy="3086100"/>
          </a:xfrm>
          <a:prstGeom prst="rect">
            <a:avLst/>
          </a:prstGeom>
          <a:ln w="0">
            <a:noFill/>
          </a:ln>
        </p:spPr>
      </p:sp>
      <p:sp>
        <p:nvSpPr>
          <p:cNvPr id="20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Explain that Colab runtimes reset. Save important data to Google Drive; Codespaces environment can be used for server demonstration.</a:t>
            </a:r>
          </a:p>
        </p:txBody>
      </p:sp>
      <p:sp>
        <p:nvSpPr>
          <p:cNvPr id="2091" name="PlaceHolder 3"/>
          <p:cNvSpPr>
            <a:spLocks noGrp="1"/>
          </p:cNvSpPr>
          <p:nvPr>
            <p:ph type="sldNum" idx="10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A184D5-0681-417B-8148-75DE4A90DA00}" type="slidenum">
              <a:rPr lang="en-US" sz="1200" b="0" u="none" strike="noStrike">
                <a:solidFill>
                  <a:schemeClr val="dk1"/>
                </a:solidFill>
                <a:effectLst/>
                <a:uFillTx/>
                <a:latin typeface="+mn-lt"/>
                <a:ea typeface="+mn-ea"/>
              </a:rPr>
              <a:t>114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2" name="PlaceHolder 1"/>
          <p:cNvSpPr>
            <a:spLocks noGrp="1" noRot="1" noChangeAspect="1"/>
          </p:cNvSpPr>
          <p:nvPr>
            <p:ph type="sldImg"/>
          </p:nvPr>
        </p:nvSpPr>
        <p:spPr>
          <a:xfrm>
            <a:off x="685800" y="1143000"/>
            <a:ext cx="5486400" cy="3086100"/>
          </a:xfrm>
          <a:prstGeom prst="rect">
            <a:avLst/>
          </a:prstGeom>
          <a:ln w="0">
            <a:noFill/>
          </a:ln>
        </p:spPr>
      </p:sp>
      <p:sp>
        <p:nvSpPr>
          <p:cNvPr id="20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Tell learners: Build it gradually, not all at once. Give a familiar real-life example before starting coding.</a:t>
            </a:r>
          </a:p>
        </p:txBody>
      </p:sp>
      <p:sp>
        <p:nvSpPr>
          <p:cNvPr id="2094" name="PlaceHolder 3"/>
          <p:cNvSpPr>
            <a:spLocks noGrp="1"/>
          </p:cNvSpPr>
          <p:nvPr>
            <p:ph type="sldNum" idx="10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976C3E-6696-453C-8BB6-950452636378}" type="slidenum">
              <a:rPr lang="en-US" sz="1200" b="0" u="none" strike="noStrike">
                <a:solidFill>
                  <a:schemeClr val="dk1"/>
                </a:solidFill>
                <a:effectLst/>
                <a:uFillTx/>
                <a:latin typeface="+mn-lt"/>
                <a:ea typeface="+mn-ea"/>
              </a:rPr>
              <a:t>115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0" name="PlaceHolder 1"/>
          <p:cNvSpPr>
            <a:spLocks noGrp="1" noRot="1" noChangeAspect="1"/>
          </p:cNvSpPr>
          <p:nvPr>
            <p:ph type="sldImg"/>
          </p:nvPr>
        </p:nvSpPr>
        <p:spPr>
          <a:xfrm>
            <a:off x="685800" y="1143000"/>
            <a:ext cx="5486400" cy="3086100"/>
          </a:xfrm>
          <a:prstGeom prst="rect">
            <a:avLst/>
          </a:prstGeom>
          <a:ln w="0">
            <a:noFill/>
          </a:ln>
        </p:spPr>
      </p:sp>
      <p:sp>
        <p:nvSpPr>
          <p:cNvPr id="21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End by revisiting create/read/update/delete and asking one learner to explain it without code.</a:t>
            </a:r>
          </a:p>
        </p:txBody>
      </p:sp>
      <p:sp>
        <p:nvSpPr>
          <p:cNvPr id="2112" name="PlaceHolder 3"/>
          <p:cNvSpPr>
            <a:spLocks noGrp="1"/>
          </p:cNvSpPr>
          <p:nvPr>
            <p:ph type="sldNum" idx="1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73CBA5-B486-4895-882A-1C9059B7344E}" type="slidenum">
              <a:rPr lang="en-US" sz="1200" b="0" u="none" strike="noStrike">
                <a:solidFill>
                  <a:schemeClr val="dk1"/>
                </a:solidFill>
                <a:effectLst/>
                <a:uFillTx/>
                <a:latin typeface="+mn-lt"/>
                <a:ea typeface="+mn-ea"/>
              </a:rPr>
              <a:t>124</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8"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WELCOME</a:t>
            </a:r>
            <a:endParaRPr lang="en-US" sz="1700" b="0" u="none" strike="noStrike">
              <a:solidFill>
                <a:srgbClr val="FFFFFF"/>
              </a:solidFill>
              <a:effectLst/>
              <a:uFillTx/>
              <a:latin typeface="Arial"/>
            </a:endParaRPr>
          </a:p>
        </p:txBody>
      </p:sp>
      <p:sp>
        <p:nvSpPr>
          <p:cNvPr id="10"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Day 2: Build Better Python Programs</a:t>
            </a:r>
            <a:endParaRPr lang="en-US" sz="4500" b="0" u="none" strike="noStrike">
              <a:solidFill>
                <a:srgbClr val="FFFFFF"/>
              </a:solidFill>
              <a:effectLst/>
              <a:uFillTx/>
              <a:latin typeface="Arial"/>
            </a:endParaRPr>
          </a:p>
        </p:txBody>
      </p:sp>
      <p:sp>
        <p:nvSpPr>
          <p:cNvPr id="11"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Python files • OOP • Git • APIs • CRUD &amp; SQL • Testing</a:t>
            </a:r>
            <a:endParaRPr lang="en-US" sz="2400" b="0" u="none" strike="noStrike">
              <a:solidFill>
                <a:srgbClr val="FFFFFF"/>
              </a:solidFill>
              <a:effectLst/>
              <a:uFillTx/>
              <a:latin typeface="Arial"/>
            </a:endParaRPr>
          </a:p>
        </p:txBody>
      </p:sp>
      <p:sp>
        <p:nvSpPr>
          <p:cNvPr id="12"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WELCOME</a:t>
            </a:r>
            <a:endParaRPr lang="en-US" sz="1250" b="0" u="none" strike="noStrike">
              <a:solidFill>
                <a:srgbClr val="000000"/>
              </a:solidFill>
              <a:effectLst/>
              <a:uFillTx/>
              <a:latin typeface="Arial"/>
            </a:endParaRPr>
          </a:p>
        </p:txBody>
      </p:sp>
      <p:sp>
        <p:nvSpPr>
          <p:cNvPr id="1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we will learn today</a:t>
            </a:r>
            <a:endParaRPr lang="en-US" sz="3400" b="0" u="none" strike="noStrike">
              <a:solidFill>
                <a:srgbClr val="000000"/>
              </a:solidFill>
              <a:effectLst/>
              <a:uFillTx/>
              <a:latin typeface="Arial"/>
            </a:endParaRPr>
          </a:p>
        </p:txBody>
      </p:sp>
      <p:sp>
        <p:nvSpPr>
          <p:cNvPr id="1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002</a:t>
            </a:r>
            <a:endParaRPr lang="en-US" sz="1000" b="0" u="none" strike="noStrike">
              <a:solidFill>
                <a:srgbClr val="000000"/>
              </a:solidFill>
              <a:effectLst/>
              <a:uFillTx/>
              <a:latin typeface="Arial"/>
            </a:endParaRPr>
          </a:p>
        </p:txBody>
      </p:sp>
      <p:sp>
        <p:nvSpPr>
          <p:cNvPr id="19"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21"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Make small programs easier to use and easier to understand.</a:t>
            </a:r>
            <a:endParaRPr lang="en-US" sz="2250" b="0" u="none" strike="noStrike">
              <a:solidFill>
                <a:srgbClr val="000000"/>
              </a:solidFill>
              <a:effectLst/>
              <a:uFillTx/>
              <a:latin typeface="Arial"/>
            </a:endParaRPr>
          </a:p>
        </p:txBody>
      </p:sp>
      <p:sp>
        <p:nvSpPr>
          <p:cNvPr id="22"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3"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Save information so it does not disappear</a:t>
            </a:r>
            <a:endParaRPr lang="en-US" sz="2100" b="0" u="none" strike="noStrike">
              <a:solidFill>
                <a:srgbClr val="000000"/>
              </a:solidFill>
              <a:effectLst/>
              <a:uFillTx/>
              <a:latin typeface="Arial"/>
            </a:endParaRPr>
          </a:p>
        </p:txBody>
      </p:sp>
      <p:sp>
        <p:nvSpPr>
          <p:cNvPr id="24"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5"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Make a class to group related information</a:t>
            </a:r>
            <a:endParaRPr lang="en-US" sz="2100" b="0" u="none" strike="noStrike">
              <a:solidFill>
                <a:srgbClr val="000000"/>
              </a:solidFill>
              <a:effectLst/>
              <a:uFillTx/>
              <a:latin typeface="Arial"/>
            </a:endParaRPr>
          </a:p>
        </p:txBody>
      </p:sp>
      <p:sp>
        <p:nvSpPr>
          <p:cNvPr id="26"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7"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Git to keep track of code changes</a:t>
            </a:r>
            <a:endParaRPr lang="en-US" sz="2100" b="0" u="none" strike="noStrike">
              <a:solidFill>
                <a:srgbClr val="000000"/>
              </a:solidFill>
              <a:effectLst/>
              <a:uFillTx/>
              <a:latin typeface="Arial"/>
            </a:endParaRPr>
          </a:p>
        </p:txBody>
      </p:sp>
      <p:sp>
        <p:nvSpPr>
          <p:cNvPr id="28"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9"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Understand APIs, databases, and simple tests</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30"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31"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WELCOME</a:t>
            </a:r>
            <a:endParaRPr lang="en-US" sz="1250" b="0" u="none" strike="noStrike">
              <a:solidFill>
                <a:srgbClr val="000000"/>
              </a:solidFill>
              <a:effectLst/>
              <a:uFillTx/>
              <a:latin typeface="Arial"/>
            </a:endParaRPr>
          </a:p>
        </p:txBody>
      </p:sp>
      <p:sp>
        <p:nvSpPr>
          <p:cNvPr id="32"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Our classroom learning method</a:t>
            </a:r>
            <a:endParaRPr lang="en-US" sz="3400" b="0" u="none" strike="noStrike">
              <a:solidFill>
                <a:srgbClr val="000000"/>
              </a:solidFill>
              <a:effectLst/>
              <a:uFillTx/>
              <a:latin typeface="Arial"/>
            </a:endParaRPr>
          </a:p>
        </p:txBody>
      </p:sp>
      <p:sp>
        <p:nvSpPr>
          <p:cNvPr id="33"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34"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FOLLOW THESE STEPS</a:t>
            </a:r>
            <a:endParaRPr lang="en-US" sz="1000" b="0" u="none" strike="noStrike">
              <a:solidFill>
                <a:srgbClr val="000000"/>
              </a:solidFill>
              <a:effectLst/>
              <a:uFillTx/>
              <a:latin typeface="Arial"/>
            </a:endParaRPr>
          </a:p>
        </p:txBody>
      </p:sp>
      <p:sp>
        <p:nvSpPr>
          <p:cNvPr id="35"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003</a:t>
            </a:r>
            <a:endParaRPr lang="en-US" sz="1000" b="0" u="none" strike="noStrike">
              <a:solidFill>
                <a:srgbClr val="000000"/>
              </a:solidFill>
              <a:effectLst/>
              <a:uFillTx/>
              <a:latin typeface="Arial"/>
            </a:endParaRPr>
          </a:p>
        </p:txBody>
      </p:sp>
      <p:sp>
        <p:nvSpPr>
          <p:cNvPr id="36" name="Shape 6"/>
          <p:cNvSpPr/>
          <p:nvPr/>
        </p:nvSpPr>
        <p:spPr>
          <a:xfrm>
            <a:off x="612720" y="171900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 name="Shape 7"/>
          <p:cNvSpPr/>
          <p:nvPr/>
        </p:nvSpPr>
        <p:spPr>
          <a:xfrm>
            <a:off x="786240" y="186552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8"/>
          <p:cNvSpPr/>
          <p:nvPr/>
        </p:nvSpPr>
        <p:spPr>
          <a:xfrm>
            <a:off x="868680" y="192024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1</a:t>
            </a:r>
            <a:endParaRPr lang="en-US" sz="1200" b="0" u="none" strike="noStrike">
              <a:solidFill>
                <a:srgbClr val="000000"/>
              </a:solidFill>
              <a:effectLst/>
              <a:uFillTx/>
              <a:latin typeface="Arial"/>
            </a:endParaRPr>
          </a:p>
        </p:txBody>
      </p:sp>
      <p:sp>
        <p:nvSpPr>
          <p:cNvPr id="39" name="Text 9"/>
          <p:cNvSpPr/>
          <p:nvPr/>
        </p:nvSpPr>
        <p:spPr>
          <a:xfrm>
            <a:off x="1334880" y="185616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First: explain the term in plain English</a:t>
            </a:r>
            <a:endParaRPr lang="en-US" sz="2020" b="0" u="none" strike="noStrike">
              <a:solidFill>
                <a:srgbClr val="000000"/>
              </a:solidFill>
              <a:effectLst/>
              <a:uFillTx/>
              <a:latin typeface="Arial"/>
            </a:endParaRPr>
          </a:p>
        </p:txBody>
      </p:sp>
      <p:sp>
        <p:nvSpPr>
          <p:cNvPr id="40" name="Shape 10"/>
          <p:cNvSpPr/>
          <p:nvPr/>
        </p:nvSpPr>
        <p:spPr>
          <a:xfrm>
            <a:off x="612720" y="2468880"/>
            <a:ext cx="10972440" cy="621360"/>
          </a:xfrm>
          <a:prstGeom prst="roundRect">
            <a:avLst>
              <a:gd name="adj" fmla="val 23529"/>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 name="Shape 11"/>
          <p:cNvSpPr/>
          <p:nvPr/>
        </p:nvSpPr>
        <p:spPr>
          <a:xfrm>
            <a:off x="786240" y="261504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 name="Text 12"/>
          <p:cNvSpPr/>
          <p:nvPr/>
        </p:nvSpPr>
        <p:spPr>
          <a:xfrm>
            <a:off x="868680" y="267012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2</a:t>
            </a:r>
            <a:endParaRPr lang="en-US" sz="1200" b="0" u="none" strike="noStrike">
              <a:solidFill>
                <a:srgbClr val="000000"/>
              </a:solidFill>
              <a:effectLst/>
              <a:uFillTx/>
              <a:latin typeface="Arial"/>
            </a:endParaRPr>
          </a:p>
        </p:txBody>
      </p:sp>
      <p:sp>
        <p:nvSpPr>
          <p:cNvPr id="43" name="Text 13"/>
          <p:cNvSpPr/>
          <p:nvPr/>
        </p:nvSpPr>
        <p:spPr>
          <a:xfrm>
            <a:off x="1334880" y="260604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Next: read a tiny example together</a:t>
            </a:r>
            <a:endParaRPr lang="en-US" sz="2020" b="0" u="none" strike="noStrike">
              <a:solidFill>
                <a:srgbClr val="000000"/>
              </a:solidFill>
              <a:effectLst/>
              <a:uFillTx/>
              <a:latin typeface="Arial"/>
            </a:endParaRPr>
          </a:p>
        </p:txBody>
      </p:sp>
      <p:sp>
        <p:nvSpPr>
          <p:cNvPr id="44" name="Shape 14"/>
          <p:cNvSpPr/>
          <p:nvPr/>
        </p:nvSpPr>
        <p:spPr>
          <a:xfrm>
            <a:off x="612720" y="321876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 name="Shape 15"/>
          <p:cNvSpPr/>
          <p:nvPr/>
        </p:nvSpPr>
        <p:spPr>
          <a:xfrm>
            <a:off x="786240" y="336492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 name="Text 16"/>
          <p:cNvSpPr/>
          <p:nvPr/>
        </p:nvSpPr>
        <p:spPr>
          <a:xfrm>
            <a:off x="868680" y="342000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3</a:t>
            </a:r>
            <a:endParaRPr lang="en-US" sz="1200" b="0" u="none" strike="noStrike">
              <a:solidFill>
                <a:srgbClr val="000000"/>
              </a:solidFill>
              <a:effectLst/>
              <a:uFillTx/>
              <a:latin typeface="Arial"/>
            </a:endParaRPr>
          </a:p>
        </p:txBody>
      </p:sp>
      <p:sp>
        <p:nvSpPr>
          <p:cNvPr id="47" name="Text 17"/>
          <p:cNvSpPr/>
          <p:nvPr/>
        </p:nvSpPr>
        <p:spPr>
          <a:xfrm>
            <a:off x="1334880" y="335592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Then: predict the output before running it</a:t>
            </a:r>
            <a:endParaRPr lang="en-US" sz="2020" b="0" u="none" strike="noStrike">
              <a:solidFill>
                <a:srgbClr val="000000"/>
              </a:solidFill>
              <a:effectLst/>
              <a:uFillTx/>
              <a:latin typeface="Arial"/>
            </a:endParaRPr>
          </a:p>
        </p:txBody>
      </p:sp>
      <p:sp>
        <p:nvSpPr>
          <p:cNvPr id="48" name="Shape 18"/>
          <p:cNvSpPr/>
          <p:nvPr/>
        </p:nvSpPr>
        <p:spPr>
          <a:xfrm>
            <a:off x="612720" y="3968640"/>
            <a:ext cx="10972440" cy="621360"/>
          </a:xfrm>
          <a:prstGeom prst="roundRect">
            <a:avLst>
              <a:gd name="adj" fmla="val 23529"/>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 name="Shape 19"/>
          <p:cNvSpPr/>
          <p:nvPr/>
        </p:nvSpPr>
        <p:spPr>
          <a:xfrm>
            <a:off x="786240" y="411480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 name="Text 20"/>
          <p:cNvSpPr/>
          <p:nvPr/>
        </p:nvSpPr>
        <p:spPr>
          <a:xfrm>
            <a:off x="868680" y="416952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4</a:t>
            </a:r>
            <a:endParaRPr lang="en-US" sz="1200" b="0" u="none" strike="noStrike">
              <a:solidFill>
                <a:srgbClr val="000000"/>
              </a:solidFill>
              <a:effectLst/>
              <a:uFillTx/>
              <a:latin typeface="Arial"/>
            </a:endParaRPr>
          </a:p>
        </p:txBody>
      </p:sp>
      <p:sp>
        <p:nvSpPr>
          <p:cNvPr id="51" name="Text 21"/>
          <p:cNvSpPr/>
          <p:nvPr/>
        </p:nvSpPr>
        <p:spPr>
          <a:xfrm>
            <a:off x="1334880" y="410580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After that: students solve a similar question</a:t>
            </a:r>
            <a:endParaRPr lang="en-US" sz="2020" b="0" u="none" strike="noStrike">
              <a:solidFill>
                <a:srgbClr val="000000"/>
              </a:solidFill>
              <a:effectLst/>
              <a:uFillTx/>
              <a:latin typeface="Arial"/>
            </a:endParaRPr>
          </a:p>
        </p:txBody>
      </p:sp>
      <p:sp>
        <p:nvSpPr>
          <p:cNvPr id="52" name="Shape 22"/>
          <p:cNvSpPr/>
          <p:nvPr/>
        </p:nvSpPr>
        <p:spPr>
          <a:xfrm>
            <a:off x="612720" y="471816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3" name="Shape 23"/>
          <p:cNvSpPr/>
          <p:nvPr/>
        </p:nvSpPr>
        <p:spPr>
          <a:xfrm>
            <a:off x="786240" y="486468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 name="Text 24"/>
          <p:cNvSpPr/>
          <p:nvPr/>
        </p:nvSpPr>
        <p:spPr>
          <a:xfrm>
            <a:off x="868680" y="491940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5</a:t>
            </a:r>
            <a:endParaRPr lang="en-US" sz="1200" b="0" u="none" strike="noStrike">
              <a:solidFill>
                <a:srgbClr val="000000"/>
              </a:solidFill>
              <a:effectLst/>
              <a:uFillTx/>
              <a:latin typeface="Arial"/>
            </a:endParaRPr>
          </a:p>
        </p:txBody>
      </p:sp>
      <p:sp>
        <p:nvSpPr>
          <p:cNvPr id="55" name="Text 25"/>
          <p:cNvSpPr/>
          <p:nvPr/>
        </p:nvSpPr>
        <p:spPr>
          <a:xfrm>
            <a:off x="1334880" y="485532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Finally: show the worked answer and discuss</a:t>
            </a:r>
            <a:endParaRPr lang="en-US" sz="20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56"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FILES</a:t>
            </a:r>
            <a:endParaRPr lang="en-US" sz="1700" b="0" u="none" strike="noStrike">
              <a:solidFill>
                <a:srgbClr val="FFFFFF"/>
              </a:solidFill>
              <a:effectLst/>
              <a:uFillTx/>
              <a:latin typeface="Arial"/>
            </a:endParaRPr>
          </a:p>
        </p:txBody>
      </p:sp>
      <p:sp>
        <p:nvSpPr>
          <p:cNvPr id="58"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Saving Data in Python</a:t>
            </a:r>
            <a:endParaRPr lang="en-US" sz="4500" b="0" u="none" strike="noStrike">
              <a:solidFill>
                <a:srgbClr val="FFFFFF"/>
              </a:solidFill>
              <a:effectLst/>
              <a:uFillTx/>
              <a:latin typeface="Arial"/>
            </a:endParaRPr>
          </a:p>
        </p:txBody>
      </p:sp>
      <p:sp>
        <p:nvSpPr>
          <p:cNvPr id="59"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Store student or task information in a file.</a:t>
            </a:r>
            <a:endParaRPr lang="en-US" sz="2400" b="0" u="none" strike="noStrike">
              <a:solidFill>
                <a:srgbClr val="FFFFFF"/>
              </a:solidFill>
              <a:effectLst/>
              <a:uFillTx/>
              <a:latin typeface="Arial"/>
            </a:endParaRPr>
          </a:p>
        </p:txBody>
      </p:sp>
      <p:sp>
        <p:nvSpPr>
          <p:cNvPr id="60"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6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6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6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Why do we need files?</a:t>
            </a:r>
            <a:endParaRPr lang="en-US" sz="3400" b="0" u="none" strike="noStrike">
              <a:solidFill>
                <a:srgbClr val="000000"/>
              </a:solidFill>
              <a:effectLst/>
              <a:uFillTx/>
              <a:latin typeface="Arial"/>
            </a:endParaRPr>
          </a:p>
        </p:txBody>
      </p:sp>
      <p:sp>
        <p:nvSpPr>
          <p:cNvPr id="6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6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6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005</a:t>
            </a:r>
            <a:endParaRPr lang="en-US" sz="1000" b="0" u="none" strike="noStrike">
              <a:solidFill>
                <a:srgbClr val="000000"/>
              </a:solidFill>
              <a:effectLst/>
              <a:uFillTx/>
              <a:latin typeface="Arial"/>
            </a:endParaRPr>
          </a:p>
        </p:txBody>
      </p:sp>
      <p:sp>
        <p:nvSpPr>
          <p:cNvPr id="67"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69"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2250" b="1" u="none" strike="noStrike">
                <a:solidFill>
                  <a:srgbClr val="152B42"/>
                </a:solidFill>
                <a:effectLst/>
                <a:uFillTx/>
                <a:latin typeface="Aptos"/>
                <a:ea typeface="Aptos"/>
              </a:rPr>
              <a:t>Variables keep information while a program runs; a file can keep it for later.</a:t>
            </a:r>
            <a:endParaRPr lang="en-US" sz="2250" b="0" u="none" strike="noStrike">
              <a:solidFill>
                <a:srgbClr val="000000"/>
              </a:solidFill>
              <a:effectLst/>
              <a:uFillTx/>
              <a:latin typeface="Arial"/>
            </a:endParaRPr>
          </a:p>
        </p:txBody>
      </p:sp>
      <p:sp>
        <p:nvSpPr>
          <p:cNvPr id="70"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1"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file is a place where information can be saved</a:t>
            </a:r>
            <a:endParaRPr lang="en-US" sz="2100" b="0" u="none" strike="noStrike">
              <a:solidFill>
                <a:srgbClr val="000000"/>
              </a:solidFill>
              <a:effectLst/>
              <a:uFillTx/>
              <a:latin typeface="Arial"/>
            </a:endParaRPr>
          </a:p>
        </p:txBody>
      </p:sp>
      <p:sp>
        <p:nvSpPr>
          <p:cNvPr id="72"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3"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Text files store readable words and lines</a:t>
            </a:r>
            <a:endParaRPr lang="en-US" sz="2100" b="0" u="none" strike="noStrike">
              <a:solidFill>
                <a:srgbClr val="000000"/>
              </a:solidFill>
              <a:effectLst/>
              <a:uFillTx/>
              <a:latin typeface="Arial"/>
            </a:endParaRPr>
          </a:p>
        </p:txBody>
      </p:sp>
      <p:sp>
        <p:nvSpPr>
          <p:cNvPr id="74"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5"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CSV files store table-like rows</a:t>
            </a:r>
            <a:endParaRPr lang="en-US" sz="2100" b="0" u="none" strike="noStrike">
              <a:solidFill>
                <a:srgbClr val="000000"/>
              </a:solidFill>
              <a:effectLst/>
              <a:uFillTx/>
              <a:latin typeface="Arial"/>
            </a:endParaRPr>
          </a:p>
        </p:txBody>
      </p:sp>
      <p:sp>
        <p:nvSpPr>
          <p:cNvPr id="76"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7"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JSON files store structured data such as task records</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7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7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8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File paths: where is my file?</a:t>
            </a:r>
            <a:endParaRPr lang="en-US" sz="3400" b="0" u="none" strike="noStrike">
              <a:solidFill>
                <a:srgbClr val="000000"/>
              </a:solidFill>
              <a:effectLst/>
              <a:uFillTx/>
              <a:latin typeface="Arial"/>
            </a:endParaRPr>
          </a:p>
        </p:txBody>
      </p:sp>
      <p:sp>
        <p:nvSpPr>
          <p:cNvPr id="8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8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8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006</a:t>
            </a:r>
            <a:endParaRPr lang="en-US" sz="1000" b="0" u="none" strike="noStrike">
              <a:solidFill>
                <a:srgbClr val="000000"/>
              </a:solidFill>
              <a:effectLst/>
              <a:uFillTx/>
              <a:latin typeface="Arial"/>
            </a:endParaRPr>
          </a:p>
        </p:txBody>
      </p:sp>
      <p:sp>
        <p:nvSpPr>
          <p:cNvPr id="84"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86"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A path tells Python where a file is located.</a:t>
            </a:r>
            <a:endParaRPr lang="en-US" sz="2250" b="0" u="none" strike="noStrike">
              <a:solidFill>
                <a:srgbClr val="000000"/>
              </a:solidFill>
              <a:effectLst/>
              <a:uFillTx/>
              <a:latin typeface="Arial"/>
            </a:endParaRPr>
          </a:p>
        </p:txBody>
      </p:sp>
      <p:sp>
        <p:nvSpPr>
          <p:cNvPr id="87"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8"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Relative path: "tasks.txt" (in the current folder)</a:t>
            </a:r>
            <a:endParaRPr lang="en-US" sz="2100" b="0" u="none" strike="noStrike">
              <a:solidFill>
                <a:srgbClr val="000000"/>
              </a:solidFill>
              <a:effectLst/>
              <a:uFillTx/>
              <a:latin typeface="Arial"/>
            </a:endParaRPr>
          </a:p>
        </p:txBody>
      </p:sp>
      <p:sp>
        <p:nvSpPr>
          <p:cNvPr id="89"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90"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Absolute path: "/content/tasks.txt" (full location)</a:t>
            </a:r>
            <a:endParaRPr lang="en-US" sz="2100" b="0" u="none" strike="noStrike">
              <a:solidFill>
                <a:srgbClr val="000000"/>
              </a:solidFill>
              <a:effectLst/>
              <a:uFillTx/>
              <a:latin typeface="Arial"/>
            </a:endParaRPr>
          </a:p>
        </p:txBody>
      </p:sp>
      <p:sp>
        <p:nvSpPr>
          <p:cNvPr id="91"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92"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pathlib helps us work with paths safely</a:t>
            </a:r>
            <a:endParaRPr lang="en-US" sz="2100" b="0" u="none" strike="noStrike">
              <a:solidFill>
                <a:srgbClr val="000000"/>
              </a:solidFill>
              <a:effectLst/>
              <a:uFillTx/>
              <a:latin typeface="Arial"/>
            </a:endParaRPr>
          </a:p>
        </p:txBody>
      </p:sp>
      <p:sp>
        <p:nvSpPr>
          <p:cNvPr id="93"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94"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In Colab, files in /content are temporary</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9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9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9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The four main file modes</a:t>
            </a:r>
            <a:endParaRPr lang="en-US" sz="3400" b="0" u="none" strike="noStrike">
              <a:solidFill>
                <a:srgbClr val="000000"/>
              </a:solidFill>
              <a:effectLst/>
              <a:uFillTx/>
              <a:latin typeface="Arial"/>
            </a:endParaRPr>
          </a:p>
        </p:txBody>
      </p:sp>
      <p:sp>
        <p:nvSpPr>
          <p:cNvPr id="9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9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0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007</a:t>
            </a:r>
            <a:endParaRPr lang="en-US" sz="1000" b="0" u="none" strike="noStrike">
              <a:solidFill>
                <a:srgbClr val="000000"/>
              </a:solidFill>
              <a:effectLst/>
              <a:uFillTx/>
              <a:latin typeface="Arial"/>
            </a:endParaRPr>
          </a:p>
        </p:txBody>
      </p:sp>
      <p:sp>
        <p:nvSpPr>
          <p:cNvPr id="101"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03"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Open a file using a mode that tells Python what to do.</a:t>
            </a:r>
            <a:endParaRPr lang="en-US" sz="2250" b="0" u="none" strike="noStrike">
              <a:solidFill>
                <a:srgbClr val="000000"/>
              </a:solidFill>
              <a:effectLst/>
              <a:uFillTx/>
              <a:latin typeface="Arial"/>
            </a:endParaRPr>
          </a:p>
        </p:txBody>
      </p:sp>
      <p:sp>
        <p:nvSpPr>
          <p:cNvPr id="104"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5"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 reads an existing file</a:t>
            </a:r>
            <a:endParaRPr lang="en-US" sz="2100" b="0" u="none" strike="noStrike">
              <a:solidFill>
                <a:srgbClr val="000000"/>
              </a:solidFill>
              <a:effectLst/>
              <a:uFillTx/>
              <a:latin typeface="Arial"/>
            </a:endParaRPr>
          </a:p>
        </p:txBody>
      </p:sp>
      <p:sp>
        <p:nvSpPr>
          <p:cNvPr id="106"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7"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"w" writes new text; it replaces old content</a:t>
            </a:r>
            <a:endParaRPr lang="en-US" sz="2100" b="0" u="none" strike="noStrike">
              <a:solidFill>
                <a:srgbClr val="000000"/>
              </a:solidFill>
              <a:effectLst/>
              <a:uFillTx/>
              <a:latin typeface="Arial"/>
            </a:endParaRPr>
          </a:p>
        </p:txBody>
      </p:sp>
      <p:sp>
        <p:nvSpPr>
          <p:cNvPr id="108"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9"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appends text without erasing what is there</a:t>
            </a:r>
            <a:endParaRPr lang="en-US" sz="2100" b="0" u="none" strike="noStrike">
              <a:solidFill>
                <a:srgbClr val="000000"/>
              </a:solidFill>
              <a:effectLst/>
              <a:uFillTx/>
              <a:latin typeface="Arial"/>
            </a:endParaRPr>
          </a:p>
        </p:txBody>
      </p:sp>
      <p:sp>
        <p:nvSpPr>
          <p:cNvPr id="110"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1"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"x" creates a new file; errors if it exists</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1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1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11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Write and read a text file</a:t>
            </a:r>
            <a:endParaRPr lang="en-US" sz="3400" b="0" u="none" strike="noStrike">
              <a:solidFill>
                <a:srgbClr val="000000"/>
              </a:solidFill>
              <a:effectLst/>
              <a:uFillTx/>
              <a:latin typeface="Arial"/>
            </a:endParaRPr>
          </a:p>
        </p:txBody>
      </p:sp>
      <p:sp>
        <p:nvSpPr>
          <p:cNvPr id="11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1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1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008</a:t>
            </a:r>
            <a:endParaRPr lang="en-US" sz="1000" b="0" u="none" strike="noStrike">
              <a:solidFill>
                <a:srgbClr val="000000"/>
              </a:solidFill>
              <a:effectLst/>
              <a:uFillTx/>
              <a:latin typeface="Arial"/>
            </a:endParaRPr>
          </a:p>
        </p:txBody>
      </p:sp>
      <p:sp>
        <p:nvSpPr>
          <p:cNvPr id="118"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19"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0"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dirty="0">
                <a:solidFill>
                  <a:srgbClr val="ECF4FA"/>
                </a:solidFill>
                <a:effectLst/>
                <a:uFillTx/>
                <a:latin typeface="DejaVu Sans Mono"/>
                <a:ea typeface="DejaVu Sans Mono"/>
              </a:rPr>
              <a:t>with open("tasks.txt", "w") as f:  # Open for writing</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    </a:t>
            </a:r>
            <a:r>
              <a:rPr lang="en-US" sz="1550" b="0" u="none" strike="noStrike" dirty="0" err="1">
                <a:solidFill>
                  <a:srgbClr val="ECF4FA"/>
                </a:solidFill>
                <a:effectLst/>
                <a:uFillTx/>
                <a:latin typeface="DejaVu Sans Mono"/>
                <a:ea typeface="DejaVu Sans Mono"/>
              </a:rPr>
              <a:t>f.write</a:t>
            </a:r>
            <a:r>
              <a:rPr lang="en-US" sz="1550" b="0" u="none" strike="noStrike" dirty="0">
                <a:solidFill>
                  <a:srgbClr val="ECF4FA"/>
                </a:solidFill>
                <a:effectLst/>
                <a:uFillTx/>
                <a:latin typeface="DejaVu Sans Mono"/>
                <a:ea typeface="DejaVu Sans Mono"/>
              </a:rPr>
              <a:t>("Study Python")  # Save one task</a:t>
            </a:r>
            <a:endParaRPr lang="en-US" sz="1550" b="0" u="none" strike="noStrike" dirty="0">
              <a:solidFill>
                <a:srgbClr val="000000"/>
              </a:solidFill>
              <a:effectLst/>
              <a:uFillTx/>
              <a:latin typeface="Arial"/>
            </a:endParaRPr>
          </a:p>
          <a:p>
            <a:pPr defTabSz="914400">
              <a:lnSpc>
                <a:spcPct val="100000"/>
              </a:lnSpc>
              <a:tabLst>
                <a:tab pos="0" algn="l"/>
              </a:tabLst>
            </a:pP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with open("tasks.txt", "r") as f:  # Open for reading</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    text = </a:t>
            </a:r>
            <a:r>
              <a:rPr lang="en-US" sz="1550" b="0" u="none" strike="noStrike" dirty="0" err="1">
                <a:solidFill>
                  <a:srgbClr val="ECF4FA"/>
                </a:solidFill>
                <a:effectLst/>
                <a:uFillTx/>
                <a:latin typeface="DejaVu Sans Mono"/>
                <a:ea typeface="DejaVu Sans Mono"/>
              </a:rPr>
              <a:t>f.read</a:t>
            </a:r>
            <a:r>
              <a:rPr lang="en-US" sz="1550" b="0" u="none" strike="noStrike" dirty="0">
                <a:solidFill>
                  <a:srgbClr val="ECF4FA"/>
                </a:solidFill>
                <a:effectLst/>
                <a:uFillTx/>
                <a:latin typeface="DejaVu Sans Mono"/>
                <a:ea typeface="DejaVu Sans Mono"/>
              </a:rPr>
              <a:t>()  # Read saved text</a:t>
            </a:r>
            <a:endParaRPr lang="en-US" sz="1550" b="0" u="none" strike="noStrike" dirty="0">
              <a:solidFill>
                <a:srgbClr val="000000"/>
              </a:solidFill>
              <a:effectLst/>
              <a:uFillTx/>
              <a:latin typeface="Arial"/>
            </a:endParaRPr>
          </a:p>
          <a:p>
            <a:pPr defTabSz="914400">
              <a:lnSpc>
                <a:spcPct val="100000"/>
              </a:lnSpc>
              <a:tabLst>
                <a:tab pos="0" algn="l"/>
              </a:tabLst>
            </a:pP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print(text)  # Show the saved text</a:t>
            </a:r>
            <a:endParaRPr lang="en-US" sz="1550" b="0" u="none" strike="noStrike" dirty="0">
              <a:solidFill>
                <a:srgbClr val="000000"/>
              </a:solidFill>
              <a:effectLst/>
              <a:uFillTx/>
              <a:latin typeface="Arial"/>
            </a:endParaRPr>
          </a:p>
        </p:txBody>
      </p:sp>
      <p:sp>
        <p:nvSpPr>
          <p:cNvPr id="121"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23"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with safely closes the file</a:t>
            </a:r>
            <a:endParaRPr lang="en-US" sz="1750" b="0" u="none" strike="noStrike">
              <a:solidFill>
                <a:srgbClr val="000000"/>
              </a:solidFill>
              <a:effectLst/>
              <a:uFillTx/>
              <a:latin typeface="Arial"/>
            </a:endParaRPr>
          </a:p>
        </p:txBody>
      </p:sp>
      <p:sp>
        <p:nvSpPr>
          <p:cNvPr id="124"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w creates/replaces content</a:t>
            </a:r>
            <a:endParaRPr lang="en-US" sz="1750" b="0" u="none" strike="noStrike">
              <a:solidFill>
                <a:srgbClr val="000000"/>
              </a:solidFill>
              <a:effectLst/>
              <a:uFillTx/>
              <a:latin typeface="Arial"/>
            </a:endParaRPr>
          </a:p>
        </p:txBody>
      </p:sp>
      <p:sp>
        <p:nvSpPr>
          <p:cNvPr id="125"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r reads text into a variable</a:t>
            </a:r>
            <a:endParaRPr lang="en-US" sz="1750" b="0" u="none" strike="noStrike">
              <a:solidFill>
                <a:srgbClr val="000000"/>
              </a:solidFill>
              <a:effectLst/>
              <a:uFillTx/>
              <a:latin typeface="Arial"/>
            </a:endParaRPr>
          </a:p>
        </p:txBody>
      </p:sp>
      <p:sp>
        <p:nvSpPr>
          <p:cNvPr id="126"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28"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Study Python</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2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3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13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Add information without erasing</a:t>
            </a:r>
            <a:endParaRPr lang="en-US" sz="3400" b="0" u="none" strike="noStrike">
              <a:solidFill>
                <a:srgbClr val="000000"/>
              </a:solidFill>
              <a:effectLst/>
              <a:uFillTx/>
              <a:latin typeface="Arial"/>
            </a:endParaRPr>
          </a:p>
        </p:txBody>
      </p:sp>
      <p:sp>
        <p:nvSpPr>
          <p:cNvPr id="13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3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3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009</a:t>
            </a:r>
            <a:endParaRPr lang="en-US" sz="1000" b="0" u="none" strike="noStrike">
              <a:solidFill>
                <a:srgbClr val="000000"/>
              </a:solidFill>
              <a:effectLst/>
              <a:uFillTx/>
              <a:latin typeface="Arial"/>
            </a:endParaRPr>
          </a:p>
        </p:txBody>
      </p:sp>
      <p:sp>
        <p:nvSpPr>
          <p:cNvPr id="135"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36"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7"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with open("tasks.txt", "a") as f:  # Append mode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f.write("\nDo homework")  # New line + text</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with open("tasks.txt", "r") as f:  # Read mode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print(f.read())  # Print both lines</a:t>
            </a:r>
            <a:endParaRPr lang="en-US" sz="1550" b="0" u="none" strike="noStrike">
              <a:solidFill>
                <a:srgbClr val="000000"/>
              </a:solidFill>
              <a:effectLst/>
              <a:uFillTx/>
              <a:latin typeface="Arial"/>
            </a:endParaRPr>
          </a:p>
        </p:txBody>
      </p:sp>
      <p:sp>
        <p:nvSpPr>
          <p:cNvPr id="138"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40"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"a" keeps old text</a:t>
            </a:r>
            <a:endParaRPr lang="en-US" sz="1750" b="0" u="none" strike="noStrike">
              <a:solidFill>
                <a:srgbClr val="000000"/>
              </a:solidFill>
              <a:effectLst/>
              <a:uFillTx/>
              <a:latin typeface="Arial"/>
            </a:endParaRPr>
          </a:p>
        </p:txBody>
      </p:sp>
      <p:sp>
        <p:nvSpPr>
          <p:cNvPr id="141"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\n means new line</a:t>
            </a:r>
            <a:endParaRPr lang="en-US" sz="1750" b="0" u="none" strike="noStrike">
              <a:solidFill>
                <a:srgbClr val="000000"/>
              </a:solidFill>
              <a:effectLst/>
              <a:uFillTx/>
              <a:latin typeface="Arial"/>
            </a:endParaRPr>
          </a:p>
        </p:txBody>
      </p:sp>
      <p:sp>
        <p:nvSpPr>
          <p:cNvPr id="142"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"r" lets us check the file</a:t>
            </a:r>
            <a:endParaRPr lang="en-US" sz="1750" b="0" u="none" strike="noStrike">
              <a:solidFill>
                <a:srgbClr val="000000"/>
              </a:solidFill>
              <a:effectLst/>
              <a:uFillTx/>
              <a:latin typeface="Arial"/>
            </a:endParaRPr>
          </a:p>
        </p:txBody>
      </p:sp>
      <p:sp>
        <p:nvSpPr>
          <p:cNvPr id="143"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4"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45"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Study Python</a:t>
            </a:r>
            <a:endParaRPr lang="en-US" sz="1620" b="0" u="none" strike="noStrike">
              <a:solidFill>
                <a:srgbClr val="000000"/>
              </a:solidFill>
              <a:effectLst/>
              <a:uFillTx/>
              <a:latin typeface="Arial"/>
            </a:endParaRPr>
          </a:p>
          <a:p>
            <a:pPr defTabSz="914400">
              <a:lnSpc>
                <a:spcPct val="100000"/>
              </a:lnSpc>
              <a:tabLst>
                <a:tab pos="0" algn="l"/>
              </a:tabLst>
            </a:pPr>
            <a:r>
              <a:rPr lang="en-US" sz="1620" b="1" u="none" strike="noStrike">
                <a:solidFill>
                  <a:srgbClr val="152B42"/>
                </a:solidFill>
                <a:effectLst/>
                <a:uFillTx/>
                <a:latin typeface="DejaVu Sans Mono"/>
                <a:ea typeface="DejaVu Sans Mono"/>
              </a:rPr>
              <a:t>Do homework</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4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4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14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Try it: save a book title</a:t>
            </a:r>
            <a:endParaRPr lang="en-US" sz="3400" b="0" u="none" strike="noStrike">
              <a:solidFill>
                <a:srgbClr val="000000"/>
              </a:solidFill>
              <a:effectLst/>
              <a:uFillTx/>
              <a:latin typeface="Arial"/>
            </a:endParaRPr>
          </a:p>
        </p:txBody>
      </p:sp>
      <p:sp>
        <p:nvSpPr>
          <p:cNvPr id="14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5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15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010</a:t>
            </a:r>
            <a:endParaRPr lang="en-US" sz="1000" b="0" u="none" strike="noStrike">
              <a:solidFill>
                <a:srgbClr val="000000"/>
              </a:solidFill>
              <a:effectLst/>
              <a:uFillTx/>
              <a:latin typeface="Arial"/>
            </a:endParaRPr>
          </a:p>
        </p:txBody>
      </p:sp>
      <p:sp>
        <p:nvSpPr>
          <p:cNvPr id="152" name="Shape 6"/>
          <p:cNvSpPr/>
          <p:nvPr/>
        </p:nvSpPr>
        <p:spPr>
          <a:xfrm>
            <a:off x="502920" y="1600200"/>
            <a:ext cx="11173680" cy="36302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154" name="Text 8"/>
          <p:cNvSpPr/>
          <p:nvPr/>
        </p:nvSpPr>
        <p:spPr>
          <a:xfrm>
            <a:off x="758880" y="2121480"/>
            <a:ext cx="10469520" cy="146729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dirty="0">
                <a:solidFill>
                  <a:srgbClr val="152B42"/>
                </a:solidFill>
                <a:effectLst/>
                <a:uFillTx/>
                <a:latin typeface="Aptos"/>
                <a:ea typeface="Aptos"/>
              </a:rPr>
              <a:t>Create books.txt, save one title, then read it.</a:t>
            </a:r>
            <a:endParaRPr lang="en-US" sz="1960" b="0" u="none" strike="noStrike" dirty="0">
              <a:solidFill>
                <a:srgbClr val="000000"/>
              </a:solidFill>
              <a:effectLst/>
              <a:uFillTx/>
              <a:latin typeface="Arial"/>
            </a:endParaRPr>
          </a:p>
        </p:txBody>
      </p:sp>
      <p:sp>
        <p:nvSpPr>
          <p:cNvPr id="156"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endParaRPr lang="en-US" sz="1580" b="0" u="none" strike="noStrike" dirty="0">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4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14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Try it: save a book title</a:t>
            </a:r>
            <a:endParaRPr lang="en-US" sz="3400" b="0" u="none" strike="noStrike">
              <a:solidFill>
                <a:srgbClr val="000000"/>
              </a:solidFill>
              <a:effectLst/>
              <a:uFillTx/>
              <a:latin typeface="Arial"/>
            </a:endParaRPr>
          </a:p>
        </p:txBody>
      </p:sp>
      <p:sp>
        <p:nvSpPr>
          <p:cNvPr id="14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5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15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010</a:t>
            </a:r>
            <a:endParaRPr lang="en-US" sz="1000" b="0" u="none" strike="noStrike">
              <a:solidFill>
                <a:srgbClr val="000000"/>
              </a:solidFill>
              <a:effectLst/>
              <a:uFillTx/>
              <a:latin typeface="Arial"/>
            </a:endParaRPr>
          </a:p>
        </p:txBody>
      </p:sp>
      <p:sp>
        <p:nvSpPr>
          <p:cNvPr id="152" name="Shape 6"/>
          <p:cNvSpPr/>
          <p:nvPr/>
        </p:nvSpPr>
        <p:spPr>
          <a:xfrm>
            <a:off x="502920" y="1564785"/>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dirty="0">
                <a:solidFill>
                  <a:srgbClr val="B65C16"/>
                </a:solidFill>
                <a:effectLst/>
                <a:uFillTx/>
                <a:latin typeface="Aptos"/>
                <a:ea typeface="Aptos"/>
              </a:rPr>
              <a:t>STUDENT PRACTICE</a:t>
            </a:r>
            <a:endParaRPr lang="en-US" sz="1750" b="0" u="none" strike="noStrike" dirty="0">
              <a:solidFill>
                <a:srgbClr val="000000"/>
              </a:solidFill>
              <a:effectLst/>
              <a:uFillTx/>
              <a:latin typeface="Arial"/>
            </a:endParaRPr>
          </a:p>
        </p:txBody>
      </p:sp>
      <p:sp>
        <p:nvSpPr>
          <p:cNvPr id="154"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Create books.txt, save one title, then read it.</a:t>
            </a:r>
            <a:endParaRPr lang="en-US" sz="1960" b="0" u="none" strike="noStrike">
              <a:solidFill>
                <a:srgbClr val="000000"/>
              </a:solidFill>
              <a:effectLst/>
              <a:uFillTx/>
              <a:latin typeface="Arial"/>
            </a:endParaRPr>
          </a:p>
        </p:txBody>
      </p:sp>
      <p:sp>
        <p:nvSpPr>
          <p:cNvPr id="155"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6"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 Your turn: replace TODO</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with open("books.txt", "w") as f:</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f.write("TODO")</a:t>
            </a:r>
            <a:endParaRPr lang="en-US" sz="1580" b="0" u="none" strike="noStrike">
              <a:solidFill>
                <a:srgbClr val="000000"/>
              </a:solidFill>
              <a:effectLst/>
              <a:uFillTx/>
              <a:latin typeface="Arial"/>
            </a:endParaRPr>
          </a:p>
          <a:p>
            <a:pPr defTabSz="914400">
              <a:lnSpc>
                <a:spcPct val="100000"/>
              </a:lnSpc>
              <a:tabLst>
                <a:tab pos="0" algn="l"/>
              </a:tabLst>
            </a:pP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Read and print your file</a:t>
            </a:r>
            <a:endParaRPr lang="en-US" sz="1580" b="0" u="none" strike="noStrike">
              <a:solidFill>
                <a:srgbClr val="000000"/>
              </a:solidFill>
              <a:effectLst/>
              <a:uFillTx/>
              <a:latin typeface="Arial"/>
            </a:endParaRPr>
          </a:p>
        </p:txBody>
      </p:sp>
      <p:sp>
        <p:nvSpPr>
          <p:cNvPr id="157"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8"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159"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Open Colab</a:t>
            </a:r>
            <a:endParaRPr lang="en-US" sz="1820" b="0" u="none" strike="noStrike">
              <a:solidFill>
                <a:srgbClr val="000000"/>
              </a:solidFill>
              <a:effectLst/>
              <a:uFillTx/>
              <a:latin typeface="Arial"/>
            </a:endParaRPr>
          </a:p>
        </p:txBody>
      </p:sp>
      <p:sp>
        <p:nvSpPr>
          <p:cNvPr id="160"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820" b="0" u="none" strike="noStrike">
                <a:solidFill>
                  <a:srgbClr val="152B42"/>
                </a:solidFill>
                <a:effectLst/>
                <a:uFillTx/>
                <a:latin typeface="Aptos"/>
                <a:ea typeface="Aptos"/>
              </a:rPr>
              <a:t>2. Replace TODO with a real title</a:t>
            </a:r>
            <a:endParaRPr lang="en-US" sz="1820" b="0" u="none" strike="noStrike">
              <a:solidFill>
                <a:srgbClr val="000000"/>
              </a:solidFill>
              <a:effectLst/>
              <a:uFillTx/>
              <a:latin typeface="Arial"/>
            </a:endParaRPr>
          </a:p>
        </p:txBody>
      </p:sp>
      <p:sp>
        <p:nvSpPr>
          <p:cNvPr id="161"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Read the file</a:t>
            </a:r>
            <a:endParaRPr lang="en-US" sz="1820" b="0" u="none" strike="noStrike">
              <a:solidFill>
                <a:srgbClr val="000000"/>
              </a:solidFill>
              <a:effectLst/>
              <a:uFillTx/>
              <a:latin typeface="Arial"/>
            </a:endParaRPr>
          </a:p>
        </p:txBody>
      </p:sp>
      <p:sp>
        <p:nvSpPr>
          <p:cNvPr id="162"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Check the output</a:t>
            </a:r>
            <a:endParaRPr lang="en-US" sz="1820" b="0" u="none" strike="noStrike">
              <a:solidFill>
                <a:srgbClr val="000000"/>
              </a:solidFill>
              <a:effectLst/>
              <a:uFillTx/>
              <a:latin typeface="Arial"/>
            </a:endParaRPr>
          </a:p>
        </p:txBody>
      </p:sp>
    </p:spTree>
    <p:extLst>
      <p:ext uri="{BB962C8B-B14F-4D97-AF65-F5344CB8AC3E}">
        <p14:creationId xmlns:p14="http://schemas.microsoft.com/office/powerpoint/2010/main" val="8174350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6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6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16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Answer: save a book title</a:t>
            </a:r>
            <a:endParaRPr lang="en-US" sz="3400" b="0" u="none" strike="noStrike">
              <a:solidFill>
                <a:srgbClr val="000000"/>
              </a:solidFill>
              <a:effectLst/>
              <a:uFillTx/>
              <a:latin typeface="Arial"/>
            </a:endParaRPr>
          </a:p>
        </p:txBody>
      </p:sp>
      <p:sp>
        <p:nvSpPr>
          <p:cNvPr id="16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6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16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011</a:t>
            </a:r>
            <a:endParaRPr lang="en-US" sz="1000" b="0" u="none" strike="noStrike">
              <a:solidFill>
                <a:srgbClr val="000000"/>
              </a:solidFill>
              <a:effectLst/>
              <a:uFillTx/>
              <a:latin typeface="Arial"/>
            </a:endParaRPr>
          </a:p>
        </p:txBody>
      </p:sp>
      <p:sp>
        <p:nvSpPr>
          <p:cNvPr id="169"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0"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171"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2"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with open("books.txt", "w") as f:  # Create file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f.write("Python Basics")  # Save a title</a:t>
            </a:r>
            <a:endParaRPr lang="en-US" sz="1620" b="0" u="none" strike="noStrike">
              <a:solidFill>
                <a:srgbClr val="000000"/>
              </a:solidFill>
              <a:effectLst/>
              <a:uFillTx/>
              <a:latin typeface="Arial"/>
            </a:endParaRPr>
          </a:p>
          <a:p>
            <a:pPr defTabSz="914400">
              <a:lnSpc>
                <a:spcPct val="100000"/>
              </a:lnSpc>
              <a:tabLst>
                <a:tab pos="0" algn="l"/>
              </a:tabLst>
            </a:pP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with open("books.txt", "r") as f:  # Reopen</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print(f.read())  # Display title</a:t>
            </a:r>
            <a:endParaRPr lang="en-US" sz="1620" b="0" u="none" strike="noStrike">
              <a:solidFill>
                <a:srgbClr val="000000"/>
              </a:solidFill>
              <a:effectLst/>
              <a:uFillTx/>
              <a:latin typeface="Arial"/>
            </a:endParaRPr>
          </a:p>
        </p:txBody>
      </p:sp>
      <p:sp>
        <p:nvSpPr>
          <p:cNvPr id="173"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4"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175"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Python Basics</a:t>
            </a:r>
            <a:endParaRPr lang="en-US" sz="1600" b="0" u="none" strike="noStrike">
              <a:solidFill>
                <a:srgbClr val="000000"/>
              </a:solidFill>
              <a:effectLst/>
              <a:uFillTx/>
              <a:latin typeface="Arial"/>
            </a:endParaRPr>
          </a:p>
        </p:txBody>
      </p:sp>
      <p:sp>
        <p:nvSpPr>
          <p:cNvPr id="176"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177"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Write first, read second</a:t>
            </a:r>
            <a:endParaRPr lang="en-US" sz="1679" b="0" u="none" strike="noStrike">
              <a:solidFill>
                <a:srgbClr val="000000"/>
              </a:solidFill>
              <a:effectLst/>
              <a:uFillTx/>
              <a:latin typeface="Arial"/>
            </a:endParaRPr>
          </a:p>
        </p:txBody>
      </p:sp>
      <p:sp>
        <p:nvSpPr>
          <p:cNvPr id="178"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Use with for safe closing</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7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8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18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CSV: like a small spreadsheet</a:t>
            </a:r>
            <a:endParaRPr lang="en-US" sz="3400" b="0" u="none" strike="noStrike">
              <a:solidFill>
                <a:srgbClr val="000000"/>
              </a:solidFill>
              <a:effectLst/>
              <a:uFillTx/>
              <a:latin typeface="Arial"/>
            </a:endParaRPr>
          </a:p>
        </p:txBody>
      </p:sp>
      <p:sp>
        <p:nvSpPr>
          <p:cNvPr id="18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8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8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012</a:t>
            </a:r>
            <a:endParaRPr lang="en-US" sz="1000" b="0" u="none" strike="noStrike">
              <a:solidFill>
                <a:srgbClr val="000000"/>
              </a:solidFill>
              <a:effectLst/>
              <a:uFillTx/>
              <a:latin typeface="Arial"/>
            </a:endParaRPr>
          </a:p>
        </p:txBody>
      </p:sp>
      <p:sp>
        <p:nvSpPr>
          <p:cNvPr id="185"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6"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87"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CSV is a text file that stores values in rows and columns.</a:t>
            </a:r>
            <a:endParaRPr lang="en-US" sz="2250" b="0" u="none" strike="noStrike">
              <a:solidFill>
                <a:srgbClr val="000000"/>
              </a:solidFill>
              <a:effectLst/>
              <a:uFillTx/>
              <a:latin typeface="Arial"/>
            </a:endParaRPr>
          </a:p>
        </p:txBody>
      </p:sp>
      <p:sp>
        <p:nvSpPr>
          <p:cNvPr id="188"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89"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CSV means Comma-Separated Values</a:t>
            </a:r>
            <a:endParaRPr lang="en-US" sz="2100" b="0" u="none" strike="noStrike">
              <a:solidFill>
                <a:srgbClr val="000000"/>
              </a:solidFill>
              <a:effectLst/>
              <a:uFillTx/>
              <a:latin typeface="Arial"/>
            </a:endParaRPr>
          </a:p>
        </p:txBody>
      </p:sp>
      <p:sp>
        <p:nvSpPr>
          <p:cNvPr id="190"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91"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First row often names the columns</a:t>
            </a:r>
            <a:endParaRPr lang="en-US" sz="2100" b="0" u="none" strike="noStrike">
              <a:solidFill>
                <a:srgbClr val="000000"/>
              </a:solidFill>
              <a:effectLst/>
              <a:uFillTx/>
              <a:latin typeface="Arial"/>
            </a:endParaRPr>
          </a:p>
        </p:txBody>
      </p:sp>
      <p:sp>
        <p:nvSpPr>
          <p:cNvPr id="192"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93"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Python’s csv module to write/read CSV</a:t>
            </a:r>
            <a:endParaRPr lang="en-US" sz="2100" b="0" u="none" strike="noStrike">
              <a:solidFill>
                <a:srgbClr val="000000"/>
              </a:solidFill>
              <a:effectLst/>
              <a:uFillTx/>
              <a:latin typeface="Arial"/>
            </a:endParaRPr>
          </a:p>
        </p:txBody>
      </p:sp>
      <p:sp>
        <p:nvSpPr>
          <p:cNvPr id="194"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95"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Good for simple tables of names and marks</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9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9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19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JSON: store records with labels</a:t>
            </a:r>
            <a:endParaRPr lang="en-US" sz="3400" b="0" u="none" strike="noStrike">
              <a:solidFill>
                <a:srgbClr val="000000"/>
              </a:solidFill>
              <a:effectLst/>
              <a:uFillTx/>
              <a:latin typeface="Arial"/>
            </a:endParaRPr>
          </a:p>
        </p:txBody>
      </p:sp>
      <p:sp>
        <p:nvSpPr>
          <p:cNvPr id="19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20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20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013</a:t>
            </a:r>
            <a:endParaRPr lang="en-US" sz="1000" b="0" u="none" strike="noStrike">
              <a:solidFill>
                <a:srgbClr val="000000"/>
              </a:solidFill>
              <a:effectLst/>
              <a:uFillTx/>
              <a:latin typeface="Arial"/>
            </a:endParaRPr>
          </a:p>
        </p:txBody>
      </p:sp>
      <p:sp>
        <p:nvSpPr>
          <p:cNvPr id="202"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3"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204"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JSON saves structured information using keys and values.</a:t>
            </a:r>
            <a:endParaRPr lang="en-US" sz="2250" b="0" u="none" strike="noStrike">
              <a:solidFill>
                <a:srgbClr val="000000"/>
              </a:solidFill>
              <a:effectLst/>
              <a:uFillTx/>
              <a:latin typeface="Arial"/>
            </a:endParaRPr>
          </a:p>
        </p:txBody>
      </p:sp>
      <p:sp>
        <p:nvSpPr>
          <p:cNvPr id="205"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06"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JSON looks similar to a Python dictionary</a:t>
            </a:r>
            <a:endParaRPr lang="en-US" sz="2100" b="0" u="none" strike="noStrike">
              <a:solidFill>
                <a:srgbClr val="000000"/>
              </a:solidFill>
              <a:effectLst/>
              <a:uFillTx/>
              <a:latin typeface="Arial"/>
            </a:endParaRPr>
          </a:p>
        </p:txBody>
      </p:sp>
      <p:sp>
        <p:nvSpPr>
          <p:cNvPr id="207"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08"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list of dictionaries can represent many tasks</a:t>
            </a:r>
            <a:endParaRPr lang="en-US" sz="2100" b="0" u="none" strike="noStrike">
              <a:solidFill>
                <a:srgbClr val="000000"/>
              </a:solidFill>
              <a:effectLst/>
              <a:uFillTx/>
              <a:latin typeface="Arial"/>
            </a:endParaRPr>
          </a:p>
        </p:txBody>
      </p:sp>
      <p:sp>
        <p:nvSpPr>
          <p:cNvPr id="209"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10"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dirty="0" err="1">
                <a:solidFill>
                  <a:srgbClr val="152B42"/>
                </a:solidFill>
                <a:effectLst/>
                <a:uFillTx/>
                <a:latin typeface="Aptos"/>
                <a:ea typeface="Aptos"/>
              </a:rPr>
              <a:t>json.dump</a:t>
            </a:r>
            <a:r>
              <a:rPr lang="en-US" sz="2100" b="0" u="none" strike="noStrike" dirty="0">
                <a:solidFill>
                  <a:srgbClr val="152B42"/>
                </a:solidFill>
                <a:effectLst/>
                <a:uFillTx/>
                <a:latin typeface="Aptos"/>
                <a:ea typeface="Aptos"/>
              </a:rPr>
              <a:t>() saves data; </a:t>
            </a:r>
            <a:r>
              <a:rPr lang="en-US" sz="2100" b="0" u="none" strike="noStrike" dirty="0" smtClean="0">
                <a:solidFill>
                  <a:srgbClr val="152B42"/>
                </a:solidFill>
                <a:effectLst/>
                <a:uFillTx/>
                <a:latin typeface="Aptos"/>
                <a:ea typeface="Aptos"/>
              </a:rPr>
              <a:t>j	</a:t>
            </a:r>
            <a:r>
              <a:rPr lang="en-US" sz="2100" b="0" u="none" strike="noStrike" dirty="0" err="1" smtClean="0">
                <a:solidFill>
                  <a:srgbClr val="152B42"/>
                </a:solidFill>
                <a:effectLst/>
                <a:uFillTx/>
                <a:latin typeface="Aptos"/>
                <a:ea typeface="Aptos"/>
              </a:rPr>
              <a:t>son.load</a:t>
            </a:r>
            <a:r>
              <a:rPr lang="en-US" sz="2100" b="0" u="none" strike="noStrike" dirty="0">
                <a:solidFill>
                  <a:srgbClr val="152B42"/>
                </a:solidFill>
                <a:effectLst/>
                <a:uFillTx/>
                <a:latin typeface="Aptos"/>
                <a:ea typeface="Aptos"/>
              </a:rPr>
              <a:t>() reads data</a:t>
            </a:r>
            <a:endParaRPr lang="en-US" sz="2100" b="0" u="none" strike="noStrike" dirty="0">
              <a:solidFill>
                <a:srgbClr val="000000"/>
              </a:solidFill>
              <a:effectLst/>
              <a:uFillTx/>
              <a:latin typeface="Arial"/>
            </a:endParaRPr>
          </a:p>
        </p:txBody>
      </p:sp>
      <p:sp>
        <p:nvSpPr>
          <p:cNvPr id="211"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12"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Useful when records need to survive a restart</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21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21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21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Save and load a JSON task list</a:t>
            </a:r>
            <a:endParaRPr lang="en-US" sz="3400" b="0" u="none" strike="noStrike">
              <a:solidFill>
                <a:srgbClr val="000000"/>
              </a:solidFill>
              <a:effectLst/>
              <a:uFillTx/>
              <a:latin typeface="Arial"/>
            </a:endParaRPr>
          </a:p>
        </p:txBody>
      </p:sp>
      <p:sp>
        <p:nvSpPr>
          <p:cNvPr id="21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21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21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014</a:t>
            </a:r>
            <a:endParaRPr lang="en-US" sz="1000" b="0" u="none" strike="noStrike">
              <a:solidFill>
                <a:srgbClr val="000000"/>
              </a:solidFill>
              <a:effectLst/>
              <a:uFillTx/>
              <a:latin typeface="Arial"/>
            </a:endParaRPr>
          </a:p>
        </p:txBody>
      </p:sp>
      <p:sp>
        <p:nvSpPr>
          <p:cNvPr id="219"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220"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1"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430" b="0" u="none" strike="noStrike" dirty="0">
                <a:solidFill>
                  <a:srgbClr val="ECF4FA"/>
                </a:solidFill>
                <a:effectLst/>
                <a:uFillTx/>
                <a:latin typeface="DejaVu Sans Mono"/>
                <a:ea typeface="DejaVu Sans Mono"/>
              </a:rPr>
              <a:t>import </a:t>
            </a:r>
            <a:r>
              <a:rPr lang="en-US" sz="1430" b="0" u="none" strike="noStrike" dirty="0" err="1">
                <a:solidFill>
                  <a:srgbClr val="ECF4FA"/>
                </a:solidFill>
                <a:effectLst/>
                <a:uFillTx/>
                <a:latin typeface="DejaVu Sans Mono"/>
                <a:ea typeface="DejaVu Sans Mono"/>
              </a:rPr>
              <a:t>json</a:t>
            </a:r>
            <a:r>
              <a:rPr lang="en-US" sz="1430" b="0" u="none" strike="noStrike" dirty="0">
                <a:solidFill>
                  <a:srgbClr val="ECF4FA"/>
                </a:solidFill>
                <a:effectLst/>
                <a:uFillTx/>
                <a:latin typeface="DejaVu Sans Mono"/>
                <a:ea typeface="DejaVu Sans Mono"/>
              </a:rPr>
              <a:t>  # Tools for JSON</a:t>
            </a:r>
            <a:endParaRPr lang="en-US" sz="1430" b="0" u="none" strike="noStrike" dirty="0">
              <a:solidFill>
                <a:srgbClr val="000000"/>
              </a:solidFill>
              <a:effectLst/>
              <a:uFillTx/>
              <a:latin typeface="Arial"/>
            </a:endParaRPr>
          </a:p>
          <a:p>
            <a:pPr defTabSz="914400">
              <a:lnSpc>
                <a:spcPct val="100000"/>
              </a:lnSpc>
              <a:tabLst>
                <a:tab pos="0" algn="l"/>
              </a:tabLst>
            </a:pP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a:solidFill>
                  <a:srgbClr val="ECF4FA"/>
                </a:solidFill>
                <a:effectLst/>
                <a:uFillTx/>
                <a:latin typeface="DejaVu Sans Mono"/>
                <a:ea typeface="DejaVu Sans Mono"/>
              </a:rPr>
              <a:t>tasks = [{"title": "Read", "done": False}]</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a:solidFill>
                  <a:srgbClr val="ECF4FA"/>
                </a:solidFill>
                <a:effectLst/>
                <a:uFillTx/>
                <a:latin typeface="DejaVu Sans Mono"/>
                <a:ea typeface="DejaVu Sans Mono"/>
              </a:rPr>
              <a:t>with open("</a:t>
            </a:r>
            <a:r>
              <a:rPr lang="en-US" sz="1430" b="0" u="none" strike="noStrike" dirty="0" err="1">
                <a:solidFill>
                  <a:srgbClr val="ECF4FA"/>
                </a:solidFill>
                <a:effectLst/>
                <a:uFillTx/>
                <a:latin typeface="DejaVu Sans Mono"/>
                <a:ea typeface="DejaVu Sans Mono"/>
              </a:rPr>
              <a:t>tasks.json</a:t>
            </a:r>
            <a:r>
              <a:rPr lang="en-US" sz="1430" b="0" u="none" strike="noStrike" dirty="0">
                <a:solidFill>
                  <a:srgbClr val="ECF4FA"/>
                </a:solidFill>
                <a:effectLst/>
                <a:uFillTx/>
                <a:latin typeface="DejaVu Sans Mono"/>
                <a:ea typeface="DejaVu Sans Mono"/>
              </a:rPr>
              <a:t>", "w") as f:</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a:solidFill>
                  <a:srgbClr val="ECF4FA"/>
                </a:solidFill>
                <a:effectLst/>
                <a:uFillTx/>
                <a:latin typeface="DejaVu Sans Mono"/>
                <a:ea typeface="DejaVu Sans Mono"/>
              </a:rPr>
              <a:t>    </a:t>
            </a:r>
            <a:r>
              <a:rPr lang="en-US" sz="1430" b="0" u="none" strike="noStrike" dirty="0" err="1">
                <a:solidFill>
                  <a:srgbClr val="ECF4FA"/>
                </a:solidFill>
                <a:effectLst/>
                <a:uFillTx/>
                <a:latin typeface="DejaVu Sans Mono"/>
                <a:ea typeface="DejaVu Sans Mono"/>
              </a:rPr>
              <a:t>json.dump</a:t>
            </a:r>
            <a:r>
              <a:rPr lang="en-US" sz="1430" b="0" u="none" strike="noStrike" dirty="0">
                <a:solidFill>
                  <a:srgbClr val="ECF4FA"/>
                </a:solidFill>
                <a:effectLst/>
                <a:uFillTx/>
                <a:latin typeface="DejaVu Sans Mono"/>
                <a:ea typeface="DejaVu Sans Mono"/>
              </a:rPr>
              <a:t>(tasks, f)  # Save list as JSON</a:t>
            </a:r>
            <a:endParaRPr lang="en-US" sz="1430" b="0" u="none" strike="noStrike" dirty="0">
              <a:solidFill>
                <a:srgbClr val="000000"/>
              </a:solidFill>
              <a:effectLst/>
              <a:uFillTx/>
              <a:latin typeface="Arial"/>
            </a:endParaRPr>
          </a:p>
          <a:p>
            <a:pPr defTabSz="914400">
              <a:lnSpc>
                <a:spcPct val="100000"/>
              </a:lnSpc>
              <a:tabLst>
                <a:tab pos="0" algn="l"/>
              </a:tabLst>
            </a:pP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a:solidFill>
                  <a:srgbClr val="ECF4FA"/>
                </a:solidFill>
                <a:effectLst/>
                <a:uFillTx/>
                <a:latin typeface="DejaVu Sans Mono"/>
                <a:ea typeface="DejaVu Sans Mono"/>
              </a:rPr>
              <a:t>with open("</a:t>
            </a:r>
            <a:r>
              <a:rPr lang="en-US" sz="1430" b="0" u="none" strike="noStrike" dirty="0" err="1">
                <a:solidFill>
                  <a:srgbClr val="ECF4FA"/>
                </a:solidFill>
                <a:effectLst/>
                <a:uFillTx/>
                <a:latin typeface="DejaVu Sans Mono"/>
                <a:ea typeface="DejaVu Sans Mono"/>
              </a:rPr>
              <a:t>tasks.json</a:t>
            </a:r>
            <a:r>
              <a:rPr lang="en-US" sz="1430" b="0" u="none" strike="noStrike" dirty="0">
                <a:solidFill>
                  <a:srgbClr val="ECF4FA"/>
                </a:solidFill>
                <a:effectLst/>
                <a:uFillTx/>
                <a:latin typeface="DejaVu Sans Mono"/>
                <a:ea typeface="DejaVu Sans Mono"/>
              </a:rPr>
              <a:t>", "r") as f:</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a:solidFill>
                  <a:srgbClr val="ECF4FA"/>
                </a:solidFill>
                <a:effectLst/>
                <a:uFillTx/>
                <a:latin typeface="DejaVu Sans Mono"/>
                <a:ea typeface="DejaVu Sans Mono"/>
              </a:rPr>
              <a:t>    loaded = </a:t>
            </a:r>
            <a:r>
              <a:rPr lang="en-US" sz="1430" b="0" u="none" strike="noStrike" dirty="0" err="1">
                <a:solidFill>
                  <a:srgbClr val="ECF4FA"/>
                </a:solidFill>
                <a:effectLst/>
                <a:uFillTx/>
                <a:latin typeface="DejaVu Sans Mono"/>
                <a:ea typeface="DejaVu Sans Mono"/>
              </a:rPr>
              <a:t>json.load</a:t>
            </a:r>
            <a:r>
              <a:rPr lang="en-US" sz="1430" b="0" u="none" strike="noStrike" dirty="0">
                <a:solidFill>
                  <a:srgbClr val="ECF4FA"/>
                </a:solidFill>
                <a:effectLst/>
                <a:uFillTx/>
                <a:latin typeface="DejaVu Sans Mono"/>
                <a:ea typeface="DejaVu Sans Mono"/>
              </a:rPr>
              <a:t>(f)  # Read JSON as list</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a:solidFill>
                  <a:srgbClr val="ECF4FA"/>
                </a:solidFill>
                <a:effectLst/>
                <a:uFillTx/>
                <a:latin typeface="DejaVu Sans Mono"/>
                <a:ea typeface="DejaVu Sans Mono"/>
              </a:rPr>
              <a:t>print(loaded[0]["title"])  # First task</a:t>
            </a:r>
            <a:endParaRPr lang="en-US" sz="1430" b="0" u="none" strike="noStrike" dirty="0">
              <a:solidFill>
                <a:srgbClr val="000000"/>
              </a:solidFill>
              <a:effectLst/>
              <a:uFillTx/>
              <a:latin typeface="Arial"/>
            </a:endParaRPr>
          </a:p>
        </p:txBody>
      </p:sp>
      <p:sp>
        <p:nvSpPr>
          <p:cNvPr id="222"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3"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224"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Save with dump()</a:t>
            </a:r>
            <a:endParaRPr lang="en-US" sz="1750" b="0" u="none" strike="noStrike">
              <a:solidFill>
                <a:srgbClr val="000000"/>
              </a:solidFill>
              <a:effectLst/>
              <a:uFillTx/>
              <a:latin typeface="Arial"/>
            </a:endParaRPr>
          </a:p>
        </p:txBody>
      </p:sp>
      <p:sp>
        <p:nvSpPr>
          <p:cNvPr id="225"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Load with load()</a:t>
            </a:r>
            <a:endParaRPr lang="en-US" sz="1750" b="0" u="none" strike="noStrike">
              <a:solidFill>
                <a:srgbClr val="000000"/>
              </a:solidFill>
              <a:effectLst/>
              <a:uFillTx/>
              <a:latin typeface="Arial"/>
            </a:endParaRPr>
          </a:p>
        </p:txBody>
      </p:sp>
      <p:sp>
        <p:nvSpPr>
          <p:cNvPr id="226"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Data stays in the file</a:t>
            </a:r>
            <a:endParaRPr lang="en-US" sz="1750" b="0" u="none" strike="noStrike">
              <a:solidFill>
                <a:srgbClr val="000000"/>
              </a:solidFill>
              <a:effectLst/>
              <a:uFillTx/>
              <a:latin typeface="Arial"/>
            </a:endParaRPr>
          </a:p>
        </p:txBody>
      </p:sp>
      <p:sp>
        <p:nvSpPr>
          <p:cNvPr id="227"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8"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229"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Read</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4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4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14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Try it: save a book title</a:t>
            </a:r>
            <a:endParaRPr lang="en-US" sz="3400" b="0" u="none" strike="noStrike">
              <a:solidFill>
                <a:srgbClr val="000000"/>
              </a:solidFill>
              <a:effectLst/>
              <a:uFillTx/>
              <a:latin typeface="Arial"/>
            </a:endParaRPr>
          </a:p>
        </p:txBody>
      </p:sp>
      <p:sp>
        <p:nvSpPr>
          <p:cNvPr id="14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5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15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010</a:t>
            </a:r>
            <a:endParaRPr lang="en-US" sz="1000" b="0" u="none" strike="noStrike">
              <a:solidFill>
                <a:srgbClr val="000000"/>
              </a:solidFill>
              <a:effectLst/>
              <a:uFillTx/>
              <a:latin typeface="Arial"/>
            </a:endParaRPr>
          </a:p>
        </p:txBody>
      </p:sp>
      <p:sp>
        <p:nvSpPr>
          <p:cNvPr id="152" name="Shape 6"/>
          <p:cNvSpPr/>
          <p:nvPr/>
        </p:nvSpPr>
        <p:spPr>
          <a:xfrm>
            <a:off x="294145" y="1474167"/>
            <a:ext cx="11111274" cy="4359273"/>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7"/>
          <p:cNvSpPr/>
          <p:nvPr/>
        </p:nvSpPr>
        <p:spPr>
          <a:xfrm>
            <a:off x="749880" y="1774080"/>
            <a:ext cx="10268640" cy="394829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dirty="0">
                <a:solidFill>
                  <a:srgbClr val="B65C16"/>
                </a:solidFill>
                <a:effectLst/>
                <a:uFillTx/>
                <a:latin typeface="Aptos"/>
                <a:ea typeface="Aptos"/>
              </a:rPr>
              <a:t>STUDENT </a:t>
            </a:r>
            <a:r>
              <a:rPr lang="en-US" sz="1750" b="1" u="none" strike="noStrike" dirty="0" smtClean="0">
                <a:solidFill>
                  <a:srgbClr val="B65C16"/>
                </a:solidFill>
                <a:effectLst/>
                <a:uFillTx/>
                <a:latin typeface="Aptos"/>
                <a:ea typeface="Aptos"/>
              </a:rPr>
              <a:t>PRACTICE</a:t>
            </a:r>
          </a:p>
          <a:p>
            <a:pPr>
              <a:tabLst>
                <a:tab pos="0" algn="l"/>
              </a:tabLst>
            </a:pPr>
            <a:r>
              <a:rPr lang="en-US" sz="2400" dirty="0">
                <a:solidFill>
                  <a:srgbClr val="000000"/>
                </a:solidFill>
                <a:latin typeface="Arial"/>
              </a:rPr>
              <a:t>Write a Python program that stores a student's daily tasks in a JSON file and reads them back</a:t>
            </a:r>
            <a:r>
              <a:rPr lang="en-US" sz="2400" dirty="0" smtClean="0">
                <a:solidFill>
                  <a:srgbClr val="000000"/>
                </a:solidFill>
                <a:latin typeface="Arial"/>
              </a:rPr>
              <a:t>.</a:t>
            </a:r>
          </a:p>
          <a:p>
            <a:pPr>
              <a:tabLst>
                <a:tab pos="0" algn="l"/>
              </a:tabLst>
            </a:pPr>
            <a:r>
              <a:rPr lang="en-US" sz="2400" dirty="0" smtClean="0">
                <a:solidFill>
                  <a:srgbClr val="000000"/>
                </a:solidFill>
                <a:latin typeface="Arial"/>
              </a:rPr>
              <a:t>Requirements</a:t>
            </a:r>
          </a:p>
          <a:p>
            <a:pPr marL="342900" indent="-342900">
              <a:buAutoNum type="arabicPeriod"/>
              <a:tabLst>
                <a:tab pos="0" algn="l"/>
              </a:tabLst>
            </a:pPr>
            <a:r>
              <a:rPr lang="en-US" sz="2400" dirty="0" smtClean="0">
                <a:solidFill>
                  <a:srgbClr val="000000"/>
                </a:solidFill>
                <a:latin typeface="Arial"/>
              </a:rPr>
              <a:t>Import </a:t>
            </a:r>
            <a:r>
              <a:rPr lang="en-US" sz="2400" dirty="0">
                <a:solidFill>
                  <a:srgbClr val="000000"/>
                </a:solidFill>
                <a:latin typeface="Arial"/>
              </a:rPr>
              <a:t>the </a:t>
            </a:r>
            <a:r>
              <a:rPr lang="en-US" sz="2400" dirty="0" err="1">
                <a:solidFill>
                  <a:srgbClr val="000000"/>
                </a:solidFill>
                <a:latin typeface="Arial"/>
              </a:rPr>
              <a:t>json</a:t>
            </a:r>
            <a:r>
              <a:rPr lang="en-US" sz="2400" dirty="0">
                <a:solidFill>
                  <a:srgbClr val="000000"/>
                </a:solidFill>
                <a:latin typeface="Arial"/>
              </a:rPr>
              <a:t> module</a:t>
            </a:r>
            <a:r>
              <a:rPr lang="en-US" sz="2400" dirty="0" smtClean="0">
                <a:solidFill>
                  <a:srgbClr val="000000"/>
                </a:solidFill>
                <a:latin typeface="Arial"/>
              </a:rPr>
              <a:t>.</a:t>
            </a:r>
          </a:p>
          <a:p>
            <a:pPr>
              <a:tabLst>
                <a:tab pos="0" algn="l"/>
              </a:tabLst>
            </a:pPr>
            <a:r>
              <a:rPr lang="en-US" sz="2400" dirty="0" smtClean="0">
                <a:solidFill>
                  <a:srgbClr val="000000"/>
                </a:solidFill>
                <a:latin typeface="Arial"/>
              </a:rPr>
              <a:t>2</a:t>
            </a:r>
            <a:r>
              <a:rPr lang="en-US" sz="2400" dirty="0">
                <a:solidFill>
                  <a:srgbClr val="000000"/>
                </a:solidFill>
                <a:latin typeface="Arial"/>
              </a:rPr>
              <a:t>. Create a list named tasks containing three tasks</a:t>
            </a:r>
            <a:r>
              <a:rPr lang="en-US" sz="2400" dirty="0" smtClean="0">
                <a:solidFill>
                  <a:srgbClr val="000000"/>
                </a:solidFill>
                <a:latin typeface="Arial"/>
              </a:rPr>
              <a:t>.</a:t>
            </a:r>
          </a:p>
          <a:p>
            <a:pPr>
              <a:tabLst>
                <a:tab pos="0" algn="l"/>
              </a:tabLst>
            </a:pPr>
            <a:r>
              <a:rPr lang="en-US" sz="2400" dirty="0" smtClean="0">
                <a:solidFill>
                  <a:srgbClr val="000000"/>
                </a:solidFill>
                <a:latin typeface="Arial"/>
              </a:rPr>
              <a:t>3</a:t>
            </a:r>
            <a:r>
              <a:rPr lang="en-US" sz="2400" dirty="0">
                <a:solidFill>
                  <a:srgbClr val="000000"/>
                </a:solidFill>
                <a:latin typeface="Arial"/>
              </a:rPr>
              <a:t>. Each task must have two keys: title and done</a:t>
            </a:r>
            <a:r>
              <a:rPr lang="en-US" sz="2400" dirty="0" smtClean="0">
                <a:solidFill>
                  <a:srgbClr val="000000"/>
                </a:solidFill>
                <a:latin typeface="Arial"/>
              </a:rPr>
              <a:t>.</a:t>
            </a:r>
          </a:p>
          <a:p>
            <a:pPr>
              <a:tabLst>
                <a:tab pos="0" algn="l"/>
              </a:tabLst>
            </a:pPr>
            <a:r>
              <a:rPr lang="en-US" sz="2400" dirty="0" smtClean="0">
                <a:solidFill>
                  <a:srgbClr val="000000"/>
                </a:solidFill>
                <a:latin typeface="Arial"/>
              </a:rPr>
              <a:t>4</a:t>
            </a:r>
            <a:r>
              <a:rPr lang="en-US" sz="2400" dirty="0">
                <a:solidFill>
                  <a:srgbClr val="000000"/>
                </a:solidFill>
                <a:latin typeface="Arial"/>
              </a:rPr>
              <a:t>. Save the tasks in a file named </a:t>
            </a:r>
            <a:r>
              <a:rPr lang="en-US" sz="2400" dirty="0" err="1">
                <a:solidFill>
                  <a:srgbClr val="000000"/>
                </a:solidFill>
                <a:latin typeface="Arial"/>
              </a:rPr>
              <a:t>student_tasks.json</a:t>
            </a:r>
            <a:r>
              <a:rPr lang="en-US" sz="2400" dirty="0" smtClean="0">
                <a:solidFill>
                  <a:srgbClr val="000000"/>
                </a:solidFill>
                <a:latin typeface="Arial"/>
              </a:rPr>
              <a:t>.</a:t>
            </a:r>
          </a:p>
          <a:p>
            <a:pPr>
              <a:tabLst>
                <a:tab pos="0" algn="l"/>
              </a:tabLst>
            </a:pPr>
            <a:r>
              <a:rPr lang="en-US" sz="2400" dirty="0" smtClean="0">
                <a:solidFill>
                  <a:srgbClr val="000000"/>
                </a:solidFill>
                <a:latin typeface="Arial"/>
              </a:rPr>
              <a:t>5</a:t>
            </a:r>
            <a:r>
              <a:rPr lang="en-US" sz="2400" dirty="0">
                <a:solidFill>
                  <a:srgbClr val="000000"/>
                </a:solidFill>
                <a:latin typeface="Arial"/>
              </a:rPr>
              <a:t>. Read the saved data using </a:t>
            </a:r>
            <a:r>
              <a:rPr lang="en-US" sz="2400" dirty="0" err="1">
                <a:solidFill>
                  <a:srgbClr val="000000"/>
                </a:solidFill>
                <a:latin typeface="Arial"/>
              </a:rPr>
              <a:t>json.load</a:t>
            </a:r>
            <a:r>
              <a:rPr lang="en-US" sz="2400" dirty="0" smtClean="0">
                <a:solidFill>
                  <a:srgbClr val="000000"/>
                </a:solidFill>
                <a:latin typeface="Arial"/>
              </a:rPr>
              <a:t>().</a:t>
            </a:r>
          </a:p>
          <a:p>
            <a:pPr>
              <a:tabLst>
                <a:tab pos="0" algn="l"/>
              </a:tabLst>
            </a:pPr>
            <a:r>
              <a:rPr lang="en-US" sz="2400" dirty="0" smtClean="0">
                <a:solidFill>
                  <a:srgbClr val="000000"/>
                </a:solidFill>
                <a:latin typeface="Arial"/>
              </a:rPr>
              <a:t>6</a:t>
            </a:r>
            <a:r>
              <a:rPr lang="en-US" sz="2400" dirty="0">
                <a:solidFill>
                  <a:srgbClr val="000000"/>
                </a:solidFill>
                <a:latin typeface="Arial"/>
              </a:rPr>
              <a:t>. Display the title of the second task</a:t>
            </a:r>
            <a:r>
              <a:rPr lang="en-US" sz="2400" dirty="0" smtClean="0">
                <a:solidFill>
                  <a:srgbClr val="000000"/>
                </a:solidFill>
                <a:latin typeface="Arial"/>
              </a:rPr>
              <a:t>.</a:t>
            </a:r>
          </a:p>
          <a:p>
            <a:pPr>
              <a:tabLst>
                <a:tab pos="0" algn="l"/>
              </a:tabLst>
            </a:pPr>
            <a:r>
              <a:rPr lang="en-US" sz="2400" dirty="0" smtClean="0">
                <a:solidFill>
                  <a:srgbClr val="000000"/>
                </a:solidFill>
                <a:latin typeface="Arial"/>
              </a:rPr>
              <a:t>7</a:t>
            </a:r>
            <a:r>
              <a:rPr lang="en-US" sz="2400" dirty="0">
                <a:solidFill>
                  <a:srgbClr val="000000"/>
                </a:solidFill>
                <a:latin typeface="Arial"/>
              </a:rPr>
              <a:t>. Display the complete list of tasks.</a:t>
            </a:r>
            <a:endParaRPr lang="en-US" sz="2400" b="0" u="none" strike="noStrike" dirty="0">
              <a:solidFill>
                <a:srgbClr val="000000"/>
              </a:solidFill>
              <a:effectLst/>
              <a:uFillTx/>
              <a:latin typeface="Arial"/>
            </a:endParaRPr>
          </a:p>
        </p:txBody>
      </p:sp>
      <p:sp>
        <p:nvSpPr>
          <p:cNvPr id="154"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endParaRPr lang="en-US" sz="1960" b="0" u="none" strike="noStrike" dirty="0">
              <a:solidFill>
                <a:srgbClr val="000000"/>
              </a:solidFill>
              <a:effectLst/>
              <a:uFillTx/>
              <a:latin typeface="Arial"/>
            </a:endParaRPr>
          </a:p>
        </p:txBody>
      </p:sp>
      <p:sp>
        <p:nvSpPr>
          <p:cNvPr id="156"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endParaRPr lang="en-US" sz="1580" b="0" u="none" strike="noStrike" dirty="0">
              <a:solidFill>
                <a:srgbClr val="FF0000"/>
              </a:solidFill>
              <a:effectLst/>
              <a:uFillTx/>
              <a:latin typeface="Arial"/>
            </a:endParaRPr>
          </a:p>
        </p:txBody>
      </p:sp>
    </p:spTree>
    <p:extLst>
      <p:ext uri="{BB962C8B-B14F-4D97-AF65-F5344CB8AC3E}">
        <p14:creationId xmlns:p14="http://schemas.microsoft.com/office/powerpoint/2010/main" val="242610307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21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FILES</a:t>
            </a:r>
            <a:endParaRPr lang="en-US" sz="1250" b="0" u="none" strike="noStrike">
              <a:solidFill>
                <a:srgbClr val="000000"/>
              </a:solidFill>
              <a:effectLst/>
              <a:uFillTx/>
              <a:latin typeface="Arial"/>
            </a:endParaRPr>
          </a:p>
        </p:txBody>
      </p:sp>
      <p:sp>
        <p:nvSpPr>
          <p:cNvPr id="21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Save and load a JSON task list</a:t>
            </a:r>
            <a:endParaRPr lang="en-US" sz="3400" b="0" u="none" strike="noStrike">
              <a:solidFill>
                <a:srgbClr val="000000"/>
              </a:solidFill>
              <a:effectLst/>
              <a:uFillTx/>
              <a:latin typeface="Arial"/>
            </a:endParaRPr>
          </a:p>
        </p:txBody>
      </p:sp>
      <p:sp>
        <p:nvSpPr>
          <p:cNvPr id="21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21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21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014</a:t>
            </a:r>
            <a:endParaRPr lang="en-US" sz="1000" b="0" u="none" strike="noStrike">
              <a:solidFill>
                <a:srgbClr val="000000"/>
              </a:solidFill>
              <a:effectLst/>
              <a:uFillTx/>
              <a:latin typeface="Arial"/>
            </a:endParaRPr>
          </a:p>
        </p:txBody>
      </p:sp>
      <p:sp>
        <p:nvSpPr>
          <p:cNvPr id="219"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220" name="Shape 7"/>
          <p:cNvSpPr/>
          <p:nvPr/>
        </p:nvSpPr>
        <p:spPr>
          <a:xfrm>
            <a:off x="493920" y="1984320"/>
            <a:ext cx="7177680" cy="487368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400" dirty="0">
                <a:solidFill>
                  <a:srgbClr val="FFFFFF"/>
                </a:solidFill>
                <a:latin typeface="Arial"/>
              </a:rPr>
              <a:t>import </a:t>
            </a:r>
            <a:r>
              <a:rPr lang="en-US" sz="1400" dirty="0" err="1">
                <a:solidFill>
                  <a:srgbClr val="FFFFFF"/>
                </a:solidFill>
                <a:latin typeface="Arial"/>
              </a:rPr>
              <a:t>json</a:t>
            </a:r>
            <a:r>
              <a:rPr lang="en-US" sz="1400" dirty="0">
                <a:solidFill>
                  <a:srgbClr val="FFFFFF"/>
                </a:solidFill>
                <a:latin typeface="Arial"/>
              </a:rPr>
              <a:t>  # Import JSON module</a:t>
            </a:r>
          </a:p>
          <a:p>
            <a:endParaRPr lang="en-US" sz="1400" dirty="0">
              <a:solidFill>
                <a:srgbClr val="FFFFFF"/>
              </a:solidFill>
              <a:latin typeface="Arial"/>
            </a:endParaRPr>
          </a:p>
          <a:p>
            <a:r>
              <a:rPr lang="en-US" sz="1400" dirty="0">
                <a:solidFill>
                  <a:srgbClr val="FFFFFF"/>
                </a:solidFill>
                <a:latin typeface="Arial"/>
              </a:rPr>
              <a:t># Create a list of tasks</a:t>
            </a:r>
          </a:p>
          <a:p>
            <a:r>
              <a:rPr lang="en-US" sz="1400" dirty="0">
                <a:solidFill>
                  <a:srgbClr val="FFFFFF"/>
                </a:solidFill>
                <a:latin typeface="Arial"/>
              </a:rPr>
              <a:t>tasks = [</a:t>
            </a:r>
          </a:p>
          <a:p>
            <a:r>
              <a:rPr lang="en-US" sz="1400" dirty="0">
                <a:solidFill>
                  <a:srgbClr val="FFFFFF"/>
                </a:solidFill>
                <a:latin typeface="Arial"/>
              </a:rPr>
              <a:t>    {"title": "Python Homework", "done": True},</a:t>
            </a:r>
          </a:p>
          <a:p>
            <a:r>
              <a:rPr lang="en-US" sz="1400" dirty="0">
                <a:solidFill>
                  <a:srgbClr val="FFFFFF"/>
                </a:solidFill>
                <a:latin typeface="Arial"/>
              </a:rPr>
              <a:t>    {"title": "Read Notes", "done": False},</a:t>
            </a:r>
          </a:p>
          <a:p>
            <a:r>
              <a:rPr lang="en-US" sz="1400" dirty="0">
                <a:solidFill>
                  <a:srgbClr val="FFFFFF"/>
                </a:solidFill>
                <a:latin typeface="Arial"/>
              </a:rPr>
              <a:t>    {"title": "Practice Coding", "done": False}</a:t>
            </a:r>
          </a:p>
          <a:p>
            <a:r>
              <a:rPr lang="en-US" sz="1400" dirty="0">
                <a:solidFill>
                  <a:srgbClr val="FFFFFF"/>
                </a:solidFill>
                <a:latin typeface="Arial"/>
              </a:rPr>
              <a:t>]</a:t>
            </a:r>
          </a:p>
          <a:p>
            <a:endParaRPr lang="en-US" sz="1400" dirty="0">
              <a:solidFill>
                <a:srgbClr val="FFFFFF"/>
              </a:solidFill>
              <a:latin typeface="Arial"/>
            </a:endParaRPr>
          </a:p>
          <a:p>
            <a:r>
              <a:rPr lang="en-US" sz="1400" dirty="0">
                <a:solidFill>
                  <a:srgbClr val="FFFFFF"/>
                </a:solidFill>
                <a:latin typeface="Arial"/>
              </a:rPr>
              <a:t># Save tasks to JSON file</a:t>
            </a:r>
          </a:p>
          <a:p>
            <a:r>
              <a:rPr lang="en-US" sz="1400" dirty="0">
                <a:solidFill>
                  <a:srgbClr val="FFFFFF"/>
                </a:solidFill>
                <a:latin typeface="Arial"/>
              </a:rPr>
              <a:t>with open("</a:t>
            </a:r>
            <a:r>
              <a:rPr lang="en-US" sz="1400" dirty="0" err="1">
                <a:solidFill>
                  <a:srgbClr val="FFFFFF"/>
                </a:solidFill>
                <a:latin typeface="Arial"/>
              </a:rPr>
              <a:t>student_tasks.json</a:t>
            </a:r>
            <a:r>
              <a:rPr lang="en-US" sz="1400" dirty="0">
                <a:solidFill>
                  <a:srgbClr val="FFFFFF"/>
                </a:solidFill>
                <a:latin typeface="Arial"/>
              </a:rPr>
              <a:t>", "w") as f:</a:t>
            </a:r>
          </a:p>
          <a:p>
            <a:r>
              <a:rPr lang="en-US" sz="1400" dirty="0">
                <a:solidFill>
                  <a:srgbClr val="FFFFFF"/>
                </a:solidFill>
                <a:latin typeface="Arial"/>
              </a:rPr>
              <a:t>    </a:t>
            </a:r>
            <a:r>
              <a:rPr lang="en-US" sz="1400" dirty="0" err="1">
                <a:solidFill>
                  <a:srgbClr val="FFFFFF"/>
                </a:solidFill>
                <a:latin typeface="Arial"/>
              </a:rPr>
              <a:t>json.dump</a:t>
            </a:r>
            <a:r>
              <a:rPr lang="en-US" sz="1400" dirty="0">
                <a:solidFill>
                  <a:srgbClr val="FFFFFF"/>
                </a:solidFill>
                <a:latin typeface="Arial"/>
              </a:rPr>
              <a:t>(tasks, f, indent=2)</a:t>
            </a:r>
          </a:p>
          <a:p>
            <a:endParaRPr lang="en-US" sz="1400" dirty="0">
              <a:solidFill>
                <a:srgbClr val="FFFFFF"/>
              </a:solidFill>
              <a:latin typeface="Arial"/>
            </a:endParaRPr>
          </a:p>
          <a:p>
            <a:r>
              <a:rPr lang="en-US" sz="1400" dirty="0">
                <a:solidFill>
                  <a:srgbClr val="FFFFFF"/>
                </a:solidFill>
                <a:latin typeface="Arial"/>
              </a:rPr>
              <a:t># Read tasks from JSON file</a:t>
            </a:r>
          </a:p>
          <a:p>
            <a:r>
              <a:rPr lang="en-US" sz="1400" dirty="0">
                <a:solidFill>
                  <a:srgbClr val="FFFFFF"/>
                </a:solidFill>
                <a:latin typeface="Arial"/>
              </a:rPr>
              <a:t>with open("</a:t>
            </a:r>
            <a:r>
              <a:rPr lang="en-US" sz="1400" dirty="0" err="1">
                <a:solidFill>
                  <a:srgbClr val="FFFFFF"/>
                </a:solidFill>
                <a:latin typeface="Arial"/>
              </a:rPr>
              <a:t>student_tasks.json</a:t>
            </a:r>
            <a:r>
              <a:rPr lang="en-US" sz="1400" dirty="0">
                <a:solidFill>
                  <a:srgbClr val="FFFFFF"/>
                </a:solidFill>
                <a:latin typeface="Arial"/>
              </a:rPr>
              <a:t>", "r") as f:</a:t>
            </a:r>
          </a:p>
          <a:p>
            <a:r>
              <a:rPr lang="en-US" sz="1400" dirty="0">
                <a:solidFill>
                  <a:srgbClr val="FFFFFF"/>
                </a:solidFill>
                <a:latin typeface="Arial"/>
              </a:rPr>
              <a:t>    loaded = </a:t>
            </a:r>
            <a:r>
              <a:rPr lang="en-US" sz="1400" dirty="0" err="1">
                <a:solidFill>
                  <a:srgbClr val="FFFFFF"/>
                </a:solidFill>
                <a:latin typeface="Arial"/>
              </a:rPr>
              <a:t>json.load</a:t>
            </a:r>
            <a:r>
              <a:rPr lang="en-US" sz="1400" dirty="0">
                <a:solidFill>
                  <a:srgbClr val="FFFFFF"/>
                </a:solidFill>
                <a:latin typeface="Arial"/>
              </a:rPr>
              <a:t>(f)</a:t>
            </a:r>
          </a:p>
          <a:p>
            <a:r>
              <a:rPr lang="en-US" sz="1400" dirty="0" smtClean="0">
                <a:solidFill>
                  <a:srgbClr val="FFFFFF"/>
                </a:solidFill>
                <a:latin typeface="Arial"/>
              </a:rPr>
              <a:t># </a:t>
            </a:r>
            <a:r>
              <a:rPr lang="en-US" sz="1400" dirty="0">
                <a:solidFill>
                  <a:srgbClr val="FFFFFF"/>
                </a:solidFill>
                <a:latin typeface="Arial"/>
              </a:rPr>
              <a:t>Display the second task</a:t>
            </a:r>
          </a:p>
          <a:p>
            <a:r>
              <a:rPr lang="en-US" sz="1400" dirty="0">
                <a:solidFill>
                  <a:srgbClr val="FFFFFF"/>
                </a:solidFill>
                <a:latin typeface="Arial"/>
              </a:rPr>
              <a:t>print("Second Task:", loaded[1]["title"])</a:t>
            </a:r>
          </a:p>
          <a:p>
            <a:r>
              <a:rPr lang="en-US" sz="1400" dirty="0" smtClean="0">
                <a:solidFill>
                  <a:srgbClr val="FFFFFF"/>
                </a:solidFill>
                <a:latin typeface="Arial"/>
              </a:rPr>
              <a:t># </a:t>
            </a:r>
            <a:r>
              <a:rPr lang="en-US" sz="1400" dirty="0">
                <a:solidFill>
                  <a:srgbClr val="FFFFFF"/>
                </a:solidFill>
                <a:latin typeface="Arial"/>
              </a:rPr>
              <a:t>Display all tasks</a:t>
            </a:r>
          </a:p>
          <a:p>
            <a:r>
              <a:rPr lang="en-US" sz="1400" dirty="0">
                <a:solidFill>
                  <a:srgbClr val="FFFFFF"/>
                </a:solidFill>
                <a:latin typeface="Arial"/>
              </a:rPr>
              <a:t>print("All Tasks:", loaded)</a:t>
            </a:r>
            <a:endParaRPr lang="en-US" sz="1400" b="0" u="none" strike="noStrike" dirty="0">
              <a:solidFill>
                <a:srgbClr val="FFFFFF"/>
              </a:solidFill>
              <a:effectLst/>
              <a:uFillTx/>
              <a:latin typeface="Arial"/>
            </a:endParaRPr>
          </a:p>
        </p:txBody>
      </p:sp>
      <p:sp>
        <p:nvSpPr>
          <p:cNvPr id="221"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tabLst>
                <a:tab pos="0" algn="l"/>
              </a:tabLst>
            </a:pPr>
            <a:endParaRPr lang="en-US" sz="1430" b="0" u="none" strike="noStrike" dirty="0">
              <a:solidFill>
                <a:srgbClr val="000000"/>
              </a:solidFill>
              <a:effectLst/>
              <a:uFillTx/>
              <a:latin typeface="Arial"/>
            </a:endParaRPr>
          </a:p>
        </p:txBody>
      </p:sp>
      <p:sp>
        <p:nvSpPr>
          <p:cNvPr id="222"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3"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224"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Save with dump()</a:t>
            </a:r>
            <a:endParaRPr lang="en-US" sz="1750" b="0" u="none" strike="noStrike">
              <a:solidFill>
                <a:srgbClr val="000000"/>
              </a:solidFill>
              <a:effectLst/>
              <a:uFillTx/>
              <a:latin typeface="Arial"/>
            </a:endParaRPr>
          </a:p>
        </p:txBody>
      </p:sp>
      <p:sp>
        <p:nvSpPr>
          <p:cNvPr id="225"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Load with load()</a:t>
            </a:r>
            <a:endParaRPr lang="en-US" sz="1750" b="0" u="none" strike="noStrike">
              <a:solidFill>
                <a:srgbClr val="000000"/>
              </a:solidFill>
              <a:effectLst/>
              <a:uFillTx/>
              <a:latin typeface="Arial"/>
            </a:endParaRPr>
          </a:p>
        </p:txBody>
      </p:sp>
      <p:sp>
        <p:nvSpPr>
          <p:cNvPr id="226"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Data stays in the file</a:t>
            </a:r>
            <a:endParaRPr lang="en-US" sz="1750" b="0" u="none" strike="noStrike">
              <a:solidFill>
                <a:srgbClr val="000000"/>
              </a:solidFill>
              <a:effectLst/>
              <a:uFillTx/>
              <a:latin typeface="Arial"/>
            </a:endParaRPr>
          </a:p>
        </p:txBody>
      </p:sp>
      <p:sp>
        <p:nvSpPr>
          <p:cNvPr id="227"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8"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229"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Read</a:t>
            </a:r>
            <a:endParaRPr lang="en-US" sz="1620" b="0" u="none" strike="noStrike">
              <a:solidFill>
                <a:srgbClr val="000000"/>
              </a:solidFill>
              <a:effectLst/>
              <a:uFillTx/>
              <a:latin typeface="Arial"/>
            </a:endParaRPr>
          </a:p>
        </p:txBody>
      </p:sp>
    </p:spTree>
    <p:extLst>
      <p:ext uri="{BB962C8B-B14F-4D97-AF65-F5344CB8AC3E}">
        <p14:creationId xmlns:p14="http://schemas.microsoft.com/office/powerpoint/2010/main" val="290229596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230"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1"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EXCEPTIONS</a:t>
            </a:r>
            <a:endParaRPr lang="en-US" sz="1700" b="0" u="none" strike="noStrike">
              <a:solidFill>
                <a:srgbClr val="FFFFFF"/>
              </a:solidFill>
              <a:effectLst/>
              <a:uFillTx/>
              <a:latin typeface="Arial"/>
            </a:endParaRPr>
          </a:p>
        </p:txBody>
      </p:sp>
      <p:sp>
        <p:nvSpPr>
          <p:cNvPr id="232"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When Something Goes Wrong</a:t>
            </a:r>
            <a:endParaRPr lang="en-US" sz="4500" b="0" u="none" strike="noStrike">
              <a:solidFill>
                <a:srgbClr val="FFFFFF"/>
              </a:solidFill>
              <a:effectLst/>
              <a:uFillTx/>
              <a:latin typeface="Arial"/>
            </a:endParaRPr>
          </a:p>
        </p:txBody>
      </p:sp>
      <p:sp>
        <p:nvSpPr>
          <p:cNvPr id="233"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Help the program respond to expected problems.</a:t>
            </a:r>
            <a:endParaRPr lang="en-US" sz="2400" b="0" u="none" strike="noStrike">
              <a:solidFill>
                <a:srgbClr val="FFFFFF"/>
              </a:solidFill>
              <a:effectLst/>
              <a:uFillTx/>
              <a:latin typeface="Arial"/>
            </a:endParaRPr>
          </a:p>
        </p:txBody>
      </p:sp>
      <p:sp>
        <p:nvSpPr>
          <p:cNvPr id="234"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23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23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EXCEPTIONS</a:t>
            </a:r>
            <a:endParaRPr lang="en-US" sz="1250" b="0" u="none" strike="noStrike">
              <a:solidFill>
                <a:srgbClr val="000000"/>
              </a:solidFill>
              <a:effectLst/>
              <a:uFillTx/>
              <a:latin typeface="Arial"/>
            </a:endParaRPr>
          </a:p>
        </p:txBody>
      </p:sp>
      <p:sp>
        <p:nvSpPr>
          <p:cNvPr id="23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is an exception?</a:t>
            </a:r>
            <a:endParaRPr lang="en-US" sz="3400" b="0" u="none" strike="noStrike">
              <a:solidFill>
                <a:srgbClr val="000000"/>
              </a:solidFill>
              <a:effectLst/>
              <a:uFillTx/>
              <a:latin typeface="Arial"/>
            </a:endParaRPr>
          </a:p>
        </p:txBody>
      </p:sp>
      <p:sp>
        <p:nvSpPr>
          <p:cNvPr id="23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23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24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016</a:t>
            </a:r>
            <a:endParaRPr lang="en-US" sz="1000" b="0" u="none" strike="noStrike">
              <a:solidFill>
                <a:srgbClr val="000000"/>
              </a:solidFill>
              <a:effectLst/>
              <a:uFillTx/>
              <a:latin typeface="Arial"/>
            </a:endParaRPr>
          </a:p>
        </p:txBody>
      </p:sp>
      <p:sp>
        <p:nvSpPr>
          <p:cNvPr id="241"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2"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243"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An exception is an error that happens while a program is running.</a:t>
            </a:r>
            <a:endParaRPr lang="en-US" sz="2250" b="0" u="none" strike="noStrike">
              <a:solidFill>
                <a:srgbClr val="000000"/>
              </a:solidFill>
              <a:effectLst/>
              <a:uFillTx/>
              <a:latin typeface="Arial"/>
            </a:endParaRPr>
          </a:p>
        </p:txBody>
      </p:sp>
      <p:sp>
        <p:nvSpPr>
          <p:cNvPr id="244"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45"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ValueError: a conversion receives an unsuitable value</a:t>
            </a:r>
            <a:endParaRPr lang="en-US" sz="2100" b="0" u="none" strike="noStrike">
              <a:solidFill>
                <a:srgbClr val="000000"/>
              </a:solidFill>
              <a:effectLst/>
              <a:uFillTx/>
              <a:latin typeface="Arial"/>
            </a:endParaRPr>
          </a:p>
        </p:txBody>
      </p:sp>
      <p:sp>
        <p:nvSpPr>
          <p:cNvPr id="246"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47"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ZeroDivisionError: divide by zero</a:t>
            </a:r>
            <a:endParaRPr lang="en-US" sz="2100" b="0" u="none" strike="noStrike">
              <a:solidFill>
                <a:srgbClr val="000000"/>
              </a:solidFill>
              <a:effectLst/>
              <a:uFillTx/>
              <a:latin typeface="Arial"/>
            </a:endParaRPr>
          </a:p>
        </p:txBody>
      </p:sp>
      <p:sp>
        <p:nvSpPr>
          <p:cNvPr id="248"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49"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FileNotFoundError: read a missing file</a:t>
            </a:r>
            <a:endParaRPr lang="en-US" sz="2100" b="0" u="none" strike="noStrike">
              <a:solidFill>
                <a:srgbClr val="000000"/>
              </a:solidFill>
              <a:effectLst/>
              <a:uFillTx/>
              <a:latin typeface="Arial"/>
            </a:endParaRPr>
          </a:p>
        </p:txBody>
      </p:sp>
      <p:sp>
        <p:nvSpPr>
          <p:cNvPr id="250"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51"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We can handle expected errors instead of crashing</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25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25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EXCEPTIONS</a:t>
            </a:r>
            <a:endParaRPr lang="en-US" sz="1250" b="0" u="none" strike="noStrike">
              <a:solidFill>
                <a:srgbClr val="000000"/>
              </a:solidFill>
              <a:effectLst/>
              <a:uFillTx/>
              <a:latin typeface="Arial"/>
            </a:endParaRPr>
          </a:p>
        </p:txBody>
      </p:sp>
      <p:sp>
        <p:nvSpPr>
          <p:cNvPr id="25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try / except: handling bad input</a:t>
            </a:r>
            <a:endParaRPr lang="en-US" sz="3400" b="0" u="none" strike="noStrike">
              <a:solidFill>
                <a:srgbClr val="000000"/>
              </a:solidFill>
              <a:effectLst/>
              <a:uFillTx/>
              <a:latin typeface="Arial"/>
            </a:endParaRPr>
          </a:p>
        </p:txBody>
      </p:sp>
      <p:sp>
        <p:nvSpPr>
          <p:cNvPr id="25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25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25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017</a:t>
            </a:r>
            <a:endParaRPr lang="en-US" sz="1000" b="0" u="none" strike="noStrike">
              <a:solidFill>
                <a:srgbClr val="000000"/>
              </a:solidFill>
              <a:effectLst/>
              <a:uFillTx/>
              <a:latin typeface="Arial"/>
            </a:endParaRPr>
          </a:p>
        </p:txBody>
      </p:sp>
      <p:sp>
        <p:nvSpPr>
          <p:cNvPr id="258"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259"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0"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try:  # Attempt a risky operation</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age = int(input("Enter age: "))  # To int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print("Age:", age)  # Valid input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except ValueError:  # If input is not an int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print("Please enter a number")</a:t>
            </a:r>
            <a:endParaRPr lang="en-US" sz="1550" b="0" u="none" strike="noStrike">
              <a:solidFill>
                <a:srgbClr val="000000"/>
              </a:solidFill>
              <a:effectLst/>
              <a:uFillTx/>
              <a:latin typeface="Arial"/>
            </a:endParaRPr>
          </a:p>
        </p:txBody>
      </p:sp>
      <p:sp>
        <p:nvSpPr>
          <p:cNvPr id="261"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2"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263"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try runs first</a:t>
            </a:r>
            <a:endParaRPr lang="en-US" sz="1750" b="0" u="none" strike="noStrike">
              <a:solidFill>
                <a:srgbClr val="000000"/>
              </a:solidFill>
              <a:effectLst/>
              <a:uFillTx/>
              <a:latin typeface="Arial"/>
            </a:endParaRPr>
          </a:p>
        </p:txBody>
      </p:sp>
      <p:sp>
        <p:nvSpPr>
          <p:cNvPr id="264"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except catches ValueError</a:t>
            </a:r>
            <a:endParaRPr lang="en-US" sz="1750" b="0" u="none" strike="noStrike">
              <a:solidFill>
                <a:srgbClr val="000000"/>
              </a:solidFill>
              <a:effectLst/>
              <a:uFillTx/>
              <a:latin typeface="Arial"/>
            </a:endParaRPr>
          </a:p>
        </p:txBody>
      </p:sp>
      <p:sp>
        <p:nvSpPr>
          <p:cNvPr id="265"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750" b="0" u="none" strike="noStrike">
                <a:solidFill>
                  <a:srgbClr val="152B42"/>
                </a:solidFill>
                <a:effectLst/>
                <a:uFillTx/>
                <a:latin typeface="Aptos"/>
                <a:ea typeface="Aptos"/>
              </a:rPr>
              <a:t>• Program can show a clear message</a:t>
            </a:r>
            <a:endParaRPr lang="en-US" sz="1750" b="0" u="none" strike="noStrike">
              <a:solidFill>
                <a:srgbClr val="000000"/>
              </a:solidFill>
              <a:effectLst/>
              <a:uFillTx/>
              <a:latin typeface="Arial"/>
            </a:endParaRPr>
          </a:p>
        </p:txBody>
      </p:sp>
      <p:sp>
        <p:nvSpPr>
          <p:cNvPr id="266"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7"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268"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Input abc → Please enter a number</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26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27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EXCEPTIONS</a:t>
            </a:r>
            <a:endParaRPr lang="en-US" sz="1250" b="0" u="none" strike="noStrike">
              <a:solidFill>
                <a:srgbClr val="000000"/>
              </a:solidFill>
              <a:effectLst/>
              <a:uFillTx/>
              <a:latin typeface="Arial"/>
            </a:endParaRPr>
          </a:p>
        </p:txBody>
      </p:sp>
      <p:sp>
        <p:nvSpPr>
          <p:cNvPr id="27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else and finally: when they run</a:t>
            </a:r>
            <a:endParaRPr lang="en-US" sz="3400" b="0" u="none" strike="noStrike">
              <a:solidFill>
                <a:srgbClr val="000000"/>
              </a:solidFill>
              <a:effectLst/>
              <a:uFillTx/>
              <a:latin typeface="Arial"/>
            </a:endParaRPr>
          </a:p>
        </p:txBody>
      </p:sp>
      <p:sp>
        <p:nvSpPr>
          <p:cNvPr id="27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27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27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018</a:t>
            </a:r>
            <a:endParaRPr lang="en-US" sz="1000" b="0" u="none" strike="noStrike">
              <a:solidFill>
                <a:srgbClr val="000000"/>
              </a:solidFill>
              <a:effectLst/>
              <a:uFillTx/>
              <a:latin typeface="Arial"/>
            </a:endParaRPr>
          </a:p>
        </p:txBody>
      </p:sp>
      <p:sp>
        <p:nvSpPr>
          <p:cNvPr id="275"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276"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7"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try:  # Try to convert text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number = int("12")</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except ValueError:  # If conversion fails</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print("Invalid number")</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else:  # Runs only if no exception</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print("Success:", number)</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finally:  # Always runs</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print("Finished")</a:t>
            </a:r>
            <a:endParaRPr lang="en-US" sz="1550" b="0" u="none" strike="noStrike">
              <a:solidFill>
                <a:srgbClr val="000000"/>
              </a:solidFill>
              <a:effectLst/>
              <a:uFillTx/>
              <a:latin typeface="Arial"/>
            </a:endParaRPr>
          </a:p>
        </p:txBody>
      </p:sp>
      <p:sp>
        <p:nvSpPr>
          <p:cNvPr id="278"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9"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280"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else = no error</a:t>
            </a:r>
            <a:endParaRPr lang="en-US" sz="1750" b="0" u="none" strike="noStrike">
              <a:solidFill>
                <a:srgbClr val="000000"/>
              </a:solidFill>
              <a:effectLst/>
              <a:uFillTx/>
              <a:latin typeface="Arial"/>
            </a:endParaRPr>
          </a:p>
        </p:txBody>
      </p:sp>
      <p:sp>
        <p:nvSpPr>
          <p:cNvPr id="281"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finally = always</a:t>
            </a:r>
            <a:endParaRPr lang="en-US" sz="1750" b="0" u="none" strike="noStrike">
              <a:solidFill>
                <a:srgbClr val="000000"/>
              </a:solidFill>
              <a:effectLst/>
              <a:uFillTx/>
              <a:latin typeface="Arial"/>
            </a:endParaRPr>
          </a:p>
        </p:txBody>
      </p:sp>
      <p:sp>
        <p:nvSpPr>
          <p:cNvPr id="282"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Specific except is best</a:t>
            </a:r>
            <a:endParaRPr lang="en-US" sz="1750" b="0" u="none" strike="noStrike">
              <a:solidFill>
                <a:srgbClr val="000000"/>
              </a:solidFill>
              <a:effectLst/>
              <a:uFillTx/>
              <a:latin typeface="Arial"/>
            </a:endParaRPr>
          </a:p>
        </p:txBody>
      </p:sp>
      <p:sp>
        <p:nvSpPr>
          <p:cNvPr id="283"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4"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285"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Success: 12</a:t>
            </a:r>
            <a:endParaRPr lang="en-US" sz="1620" b="0" u="none" strike="noStrike">
              <a:solidFill>
                <a:srgbClr val="000000"/>
              </a:solidFill>
              <a:effectLst/>
              <a:uFillTx/>
              <a:latin typeface="Arial"/>
            </a:endParaRPr>
          </a:p>
          <a:p>
            <a:pPr defTabSz="914400">
              <a:lnSpc>
                <a:spcPct val="100000"/>
              </a:lnSpc>
              <a:tabLst>
                <a:tab pos="0" algn="l"/>
              </a:tabLst>
            </a:pPr>
            <a:r>
              <a:rPr lang="en-US" sz="1620" b="1" u="none" strike="noStrike">
                <a:solidFill>
                  <a:srgbClr val="152B42"/>
                </a:solidFill>
                <a:effectLst/>
                <a:uFillTx/>
                <a:latin typeface="DejaVu Sans Mono"/>
                <a:ea typeface="DejaVu Sans Mono"/>
              </a:rPr>
              <a:t>Finished</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28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28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EXCEPTIONS</a:t>
            </a:r>
            <a:endParaRPr lang="en-US" sz="1250" b="0" u="none" strike="noStrike">
              <a:solidFill>
                <a:srgbClr val="000000"/>
              </a:solidFill>
              <a:effectLst/>
              <a:uFillTx/>
              <a:latin typeface="Arial"/>
            </a:endParaRPr>
          </a:p>
        </p:txBody>
      </p:sp>
      <p:sp>
        <p:nvSpPr>
          <p:cNvPr id="28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Try it: safe division</a:t>
            </a:r>
            <a:endParaRPr lang="en-US" sz="3400" b="0" u="none" strike="noStrike">
              <a:solidFill>
                <a:srgbClr val="000000"/>
              </a:solidFill>
              <a:effectLst/>
              <a:uFillTx/>
              <a:latin typeface="Arial"/>
            </a:endParaRPr>
          </a:p>
        </p:txBody>
      </p:sp>
      <p:sp>
        <p:nvSpPr>
          <p:cNvPr id="28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29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29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019</a:t>
            </a:r>
            <a:endParaRPr lang="en-US" sz="1000" b="0" u="none" strike="noStrike">
              <a:solidFill>
                <a:srgbClr val="000000"/>
              </a:solidFill>
              <a:effectLst/>
              <a:uFillTx/>
              <a:latin typeface="Arial"/>
            </a:endParaRPr>
          </a:p>
        </p:txBody>
      </p:sp>
      <p:sp>
        <p:nvSpPr>
          <p:cNvPr id="292"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3"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294"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Protect a division program from division by zero.</a:t>
            </a:r>
            <a:endParaRPr lang="en-US" sz="1960" b="0" u="none" strike="noStrike">
              <a:solidFill>
                <a:srgbClr val="000000"/>
              </a:solidFill>
              <a:effectLst/>
              <a:uFillTx/>
              <a:latin typeface="Arial"/>
            </a:endParaRPr>
          </a:p>
        </p:txBody>
      </p:sp>
      <p:sp>
        <p:nvSpPr>
          <p:cNvPr id="295"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6"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a = 10</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b = 0</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Add try and except here</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print(a / b)</a:t>
            </a:r>
            <a:endParaRPr lang="en-US" sz="1580" b="0" u="none" strike="noStrike">
              <a:solidFill>
                <a:srgbClr val="000000"/>
              </a:solidFill>
              <a:effectLst/>
              <a:uFillTx/>
              <a:latin typeface="Arial"/>
            </a:endParaRPr>
          </a:p>
        </p:txBody>
      </p:sp>
      <p:sp>
        <p:nvSpPr>
          <p:cNvPr id="297"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8"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299"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Move the division inside try</a:t>
            </a:r>
            <a:endParaRPr lang="en-US" sz="1820" b="0" u="none" strike="noStrike">
              <a:solidFill>
                <a:srgbClr val="000000"/>
              </a:solidFill>
              <a:effectLst/>
              <a:uFillTx/>
              <a:latin typeface="Arial"/>
            </a:endParaRPr>
          </a:p>
        </p:txBody>
      </p:sp>
      <p:sp>
        <p:nvSpPr>
          <p:cNvPr id="300"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Catch ZeroDivisionError</a:t>
            </a:r>
            <a:endParaRPr lang="en-US" sz="1820" b="0" u="none" strike="noStrike">
              <a:solidFill>
                <a:srgbClr val="000000"/>
              </a:solidFill>
              <a:effectLst/>
              <a:uFillTx/>
              <a:latin typeface="Arial"/>
            </a:endParaRPr>
          </a:p>
        </p:txBody>
      </p:sp>
      <p:sp>
        <p:nvSpPr>
          <p:cNvPr id="301"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Print a helpful message</a:t>
            </a:r>
            <a:endParaRPr lang="en-US" sz="1820" b="0" u="none" strike="noStrike">
              <a:solidFill>
                <a:srgbClr val="000000"/>
              </a:solidFill>
              <a:effectLst/>
              <a:uFillTx/>
              <a:latin typeface="Arial"/>
            </a:endParaRPr>
          </a:p>
        </p:txBody>
      </p:sp>
      <p:sp>
        <p:nvSpPr>
          <p:cNvPr id="302"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820" b="0" u="none" strike="noStrike">
                <a:solidFill>
                  <a:srgbClr val="152B42"/>
                </a:solidFill>
                <a:effectLst/>
                <a:uFillTx/>
                <a:latin typeface="Aptos"/>
                <a:ea typeface="Aptos"/>
              </a:rPr>
              <a:t>4. Do not stop the whole notebook</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30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30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EXCEPTIONS</a:t>
            </a:r>
            <a:endParaRPr lang="en-US" sz="1250" b="0" u="none" strike="noStrike">
              <a:solidFill>
                <a:srgbClr val="000000"/>
              </a:solidFill>
              <a:effectLst/>
              <a:uFillTx/>
              <a:latin typeface="Arial"/>
            </a:endParaRPr>
          </a:p>
        </p:txBody>
      </p:sp>
      <p:sp>
        <p:nvSpPr>
          <p:cNvPr id="30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Answer: safe division</a:t>
            </a:r>
            <a:endParaRPr lang="en-US" sz="3400" b="0" u="none" strike="noStrike">
              <a:solidFill>
                <a:srgbClr val="000000"/>
              </a:solidFill>
              <a:effectLst/>
              <a:uFillTx/>
              <a:latin typeface="Arial"/>
            </a:endParaRPr>
          </a:p>
        </p:txBody>
      </p:sp>
      <p:sp>
        <p:nvSpPr>
          <p:cNvPr id="30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30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30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020</a:t>
            </a:r>
            <a:endParaRPr lang="en-US" sz="1000" b="0" u="none" strike="noStrike">
              <a:solidFill>
                <a:srgbClr val="000000"/>
              </a:solidFill>
              <a:effectLst/>
              <a:uFillTx/>
              <a:latin typeface="Arial"/>
            </a:endParaRPr>
          </a:p>
        </p:txBody>
      </p:sp>
      <p:sp>
        <p:nvSpPr>
          <p:cNvPr id="309"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0"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311"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2"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a = 10</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 = 0</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try:  # Try division</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print(a / b)</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except ZeroDivisionError:  # Handle zero divisor</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print("Cannot divide by zero")</a:t>
            </a:r>
            <a:endParaRPr lang="en-US" sz="1620" b="0" u="none" strike="noStrike">
              <a:solidFill>
                <a:srgbClr val="000000"/>
              </a:solidFill>
              <a:effectLst/>
              <a:uFillTx/>
              <a:latin typeface="Arial"/>
            </a:endParaRPr>
          </a:p>
        </p:txBody>
      </p:sp>
      <p:sp>
        <p:nvSpPr>
          <p:cNvPr id="313"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4"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315"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Cannot divide by zero</a:t>
            </a:r>
            <a:endParaRPr lang="en-US" sz="1600" b="0" u="none" strike="noStrike">
              <a:solidFill>
                <a:srgbClr val="000000"/>
              </a:solidFill>
              <a:effectLst/>
              <a:uFillTx/>
              <a:latin typeface="Arial"/>
            </a:endParaRPr>
          </a:p>
        </p:txBody>
      </p:sp>
      <p:sp>
        <p:nvSpPr>
          <p:cNvPr id="316"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317"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It catches the exact error</a:t>
            </a:r>
            <a:endParaRPr lang="en-US" sz="1679" b="0" u="none" strike="noStrike">
              <a:solidFill>
                <a:srgbClr val="000000"/>
              </a:solidFill>
              <a:effectLst/>
              <a:uFillTx/>
              <a:latin typeface="Arial"/>
            </a:endParaRPr>
          </a:p>
        </p:txBody>
      </p:sp>
      <p:sp>
        <p:nvSpPr>
          <p:cNvPr id="318"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No crash for this known case</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31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32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EXCEPTIONS</a:t>
            </a:r>
            <a:endParaRPr lang="en-US" sz="1250" b="0" u="none" strike="noStrike">
              <a:solidFill>
                <a:srgbClr val="000000"/>
              </a:solidFill>
              <a:effectLst/>
              <a:uFillTx/>
              <a:latin typeface="Arial"/>
            </a:endParaRPr>
          </a:p>
        </p:txBody>
      </p:sp>
      <p:sp>
        <p:nvSpPr>
          <p:cNvPr id="32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Missing file: choose a safe response</a:t>
            </a:r>
            <a:endParaRPr lang="en-US" sz="3400" b="0" u="none" strike="noStrike">
              <a:solidFill>
                <a:srgbClr val="000000"/>
              </a:solidFill>
              <a:effectLst/>
              <a:uFillTx/>
              <a:latin typeface="Arial"/>
            </a:endParaRPr>
          </a:p>
        </p:txBody>
      </p:sp>
      <p:sp>
        <p:nvSpPr>
          <p:cNvPr id="32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32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32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021</a:t>
            </a:r>
            <a:endParaRPr lang="en-US" sz="1000" b="0" u="none" strike="noStrike">
              <a:solidFill>
                <a:srgbClr val="000000"/>
              </a:solidFill>
              <a:effectLst/>
              <a:uFillTx/>
              <a:latin typeface="Arial"/>
            </a:endParaRPr>
          </a:p>
        </p:txBody>
      </p:sp>
      <p:sp>
        <p:nvSpPr>
          <p:cNvPr id="325"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326"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7"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try:  # Try opening a file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with open("missing.txt", "r") as f:</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print(f.read())  # Read file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except FileNotFoundError:  # If file missing</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print("File is not available")</a:t>
            </a:r>
            <a:endParaRPr lang="en-US" sz="1550" b="0" u="none" strike="noStrike">
              <a:solidFill>
                <a:srgbClr val="000000"/>
              </a:solidFill>
              <a:effectLst/>
              <a:uFillTx/>
              <a:latin typeface="Arial"/>
            </a:endParaRPr>
          </a:p>
        </p:txBody>
      </p:sp>
      <p:sp>
        <p:nvSpPr>
          <p:cNvPr id="328"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9"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330"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Missing files are normal</a:t>
            </a:r>
            <a:endParaRPr lang="en-US" sz="1750" b="0" u="none" strike="noStrike">
              <a:solidFill>
                <a:srgbClr val="000000"/>
              </a:solidFill>
              <a:effectLst/>
              <a:uFillTx/>
              <a:latin typeface="Arial"/>
            </a:endParaRPr>
          </a:p>
        </p:txBody>
      </p:sp>
      <p:sp>
        <p:nvSpPr>
          <p:cNvPr id="331"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Catch FileNotFoundError</a:t>
            </a:r>
            <a:endParaRPr lang="en-US" sz="1750" b="0" u="none" strike="noStrike">
              <a:solidFill>
                <a:srgbClr val="000000"/>
              </a:solidFill>
              <a:effectLst/>
              <a:uFillTx/>
              <a:latin typeface="Arial"/>
            </a:endParaRPr>
          </a:p>
        </p:txBody>
      </p:sp>
      <p:sp>
        <p:nvSpPr>
          <p:cNvPr id="332"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Give a useful response</a:t>
            </a:r>
            <a:endParaRPr lang="en-US" sz="1750" b="0" u="none" strike="noStrike">
              <a:solidFill>
                <a:srgbClr val="000000"/>
              </a:solidFill>
              <a:effectLst/>
              <a:uFillTx/>
              <a:latin typeface="Arial"/>
            </a:endParaRPr>
          </a:p>
        </p:txBody>
      </p:sp>
      <p:sp>
        <p:nvSpPr>
          <p:cNvPr id="333"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4"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335"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File is not available</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336"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7"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MODULES</a:t>
            </a:r>
            <a:endParaRPr lang="en-US" sz="1700" b="0" u="none" strike="noStrike">
              <a:solidFill>
                <a:srgbClr val="FFFFFF"/>
              </a:solidFill>
              <a:effectLst/>
              <a:uFillTx/>
              <a:latin typeface="Arial"/>
            </a:endParaRPr>
          </a:p>
        </p:txBody>
      </p:sp>
      <p:sp>
        <p:nvSpPr>
          <p:cNvPr id="338"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Organise and Explain Code</a:t>
            </a:r>
            <a:endParaRPr lang="en-US" sz="4500" b="0" u="none" strike="noStrike">
              <a:solidFill>
                <a:srgbClr val="FFFFFF"/>
              </a:solidFill>
              <a:effectLst/>
              <a:uFillTx/>
              <a:latin typeface="Arial"/>
            </a:endParaRPr>
          </a:p>
        </p:txBody>
      </p:sp>
      <p:sp>
        <p:nvSpPr>
          <p:cNvPr id="339"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Use functions, imports, docstrings, and simple structure.</a:t>
            </a:r>
            <a:endParaRPr lang="en-US" sz="2400" b="0" u="none" strike="noStrike">
              <a:solidFill>
                <a:srgbClr val="FFFFFF"/>
              </a:solidFill>
              <a:effectLst/>
              <a:uFillTx/>
              <a:latin typeface="Arial"/>
            </a:endParaRPr>
          </a:p>
        </p:txBody>
      </p:sp>
      <p:sp>
        <p:nvSpPr>
          <p:cNvPr id="340"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34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34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MODULES</a:t>
            </a:r>
            <a:endParaRPr lang="en-US" sz="1250" b="0" u="none" strike="noStrike">
              <a:solidFill>
                <a:srgbClr val="000000"/>
              </a:solidFill>
              <a:effectLst/>
              <a:uFillTx/>
              <a:latin typeface="Arial"/>
            </a:endParaRPr>
          </a:p>
        </p:txBody>
      </p:sp>
      <p:sp>
        <p:nvSpPr>
          <p:cNvPr id="34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is a module?</a:t>
            </a:r>
            <a:endParaRPr lang="en-US" sz="3400" b="0" u="none" strike="noStrike">
              <a:solidFill>
                <a:srgbClr val="000000"/>
              </a:solidFill>
              <a:effectLst/>
              <a:uFillTx/>
              <a:latin typeface="Arial"/>
            </a:endParaRPr>
          </a:p>
        </p:txBody>
      </p:sp>
      <p:sp>
        <p:nvSpPr>
          <p:cNvPr id="34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34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34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023</a:t>
            </a:r>
            <a:endParaRPr lang="en-US" sz="1000" b="0" u="none" strike="noStrike">
              <a:solidFill>
                <a:srgbClr val="000000"/>
              </a:solidFill>
              <a:effectLst/>
              <a:uFillTx/>
              <a:latin typeface="Arial"/>
            </a:endParaRPr>
          </a:p>
        </p:txBody>
      </p:sp>
      <p:sp>
        <p:nvSpPr>
          <p:cNvPr id="347"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8"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349"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A module is a Python file containing reusable code.</a:t>
            </a:r>
            <a:endParaRPr lang="en-US" sz="2250" b="0" u="none" strike="noStrike">
              <a:solidFill>
                <a:srgbClr val="000000"/>
              </a:solidFill>
              <a:effectLst/>
              <a:uFillTx/>
              <a:latin typeface="Arial"/>
            </a:endParaRPr>
          </a:p>
        </p:txBody>
      </p:sp>
      <p:sp>
        <p:nvSpPr>
          <p:cNvPr id="350"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51"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import brings code from another module into your program</a:t>
            </a:r>
            <a:endParaRPr lang="en-US" sz="2100" b="0" u="none" strike="noStrike">
              <a:solidFill>
                <a:srgbClr val="000000"/>
              </a:solidFill>
              <a:effectLst/>
              <a:uFillTx/>
              <a:latin typeface="Arial"/>
            </a:endParaRPr>
          </a:p>
        </p:txBody>
      </p:sp>
      <p:sp>
        <p:nvSpPr>
          <p:cNvPr id="352"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53"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library can contain many modules</a:t>
            </a:r>
            <a:endParaRPr lang="en-US" sz="2100" b="0" u="none" strike="noStrike">
              <a:solidFill>
                <a:srgbClr val="000000"/>
              </a:solidFill>
              <a:effectLst/>
              <a:uFillTx/>
              <a:latin typeface="Arial"/>
            </a:endParaRPr>
          </a:p>
        </p:txBody>
      </p:sp>
      <p:sp>
        <p:nvSpPr>
          <p:cNvPr id="354"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55"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Built-in example: math</a:t>
            </a:r>
            <a:endParaRPr lang="en-US" sz="2100" b="0" u="none" strike="noStrike">
              <a:solidFill>
                <a:srgbClr val="000000"/>
              </a:solidFill>
              <a:effectLst/>
              <a:uFillTx/>
              <a:latin typeface="Arial"/>
            </a:endParaRPr>
          </a:p>
        </p:txBody>
      </p:sp>
      <p:sp>
        <p:nvSpPr>
          <p:cNvPr id="356"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57"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Your own helper.py can contain your functions</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35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35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MODULES</a:t>
            </a:r>
            <a:endParaRPr lang="en-US" sz="1250" b="0" u="none" strike="noStrike">
              <a:solidFill>
                <a:srgbClr val="000000"/>
              </a:solidFill>
              <a:effectLst/>
              <a:uFillTx/>
              <a:latin typeface="Arial"/>
            </a:endParaRPr>
          </a:p>
        </p:txBody>
      </p:sp>
      <p:sp>
        <p:nvSpPr>
          <p:cNvPr id="36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Small functions: one task each</a:t>
            </a:r>
            <a:endParaRPr lang="en-US" sz="3400" b="0" u="none" strike="noStrike">
              <a:solidFill>
                <a:srgbClr val="000000"/>
              </a:solidFill>
              <a:effectLst/>
              <a:uFillTx/>
              <a:latin typeface="Arial"/>
            </a:endParaRPr>
          </a:p>
        </p:txBody>
      </p:sp>
      <p:sp>
        <p:nvSpPr>
          <p:cNvPr id="36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36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36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024</a:t>
            </a:r>
            <a:endParaRPr lang="en-US" sz="1000" b="0" u="none" strike="noStrike">
              <a:solidFill>
                <a:srgbClr val="000000"/>
              </a:solidFill>
              <a:effectLst/>
              <a:uFillTx/>
              <a:latin typeface="Arial"/>
            </a:endParaRPr>
          </a:p>
        </p:txBody>
      </p:sp>
      <p:sp>
        <p:nvSpPr>
          <p:cNvPr id="364"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5"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366"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A function is easier to understand when it does one clear job.</a:t>
            </a:r>
            <a:endParaRPr lang="en-US" sz="2250" b="0" u="none" strike="noStrike">
              <a:solidFill>
                <a:srgbClr val="000000"/>
              </a:solidFill>
              <a:effectLst/>
              <a:uFillTx/>
              <a:latin typeface="Arial"/>
            </a:endParaRPr>
          </a:p>
        </p:txBody>
      </p:sp>
      <p:sp>
        <p:nvSpPr>
          <p:cNvPr id="367"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68"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meaningful names such as calculate_total</a:t>
            </a:r>
            <a:endParaRPr lang="en-US" sz="2100" b="0" u="none" strike="noStrike">
              <a:solidFill>
                <a:srgbClr val="000000"/>
              </a:solidFill>
              <a:effectLst/>
              <a:uFillTx/>
              <a:latin typeface="Arial"/>
            </a:endParaRPr>
          </a:p>
        </p:txBody>
      </p:sp>
      <p:sp>
        <p:nvSpPr>
          <p:cNvPr id="369"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70"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Take inputs through parameters</a:t>
            </a:r>
            <a:endParaRPr lang="en-US" sz="2100" b="0" u="none" strike="noStrike">
              <a:solidFill>
                <a:srgbClr val="000000"/>
              </a:solidFill>
              <a:effectLst/>
              <a:uFillTx/>
              <a:latin typeface="Arial"/>
            </a:endParaRPr>
          </a:p>
        </p:txBody>
      </p:sp>
      <p:sp>
        <p:nvSpPr>
          <p:cNvPr id="371"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72"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Return a result rather than mixing everything</a:t>
            </a:r>
            <a:endParaRPr lang="en-US" sz="2100" b="0" u="none" strike="noStrike">
              <a:solidFill>
                <a:srgbClr val="000000"/>
              </a:solidFill>
              <a:effectLst/>
              <a:uFillTx/>
              <a:latin typeface="Arial"/>
            </a:endParaRPr>
          </a:p>
        </p:txBody>
      </p:sp>
      <p:sp>
        <p:nvSpPr>
          <p:cNvPr id="373"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74"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Reuse a function instead of copying code</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37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37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MODULES</a:t>
            </a:r>
            <a:endParaRPr lang="en-US" sz="1250" b="0" u="none" strike="noStrike">
              <a:solidFill>
                <a:srgbClr val="000000"/>
              </a:solidFill>
              <a:effectLst/>
              <a:uFillTx/>
              <a:latin typeface="Arial"/>
            </a:endParaRPr>
          </a:p>
        </p:txBody>
      </p:sp>
      <p:sp>
        <p:nvSpPr>
          <p:cNvPr id="37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Small functions: one calculation</a:t>
            </a:r>
            <a:endParaRPr lang="en-US" sz="3400" b="0" u="none" strike="noStrike">
              <a:solidFill>
                <a:srgbClr val="000000"/>
              </a:solidFill>
              <a:effectLst/>
              <a:uFillTx/>
              <a:latin typeface="Arial"/>
            </a:endParaRPr>
          </a:p>
        </p:txBody>
      </p:sp>
      <p:sp>
        <p:nvSpPr>
          <p:cNvPr id="37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37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38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025</a:t>
            </a:r>
            <a:endParaRPr lang="en-US" sz="1000" b="0" u="none" strike="noStrike">
              <a:solidFill>
                <a:srgbClr val="000000"/>
              </a:solidFill>
              <a:effectLst/>
              <a:uFillTx/>
              <a:latin typeface="Arial"/>
            </a:endParaRPr>
          </a:p>
        </p:txBody>
      </p:sp>
      <p:sp>
        <p:nvSpPr>
          <p:cNvPr id="381"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382"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3"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def add_marks(a: int, b: int) -&gt; int: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"""Return the sum of two marks."""</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return a + b  # Calculate only</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total = add_marks(40, 45)  # Call function</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print(total)  # Show result</a:t>
            </a:r>
            <a:endParaRPr lang="en-US" sz="1550" b="0" u="none" strike="noStrike">
              <a:solidFill>
                <a:srgbClr val="000000"/>
              </a:solidFill>
              <a:effectLst/>
              <a:uFillTx/>
              <a:latin typeface="Arial"/>
            </a:endParaRPr>
          </a:p>
        </p:txBody>
      </p:sp>
      <p:sp>
        <p:nvSpPr>
          <p:cNvPr id="384"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5"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386"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Name says what it does</a:t>
            </a:r>
            <a:endParaRPr lang="en-US" sz="1750" b="0" u="none" strike="noStrike">
              <a:solidFill>
                <a:srgbClr val="000000"/>
              </a:solidFill>
              <a:effectLst/>
              <a:uFillTx/>
              <a:latin typeface="Arial"/>
            </a:endParaRPr>
          </a:p>
        </p:txBody>
      </p:sp>
      <p:sp>
        <p:nvSpPr>
          <p:cNvPr id="387"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Returns a reusable result</a:t>
            </a:r>
            <a:endParaRPr lang="en-US" sz="1750" b="0" u="none" strike="noStrike">
              <a:solidFill>
                <a:srgbClr val="000000"/>
              </a:solidFill>
              <a:effectLst/>
              <a:uFillTx/>
              <a:latin typeface="Arial"/>
            </a:endParaRPr>
          </a:p>
        </p:txBody>
      </p:sp>
      <p:sp>
        <p:nvSpPr>
          <p:cNvPr id="388"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750" b="0" u="none" strike="noStrike">
                <a:solidFill>
                  <a:srgbClr val="152B42"/>
                </a:solidFill>
                <a:effectLst/>
                <a:uFillTx/>
                <a:latin typeface="Aptos"/>
                <a:ea typeface="Aptos"/>
              </a:rPr>
              <a:t>• Has documentation + type hints</a:t>
            </a:r>
            <a:endParaRPr lang="en-US" sz="1750" b="0" u="none" strike="noStrike">
              <a:solidFill>
                <a:srgbClr val="000000"/>
              </a:solidFill>
              <a:effectLst/>
              <a:uFillTx/>
              <a:latin typeface="Arial"/>
            </a:endParaRPr>
          </a:p>
        </p:txBody>
      </p:sp>
      <p:sp>
        <p:nvSpPr>
          <p:cNvPr id="389"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0"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391"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85</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39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39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MODULES</a:t>
            </a:r>
            <a:endParaRPr lang="en-US" sz="1250" b="0" u="none" strike="noStrike">
              <a:solidFill>
                <a:srgbClr val="000000"/>
              </a:solidFill>
              <a:effectLst/>
              <a:uFillTx/>
              <a:latin typeface="Arial"/>
            </a:endParaRPr>
          </a:p>
        </p:txBody>
      </p:sp>
      <p:sp>
        <p:nvSpPr>
          <p:cNvPr id="39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Comment vs docstring</a:t>
            </a:r>
            <a:endParaRPr lang="en-US" sz="3400" b="0" u="none" strike="noStrike">
              <a:solidFill>
                <a:srgbClr val="000000"/>
              </a:solidFill>
              <a:effectLst/>
              <a:uFillTx/>
              <a:latin typeface="Arial"/>
            </a:endParaRPr>
          </a:p>
        </p:txBody>
      </p:sp>
      <p:sp>
        <p:nvSpPr>
          <p:cNvPr id="39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39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SIDE-BY-SIDE COMPARISON</a:t>
            </a:r>
            <a:endParaRPr lang="en-US" sz="1000" b="0" u="none" strike="noStrike">
              <a:solidFill>
                <a:srgbClr val="000000"/>
              </a:solidFill>
              <a:effectLst/>
              <a:uFillTx/>
              <a:latin typeface="Arial"/>
            </a:endParaRPr>
          </a:p>
        </p:txBody>
      </p:sp>
      <p:sp>
        <p:nvSpPr>
          <p:cNvPr id="39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026</a:t>
            </a:r>
            <a:endParaRPr lang="en-US" sz="1000" b="0" u="none" strike="noStrike">
              <a:solidFill>
                <a:srgbClr val="000000"/>
              </a:solidFill>
              <a:effectLst/>
              <a:uFillTx/>
              <a:latin typeface="Arial"/>
            </a:endParaRPr>
          </a:p>
        </p:txBody>
      </p:sp>
      <p:sp>
        <p:nvSpPr>
          <p:cNvPr id="398" name="Shape 6"/>
          <p:cNvSpPr/>
          <p:nvPr/>
        </p:nvSpPr>
        <p:spPr>
          <a:xfrm>
            <a:off x="502920" y="1691640"/>
            <a:ext cx="5449320" cy="4507560"/>
          </a:xfrm>
          <a:prstGeom prst="roundRect">
            <a:avLst>
              <a:gd name="adj" fmla="val 3245"/>
            </a:avLst>
          </a:prstGeom>
          <a:solidFill>
            <a:srgbClr val="DCF6E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9" name="Text 7"/>
          <p:cNvSpPr/>
          <p:nvPr/>
        </p:nvSpPr>
        <p:spPr>
          <a:xfrm>
            <a:off x="841320" y="2066400"/>
            <a:ext cx="4681440" cy="66696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dirty="0">
                <a:solidFill>
                  <a:srgbClr val="008D87"/>
                </a:solidFill>
                <a:effectLst/>
                <a:uFillTx/>
                <a:latin typeface="Aptos"/>
                <a:ea typeface="Aptos"/>
              </a:rPr>
              <a:t># Comment</a:t>
            </a:r>
            <a:endParaRPr lang="en-US" sz="1400" b="0" u="none" strike="noStrike" dirty="0">
              <a:solidFill>
                <a:srgbClr val="000000"/>
              </a:solidFill>
              <a:effectLst/>
              <a:uFillTx/>
              <a:latin typeface="Arial"/>
            </a:endParaRPr>
          </a:p>
          <a:p>
            <a:pPr defTabSz="914400">
              <a:lnSpc>
                <a:spcPct val="100000"/>
              </a:lnSpc>
              <a:tabLst>
                <a:tab pos="0" algn="l"/>
              </a:tabLst>
            </a:pPr>
            <a:r>
              <a:rPr lang="en-US" sz="1400" b="1" u="none" strike="noStrike" dirty="0">
                <a:solidFill>
                  <a:srgbClr val="008D87"/>
                </a:solidFill>
                <a:effectLst/>
                <a:uFillTx/>
                <a:latin typeface="Aptos"/>
                <a:ea typeface="Aptos"/>
              </a:rPr>
              <a:t>Explains a particular line or why it is there.</a:t>
            </a:r>
            <a:endParaRPr lang="en-US" sz="1400" b="0" u="none" strike="noStrike" dirty="0">
              <a:solidFill>
                <a:srgbClr val="000000"/>
              </a:solidFill>
              <a:effectLst/>
              <a:uFillTx/>
              <a:latin typeface="Arial"/>
            </a:endParaRPr>
          </a:p>
          <a:p>
            <a:pPr defTabSz="914400">
              <a:lnSpc>
                <a:spcPct val="100000"/>
              </a:lnSpc>
              <a:tabLst>
                <a:tab pos="0" algn="l"/>
              </a:tabLst>
            </a:pPr>
            <a:endParaRPr lang="en-US" sz="1400" b="0" u="none" strike="noStrike" dirty="0">
              <a:solidFill>
                <a:srgbClr val="000000"/>
              </a:solidFill>
              <a:effectLst/>
              <a:uFillTx/>
              <a:latin typeface="Arial"/>
            </a:endParaRPr>
          </a:p>
          <a:p>
            <a:pPr defTabSz="914400">
              <a:lnSpc>
                <a:spcPct val="100000"/>
              </a:lnSpc>
              <a:tabLst>
                <a:tab pos="0" algn="l"/>
              </a:tabLst>
            </a:pPr>
            <a:r>
              <a:rPr lang="en-US" sz="1400" b="1" u="none" strike="noStrike" dirty="0">
                <a:solidFill>
                  <a:srgbClr val="008D87"/>
                </a:solidFill>
                <a:effectLst/>
                <a:uFillTx/>
                <a:latin typeface="Aptos"/>
                <a:ea typeface="Aptos"/>
              </a:rPr>
              <a:t># Save the result</a:t>
            </a:r>
            <a:endParaRPr lang="en-US" sz="1400" b="0" u="none" strike="noStrike" dirty="0">
              <a:solidFill>
                <a:srgbClr val="000000"/>
              </a:solidFill>
              <a:effectLst/>
              <a:uFillTx/>
              <a:latin typeface="Arial"/>
            </a:endParaRPr>
          </a:p>
          <a:p>
            <a:pPr defTabSz="914400">
              <a:lnSpc>
                <a:spcPct val="100000"/>
              </a:lnSpc>
              <a:tabLst>
                <a:tab pos="0" algn="l"/>
              </a:tabLst>
            </a:pPr>
            <a:r>
              <a:rPr lang="en-US" sz="1400" b="1" u="none" strike="noStrike" dirty="0">
                <a:solidFill>
                  <a:srgbClr val="008D87"/>
                </a:solidFill>
                <a:effectLst/>
                <a:uFillTx/>
                <a:latin typeface="Aptos"/>
                <a:ea typeface="Aptos"/>
              </a:rPr>
              <a:t>total = a + b</a:t>
            </a:r>
            <a:endParaRPr lang="en-US" sz="1400" b="0" u="none" strike="noStrike" dirty="0">
              <a:solidFill>
                <a:srgbClr val="000000"/>
              </a:solidFill>
              <a:effectLst/>
              <a:uFillTx/>
              <a:latin typeface="Arial"/>
            </a:endParaRPr>
          </a:p>
        </p:txBody>
      </p:sp>
      <p:sp>
        <p:nvSpPr>
          <p:cNvPr id="400" name="Text 8"/>
          <p:cNvSpPr/>
          <p:nvPr/>
        </p:nvSpPr>
        <p:spPr>
          <a:xfrm>
            <a:off x="841320" y="3362632"/>
            <a:ext cx="4608360" cy="24250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2150" b="0" u="none" strike="noStrike" dirty="0">
                <a:solidFill>
                  <a:srgbClr val="152B42"/>
                </a:solidFill>
                <a:effectLst/>
                <a:uFillTx/>
                <a:latin typeface="Aptos"/>
                <a:ea typeface="Aptos"/>
              </a:rPr>
              <a:t>"""</a:t>
            </a:r>
            <a:r>
              <a:rPr lang="en-US" sz="2150" b="0" u="none" strike="noStrike" dirty="0" err="1">
                <a:solidFill>
                  <a:srgbClr val="152B42"/>
                </a:solidFill>
                <a:effectLst/>
                <a:uFillTx/>
                <a:latin typeface="Aptos"/>
                <a:ea typeface="Aptos"/>
              </a:rPr>
              <a:t>Docstring</a:t>
            </a:r>
            <a:r>
              <a:rPr lang="en-US" sz="2150" b="0" u="none" strike="noStrike" dirty="0">
                <a:solidFill>
                  <a:srgbClr val="152B42"/>
                </a:solidFill>
                <a:effectLst/>
                <a:uFillTx/>
                <a:latin typeface="Aptos"/>
                <a:ea typeface="Aptos"/>
              </a:rPr>
              <a:t>"""</a:t>
            </a: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Documents what a function or class does.</a:t>
            </a:r>
            <a:endParaRPr lang="en-US" sz="2150" b="0" u="none" strike="noStrike" dirty="0">
              <a:solidFill>
                <a:srgbClr val="000000"/>
              </a:solidFill>
              <a:effectLst/>
              <a:uFillTx/>
              <a:latin typeface="Arial"/>
            </a:endParaRPr>
          </a:p>
          <a:p>
            <a:pPr defTabSz="914400">
              <a:lnSpc>
                <a:spcPct val="100000"/>
              </a:lnSpc>
              <a:tabLst>
                <a:tab pos="0" algn="l"/>
              </a:tabLst>
            </a:pP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err="1">
                <a:solidFill>
                  <a:srgbClr val="152B42"/>
                </a:solidFill>
                <a:effectLst/>
                <a:uFillTx/>
                <a:latin typeface="Aptos"/>
                <a:ea typeface="Aptos"/>
              </a:rPr>
              <a:t>def</a:t>
            </a:r>
            <a:r>
              <a:rPr lang="en-US" sz="2150" b="0" u="none" strike="noStrike" dirty="0">
                <a:solidFill>
                  <a:srgbClr val="152B42"/>
                </a:solidFill>
                <a:effectLst/>
                <a:uFillTx/>
                <a:latin typeface="Aptos"/>
                <a:ea typeface="Aptos"/>
              </a:rPr>
              <a:t> greet():</a:t>
            </a: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    """Say hello."""</a:t>
            </a:r>
            <a:endParaRPr lang="en-US" sz="2150" b="0" u="none" strike="noStrike" dirty="0">
              <a:solidFill>
                <a:srgbClr val="000000"/>
              </a:solidFill>
              <a:effectLst/>
              <a:uFillTx/>
              <a:latin typeface="Arial"/>
            </a:endParaRPr>
          </a:p>
        </p:txBody>
      </p:sp>
      <p:sp>
        <p:nvSpPr>
          <p:cNvPr id="401" name="Shape 9"/>
          <p:cNvSpPr/>
          <p:nvPr/>
        </p:nvSpPr>
        <p:spPr>
          <a:xfrm>
            <a:off x="6208920" y="1691640"/>
            <a:ext cx="5449320" cy="4507560"/>
          </a:xfrm>
          <a:prstGeom prst="roundRect">
            <a:avLst>
              <a:gd name="adj" fmla="val 3245"/>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2" name="Text 10"/>
          <p:cNvSpPr/>
          <p:nvPr/>
        </p:nvSpPr>
        <p:spPr>
          <a:xfrm>
            <a:off x="6546960" y="2066400"/>
            <a:ext cx="468144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40000" lnSpcReduction="19999"/>
          </a:bodyPr>
          <a:lstStyle/>
          <a:p>
            <a:pPr defTabSz="914400">
              <a:lnSpc>
                <a:spcPct val="100000"/>
              </a:lnSpc>
              <a:tabLst>
                <a:tab pos="0" algn="l"/>
              </a:tabLst>
            </a:pPr>
            <a:r>
              <a:rPr lang="en-US" sz="2600" b="1" u="none" strike="noStrike">
                <a:solidFill>
                  <a:srgbClr val="008D87"/>
                </a:solidFill>
                <a:effectLst/>
                <a:uFillTx/>
                <a:latin typeface="Aptos"/>
                <a:ea typeface="Aptos"/>
              </a:rPr>
              <a:t>Docstrings belong at the beginning of functions, classes or modules. Triple-quoted strings anywhere else are not automatically docstrings.</a:t>
            </a:r>
            <a:endParaRPr lang="en-US" sz="2600" b="0" u="none" strike="noStrike">
              <a:solidFill>
                <a:srgbClr val="000000"/>
              </a:solidFill>
              <a:effectLst/>
              <a:uFillTx/>
              <a:latin typeface="Arial"/>
            </a:endParaRPr>
          </a:p>
        </p:txBody>
      </p:sp>
      <p:sp>
        <p:nvSpPr>
          <p:cNvPr id="403" name="Text 11"/>
          <p:cNvSpPr/>
          <p:nvPr/>
        </p:nvSpPr>
        <p:spPr>
          <a:xfrm>
            <a:off x="6546960" y="2880360"/>
            <a:ext cx="4608360" cy="290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endParaRPr lang="en-US" sz="2150" b="0" u="none" strike="noStrike">
              <a:solidFill>
                <a:schemeClr val="dk1"/>
              </a:solidFill>
              <a:effectLst/>
              <a:uFillTx/>
              <a:latin typeface="Apto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404"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405"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MODULES</a:t>
            </a:r>
            <a:endParaRPr lang="en-US" sz="1250" b="0" u="none" strike="noStrike">
              <a:solidFill>
                <a:srgbClr val="000000"/>
              </a:solidFill>
              <a:effectLst/>
              <a:uFillTx/>
              <a:latin typeface="Arial"/>
            </a:endParaRPr>
          </a:p>
        </p:txBody>
      </p:sp>
      <p:sp>
        <p:nvSpPr>
          <p:cNvPr id="406"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Type hints: expected data types</a:t>
            </a:r>
            <a:endParaRPr lang="en-US" sz="3400" b="0" u="none" strike="noStrike">
              <a:solidFill>
                <a:srgbClr val="000000"/>
              </a:solidFill>
              <a:effectLst/>
              <a:uFillTx/>
              <a:latin typeface="Arial"/>
            </a:endParaRPr>
          </a:p>
        </p:txBody>
      </p:sp>
      <p:sp>
        <p:nvSpPr>
          <p:cNvPr id="407"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408"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409"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027</a:t>
            </a:r>
            <a:endParaRPr lang="en-US" sz="1000" b="0" u="none" strike="noStrike">
              <a:solidFill>
                <a:srgbClr val="000000"/>
              </a:solidFill>
              <a:effectLst/>
              <a:uFillTx/>
              <a:latin typeface="Arial"/>
            </a:endParaRPr>
          </a:p>
        </p:txBody>
      </p:sp>
      <p:sp>
        <p:nvSpPr>
          <p:cNvPr id="410"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1"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412"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dirty="0">
                <a:solidFill>
                  <a:srgbClr val="152B42"/>
                </a:solidFill>
                <a:effectLst/>
                <a:uFillTx/>
                <a:latin typeface="Aptos"/>
                <a:ea typeface="Aptos"/>
              </a:rPr>
              <a:t>A type hint tells readers what kind of value is expected.</a:t>
            </a:r>
            <a:endParaRPr lang="en-US" sz="2250" b="0" u="none" strike="noStrike" dirty="0">
              <a:solidFill>
                <a:srgbClr val="000000"/>
              </a:solidFill>
              <a:effectLst/>
              <a:uFillTx/>
              <a:latin typeface="Arial"/>
            </a:endParaRPr>
          </a:p>
        </p:txBody>
      </p:sp>
      <p:sp>
        <p:nvSpPr>
          <p:cNvPr id="413"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14"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dirty="0">
                <a:solidFill>
                  <a:srgbClr val="152B42"/>
                </a:solidFill>
                <a:effectLst/>
                <a:uFillTx/>
                <a:latin typeface="Aptos"/>
                <a:ea typeface="Aptos"/>
              </a:rPr>
              <a:t>name: </a:t>
            </a:r>
            <a:r>
              <a:rPr lang="en-US" sz="2100" b="0" u="none" strike="noStrike" dirty="0" err="1">
                <a:solidFill>
                  <a:srgbClr val="152B42"/>
                </a:solidFill>
                <a:effectLst/>
                <a:uFillTx/>
                <a:latin typeface="Aptos"/>
                <a:ea typeface="Aptos"/>
              </a:rPr>
              <a:t>str</a:t>
            </a:r>
            <a:r>
              <a:rPr lang="en-US" sz="2100" b="0" u="none" strike="noStrike" dirty="0">
                <a:solidFill>
                  <a:srgbClr val="152B42"/>
                </a:solidFill>
                <a:effectLst/>
                <a:uFillTx/>
                <a:latin typeface="Aptos"/>
                <a:ea typeface="Aptos"/>
              </a:rPr>
              <a:t> means text is expected</a:t>
            </a:r>
            <a:endParaRPr lang="en-US" sz="2100" b="0" u="none" strike="noStrike" dirty="0">
              <a:solidFill>
                <a:srgbClr val="000000"/>
              </a:solidFill>
              <a:effectLst/>
              <a:uFillTx/>
              <a:latin typeface="Arial"/>
            </a:endParaRPr>
          </a:p>
        </p:txBody>
      </p:sp>
      <p:sp>
        <p:nvSpPr>
          <p:cNvPr id="415"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16"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dirty="0">
                <a:solidFill>
                  <a:srgbClr val="152B42"/>
                </a:solidFill>
                <a:effectLst/>
                <a:uFillTx/>
                <a:latin typeface="Aptos"/>
                <a:ea typeface="Aptos"/>
              </a:rPr>
              <a:t>age: </a:t>
            </a:r>
            <a:r>
              <a:rPr lang="en-US" sz="2100" b="0" u="none" strike="noStrike" dirty="0" err="1">
                <a:solidFill>
                  <a:srgbClr val="152B42"/>
                </a:solidFill>
                <a:effectLst/>
                <a:uFillTx/>
                <a:latin typeface="Aptos"/>
                <a:ea typeface="Aptos"/>
              </a:rPr>
              <a:t>int</a:t>
            </a:r>
            <a:r>
              <a:rPr lang="en-US" sz="2100" b="0" u="none" strike="noStrike" dirty="0">
                <a:solidFill>
                  <a:srgbClr val="152B42"/>
                </a:solidFill>
                <a:effectLst/>
                <a:uFillTx/>
                <a:latin typeface="Aptos"/>
                <a:ea typeface="Aptos"/>
              </a:rPr>
              <a:t> means whole number is expected</a:t>
            </a:r>
            <a:endParaRPr lang="en-US" sz="2100" b="0" u="none" strike="noStrike" dirty="0">
              <a:solidFill>
                <a:srgbClr val="000000"/>
              </a:solidFill>
              <a:effectLst/>
              <a:uFillTx/>
              <a:latin typeface="Arial"/>
            </a:endParaRPr>
          </a:p>
        </p:txBody>
      </p:sp>
      <p:sp>
        <p:nvSpPr>
          <p:cNvPr id="417"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18"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dirty="0">
                <a:solidFill>
                  <a:srgbClr val="152B42"/>
                </a:solidFill>
                <a:effectLst/>
                <a:uFillTx/>
                <a:latin typeface="Aptos"/>
                <a:ea typeface="Aptos"/>
              </a:rPr>
              <a:t>-&gt; </a:t>
            </a:r>
            <a:r>
              <a:rPr lang="en-US" sz="2100" b="0" u="none" strike="noStrike" dirty="0" err="1">
                <a:solidFill>
                  <a:srgbClr val="152B42"/>
                </a:solidFill>
                <a:effectLst/>
                <a:uFillTx/>
                <a:latin typeface="Aptos"/>
                <a:ea typeface="Aptos"/>
              </a:rPr>
              <a:t>int</a:t>
            </a:r>
            <a:r>
              <a:rPr lang="en-US" sz="2100" b="0" u="none" strike="noStrike" dirty="0">
                <a:solidFill>
                  <a:srgbClr val="152B42"/>
                </a:solidFill>
                <a:effectLst/>
                <a:uFillTx/>
                <a:latin typeface="Aptos"/>
                <a:ea typeface="Aptos"/>
              </a:rPr>
              <a:t> describes the intended return type</a:t>
            </a:r>
            <a:endParaRPr lang="en-US" sz="2100" b="0" u="none" strike="noStrike" dirty="0">
              <a:solidFill>
                <a:srgbClr val="000000"/>
              </a:solidFill>
              <a:effectLst/>
              <a:uFillTx/>
              <a:latin typeface="Arial"/>
            </a:endParaRPr>
          </a:p>
        </p:txBody>
      </p:sp>
      <p:sp>
        <p:nvSpPr>
          <p:cNvPr id="419"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20"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dirty="0">
                <a:solidFill>
                  <a:srgbClr val="152B42"/>
                </a:solidFill>
                <a:effectLst/>
                <a:uFillTx/>
                <a:latin typeface="Aptos"/>
                <a:ea typeface="Aptos"/>
              </a:rPr>
              <a:t>Python does not enforce these hints automatically</a:t>
            </a:r>
            <a:endParaRPr lang="en-US" sz="2100" b="0" u="none" strike="noStrike" dirty="0">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42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42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MODULES</a:t>
            </a:r>
            <a:endParaRPr lang="en-US" sz="1250" b="0" u="none" strike="noStrike">
              <a:solidFill>
                <a:srgbClr val="000000"/>
              </a:solidFill>
              <a:effectLst/>
              <a:uFillTx/>
              <a:latin typeface="Arial"/>
            </a:endParaRPr>
          </a:p>
        </p:txBody>
      </p:sp>
      <p:sp>
        <p:nvSpPr>
          <p:cNvPr id="42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Separate data, logic and interaction</a:t>
            </a:r>
            <a:endParaRPr lang="en-US" sz="3400" b="0" u="none" strike="noStrike">
              <a:solidFill>
                <a:srgbClr val="000000"/>
              </a:solidFill>
              <a:effectLst/>
              <a:uFillTx/>
              <a:latin typeface="Arial"/>
            </a:endParaRPr>
          </a:p>
        </p:txBody>
      </p:sp>
      <p:sp>
        <p:nvSpPr>
          <p:cNvPr id="42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42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42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028</a:t>
            </a:r>
            <a:endParaRPr lang="en-US" sz="1000" b="0" u="none" strike="noStrike">
              <a:solidFill>
                <a:srgbClr val="000000"/>
              </a:solidFill>
              <a:effectLst/>
              <a:uFillTx/>
              <a:latin typeface="Arial"/>
            </a:endParaRPr>
          </a:p>
        </p:txBody>
      </p:sp>
      <p:sp>
        <p:nvSpPr>
          <p:cNvPr id="427"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8"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429"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Keep different responsibilities in different parts of a program.</a:t>
            </a:r>
            <a:endParaRPr lang="en-US" sz="2250" b="0" u="none" strike="noStrike">
              <a:solidFill>
                <a:srgbClr val="000000"/>
              </a:solidFill>
              <a:effectLst/>
              <a:uFillTx/>
              <a:latin typeface="Arial"/>
            </a:endParaRPr>
          </a:p>
        </p:txBody>
      </p:sp>
      <p:sp>
        <p:nvSpPr>
          <p:cNvPr id="430"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31"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Data: a list, file, or database</a:t>
            </a:r>
            <a:endParaRPr lang="en-US" sz="2100" b="0" u="none" strike="noStrike">
              <a:solidFill>
                <a:srgbClr val="000000"/>
              </a:solidFill>
              <a:effectLst/>
              <a:uFillTx/>
              <a:latin typeface="Arial"/>
            </a:endParaRPr>
          </a:p>
        </p:txBody>
      </p:sp>
      <p:sp>
        <p:nvSpPr>
          <p:cNvPr id="432"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33"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Logic: add, search, update tasks</a:t>
            </a:r>
            <a:endParaRPr lang="en-US" sz="2100" b="0" u="none" strike="noStrike">
              <a:solidFill>
                <a:srgbClr val="000000"/>
              </a:solidFill>
              <a:effectLst/>
              <a:uFillTx/>
              <a:latin typeface="Arial"/>
            </a:endParaRPr>
          </a:p>
        </p:txBody>
      </p:sp>
      <p:sp>
        <p:nvSpPr>
          <p:cNvPr id="434"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35"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Interaction: input(), print() or web form</a:t>
            </a:r>
            <a:endParaRPr lang="en-US" sz="2100" b="0" u="none" strike="noStrike">
              <a:solidFill>
                <a:srgbClr val="000000"/>
              </a:solidFill>
              <a:effectLst/>
              <a:uFillTx/>
              <a:latin typeface="Arial"/>
            </a:endParaRPr>
          </a:p>
        </p:txBody>
      </p:sp>
      <p:sp>
        <p:nvSpPr>
          <p:cNvPr id="436"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37"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Small functions make code easier to change</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43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43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MODULES</a:t>
            </a:r>
            <a:endParaRPr lang="en-US" sz="1250" b="0" u="none" strike="noStrike">
              <a:solidFill>
                <a:srgbClr val="000000"/>
              </a:solidFill>
              <a:effectLst/>
              <a:uFillTx/>
              <a:latin typeface="Arial"/>
            </a:endParaRPr>
          </a:p>
        </p:txBody>
      </p:sp>
      <p:sp>
        <p:nvSpPr>
          <p:cNvPr id="44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Secrets and API keys: a safety rule</a:t>
            </a:r>
            <a:endParaRPr lang="en-US" sz="3400" b="0" u="none" strike="noStrike">
              <a:solidFill>
                <a:srgbClr val="000000"/>
              </a:solidFill>
              <a:effectLst/>
              <a:uFillTx/>
              <a:latin typeface="Arial"/>
            </a:endParaRPr>
          </a:p>
        </p:txBody>
      </p:sp>
      <p:sp>
        <p:nvSpPr>
          <p:cNvPr id="44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44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44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029</a:t>
            </a:r>
            <a:endParaRPr lang="en-US" sz="1000" b="0" u="none" strike="noStrike">
              <a:solidFill>
                <a:srgbClr val="000000"/>
              </a:solidFill>
              <a:effectLst/>
              <a:uFillTx/>
              <a:latin typeface="Arial"/>
            </a:endParaRPr>
          </a:p>
        </p:txBody>
      </p:sp>
      <p:sp>
        <p:nvSpPr>
          <p:cNvPr id="444"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5"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446"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Passwords and API keys should not be written directly in shared code.</a:t>
            </a:r>
            <a:endParaRPr lang="en-US" sz="2250" b="0" u="none" strike="noStrike">
              <a:solidFill>
                <a:srgbClr val="000000"/>
              </a:solidFill>
              <a:effectLst/>
              <a:uFillTx/>
              <a:latin typeface="Arial"/>
            </a:endParaRPr>
          </a:p>
        </p:txBody>
      </p:sp>
      <p:sp>
        <p:nvSpPr>
          <p:cNvPr id="447"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48"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Do not upload passwords to GitHub</a:t>
            </a:r>
            <a:endParaRPr lang="en-US" sz="2100" b="0" u="none" strike="noStrike">
              <a:solidFill>
                <a:srgbClr val="000000"/>
              </a:solidFill>
              <a:effectLst/>
              <a:uFillTx/>
              <a:latin typeface="Arial"/>
            </a:endParaRPr>
          </a:p>
        </p:txBody>
      </p:sp>
      <p:sp>
        <p:nvSpPr>
          <p:cNvPr id="449"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50"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environment variables or a secrets tool</a:t>
            </a:r>
            <a:endParaRPr lang="en-US" sz="2100" b="0" u="none" strike="noStrike">
              <a:solidFill>
                <a:srgbClr val="000000"/>
              </a:solidFill>
              <a:effectLst/>
              <a:uFillTx/>
              <a:latin typeface="Arial"/>
            </a:endParaRPr>
          </a:p>
        </p:txBody>
      </p:sp>
      <p:sp>
        <p:nvSpPr>
          <p:cNvPr id="451"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52"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Never print private keys on presentation screens</a:t>
            </a:r>
            <a:endParaRPr lang="en-US" sz="2100" b="0" u="none" strike="noStrike">
              <a:solidFill>
                <a:srgbClr val="000000"/>
              </a:solidFill>
              <a:effectLst/>
              <a:uFillTx/>
              <a:latin typeface="Arial"/>
            </a:endParaRPr>
          </a:p>
        </p:txBody>
      </p:sp>
      <p:sp>
        <p:nvSpPr>
          <p:cNvPr id="453"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54"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Add local secret files to .gitignore</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455"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56"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OOP</a:t>
            </a:r>
            <a:endParaRPr lang="en-US" sz="1700" b="0" u="none" strike="noStrike">
              <a:solidFill>
                <a:srgbClr val="FFFFFF"/>
              </a:solidFill>
              <a:effectLst/>
              <a:uFillTx/>
              <a:latin typeface="Arial"/>
            </a:endParaRPr>
          </a:p>
        </p:txBody>
      </p:sp>
      <p:sp>
        <p:nvSpPr>
          <p:cNvPr id="457"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Object-Oriented Programming</a:t>
            </a:r>
            <a:endParaRPr lang="en-US" sz="4500" b="0" u="none" strike="noStrike">
              <a:solidFill>
                <a:srgbClr val="FFFFFF"/>
              </a:solidFill>
              <a:effectLst/>
              <a:uFillTx/>
              <a:latin typeface="Arial"/>
            </a:endParaRPr>
          </a:p>
        </p:txBody>
      </p:sp>
      <p:sp>
        <p:nvSpPr>
          <p:cNvPr id="458"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Learn one idea, see one small example, then try it.</a:t>
            </a:r>
            <a:endParaRPr lang="en-US" sz="2400" b="0" u="none" strike="noStrike">
              <a:solidFill>
                <a:srgbClr val="FFFFFF"/>
              </a:solidFill>
              <a:effectLst/>
              <a:uFillTx/>
              <a:latin typeface="Arial"/>
            </a:endParaRPr>
          </a:p>
        </p:txBody>
      </p:sp>
      <p:sp>
        <p:nvSpPr>
          <p:cNvPr id="459"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460"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461"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462"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is OOP?</a:t>
            </a:r>
            <a:endParaRPr lang="en-US" sz="3400" b="0" u="none" strike="noStrike">
              <a:solidFill>
                <a:srgbClr val="000000"/>
              </a:solidFill>
              <a:effectLst/>
              <a:uFillTx/>
              <a:latin typeface="Arial"/>
            </a:endParaRPr>
          </a:p>
        </p:txBody>
      </p:sp>
      <p:sp>
        <p:nvSpPr>
          <p:cNvPr id="463"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464"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465"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031</a:t>
            </a:r>
            <a:endParaRPr lang="en-US" sz="1000" b="0" u="none" strike="noStrike">
              <a:solidFill>
                <a:srgbClr val="000000"/>
              </a:solidFill>
              <a:effectLst/>
              <a:uFillTx/>
              <a:latin typeface="Arial"/>
            </a:endParaRPr>
          </a:p>
        </p:txBody>
      </p:sp>
      <p:sp>
        <p:nvSpPr>
          <p:cNvPr id="466"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7"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468"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OOP groups related data and actions into objects.</a:t>
            </a:r>
            <a:endParaRPr lang="en-US" sz="2250" b="0" u="none" strike="noStrike">
              <a:solidFill>
                <a:srgbClr val="000000"/>
              </a:solidFill>
              <a:effectLst/>
              <a:uFillTx/>
              <a:latin typeface="Arial"/>
            </a:endParaRPr>
          </a:p>
        </p:txBody>
      </p:sp>
      <p:sp>
        <p:nvSpPr>
          <p:cNvPr id="469"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70"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class is a blueprint; an object is created from it</a:t>
            </a:r>
            <a:endParaRPr lang="en-US" sz="2100" b="0" u="none" strike="noStrike">
              <a:solidFill>
                <a:srgbClr val="000000"/>
              </a:solidFill>
              <a:effectLst/>
              <a:uFillTx/>
              <a:latin typeface="Arial"/>
            </a:endParaRPr>
          </a:p>
        </p:txBody>
      </p:sp>
      <p:sp>
        <p:nvSpPr>
          <p:cNvPr id="471"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72"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Attributes hold information such as a student name</a:t>
            </a:r>
            <a:endParaRPr lang="en-US" sz="2100" b="0" u="none" strike="noStrike">
              <a:solidFill>
                <a:srgbClr val="000000"/>
              </a:solidFill>
              <a:effectLst/>
              <a:uFillTx/>
              <a:latin typeface="Arial"/>
            </a:endParaRPr>
          </a:p>
        </p:txBody>
      </p:sp>
      <p:sp>
        <p:nvSpPr>
          <p:cNvPr id="473"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74"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Methods are functions that belong to a class</a:t>
            </a:r>
            <a:endParaRPr lang="en-US" sz="2100" b="0" u="none" strike="noStrike">
              <a:solidFill>
                <a:srgbClr val="000000"/>
              </a:solidFill>
              <a:effectLst/>
              <a:uFillTx/>
              <a:latin typeface="Arial"/>
            </a:endParaRPr>
          </a:p>
        </p:txBody>
      </p:sp>
      <p:sp>
        <p:nvSpPr>
          <p:cNvPr id="475"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76"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simple class can keep task data organized</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477"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478"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479"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Class and object: first example</a:t>
            </a:r>
            <a:endParaRPr lang="en-US" sz="3400" b="0" u="none" strike="noStrike">
              <a:solidFill>
                <a:srgbClr val="000000"/>
              </a:solidFill>
              <a:effectLst/>
              <a:uFillTx/>
              <a:latin typeface="Arial"/>
            </a:endParaRPr>
          </a:p>
        </p:txBody>
      </p:sp>
      <p:sp>
        <p:nvSpPr>
          <p:cNvPr id="480"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481"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482"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032</a:t>
            </a:r>
            <a:endParaRPr lang="en-US" sz="1000" b="0" u="none" strike="noStrike">
              <a:solidFill>
                <a:srgbClr val="000000"/>
              </a:solidFill>
              <a:effectLst/>
              <a:uFillTx/>
              <a:latin typeface="Arial"/>
            </a:endParaRPr>
          </a:p>
        </p:txBody>
      </p:sp>
      <p:sp>
        <p:nvSpPr>
          <p:cNvPr id="483"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484"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5"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class Student:  # Make a blueprint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pass  # Nothing inside yet</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ali = Student()  # Create an object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print(type(ali).__name__)  # Class name</a:t>
            </a:r>
            <a:endParaRPr lang="en-US" sz="1550" b="0" u="none" strike="noStrike">
              <a:solidFill>
                <a:srgbClr val="000000"/>
              </a:solidFill>
              <a:effectLst/>
              <a:uFillTx/>
              <a:latin typeface="Arial"/>
            </a:endParaRPr>
          </a:p>
        </p:txBody>
      </p:sp>
      <p:sp>
        <p:nvSpPr>
          <p:cNvPr id="486"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7"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488"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class defines blueprint</a:t>
            </a:r>
            <a:endParaRPr lang="en-US" sz="1750" b="0" u="none" strike="noStrike">
              <a:solidFill>
                <a:srgbClr val="000000"/>
              </a:solidFill>
              <a:effectLst/>
              <a:uFillTx/>
              <a:latin typeface="Arial"/>
            </a:endParaRPr>
          </a:p>
        </p:txBody>
      </p:sp>
      <p:sp>
        <p:nvSpPr>
          <p:cNvPr id="489"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Student() makes an object</a:t>
            </a:r>
            <a:endParaRPr lang="en-US" sz="1750" b="0" u="none" strike="noStrike">
              <a:solidFill>
                <a:srgbClr val="000000"/>
              </a:solidFill>
              <a:effectLst/>
              <a:uFillTx/>
              <a:latin typeface="Arial"/>
            </a:endParaRPr>
          </a:p>
        </p:txBody>
      </p:sp>
      <p:sp>
        <p:nvSpPr>
          <p:cNvPr id="490"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pass is a placeholder</a:t>
            </a:r>
            <a:endParaRPr lang="en-US" sz="1750" b="0" u="none" strike="noStrike">
              <a:solidFill>
                <a:srgbClr val="000000"/>
              </a:solidFill>
              <a:effectLst/>
              <a:uFillTx/>
              <a:latin typeface="Arial"/>
            </a:endParaRPr>
          </a:p>
        </p:txBody>
      </p:sp>
      <p:sp>
        <p:nvSpPr>
          <p:cNvPr id="491"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2"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493"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Student</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494"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495"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496"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Class/object practice</a:t>
            </a:r>
            <a:endParaRPr lang="en-US" sz="3400" b="0" u="none" strike="noStrike">
              <a:solidFill>
                <a:srgbClr val="000000"/>
              </a:solidFill>
              <a:effectLst/>
              <a:uFillTx/>
              <a:latin typeface="Arial"/>
            </a:endParaRPr>
          </a:p>
        </p:txBody>
      </p:sp>
      <p:sp>
        <p:nvSpPr>
          <p:cNvPr id="497"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498"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499"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033</a:t>
            </a:r>
            <a:endParaRPr lang="en-US" sz="1000" b="0" u="none" strike="noStrike">
              <a:solidFill>
                <a:srgbClr val="000000"/>
              </a:solidFill>
              <a:effectLst/>
              <a:uFillTx/>
              <a:latin typeface="Arial"/>
            </a:endParaRPr>
          </a:p>
        </p:txBody>
      </p:sp>
      <p:sp>
        <p:nvSpPr>
          <p:cNvPr id="500"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1"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502"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Create a Book class and one Book object.</a:t>
            </a:r>
            <a:endParaRPr lang="en-US" sz="1960" b="0" u="none" strike="noStrike">
              <a:solidFill>
                <a:srgbClr val="000000"/>
              </a:solidFill>
              <a:effectLst/>
              <a:uFillTx/>
              <a:latin typeface="Arial"/>
            </a:endParaRPr>
          </a:p>
        </p:txBody>
      </p:sp>
      <p:sp>
        <p:nvSpPr>
          <p:cNvPr id="503"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4"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class Book:</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pass</a:t>
            </a:r>
            <a:endParaRPr lang="en-US" sz="1580" b="0" u="none" strike="noStrike">
              <a:solidFill>
                <a:srgbClr val="000000"/>
              </a:solidFill>
              <a:effectLst/>
              <a:uFillTx/>
              <a:latin typeface="Arial"/>
            </a:endParaRPr>
          </a:p>
          <a:p>
            <a:pPr defTabSz="914400">
              <a:lnSpc>
                <a:spcPct val="100000"/>
              </a:lnSpc>
              <a:tabLst>
                <a:tab pos="0" algn="l"/>
              </a:tabLst>
            </a:pP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Create an object named book</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Print its class name</a:t>
            </a:r>
            <a:endParaRPr lang="en-US" sz="1580" b="0" u="none" strike="noStrike">
              <a:solidFill>
                <a:srgbClr val="000000"/>
              </a:solidFill>
              <a:effectLst/>
              <a:uFillTx/>
              <a:latin typeface="Arial"/>
            </a:endParaRPr>
          </a:p>
        </p:txBody>
      </p:sp>
      <p:sp>
        <p:nvSpPr>
          <p:cNvPr id="505"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6"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507"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Keep the class empty</a:t>
            </a:r>
            <a:endParaRPr lang="en-US" sz="1820" b="0" u="none" strike="noStrike">
              <a:solidFill>
                <a:srgbClr val="000000"/>
              </a:solidFill>
              <a:effectLst/>
              <a:uFillTx/>
              <a:latin typeface="Arial"/>
            </a:endParaRPr>
          </a:p>
        </p:txBody>
      </p:sp>
      <p:sp>
        <p:nvSpPr>
          <p:cNvPr id="508"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Create Book()</a:t>
            </a:r>
            <a:endParaRPr lang="en-US" sz="1820" b="0" u="none" strike="noStrike">
              <a:solidFill>
                <a:srgbClr val="000000"/>
              </a:solidFill>
              <a:effectLst/>
              <a:uFillTx/>
              <a:latin typeface="Arial"/>
            </a:endParaRPr>
          </a:p>
        </p:txBody>
      </p:sp>
      <p:sp>
        <p:nvSpPr>
          <p:cNvPr id="509"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Use type(obj).__name__</a:t>
            </a:r>
            <a:endParaRPr lang="en-US" sz="1820" b="0" u="none" strike="noStrike">
              <a:solidFill>
                <a:srgbClr val="000000"/>
              </a:solidFill>
              <a:effectLst/>
              <a:uFillTx/>
              <a:latin typeface="Arial"/>
            </a:endParaRPr>
          </a:p>
        </p:txBody>
      </p:sp>
      <p:sp>
        <p:nvSpPr>
          <p:cNvPr id="510"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Check output Book</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51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51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51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Class/object answer</a:t>
            </a:r>
            <a:endParaRPr lang="en-US" sz="3400" b="0" u="none" strike="noStrike">
              <a:solidFill>
                <a:srgbClr val="000000"/>
              </a:solidFill>
              <a:effectLst/>
              <a:uFillTx/>
              <a:latin typeface="Arial"/>
            </a:endParaRPr>
          </a:p>
        </p:txBody>
      </p:sp>
      <p:sp>
        <p:nvSpPr>
          <p:cNvPr id="51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51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51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034</a:t>
            </a:r>
            <a:endParaRPr lang="en-US" sz="1000" b="0" u="none" strike="noStrike">
              <a:solidFill>
                <a:srgbClr val="000000"/>
              </a:solidFill>
              <a:effectLst/>
              <a:uFillTx/>
              <a:latin typeface="Arial"/>
            </a:endParaRPr>
          </a:p>
        </p:txBody>
      </p:sp>
      <p:sp>
        <p:nvSpPr>
          <p:cNvPr id="517"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8"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519"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0"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class Book:  # Blueprint</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pass  # Empty for now</a:t>
            </a:r>
            <a:endParaRPr lang="en-US" sz="1620" b="0" u="none" strike="noStrike">
              <a:solidFill>
                <a:srgbClr val="000000"/>
              </a:solidFill>
              <a:effectLst/>
              <a:uFillTx/>
              <a:latin typeface="Arial"/>
            </a:endParaRPr>
          </a:p>
          <a:p>
            <a:pPr defTabSz="914400">
              <a:lnSpc>
                <a:spcPct val="100000"/>
              </a:lnSpc>
              <a:tabLst>
                <a:tab pos="0" algn="l"/>
              </a:tabLst>
            </a:pP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book = Book()  # Create an object</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print(type(book).__name__)  # Class name</a:t>
            </a:r>
            <a:endParaRPr lang="en-US" sz="1620" b="0" u="none" strike="noStrike">
              <a:solidFill>
                <a:srgbClr val="000000"/>
              </a:solidFill>
              <a:effectLst/>
              <a:uFillTx/>
              <a:latin typeface="Arial"/>
            </a:endParaRPr>
          </a:p>
        </p:txBody>
      </p:sp>
      <p:sp>
        <p:nvSpPr>
          <p:cNvPr id="521"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2"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523"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Book</a:t>
            </a:r>
            <a:endParaRPr lang="en-US" sz="1600" b="0" u="none" strike="noStrike">
              <a:solidFill>
                <a:srgbClr val="000000"/>
              </a:solidFill>
              <a:effectLst/>
              <a:uFillTx/>
              <a:latin typeface="Arial"/>
            </a:endParaRPr>
          </a:p>
        </p:txBody>
      </p:sp>
      <p:sp>
        <p:nvSpPr>
          <p:cNvPr id="524"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525"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Book is a class</a:t>
            </a:r>
            <a:endParaRPr lang="en-US" sz="1679" b="0" u="none" strike="noStrike">
              <a:solidFill>
                <a:srgbClr val="000000"/>
              </a:solidFill>
              <a:effectLst/>
              <a:uFillTx/>
              <a:latin typeface="Arial"/>
            </a:endParaRPr>
          </a:p>
        </p:txBody>
      </p:sp>
      <p:sp>
        <p:nvSpPr>
          <p:cNvPr id="526"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book is an object</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527"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528"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529"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Attributes: information about an object</a:t>
            </a:r>
            <a:endParaRPr lang="en-US" sz="3400" b="0" u="none" strike="noStrike">
              <a:solidFill>
                <a:srgbClr val="000000"/>
              </a:solidFill>
              <a:effectLst/>
              <a:uFillTx/>
              <a:latin typeface="Arial"/>
            </a:endParaRPr>
          </a:p>
        </p:txBody>
      </p:sp>
      <p:sp>
        <p:nvSpPr>
          <p:cNvPr id="530"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531"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532"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035</a:t>
            </a:r>
            <a:endParaRPr lang="en-US" sz="1000" b="0" u="none" strike="noStrike">
              <a:solidFill>
                <a:srgbClr val="000000"/>
              </a:solidFill>
              <a:effectLst/>
              <a:uFillTx/>
              <a:latin typeface="Arial"/>
            </a:endParaRPr>
          </a:p>
        </p:txBody>
      </p:sp>
      <p:sp>
        <p:nvSpPr>
          <p:cNvPr id="533"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34"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535"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An attribute is a value stored on an object.</a:t>
            </a:r>
            <a:endParaRPr lang="en-US" sz="2250" b="0" u="none" strike="noStrike">
              <a:solidFill>
                <a:srgbClr val="000000"/>
              </a:solidFill>
              <a:effectLst/>
              <a:uFillTx/>
              <a:latin typeface="Arial"/>
            </a:endParaRPr>
          </a:p>
        </p:txBody>
      </p:sp>
      <p:sp>
        <p:nvSpPr>
          <p:cNvPr id="536"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537"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student can have a name and marks</a:t>
            </a:r>
            <a:endParaRPr lang="en-US" sz="2100" b="0" u="none" strike="noStrike">
              <a:solidFill>
                <a:srgbClr val="000000"/>
              </a:solidFill>
              <a:effectLst/>
              <a:uFillTx/>
              <a:latin typeface="Arial"/>
            </a:endParaRPr>
          </a:p>
        </p:txBody>
      </p:sp>
      <p:sp>
        <p:nvSpPr>
          <p:cNvPr id="538"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539"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dot notation: student.name</a:t>
            </a:r>
            <a:endParaRPr lang="en-US" sz="2100" b="0" u="none" strike="noStrike">
              <a:solidFill>
                <a:srgbClr val="000000"/>
              </a:solidFill>
              <a:effectLst/>
              <a:uFillTx/>
              <a:latin typeface="Arial"/>
            </a:endParaRPr>
          </a:p>
        </p:txBody>
      </p:sp>
      <p:sp>
        <p:nvSpPr>
          <p:cNvPr id="540"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541"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Different objects can store different values</a:t>
            </a:r>
            <a:endParaRPr lang="en-US" sz="2100" b="0" u="none" strike="noStrike">
              <a:solidFill>
                <a:srgbClr val="000000"/>
              </a:solidFill>
              <a:effectLst/>
              <a:uFillTx/>
              <a:latin typeface="Arial"/>
            </a:endParaRPr>
          </a:p>
        </p:txBody>
      </p:sp>
      <p:sp>
        <p:nvSpPr>
          <p:cNvPr id="542"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543"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We will add these values automatically with __init__</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544"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545"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546"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Attributes: name and marks</a:t>
            </a:r>
            <a:endParaRPr lang="en-US" sz="3400" b="0" u="none" strike="noStrike">
              <a:solidFill>
                <a:srgbClr val="000000"/>
              </a:solidFill>
              <a:effectLst/>
              <a:uFillTx/>
              <a:latin typeface="Arial"/>
            </a:endParaRPr>
          </a:p>
        </p:txBody>
      </p:sp>
      <p:sp>
        <p:nvSpPr>
          <p:cNvPr id="547"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548"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549"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036</a:t>
            </a:r>
            <a:endParaRPr lang="en-US" sz="1000" b="0" u="none" strike="noStrike">
              <a:solidFill>
                <a:srgbClr val="000000"/>
              </a:solidFill>
              <a:effectLst/>
              <a:uFillTx/>
              <a:latin typeface="Arial"/>
            </a:endParaRPr>
          </a:p>
        </p:txBody>
      </p:sp>
      <p:sp>
        <p:nvSpPr>
          <p:cNvPr id="550"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551"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52"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class Student:  # Class</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pass</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ali = Student()  # Make object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ali.name = "Ali"  # Add attribute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ali.marks = 85  # Add another attribute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print(ali.name)  # Read attribute</a:t>
            </a:r>
            <a:endParaRPr lang="en-US" sz="1550" b="0" u="none" strike="noStrike">
              <a:solidFill>
                <a:srgbClr val="000000"/>
              </a:solidFill>
              <a:effectLst/>
              <a:uFillTx/>
              <a:latin typeface="Arial"/>
            </a:endParaRPr>
          </a:p>
        </p:txBody>
      </p:sp>
      <p:sp>
        <p:nvSpPr>
          <p:cNvPr id="553"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4"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555"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Object has two attributes</a:t>
            </a:r>
            <a:endParaRPr lang="en-US" sz="1750" b="0" u="none" strike="noStrike">
              <a:solidFill>
                <a:srgbClr val="000000"/>
              </a:solidFill>
              <a:effectLst/>
              <a:uFillTx/>
              <a:latin typeface="Arial"/>
            </a:endParaRPr>
          </a:p>
        </p:txBody>
      </p:sp>
      <p:sp>
        <p:nvSpPr>
          <p:cNvPr id="556"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Dot accesses attributes</a:t>
            </a:r>
            <a:endParaRPr lang="en-US" sz="1750" b="0" u="none" strike="noStrike">
              <a:solidFill>
                <a:srgbClr val="000000"/>
              </a:solidFill>
              <a:effectLst/>
              <a:uFillTx/>
              <a:latin typeface="Arial"/>
            </a:endParaRPr>
          </a:p>
        </p:txBody>
      </p:sp>
      <p:sp>
        <p:nvSpPr>
          <p:cNvPr id="557"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Values belong to ali</a:t>
            </a:r>
            <a:endParaRPr lang="en-US" sz="1750" b="0" u="none" strike="noStrike">
              <a:solidFill>
                <a:srgbClr val="000000"/>
              </a:solidFill>
              <a:effectLst/>
              <a:uFillTx/>
              <a:latin typeface="Arial"/>
            </a:endParaRPr>
          </a:p>
        </p:txBody>
      </p:sp>
      <p:sp>
        <p:nvSpPr>
          <p:cNvPr id="558"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9"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560"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Ali</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56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56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56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Attribute practice</a:t>
            </a:r>
            <a:endParaRPr lang="en-US" sz="3400" b="0" u="none" strike="noStrike">
              <a:solidFill>
                <a:srgbClr val="000000"/>
              </a:solidFill>
              <a:effectLst/>
              <a:uFillTx/>
              <a:latin typeface="Arial"/>
            </a:endParaRPr>
          </a:p>
        </p:txBody>
      </p:sp>
      <p:sp>
        <p:nvSpPr>
          <p:cNvPr id="56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56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56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037</a:t>
            </a:r>
            <a:endParaRPr lang="en-US" sz="1000" b="0" u="none" strike="noStrike">
              <a:solidFill>
                <a:srgbClr val="000000"/>
              </a:solidFill>
              <a:effectLst/>
              <a:uFillTx/>
              <a:latin typeface="Arial"/>
            </a:endParaRPr>
          </a:p>
        </p:txBody>
      </p:sp>
      <p:sp>
        <p:nvSpPr>
          <p:cNvPr id="567"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8"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569"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Give a Book object a title and price.</a:t>
            </a:r>
            <a:endParaRPr lang="en-US" sz="1960" b="0" u="none" strike="noStrike">
              <a:solidFill>
                <a:srgbClr val="000000"/>
              </a:solidFill>
              <a:effectLst/>
              <a:uFillTx/>
              <a:latin typeface="Arial"/>
            </a:endParaRPr>
          </a:p>
        </p:txBody>
      </p:sp>
      <p:sp>
        <p:nvSpPr>
          <p:cNvPr id="570"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1"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class Book:</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pass</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book = Book()</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book.title = ?</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book.price = ?</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Print the book title</a:t>
            </a:r>
            <a:endParaRPr lang="en-US" sz="1580" b="0" u="none" strike="noStrike">
              <a:solidFill>
                <a:srgbClr val="000000"/>
              </a:solidFill>
              <a:effectLst/>
              <a:uFillTx/>
              <a:latin typeface="Arial"/>
            </a:endParaRPr>
          </a:p>
        </p:txBody>
      </p:sp>
      <p:sp>
        <p:nvSpPr>
          <p:cNvPr id="572"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3"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574"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Set title to "Python"</a:t>
            </a:r>
            <a:endParaRPr lang="en-US" sz="1820" b="0" u="none" strike="noStrike">
              <a:solidFill>
                <a:srgbClr val="000000"/>
              </a:solidFill>
              <a:effectLst/>
              <a:uFillTx/>
              <a:latin typeface="Arial"/>
            </a:endParaRPr>
          </a:p>
        </p:txBody>
      </p:sp>
      <p:sp>
        <p:nvSpPr>
          <p:cNvPr id="575"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Set price to 500</a:t>
            </a:r>
            <a:endParaRPr lang="en-US" sz="1820" b="0" u="none" strike="noStrike">
              <a:solidFill>
                <a:srgbClr val="000000"/>
              </a:solidFill>
              <a:effectLst/>
              <a:uFillTx/>
              <a:latin typeface="Arial"/>
            </a:endParaRPr>
          </a:p>
        </p:txBody>
      </p:sp>
      <p:sp>
        <p:nvSpPr>
          <p:cNvPr id="576"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Print title</a:t>
            </a:r>
            <a:endParaRPr lang="en-US" sz="1820" b="0" u="none" strike="noStrike">
              <a:solidFill>
                <a:srgbClr val="000000"/>
              </a:solidFill>
              <a:effectLst/>
              <a:uFillTx/>
              <a:latin typeface="Arial"/>
            </a:endParaRPr>
          </a:p>
        </p:txBody>
      </p:sp>
      <p:sp>
        <p:nvSpPr>
          <p:cNvPr id="577"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No constructor yet</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57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57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58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Attribute answer</a:t>
            </a:r>
            <a:endParaRPr lang="en-US" sz="3400" b="0" u="none" strike="noStrike">
              <a:solidFill>
                <a:srgbClr val="000000"/>
              </a:solidFill>
              <a:effectLst/>
              <a:uFillTx/>
              <a:latin typeface="Arial"/>
            </a:endParaRPr>
          </a:p>
        </p:txBody>
      </p:sp>
      <p:sp>
        <p:nvSpPr>
          <p:cNvPr id="58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58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58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038</a:t>
            </a:r>
            <a:endParaRPr lang="en-US" sz="1000" b="0" u="none" strike="noStrike">
              <a:solidFill>
                <a:srgbClr val="000000"/>
              </a:solidFill>
              <a:effectLst/>
              <a:uFillTx/>
              <a:latin typeface="Arial"/>
            </a:endParaRPr>
          </a:p>
        </p:txBody>
      </p:sp>
      <p:sp>
        <p:nvSpPr>
          <p:cNvPr id="584"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5"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586"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7"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class Book:  # Define class</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pass</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book = Book()  # New object</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book.title = "Python"  # Save title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book.price = 500  # Save price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print(book.title)  # Access attribute</a:t>
            </a:r>
            <a:endParaRPr lang="en-US" sz="1620" b="0" u="none" strike="noStrike">
              <a:solidFill>
                <a:srgbClr val="000000"/>
              </a:solidFill>
              <a:effectLst/>
              <a:uFillTx/>
              <a:latin typeface="Arial"/>
            </a:endParaRPr>
          </a:p>
        </p:txBody>
      </p:sp>
      <p:sp>
        <p:nvSpPr>
          <p:cNvPr id="588"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9"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590"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Python</a:t>
            </a:r>
            <a:endParaRPr lang="en-US" sz="1600" b="0" u="none" strike="noStrike">
              <a:solidFill>
                <a:srgbClr val="000000"/>
              </a:solidFill>
              <a:effectLst/>
              <a:uFillTx/>
              <a:latin typeface="Arial"/>
            </a:endParaRPr>
          </a:p>
        </p:txBody>
      </p:sp>
      <p:sp>
        <p:nvSpPr>
          <p:cNvPr id="591"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592"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Each value is on book</a:t>
            </a:r>
            <a:endParaRPr lang="en-US" sz="1679" b="0" u="none" strike="noStrike">
              <a:solidFill>
                <a:srgbClr val="000000"/>
              </a:solidFill>
              <a:effectLst/>
              <a:uFillTx/>
              <a:latin typeface="Arial"/>
            </a:endParaRPr>
          </a:p>
        </p:txBody>
      </p:sp>
      <p:sp>
        <p:nvSpPr>
          <p:cNvPr id="593"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Use dot notation</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594"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595"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596"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Constructor: __init__</a:t>
            </a:r>
            <a:endParaRPr lang="en-US" sz="3400" b="0" u="none" strike="noStrike">
              <a:solidFill>
                <a:srgbClr val="000000"/>
              </a:solidFill>
              <a:effectLst/>
              <a:uFillTx/>
              <a:latin typeface="Arial"/>
            </a:endParaRPr>
          </a:p>
        </p:txBody>
      </p:sp>
      <p:sp>
        <p:nvSpPr>
          <p:cNvPr id="597"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598"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599"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039</a:t>
            </a:r>
            <a:endParaRPr lang="en-US" sz="1000" b="0" u="none" strike="noStrike">
              <a:solidFill>
                <a:srgbClr val="000000"/>
              </a:solidFill>
              <a:effectLst/>
              <a:uFillTx/>
              <a:latin typeface="Arial"/>
            </a:endParaRPr>
          </a:p>
        </p:txBody>
      </p:sp>
      <p:sp>
        <p:nvSpPr>
          <p:cNvPr id="600"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01"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602"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__init__ initializes an object when the object is created.</a:t>
            </a:r>
            <a:endParaRPr lang="en-US" sz="2250" b="0" u="none" strike="noStrike">
              <a:solidFill>
                <a:srgbClr val="000000"/>
              </a:solidFill>
              <a:effectLst/>
              <a:uFillTx/>
              <a:latin typeface="Arial"/>
            </a:endParaRPr>
          </a:p>
        </p:txBody>
      </p:sp>
      <p:sp>
        <p:nvSpPr>
          <p:cNvPr id="603"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04"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It receives information for the new object</a:t>
            </a:r>
            <a:endParaRPr lang="en-US" sz="2100" b="0" u="none" strike="noStrike">
              <a:solidFill>
                <a:srgbClr val="000000"/>
              </a:solidFill>
              <a:effectLst/>
              <a:uFillTx/>
              <a:latin typeface="Arial"/>
            </a:endParaRPr>
          </a:p>
        </p:txBody>
      </p:sp>
      <p:sp>
        <p:nvSpPr>
          <p:cNvPr id="605"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06"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self refers to the current object</a:t>
            </a:r>
            <a:endParaRPr lang="en-US" sz="2100" b="0" u="none" strike="noStrike">
              <a:solidFill>
                <a:srgbClr val="000000"/>
              </a:solidFill>
              <a:effectLst/>
              <a:uFillTx/>
              <a:latin typeface="Arial"/>
            </a:endParaRPr>
          </a:p>
        </p:txBody>
      </p:sp>
      <p:sp>
        <p:nvSpPr>
          <p:cNvPr id="607"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08"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Set attributes using self.name = name</a:t>
            </a:r>
            <a:endParaRPr lang="en-US" sz="2100" b="0" u="none" strike="noStrike">
              <a:solidFill>
                <a:srgbClr val="000000"/>
              </a:solidFill>
              <a:effectLst/>
              <a:uFillTx/>
              <a:latin typeface="Arial"/>
            </a:endParaRPr>
          </a:p>
        </p:txBody>
      </p:sp>
      <p:sp>
        <p:nvSpPr>
          <p:cNvPr id="609"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10"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__init__ is called automatically after Student(...)</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61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61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61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Constructor: give each student a name</a:t>
            </a:r>
            <a:endParaRPr lang="en-US" sz="3400" b="0" u="none" strike="noStrike">
              <a:solidFill>
                <a:srgbClr val="000000"/>
              </a:solidFill>
              <a:effectLst/>
              <a:uFillTx/>
              <a:latin typeface="Arial"/>
            </a:endParaRPr>
          </a:p>
        </p:txBody>
      </p:sp>
      <p:sp>
        <p:nvSpPr>
          <p:cNvPr id="61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61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61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040</a:t>
            </a:r>
            <a:endParaRPr lang="en-US" sz="1000" b="0" u="none" strike="noStrike">
              <a:solidFill>
                <a:srgbClr val="000000"/>
              </a:solidFill>
              <a:effectLst/>
              <a:uFillTx/>
              <a:latin typeface="Arial"/>
            </a:endParaRPr>
          </a:p>
        </p:txBody>
      </p:sp>
      <p:sp>
        <p:nvSpPr>
          <p:cNvPr id="617"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618"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9"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class Student: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def __init__(self, name):  # Set starting data</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self.name = name  # Save on this object</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ali = Student("Ali")  # Pass a name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print(ali.name)  # Read stored name</a:t>
            </a:r>
            <a:endParaRPr lang="en-US" sz="1550" b="0" u="none" strike="noStrike">
              <a:solidFill>
                <a:srgbClr val="000000"/>
              </a:solidFill>
              <a:effectLst/>
              <a:uFillTx/>
              <a:latin typeface="Arial"/>
            </a:endParaRPr>
          </a:p>
        </p:txBody>
      </p:sp>
      <p:sp>
        <p:nvSpPr>
          <p:cNvPr id="620"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1"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622"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self means this object</a:t>
            </a:r>
            <a:endParaRPr lang="en-US" sz="1750" b="0" u="none" strike="noStrike">
              <a:solidFill>
                <a:srgbClr val="000000"/>
              </a:solidFill>
              <a:effectLst/>
              <a:uFillTx/>
              <a:latin typeface="Arial"/>
            </a:endParaRPr>
          </a:p>
        </p:txBody>
      </p:sp>
      <p:sp>
        <p:nvSpPr>
          <p:cNvPr id="623"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name is a parameter</a:t>
            </a:r>
            <a:endParaRPr lang="en-US" sz="1750" b="0" u="none" strike="noStrike">
              <a:solidFill>
                <a:srgbClr val="000000"/>
              </a:solidFill>
              <a:effectLst/>
              <a:uFillTx/>
              <a:latin typeface="Arial"/>
            </a:endParaRPr>
          </a:p>
        </p:txBody>
      </p:sp>
      <p:sp>
        <p:nvSpPr>
          <p:cNvPr id="624"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__init__ sets the attribute</a:t>
            </a:r>
            <a:endParaRPr lang="en-US" sz="1750" b="0" u="none" strike="noStrike">
              <a:solidFill>
                <a:srgbClr val="000000"/>
              </a:solidFill>
              <a:effectLst/>
              <a:uFillTx/>
              <a:latin typeface="Arial"/>
            </a:endParaRPr>
          </a:p>
        </p:txBody>
      </p:sp>
      <p:sp>
        <p:nvSpPr>
          <p:cNvPr id="625"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6"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627"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Ali</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62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62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63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Constructor practice</a:t>
            </a:r>
            <a:endParaRPr lang="en-US" sz="3400" b="0" u="none" strike="noStrike">
              <a:solidFill>
                <a:srgbClr val="000000"/>
              </a:solidFill>
              <a:effectLst/>
              <a:uFillTx/>
              <a:latin typeface="Arial"/>
            </a:endParaRPr>
          </a:p>
        </p:txBody>
      </p:sp>
      <p:sp>
        <p:nvSpPr>
          <p:cNvPr id="63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63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63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041</a:t>
            </a:r>
            <a:endParaRPr lang="en-US" sz="1000" b="0" u="none" strike="noStrike">
              <a:solidFill>
                <a:srgbClr val="000000"/>
              </a:solidFill>
              <a:effectLst/>
              <a:uFillTx/>
              <a:latin typeface="Arial"/>
            </a:endParaRPr>
          </a:p>
        </p:txBody>
      </p:sp>
      <p:sp>
        <p:nvSpPr>
          <p:cNvPr id="634"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5"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636"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Create a Book that receives its title.</a:t>
            </a:r>
            <a:endParaRPr lang="en-US" sz="1960" b="0" u="none" strike="noStrike">
              <a:solidFill>
                <a:srgbClr val="000000"/>
              </a:solidFill>
              <a:effectLst/>
              <a:uFillTx/>
              <a:latin typeface="Arial"/>
            </a:endParaRPr>
          </a:p>
        </p:txBody>
      </p:sp>
      <p:sp>
        <p:nvSpPr>
          <p:cNvPr id="637"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8"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class Book:</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def __init__(self, title):</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 Store title on self</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pass</a:t>
            </a:r>
            <a:endParaRPr lang="en-US" sz="1580" b="0" u="none" strike="noStrike">
              <a:solidFill>
                <a:srgbClr val="000000"/>
              </a:solidFill>
              <a:effectLst/>
              <a:uFillTx/>
              <a:latin typeface="Arial"/>
            </a:endParaRPr>
          </a:p>
          <a:p>
            <a:pPr defTabSz="914400">
              <a:lnSpc>
                <a:spcPct val="100000"/>
              </a:lnSpc>
              <a:tabLst>
                <a:tab pos="0" algn="l"/>
              </a:tabLst>
            </a:pP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book = Book("Python")</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Print the title</a:t>
            </a:r>
            <a:endParaRPr lang="en-US" sz="1580" b="0" u="none" strike="noStrike">
              <a:solidFill>
                <a:srgbClr val="000000"/>
              </a:solidFill>
              <a:effectLst/>
              <a:uFillTx/>
              <a:latin typeface="Arial"/>
            </a:endParaRPr>
          </a:p>
        </p:txBody>
      </p:sp>
      <p:sp>
        <p:nvSpPr>
          <p:cNvPr id="639"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0"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641"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Replace pass</a:t>
            </a:r>
            <a:endParaRPr lang="en-US" sz="1820" b="0" u="none" strike="noStrike">
              <a:solidFill>
                <a:srgbClr val="000000"/>
              </a:solidFill>
              <a:effectLst/>
              <a:uFillTx/>
              <a:latin typeface="Arial"/>
            </a:endParaRPr>
          </a:p>
        </p:txBody>
      </p:sp>
      <p:sp>
        <p:nvSpPr>
          <p:cNvPr id="642"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Use self.title = title</a:t>
            </a:r>
            <a:endParaRPr lang="en-US" sz="1820" b="0" u="none" strike="noStrike">
              <a:solidFill>
                <a:srgbClr val="000000"/>
              </a:solidFill>
              <a:effectLst/>
              <a:uFillTx/>
              <a:latin typeface="Arial"/>
            </a:endParaRPr>
          </a:p>
        </p:txBody>
      </p:sp>
      <p:sp>
        <p:nvSpPr>
          <p:cNvPr id="643"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Print book.title</a:t>
            </a:r>
            <a:endParaRPr lang="en-US" sz="1820" b="0" u="none" strike="noStrike">
              <a:solidFill>
                <a:srgbClr val="000000"/>
              </a:solidFill>
              <a:effectLst/>
              <a:uFillTx/>
              <a:latin typeface="Arial"/>
            </a:endParaRPr>
          </a:p>
        </p:txBody>
      </p:sp>
      <p:sp>
        <p:nvSpPr>
          <p:cNvPr id="644"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Do not use a global variable</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64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64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64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Constructor answer</a:t>
            </a:r>
            <a:endParaRPr lang="en-US" sz="3400" b="0" u="none" strike="noStrike">
              <a:solidFill>
                <a:srgbClr val="000000"/>
              </a:solidFill>
              <a:effectLst/>
              <a:uFillTx/>
              <a:latin typeface="Arial"/>
            </a:endParaRPr>
          </a:p>
        </p:txBody>
      </p:sp>
      <p:sp>
        <p:nvSpPr>
          <p:cNvPr id="64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64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65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042</a:t>
            </a:r>
            <a:endParaRPr lang="en-US" sz="1000" b="0" u="none" strike="noStrike">
              <a:solidFill>
                <a:srgbClr val="000000"/>
              </a:solidFill>
              <a:effectLst/>
              <a:uFillTx/>
              <a:latin typeface="Arial"/>
            </a:endParaRPr>
          </a:p>
        </p:txBody>
      </p:sp>
      <p:sp>
        <p:nvSpPr>
          <p:cNvPr id="651"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2"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653"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4"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class Book:</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def __init__(self, title):  # Set title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self.title = title  # Keep it on object</a:t>
            </a:r>
            <a:endParaRPr lang="en-US" sz="1620" b="0" u="none" strike="noStrike">
              <a:solidFill>
                <a:srgbClr val="000000"/>
              </a:solidFill>
              <a:effectLst/>
              <a:uFillTx/>
              <a:latin typeface="Arial"/>
            </a:endParaRPr>
          </a:p>
          <a:p>
            <a:pPr defTabSz="914400">
              <a:lnSpc>
                <a:spcPct val="100000"/>
              </a:lnSpc>
              <a:tabLst>
                <a:tab pos="0" algn="l"/>
              </a:tabLst>
            </a:pP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book = Book("Python")  # New book</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print(book.title)  # Display title</a:t>
            </a:r>
            <a:endParaRPr lang="en-US" sz="1620" b="0" u="none" strike="noStrike">
              <a:solidFill>
                <a:srgbClr val="000000"/>
              </a:solidFill>
              <a:effectLst/>
              <a:uFillTx/>
              <a:latin typeface="Arial"/>
            </a:endParaRPr>
          </a:p>
        </p:txBody>
      </p:sp>
      <p:sp>
        <p:nvSpPr>
          <p:cNvPr id="655"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6"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657"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Python</a:t>
            </a:r>
            <a:endParaRPr lang="en-US" sz="1600" b="0" u="none" strike="noStrike">
              <a:solidFill>
                <a:srgbClr val="000000"/>
              </a:solidFill>
              <a:effectLst/>
              <a:uFillTx/>
              <a:latin typeface="Arial"/>
            </a:endParaRPr>
          </a:p>
        </p:txBody>
      </p:sp>
      <p:sp>
        <p:nvSpPr>
          <p:cNvPr id="658"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659"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__init__ runs on creation</a:t>
            </a:r>
            <a:endParaRPr lang="en-US" sz="1679" b="0" u="none" strike="noStrike">
              <a:solidFill>
                <a:srgbClr val="000000"/>
              </a:solidFill>
              <a:effectLst/>
              <a:uFillTx/>
              <a:latin typeface="Arial"/>
            </a:endParaRPr>
          </a:p>
        </p:txBody>
      </p:sp>
      <p:sp>
        <p:nvSpPr>
          <p:cNvPr id="660"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79" b="0" u="none" strike="noStrike">
                <a:solidFill>
                  <a:srgbClr val="152B42"/>
                </a:solidFill>
                <a:effectLst/>
                <a:uFillTx/>
                <a:latin typeface="Aptos"/>
                <a:ea typeface="Aptos"/>
              </a:rPr>
              <a:t>• Each book may have its own title</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66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66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66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Methods: actions an object can perform</a:t>
            </a:r>
            <a:endParaRPr lang="en-US" sz="3400" b="0" u="none" strike="noStrike">
              <a:solidFill>
                <a:srgbClr val="000000"/>
              </a:solidFill>
              <a:effectLst/>
              <a:uFillTx/>
              <a:latin typeface="Arial"/>
            </a:endParaRPr>
          </a:p>
        </p:txBody>
      </p:sp>
      <p:sp>
        <p:nvSpPr>
          <p:cNvPr id="66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66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66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043</a:t>
            </a:r>
            <a:endParaRPr lang="en-US" sz="1000" b="0" u="none" strike="noStrike">
              <a:solidFill>
                <a:srgbClr val="000000"/>
              </a:solidFill>
              <a:effectLst/>
              <a:uFillTx/>
              <a:latin typeface="Arial"/>
            </a:endParaRPr>
          </a:p>
        </p:txBody>
      </p:sp>
      <p:sp>
        <p:nvSpPr>
          <p:cNvPr id="667"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68"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669"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A method is a function written inside a class.</a:t>
            </a:r>
            <a:endParaRPr lang="en-US" sz="2250" b="0" u="none" strike="noStrike">
              <a:solidFill>
                <a:srgbClr val="000000"/>
              </a:solidFill>
              <a:effectLst/>
              <a:uFillTx/>
              <a:latin typeface="Arial"/>
            </a:endParaRPr>
          </a:p>
        </p:txBody>
      </p:sp>
      <p:sp>
        <p:nvSpPr>
          <p:cNvPr id="670"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71"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The first parameter is usually self</a:t>
            </a:r>
            <a:endParaRPr lang="en-US" sz="2100" b="0" u="none" strike="noStrike">
              <a:solidFill>
                <a:srgbClr val="000000"/>
              </a:solidFill>
              <a:effectLst/>
              <a:uFillTx/>
              <a:latin typeface="Arial"/>
            </a:endParaRPr>
          </a:p>
        </p:txBody>
      </p:sp>
      <p:sp>
        <p:nvSpPr>
          <p:cNvPr id="672"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73"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Call it using object.method()</a:t>
            </a:r>
            <a:endParaRPr lang="en-US" sz="2100" b="0" u="none" strike="noStrike">
              <a:solidFill>
                <a:srgbClr val="000000"/>
              </a:solidFill>
              <a:effectLst/>
              <a:uFillTx/>
              <a:latin typeface="Arial"/>
            </a:endParaRPr>
          </a:p>
        </p:txBody>
      </p:sp>
      <p:sp>
        <p:nvSpPr>
          <p:cNvPr id="674"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75"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Methods can read or change attributes</a:t>
            </a:r>
            <a:endParaRPr lang="en-US" sz="2100" b="0" u="none" strike="noStrike">
              <a:solidFill>
                <a:srgbClr val="000000"/>
              </a:solidFill>
              <a:effectLst/>
              <a:uFillTx/>
              <a:latin typeface="Arial"/>
            </a:endParaRPr>
          </a:p>
        </p:txBody>
      </p:sp>
      <p:sp>
        <p:nvSpPr>
          <p:cNvPr id="676"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77"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method can also return information</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67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67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68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Method: a student introduces themselves</a:t>
            </a:r>
            <a:endParaRPr lang="en-US" sz="3400" b="0" u="none" strike="noStrike">
              <a:solidFill>
                <a:srgbClr val="000000"/>
              </a:solidFill>
              <a:effectLst/>
              <a:uFillTx/>
              <a:latin typeface="Arial"/>
            </a:endParaRPr>
          </a:p>
        </p:txBody>
      </p:sp>
      <p:sp>
        <p:nvSpPr>
          <p:cNvPr id="68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68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68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044</a:t>
            </a:r>
            <a:endParaRPr lang="en-US" sz="1000" b="0" u="none" strike="noStrike">
              <a:solidFill>
                <a:srgbClr val="000000"/>
              </a:solidFill>
              <a:effectLst/>
              <a:uFillTx/>
              <a:latin typeface="Arial"/>
            </a:endParaRPr>
          </a:p>
        </p:txBody>
      </p:sp>
      <p:sp>
        <p:nvSpPr>
          <p:cNvPr id="684"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685"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6"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class Student: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def __init__(self, name):  # Save name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self.name = name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def greet(self):  # Method on the object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return "Hello, " + self.name</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ali = Student("Ali")  # Make student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print(ali.greet())  # Call method</a:t>
            </a:r>
            <a:endParaRPr lang="en-US" sz="1550" b="0" u="none" strike="noStrike">
              <a:solidFill>
                <a:srgbClr val="000000"/>
              </a:solidFill>
              <a:effectLst/>
              <a:uFillTx/>
              <a:latin typeface="Arial"/>
            </a:endParaRPr>
          </a:p>
        </p:txBody>
      </p:sp>
      <p:sp>
        <p:nvSpPr>
          <p:cNvPr id="687"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8"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689"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greet belongs to Student</a:t>
            </a:r>
            <a:endParaRPr lang="en-US" sz="1750" b="0" u="none" strike="noStrike">
              <a:solidFill>
                <a:srgbClr val="000000"/>
              </a:solidFill>
              <a:effectLst/>
              <a:uFillTx/>
              <a:latin typeface="Arial"/>
            </a:endParaRPr>
          </a:p>
        </p:txBody>
      </p:sp>
      <p:sp>
        <p:nvSpPr>
          <p:cNvPr id="690"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self.name reads saved name</a:t>
            </a:r>
            <a:endParaRPr lang="en-US" sz="1750" b="0" u="none" strike="noStrike">
              <a:solidFill>
                <a:srgbClr val="000000"/>
              </a:solidFill>
              <a:effectLst/>
              <a:uFillTx/>
              <a:latin typeface="Arial"/>
            </a:endParaRPr>
          </a:p>
        </p:txBody>
      </p:sp>
      <p:sp>
        <p:nvSpPr>
          <p:cNvPr id="691"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return sends text back</a:t>
            </a:r>
            <a:endParaRPr lang="en-US" sz="1750" b="0" u="none" strike="noStrike">
              <a:solidFill>
                <a:srgbClr val="000000"/>
              </a:solidFill>
              <a:effectLst/>
              <a:uFillTx/>
              <a:latin typeface="Arial"/>
            </a:endParaRPr>
          </a:p>
        </p:txBody>
      </p:sp>
      <p:sp>
        <p:nvSpPr>
          <p:cNvPr id="692"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3"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694"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Hello, Ali</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69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69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69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Method practice</a:t>
            </a:r>
            <a:endParaRPr lang="en-US" sz="3400" b="0" u="none" strike="noStrike">
              <a:solidFill>
                <a:srgbClr val="000000"/>
              </a:solidFill>
              <a:effectLst/>
              <a:uFillTx/>
              <a:latin typeface="Arial"/>
            </a:endParaRPr>
          </a:p>
        </p:txBody>
      </p:sp>
      <p:sp>
        <p:nvSpPr>
          <p:cNvPr id="69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69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70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045</a:t>
            </a:r>
            <a:endParaRPr lang="en-US" sz="1000" b="0" u="none" strike="noStrike">
              <a:solidFill>
                <a:srgbClr val="000000"/>
              </a:solidFill>
              <a:effectLst/>
              <a:uFillTx/>
              <a:latin typeface="Arial"/>
            </a:endParaRPr>
          </a:p>
        </p:txBody>
      </p:sp>
      <p:sp>
        <p:nvSpPr>
          <p:cNvPr id="701"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2"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703"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Add a method that returns a book title.</a:t>
            </a:r>
            <a:endParaRPr lang="en-US" sz="1960" b="0" u="none" strike="noStrike">
              <a:solidFill>
                <a:srgbClr val="000000"/>
              </a:solidFill>
              <a:effectLst/>
              <a:uFillTx/>
              <a:latin typeface="Arial"/>
            </a:endParaRPr>
          </a:p>
        </p:txBody>
      </p:sp>
      <p:sp>
        <p:nvSpPr>
          <p:cNvPr id="704"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5"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class Book:</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def __init__(self, title):</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self.title = title</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 Add show_title(self)</a:t>
            </a:r>
            <a:endParaRPr lang="en-US" sz="1580" b="0" u="none" strike="noStrike">
              <a:solidFill>
                <a:srgbClr val="000000"/>
              </a:solidFill>
              <a:effectLst/>
              <a:uFillTx/>
              <a:latin typeface="Arial"/>
            </a:endParaRPr>
          </a:p>
          <a:p>
            <a:pPr defTabSz="914400">
              <a:lnSpc>
                <a:spcPct val="100000"/>
              </a:lnSpc>
              <a:tabLst>
                <a:tab pos="0" algn="l"/>
              </a:tabLst>
            </a:pP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book = Book("Python")</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Print book.show_title()</a:t>
            </a:r>
            <a:endParaRPr lang="en-US" sz="1580" b="0" u="none" strike="noStrike">
              <a:solidFill>
                <a:srgbClr val="000000"/>
              </a:solidFill>
              <a:effectLst/>
              <a:uFillTx/>
              <a:latin typeface="Arial"/>
            </a:endParaRPr>
          </a:p>
        </p:txBody>
      </p:sp>
      <p:sp>
        <p:nvSpPr>
          <p:cNvPr id="706"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7"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708"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Define a method</a:t>
            </a:r>
            <a:endParaRPr lang="en-US" sz="1820" b="0" u="none" strike="noStrike">
              <a:solidFill>
                <a:srgbClr val="000000"/>
              </a:solidFill>
              <a:effectLst/>
              <a:uFillTx/>
              <a:latin typeface="Arial"/>
            </a:endParaRPr>
          </a:p>
        </p:txBody>
      </p:sp>
      <p:sp>
        <p:nvSpPr>
          <p:cNvPr id="709"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Return self.title</a:t>
            </a:r>
            <a:endParaRPr lang="en-US" sz="1820" b="0" u="none" strike="noStrike">
              <a:solidFill>
                <a:srgbClr val="000000"/>
              </a:solidFill>
              <a:effectLst/>
              <a:uFillTx/>
              <a:latin typeface="Arial"/>
            </a:endParaRPr>
          </a:p>
        </p:txBody>
      </p:sp>
      <p:sp>
        <p:nvSpPr>
          <p:cNvPr id="710"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Create the book</a:t>
            </a:r>
            <a:endParaRPr lang="en-US" sz="1820" b="0" u="none" strike="noStrike">
              <a:solidFill>
                <a:srgbClr val="000000"/>
              </a:solidFill>
              <a:effectLst/>
              <a:uFillTx/>
              <a:latin typeface="Arial"/>
            </a:endParaRPr>
          </a:p>
        </p:txBody>
      </p:sp>
      <p:sp>
        <p:nvSpPr>
          <p:cNvPr id="711"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Print returned title</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71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71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71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Method answer</a:t>
            </a:r>
            <a:endParaRPr lang="en-US" sz="3400" b="0" u="none" strike="noStrike">
              <a:solidFill>
                <a:srgbClr val="000000"/>
              </a:solidFill>
              <a:effectLst/>
              <a:uFillTx/>
              <a:latin typeface="Arial"/>
            </a:endParaRPr>
          </a:p>
        </p:txBody>
      </p:sp>
      <p:sp>
        <p:nvSpPr>
          <p:cNvPr id="71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71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71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046</a:t>
            </a:r>
            <a:endParaRPr lang="en-US" sz="1000" b="0" u="none" strike="noStrike">
              <a:solidFill>
                <a:srgbClr val="000000"/>
              </a:solidFill>
              <a:effectLst/>
              <a:uFillTx/>
              <a:latin typeface="Arial"/>
            </a:endParaRPr>
          </a:p>
        </p:txBody>
      </p:sp>
      <p:sp>
        <p:nvSpPr>
          <p:cNvPr id="718"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9"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720"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21"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class Book:</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def __init__(self, title):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self.title = title  # Save title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def show_title(self):  # New method</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return self.title  # Return it</a:t>
            </a:r>
            <a:endParaRPr lang="en-US" sz="1620" b="0" u="none" strike="noStrike">
              <a:solidFill>
                <a:srgbClr val="000000"/>
              </a:solidFill>
              <a:effectLst/>
              <a:uFillTx/>
              <a:latin typeface="Arial"/>
            </a:endParaRPr>
          </a:p>
          <a:p>
            <a:pPr defTabSz="914400">
              <a:lnSpc>
                <a:spcPct val="100000"/>
              </a:lnSpc>
              <a:tabLst>
                <a:tab pos="0" algn="l"/>
              </a:tabLst>
            </a:pP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book = Book("Python")</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print(book.show_title())</a:t>
            </a:r>
            <a:endParaRPr lang="en-US" sz="1620" b="0" u="none" strike="noStrike">
              <a:solidFill>
                <a:srgbClr val="000000"/>
              </a:solidFill>
              <a:effectLst/>
              <a:uFillTx/>
              <a:latin typeface="Arial"/>
            </a:endParaRPr>
          </a:p>
        </p:txBody>
      </p:sp>
      <p:sp>
        <p:nvSpPr>
          <p:cNvPr id="722"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23"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724"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Python</a:t>
            </a:r>
            <a:endParaRPr lang="en-US" sz="1600" b="0" u="none" strike="noStrike">
              <a:solidFill>
                <a:srgbClr val="000000"/>
              </a:solidFill>
              <a:effectLst/>
              <a:uFillTx/>
              <a:latin typeface="Arial"/>
            </a:endParaRPr>
          </a:p>
        </p:txBody>
      </p:sp>
      <p:sp>
        <p:nvSpPr>
          <p:cNvPr id="725"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726"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Method uses self</a:t>
            </a:r>
            <a:endParaRPr lang="en-US" sz="1679" b="0" u="none" strike="noStrike">
              <a:solidFill>
                <a:srgbClr val="000000"/>
              </a:solidFill>
              <a:effectLst/>
              <a:uFillTx/>
              <a:latin typeface="Arial"/>
            </a:endParaRPr>
          </a:p>
        </p:txBody>
      </p:sp>
      <p:sp>
        <p:nvSpPr>
          <p:cNvPr id="727"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Return sends value to print</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72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72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73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Encapsulation: keep data under control</a:t>
            </a:r>
            <a:endParaRPr lang="en-US" sz="3400" b="0" u="none" strike="noStrike">
              <a:solidFill>
                <a:srgbClr val="000000"/>
              </a:solidFill>
              <a:effectLst/>
              <a:uFillTx/>
              <a:latin typeface="Arial"/>
            </a:endParaRPr>
          </a:p>
        </p:txBody>
      </p:sp>
      <p:sp>
        <p:nvSpPr>
          <p:cNvPr id="73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73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73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047</a:t>
            </a:r>
            <a:endParaRPr lang="en-US" sz="1000" b="0" u="none" strike="noStrike">
              <a:solidFill>
                <a:srgbClr val="000000"/>
              </a:solidFill>
              <a:effectLst/>
              <a:uFillTx/>
              <a:latin typeface="Arial"/>
            </a:endParaRPr>
          </a:p>
        </p:txBody>
      </p:sp>
      <p:sp>
        <p:nvSpPr>
          <p:cNvPr id="734"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5"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736"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Encapsulation groups data and behavior, and can limit direct changes.</a:t>
            </a:r>
            <a:endParaRPr lang="en-US" sz="2250" b="0" u="none" strike="noStrike">
              <a:solidFill>
                <a:srgbClr val="000000"/>
              </a:solidFill>
              <a:effectLst/>
              <a:uFillTx/>
              <a:latin typeface="Arial"/>
            </a:endParaRPr>
          </a:p>
        </p:txBody>
      </p:sp>
      <p:sp>
        <p:nvSpPr>
          <p:cNvPr id="737"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38"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Store related attributes and methods together</a:t>
            </a:r>
            <a:endParaRPr lang="en-US" sz="2100" b="0" u="none" strike="noStrike">
              <a:solidFill>
                <a:srgbClr val="000000"/>
              </a:solidFill>
              <a:effectLst/>
              <a:uFillTx/>
              <a:latin typeface="Arial"/>
            </a:endParaRPr>
          </a:p>
        </p:txBody>
      </p:sp>
      <p:sp>
        <p:nvSpPr>
          <p:cNvPr id="739"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40"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a leading underscore to mean internal-by-convention</a:t>
            </a:r>
            <a:endParaRPr lang="en-US" sz="2100" b="0" u="none" strike="noStrike">
              <a:solidFill>
                <a:srgbClr val="000000"/>
              </a:solidFill>
              <a:effectLst/>
              <a:uFillTx/>
              <a:latin typeface="Arial"/>
            </a:endParaRPr>
          </a:p>
        </p:txBody>
      </p:sp>
      <p:sp>
        <p:nvSpPr>
          <p:cNvPr id="741"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42"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Methods can validate updates</a:t>
            </a:r>
            <a:endParaRPr lang="en-US" sz="2100" b="0" u="none" strike="noStrike">
              <a:solidFill>
                <a:srgbClr val="000000"/>
              </a:solidFill>
              <a:effectLst/>
              <a:uFillTx/>
              <a:latin typeface="Arial"/>
            </a:endParaRPr>
          </a:p>
        </p:txBody>
      </p:sp>
      <p:sp>
        <p:nvSpPr>
          <p:cNvPr id="743"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44"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Python is flexible: this is not strict security</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74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74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74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Encapsulation: safe deposit method</a:t>
            </a:r>
            <a:endParaRPr lang="en-US" sz="3400" b="0" u="none" strike="noStrike">
              <a:solidFill>
                <a:srgbClr val="000000"/>
              </a:solidFill>
              <a:effectLst/>
              <a:uFillTx/>
              <a:latin typeface="Arial"/>
            </a:endParaRPr>
          </a:p>
        </p:txBody>
      </p:sp>
      <p:sp>
        <p:nvSpPr>
          <p:cNvPr id="74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74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75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048</a:t>
            </a:r>
            <a:endParaRPr lang="en-US" sz="1000" b="0" u="none" strike="noStrike">
              <a:solidFill>
                <a:srgbClr val="000000"/>
              </a:solidFill>
              <a:effectLst/>
              <a:uFillTx/>
              <a:latin typeface="Arial"/>
            </a:endParaRPr>
          </a:p>
        </p:txBody>
      </p:sp>
      <p:sp>
        <p:nvSpPr>
          <p:cNvPr id="751"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752"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3"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370" b="0" u="none" strike="noStrike" dirty="0">
                <a:solidFill>
                  <a:srgbClr val="ECF4FA"/>
                </a:solidFill>
                <a:effectLst/>
                <a:uFillTx/>
                <a:latin typeface="DejaVu Sans Mono"/>
                <a:ea typeface="DejaVu Sans Mono"/>
              </a:rPr>
              <a:t>class Account:</a:t>
            </a: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a:solidFill>
                  <a:srgbClr val="ECF4FA"/>
                </a:solidFill>
                <a:effectLst/>
                <a:uFillTx/>
                <a:latin typeface="DejaVu Sans Mono"/>
                <a:ea typeface="DejaVu Sans Mono"/>
              </a:rPr>
              <a:t>    </a:t>
            </a:r>
            <a:r>
              <a:rPr lang="en-US" sz="1370" b="0" u="none" strike="noStrike" dirty="0" err="1">
                <a:solidFill>
                  <a:srgbClr val="ECF4FA"/>
                </a:solidFill>
                <a:effectLst/>
                <a:uFillTx/>
                <a:latin typeface="DejaVu Sans Mono"/>
                <a:ea typeface="DejaVu Sans Mono"/>
              </a:rPr>
              <a:t>def</a:t>
            </a:r>
            <a:r>
              <a:rPr lang="en-US" sz="1370" b="0" u="none" strike="noStrike" dirty="0">
                <a:solidFill>
                  <a:srgbClr val="ECF4FA"/>
                </a:solidFill>
                <a:effectLst/>
                <a:uFillTx/>
                <a:latin typeface="DejaVu Sans Mono"/>
                <a:ea typeface="DejaVu Sans Mono"/>
              </a:rPr>
              <a:t> __</a:t>
            </a:r>
            <a:r>
              <a:rPr lang="en-US" sz="1370" b="0" u="none" strike="noStrike" dirty="0" err="1">
                <a:solidFill>
                  <a:srgbClr val="ECF4FA"/>
                </a:solidFill>
                <a:effectLst/>
                <a:uFillTx/>
                <a:latin typeface="DejaVu Sans Mono"/>
                <a:ea typeface="DejaVu Sans Mono"/>
              </a:rPr>
              <a:t>init</a:t>
            </a:r>
            <a:r>
              <a:rPr lang="en-US" sz="1370" b="0" u="none" strike="noStrike" dirty="0">
                <a:solidFill>
                  <a:srgbClr val="ECF4FA"/>
                </a:solidFill>
                <a:effectLst/>
                <a:uFillTx/>
                <a:latin typeface="DejaVu Sans Mono"/>
                <a:ea typeface="DejaVu Sans Mono"/>
              </a:rPr>
              <a:t>__(self):</a:t>
            </a: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a:solidFill>
                  <a:srgbClr val="ECF4FA"/>
                </a:solidFill>
                <a:effectLst/>
                <a:uFillTx/>
                <a:latin typeface="DejaVu Sans Mono"/>
                <a:ea typeface="DejaVu Sans Mono"/>
              </a:rPr>
              <a:t>        </a:t>
            </a:r>
            <a:r>
              <a:rPr lang="en-US" sz="1370" b="0" u="none" strike="noStrike" dirty="0" err="1">
                <a:solidFill>
                  <a:srgbClr val="ECF4FA"/>
                </a:solidFill>
                <a:effectLst/>
                <a:uFillTx/>
                <a:latin typeface="DejaVu Sans Mono"/>
                <a:ea typeface="DejaVu Sans Mono"/>
              </a:rPr>
              <a:t>self._balance</a:t>
            </a:r>
            <a:r>
              <a:rPr lang="en-US" sz="1370" b="0" u="none" strike="noStrike" dirty="0">
                <a:solidFill>
                  <a:srgbClr val="ECF4FA"/>
                </a:solidFill>
                <a:effectLst/>
                <a:uFillTx/>
                <a:latin typeface="DejaVu Sans Mono"/>
                <a:ea typeface="DejaVu Sans Mono"/>
              </a:rPr>
              <a:t> = 0  # Internal by convention</a:t>
            </a: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a:solidFill>
                  <a:srgbClr val="ECF4FA"/>
                </a:solidFill>
                <a:effectLst/>
                <a:uFillTx/>
                <a:latin typeface="DejaVu Sans Mono"/>
                <a:ea typeface="DejaVu Sans Mono"/>
              </a:rPr>
              <a:t>    </a:t>
            </a:r>
            <a:r>
              <a:rPr lang="en-US" sz="1370" b="0" u="none" strike="noStrike" dirty="0" err="1">
                <a:solidFill>
                  <a:srgbClr val="ECF4FA"/>
                </a:solidFill>
                <a:effectLst/>
                <a:uFillTx/>
                <a:latin typeface="DejaVu Sans Mono"/>
                <a:ea typeface="DejaVu Sans Mono"/>
              </a:rPr>
              <a:t>def</a:t>
            </a:r>
            <a:r>
              <a:rPr lang="en-US" sz="1370" b="0" u="none" strike="noStrike" dirty="0">
                <a:solidFill>
                  <a:srgbClr val="ECF4FA"/>
                </a:solidFill>
                <a:effectLst/>
                <a:uFillTx/>
                <a:latin typeface="DejaVu Sans Mono"/>
                <a:ea typeface="DejaVu Sans Mono"/>
              </a:rPr>
              <a:t> deposit(self, amount):  # Safe change</a:t>
            </a: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a:solidFill>
                  <a:srgbClr val="ECF4FA"/>
                </a:solidFill>
                <a:effectLst/>
                <a:uFillTx/>
                <a:latin typeface="DejaVu Sans Mono"/>
                <a:ea typeface="DejaVu Sans Mono"/>
              </a:rPr>
              <a:t>        if amount &gt; 0:  # Check input</a:t>
            </a: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a:solidFill>
                  <a:srgbClr val="ECF4FA"/>
                </a:solidFill>
                <a:effectLst/>
                <a:uFillTx/>
                <a:latin typeface="DejaVu Sans Mono"/>
                <a:ea typeface="DejaVu Sans Mono"/>
              </a:rPr>
              <a:t>            </a:t>
            </a:r>
            <a:r>
              <a:rPr lang="en-US" sz="1370" b="0" u="none" strike="noStrike" dirty="0" err="1">
                <a:solidFill>
                  <a:srgbClr val="ECF4FA"/>
                </a:solidFill>
                <a:effectLst/>
                <a:uFillTx/>
                <a:latin typeface="DejaVu Sans Mono"/>
                <a:ea typeface="DejaVu Sans Mono"/>
              </a:rPr>
              <a:t>self._balance</a:t>
            </a:r>
            <a:r>
              <a:rPr lang="en-US" sz="1370" b="0" u="none" strike="noStrike" dirty="0">
                <a:solidFill>
                  <a:srgbClr val="ECF4FA"/>
                </a:solidFill>
                <a:effectLst/>
                <a:uFillTx/>
                <a:latin typeface="DejaVu Sans Mono"/>
                <a:ea typeface="DejaVu Sans Mono"/>
              </a:rPr>
              <a:t> += amount</a:t>
            </a: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a:solidFill>
                  <a:srgbClr val="ECF4FA"/>
                </a:solidFill>
                <a:effectLst/>
                <a:uFillTx/>
                <a:latin typeface="DejaVu Sans Mono"/>
                <a:ea typeface="DejaVu Sans Mono"/>
              </a:rPr>
              <a:t>    </a:t>
            </a:r>
            <a:r>
              <a:rPr lang="en-US" sz="1370" b="0" u="none" strike="noStrike" dirty="0" err="1">
                <a:solidFill>
                  <a:srgbClr val="ECF4FA"/>
                </a:solidFill>
                <a:effectLst/>
                <a:uFillTx/>
                <a:latin typeface="DejaVu Sans Mono"/>
                <a:ea typeface="DejaVu Sans Mono"/>
              </a:rPr>
              <a:t>def</a:t>
            </a:r>
            <a:r>
              <a:rPr lang="en-US" sz="1370" b="0" u="none" strike="noStrike" dirty="0">
                <a:solidFill>
                  <a:srgbClr val="ECF4FA"/>
                </a:solidFill>
                <a:effectLst/>
                <a:uFillTx/>
                <a:latin typeface="DejaVu Sans Mono"/>
                <a:ea typeface="DejaVu Sans Mono"/>
              </a:rPr>
              <a:t> </a:t>
            </a:r>
            <a:r>
              <a:rPr lang="en-US" sz="1370" b="0" u="none" strike="noStrike" dirty="0" err="1">
                <a:solidFill>
                  <a:srgbClr val="ECF4FA"/>
                </a:solidFill>
                <a:effectLst/>
                <a:uFillTx/>
                <a:latin typeface="DejaVu Sans Mono"/>
                <a:ea typeface="DejaVu Sans Mono"/>
              </a:rPr>
              <a:t>show_balance</a:t>
            </a:r>
            <a:r>
              <a:rPr lang="en-US" sz="1370" b="0" u="none" strike="noStrike" dirty="0">
                <a:solidFill>
                  <a:srgbClr val="ECF4FA"/>
                </a:solidFill>
                <a:effectLst/>
                <a:uFillTx/>
                <a:latin typeface="DejaVu Sans Mono"/>
                <a:ea typeface="DejaVu Sans Mono"/>
              </a:rPr>
              <a:t>(self):</a:t>
            </a: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a:solidFill>
                  <a:srgbClr val="ECF4FA"/>
                </a:solidFill>
                <a:effectLst/>
                <a:uFillTx/>
                <a:latin typeface="DejaVu Sans Mono"/>
                <a:ea typeface="DejaVu Sans Mono"/>
              </a:rPr>
              <a:t>        return </a:t>
            </a:r>
            <a:r>
              <a:rPr lang="en-US" sz="1370" b="0" u="none" strike="noStrike" dirty="0" err="1">
                <a:solidFill>
                  <a:srgbClr val="ECF4FA"/>
                </a:solidFill>
                <a:effectLst/>
                <a:uFillTx/>
                <a:latin typeface="DejaVu Sans Mono"/>
                <a:ea typeface="DejaVu Sans Mono"/>
              </a:rPr>
              <a:t>self._balance</a:t>
            </a:r>
            <a:endParaRPr lang="en-US" sz="1370" b="0" u="none" strike="noStrike" dirty="0">
              <a:solidFill>
                <a:srgbClr val="000000"/>
              </a:solidFill>
              <a:effectLst/>
              <a:uFillTx/>
              <a:latin typeface="Arial"/>
            </a:endParaRPr>
          </a:p>
          <a:p>
            <a:pPr defTabSz="914400">
              <a:lnSpc>
                <a:spcPct val="100000"/>
              </a:lnSpc>
              <a:tabLst>
                <a:tab pos="0" algn="l"/>
              </a:tabLst>
            </a:pP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a:solidFill>
                  <a:srgbClr val="ECF4FA"/>
                </a:solidFill>
                <a:effectLst/>
                <a:uFillTx/>
                <a:latin typeface="DejaVu Sans Mono"/>
                <a:ea typeface="DejaVu Sans Mono"/>
              </a:rPr>
              <a:t>a = Account()</a:t>
            </a: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err="1">
                <a:solidFill>
                  <a:srgbClr val="ECF4FA"/>
                </a:solidFill>
                <a:effectLst/>
                <a:uFillTx/>
                <a:latin typeface="DejaVu Sans Mono"/>
                <a:ea typeface="DejaVu Sans Mono"/>
              </a:rPr>
              <a:t>a.deposit</a:t>
            </a:r>
            <a:r>
              <a:rPr lang="en-US" sz="1370" b="0" u="none" strike="noStrike" dirty="0">
                <a:solidFill>
                  <a:srgbClr val="ECF4FA"/>
                </a:solidFill>
                <a:effectLst/>
                <a:uFillTx/>
                <a:latin typeface="DejaVu Sans Mono"/>
                <a:ea typeface="DejaVu Sans Mono"/>
              </a:rPr>
              <a:t>(100)</a:t>
            </a:r>
            <a:endParaRPr lang="en-US" sz="1370" b="0" u="none" strike="noStrike" dirty="0">
              <a:solidFill>
                <a:srgbClr val="000000"/>
              </a:solidFill>
              <a:effectLst/>
              <a:uFillTx/>
              <a:latin typeface="Arial"/>
            </a:endParaRPr>
          </a:p>
          <a:p>
            <a:pPr defTabSz="914400">
              <a:lnSpc>
                <a:spcPct val="100000"/>
              </a:lnSpc>
              <a:tabLst>
                <a:tab pos="0" algn="l"/>
              </a:tabLst>
            </a:pPr>
            <a:r>
              <a:rPr lang="en-US" sz="1370" b="0" u="none" strike="noStrike" dirty="0">
                <a:solidFill>
                  <a:srgbClr val="ECF4FA"/>
                </a:solidFill>
                <a:effectLst/>
                <a:uFillTx/>
                <a:latin typeface="DejaVu Sans Mono"/>
                <a:ea typeface="DejaVu Sans Mono"/>
              </a:rPr>
              <a:t>print(</a:t>
            </a:r>
            <a:r>
              <a:rPr lang="en-US" sz="1370" b="0" u="none" strike="noStrike" dirty="0" err="1">
                <a:solidFill>
                  <a:srgbClr val="ECF4FA"/>
                </a:solidFill>
                <a:effectLst/>
                <a:uFillTx/>
                <a:latin typeface="DejaVu Sans Mono"/>
                <a:ea typeface="DejaVu Sans Mono"/>
              </a:rPr>
              <a:t>a.show_balance</a:t>
            </a:r>
            <a:r>
              <a:rPr lang="en-US" sz="1370" b="0" u="none" strike="noStrike" dirty="0">
                <a:solidFill>
                  <a:srgbClr val="ECF4FA"/>
                </a:solidFill>
                <a:effectLst/>
                <a:uFillTx/>
                <a:latin typeface="DejaVu Sans Mono"/>
                <a:ea typeface="DejaVu Sans Mono"/>
              </a:rPr>
              <a:t>())</a:t>
            </a:r>
            <a:endParaRPr lang="en-US" sz="1370" b="0" u="none" strike="noStrike" dirty="0">
              <a:solidFill>
                <a:srgbClr val="000000"/>
              </a:solidFill>
              <a:effectLst/>
              <a:uFillTx/>
              <a:latin typeface="Arial"/>
            </a:endParaRPr>
          </a:p>
        </p:txBody>
      </p:sp>
      <p:sp>
        <p:nvSpPr>
          <p:cNvPr id="754"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5"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756"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_balance signals internal use</a:t>
            </a:r>
            <a:endParaRPr lang="en-US" sz="1750" b="0" u="none" strike="noStrike">
              <a:solidFill>
                <a:srgbClr val="000000"/>
              </a:solidFill>
              <a:effectLst/>
              <a:uFillTx/>
              <a:latin typeface="Arial"/>
            </a:endParaRPr>
          </a:p>
        </p:txBody>
      </p:sp>
      <p:sp>
        <p:nvSpPr>
          <p:cNvPr id="757"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deposit checks amount</a:t>
            </a:r>
            <a:endParaRPr lang="en-US" sz="1750" b="0" u="none" strike="noStrike">
              <a:solidFill>
                <a:srgbClr val="000000"/>
              </a:solidFill>
              <a:effectLst/>
              <a:uFillTx/>
              <a:latin typeface="Arial"/>
            </a:endParaRPr>
          </a:p>
        </p:txBody>
      </p:sp>
      <p:sp>
        <p:nvSpPr>
          <p:cNvPr id="758"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750" b="0" u="none" strike="noStrike">
                <a:solidFill>
                  <a:srgbClr val="152B42"/>
                </a:solidFill>
                <a:effectLst/>
                <a:uFillTx/>
                <a:latin typeface="Aptos"/>
                <a:ea typeface="Aptos"/>
              </a:rPr>
              <a:t>• A method manages the change</a:t>
            </a:r>
            <a:endParaRPr lang="en-US" sz="1750" b="0" u="none" strike="noStrike">
              <a:solidFill>
                <a:srgbClr val="000000"/>
              </a:solidFill>
              <a:effectLst/>
              <a:uFillTx/>
              <a:latin typeface="Arial"/>
            </a:endParaRPr>
          </a:p>
        </p:txBody>
      </p:sp>
      <p:sp>
        <p:nvSpPr>
          <p:cNvPr id="759"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0"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761"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100</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76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76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76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Encapsulation practice</a:t>
            </a:r>
            <a:endParaRPr lang="en-US" sz="3400" b="0" u="none" strike="noStrike">
              <a:solidFill>
                <a:srgbClr val="000000"/>
              </a:solidFill>
              <a:effectLst/>
              <a:uFillTx/>
              <a:latin typeface="Arial"/>
            </a:endParaRPr>
          </a:p>
        </p:txBody>
      </p:sp>
      <p:sp>
        <p:nvSpPr>
          <p:cNvPr id="76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76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76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049</a:t>
            </a:r>
            <a:endParaRPr lang="en-US" sz="1000" b="0" u="none" strike="noStrike">
              <a:solidFill>
                <a:srgbClr val="000000"/>
              </a:solidFill>
              <a:effectLst/>
              <a:uFillTx/>
              <a:latin typeface="Arial"/>
            </a:endParaRPr>
          </a:p>
        </p:txBody>
      </p:sp>
      <p:sp>
        <p:nvSpPr>
          <p:cNvPr id="768"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9"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770"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Change Account so negative deposits are ignored.</a:t>
            </a:r>
            <a:endParaRPr lang="en-US" sz="1960" b="0" u="none" strike="noStrike">
              <a:solidFill>
                <a:srgbClr val="000000"/>
              </a:solidFill>
              <a:effectLst/>
              <a:uFillTx/>
              <a:latin typeface="Arial"/>
            </a:endParaRPr>
          </a:p>
        </p:txBody>
      </p:sp>
      <p:sp>
        <p:nvSpPr>
          <p:cNvPr id="771"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2"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 Use the Account class from the example</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a = Account()</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a.deposit(-20)</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Check balance stays 0</a:t>
            </a:r>
            <a:endParaRPr lang="en-US" sz="1580" b="0" u="none" strike="noStrike">
              <a:solidFill>
                <a:srgbClr val="000000"/>
              </a:solidFill>
              <a:effectLst/>
              <a:uFillTx/>
              <a:latin typeface="Arial"/>
            </a:endParaRPr>
          </a:p>
        </p:txBody>
      </p:sp>
      <p:sp>
        <p:nvSpPr>
          <p:cNvPr id="773"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4"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775"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Create Account()</a:t>
            </a:r>
            <a:endParaRPr lang="en-US" sz="1820" b="0" u="none" strike="noStrike">
              <a:solidFill>
                <a:srgbClr val="000000"/>
              </a:solidFill>
              <a:effectLst/>
              <a:uFillTx/>
              <a:latin typeface="Arial"/>
            </a:endParaRPr>
          </a:p>
        </p:txBody>
      </p:sp>
      <p:sp>
        <p:nvSpPr>
          <p:cNvPr id="776"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Call deposit(-20)</a:t>
            </a:r>
            <a:endParaRPr lang="en-US" sz="1820" b="0" u="none" strike="noStrike">
              <a:solidFill>
                <a:srgbClr val="000000"/>
              </a:solidFill>
              <a:effectLst/>
              <a:uFillTx/>
              <a:latin typeface="Arial"/>
            </a:endParaRPr>
          </a:p>
        </p:txBody>
      </p:sp>
      <p:sp>
        <p:nvSpPr>
          <p:cNvPr id="777"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Call show_balance()</a:t>
            </a:r>
            <a:endParaRPr lang="en-US" sz="1820" b="0" u="none" strike="noStrike">
              <a:solidFill>
                <a:srgbClr val="000000"/>
              </a:solidFill>
              <a:effectLst/>
              <a:uFillTx/>
              <a:latin typeface="Arial"/>
            </a:endParaRPr>
          </a:p>
        </p:txBody>
      </p:sp>
      <p:sp>
        <p:nvSpPr>
          <p:cNvPr id="778"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Why should it remain 0?</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77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78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78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Encapsulation answer</a:t>
            </a:r>
            <a:endParaRPr lang="en-US" sz="3400" b="0" u="none" strike="noStrike">
              <a:solidFill>
                <a:srgbClr val="000000"/>
              </a:solidFill>
              <a:effectLst/>
              <a:uFillTx/>
              <a:latin typeface="Arial"/>
            </a:endParaRPr>
          </a:p>
        </p:txBody>
      </p:sp>
      <p:sp>
        <p:nvSpPr>
          <p:cNvPr id="78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78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78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050</a:t>
            </a:r>
            <a:endParaRPr lang="en-US" sz="1000" b="0" u="none" strike="noStrike">
              <a:solidFill>
                <a:srgbClr val="000000"/>
              </a:solidFill>
              <a:effectLst/>
              <a:uFillTx/>
              <a:latin typeface="Arial"/>
            </a:endParaRPr>
          </a:p>
        </p:txBody>
      </p:sp>
      <p:sp>
        <p:nvSpPr>
          <p:cNvPr id="785"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6"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787"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8"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a = Account()  # New account</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a.deposit(-20)  # Fails positive check</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print(a.show_balance())  # Still zero</a:t>
            </a:r>
            <a:endParaRPr lang="en-US" sz="1620" b="0" u="none" strike="noStrike">
              <a:solidFill>
                <a:srgbClr val="000000"/>
              </a:solidFill>
              <a:effectLst/>
              <a:uFillTx/>
              <a:latin typeface="Arial"/>
            </a:endParaRPr>
          </a:p>
        </p:txBody>
      </p:sp>
      <p:sp>
        <p:nvSpPr>
          <p:cNvPr id="789"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0"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791"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0</a:t>
            </a:r>
            <a:endParaRPr lang="en-US" sz="1600" b="0" u="none" strike="noStrike">
              <a:solidFill>
                <a:srgbClr val="000000"/>
              </a:solidFill>
              <a:effectLst/>
              <a:uFillTx/>
              <a:latin typeface="Arial"/>
            </a:endParaRPr>
          </a:p>
        </p:txBody>
      </p:sp>
      <p:sp>
        <p:nvSpPr>
          <p:cNvPr id="792"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793"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Validation prevented change</a:t>
            </a:r>
            <a:endParaRPr lang="en-US" sz="1679" b="0" u="none" strike="noStrike">
              <a:solidFill>
                <a:srgbClr val="000000"/>
              </a:solidFill>
              <a:effectLst/>
              <a:uFillTx/>
              <a:latin typeface="Arial"/>
            </a:endParaRPr>
          </a:p>
        </p:txBody>
      </p:sp>
      <p:sp>
        <p:nvSpPr>
          <p:cNvPr id="794"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79" b="0" u="none" strike="noStrike">
                <a:solidFill>
                  <a:srgbClr val="152B42"/>
                </a:solidFill>
                <a:effectLst/>
                <a:uFillTx/>
                <a:latin typeface="Aptos"/>
                <a:ea typeface="Aptos"/>
              </a:rPr>
              <a:t>• The method controls updates</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79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79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79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Inheritance: reuse a parent class</a:t>
            </a:r>
            <a:endParaRPr lang="en-US" sz="3400" b="0" u="none" strike="noStrike">
              <a:solidFill>
                <a:srgbClr val="000000"/>
              </a:solidFill>
              <a:effectLst/>
              <a:uFillTx/>
              <a:latin typeface="Arial"/>
            </a:endParaRPr>
          </a:p>
        </p:txBody>
      </p:sp>
      <p:sp>
        <p:nvSpPr>
          <p:cNvPr id="79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79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80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051</a:t>
            </a:r>
            <a:endParaRPr lang="en-US" sz="1000" b="0" u="none" strike="noStrike">
              <a:solidFill>
                <a:srgbClr val="000000"/>
              </a:solidFill>
              <a:effectLst/>
              <a:uFillTx/>
              <a:latin typeface="Arial"/>
            </a:endParaRPr>
          </a:p>
        </p:txBody>
      </p:sp>
      <p:sp>
        <p:nvSpPr>
          <p:cNvPr id="801"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2"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803"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Inheritance lets a child class reuse methods from a parent.</a:t>
            </a:r>
            <a:endParaRPr lang="en-US" sz="2250" b="0" u="none" strike="noStrike">
              <a:solidFill>
                <a:srgbClr val="000000"/>
              </a:solidFill>
              <a:effectLst/>
              <a:uFillTx/>
              <a:latin typeface="Arial"/>
            </a:endParaRPr>
          </a:p>
        </p:txBody>
      </p:sp>
      <p:sp>
        <p:nvSpPr>
          <p:cNvPr id="804"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05"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Animal is a parent class</a:t>
            </a:r>
            <a:endParaRPr lang="en-US" sz="2100" b="0" u="none" strike="noStrike">
              <a:solidFill>
                <a:srgbClr val="000000"/>
              </a:solidFill>
              <a:effectLst/>
              <a:uFillTx/>
              <a:latin typeface="Arial"/>
            </a:endParaRPr>
          </a:p>
        </p:txBody>
      </p:sp>
      <p:sp>
        <p:nvSpPr>
          <p:cNvPr id="806"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07"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Dog(Animal) means Dog inherits from Animal</a:t>
            </a:r>
            <a:endParaRPr lang="en-US" sz="2100" b="0" u="none" strike="noStrike">
              <a:solidFill>
                <a:srgbClr val="000000"/>
              </a:solidFill>
              <a:effectLst/>
              <a:uFillTx/>
              <a:latin typeface="Arial"/>
            </a:endParaRPr>
          </a:p>
        </p:txBody>
      </p:sp>
      <p:sp>
        <p:nvSpPr>
          <p:cNvPr id="808"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09"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The child can use or replace a parent method</a:t>
            </a:r>
            <a:endParaRPr lang="en-US" sz="2100" b="0" u="none" strike="noStrike">
              <a:solidFill>
                <a:srgbClr val="000000"/>
              </a:solidFill>
              <a:effectLst/>
              <a:uFillTx/>
              <a:latin typeface="Arial"/>
            </a:endParaRPr>
          </a:p>
        </p:txBody>
      </p:sp>
      <p:sp>
        <p:nvSpPr>
          <p:cNvPr id="810"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11"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Good when a child really is a kind of parent</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81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81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81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Inheritance: dog reuses animal method</a:t>
            </a:r>
            <a:endParaRPr lang="en-US" sz="3400" b="0" u="none" strike="noStrike">
              <a:solidFill>
                <a:srgbClr val="000000"/>
              </a:solidFill>
              <a:effectLst/>
              <a:uFillTx/>
              <a:latin typeface="Arial"/>
            </a:endParaRPr>
          </a:p>
        </p:txBody>
      </p:sp>
      <p:sp>
        <p:nvSpPr>
          <p:cNvPr id="81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81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81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052</a:t>
            </a:r>
            <a:endParaRPr lang="en-US" sz="1000" b="0" u="none" strike="noStrike">
              <a:solidFill>
                <a:srgbClr val="000000"/>
              </a:solidFill>
              <a:effectLst/>
              <a:uFillTx/>
              <a:latin typeface="Arial"/>
            </a:endParaRPr>
          </a:p>
        </p:txBody>
      </p:sp>
      <p:sp>
        <p:nvSpPr>
          <p:cNvPr id="818"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819"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0"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class Animal:  # Parent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def eat(self):  # Shared method</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return "Eating"</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class Dog(Animal):  # Child class</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pass  # Uses parent behavior</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print(Dog().eat())  # Inherited method</a:t>
            </a:r>
            <a:endParaRPr lang="en-US" sz="1550" b="0" u="none" strike="noStrike">
              <a:solidFill>
                <a:srgbClr val="000000"/>
              </a:solidFill>
              <a:effectLst/>
              <a:uFillTx/>
              <a:latin typeface="Arial"/>
            </a:endParaRPr>
          </a:p>
        </p:txBody>
      </p:sp>
      <p:sp>
        <p:nvSpPr>
          <p:cNvPr id="821"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2"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823"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Dog inherits eat()</a:t>
            </a:r>
            <a:endParaRPr lang="en-US" sz="1750" b="0" u="none" strike="noStrike">
              <a:solidFill>
                <a:srgbClr val="000000"/>
              </a:solidFill>
              <a:effectLst/>
              <a:uFillTx/>
              <a:latin typeface="Arial"/>
            </a:endParaRPr>
          </a:p>
        </p:txBody>
      </p:sp>
      <p:sp>
        <p:nvSpPr>
          <p:cNvPr id="824"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No need to rewrite eat</a:t>
            </a:r>
            <a:endParaRPr lang="en-US" sz="1750" b="0" u="none" strike="noStrike">
              <a:solidFill>
                <a:srgbClr val="000000"/>
              </a:solidFill>
              <a:effectLst/>
              <a:uFillTx/>
              <a:latin typeface="Arial"/>
            </a:endParaRPr>
          </a:p>
        </p:txBody>
      </p:sp>
      <p:sp>
        <p:nvSpPr>
          <p:cNvPr id="825"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Dog is an Animal</a:t>
            </a:r>
            <a:endParaRPr lang="en-US" sz="1750" b="0" u="none" strike="noStrike">
              <a:solidFill>
                <a:srgbClr val="000000"/>
              </a:solidFill>
              <a:effectLst/>
              <a:uFillTx/>
              <a:latin typeface="Arial"/>
            </a:endParaRPr>
          </a:p>
        </p:txBody>
      </p:sp>
      <p:sp>
        <p:nvSpPr>
          <p:cNvPr id="826"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7"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828"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Eating</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82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83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83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Inheritance practice</a:t>
            </a:r>
            <a:endParaRPr lang="en-US" sz="3400" b="0" u="none" strike="noStrike">
              <a:solidFill>
                <a:srgbClr val="000000"/>
              </a:solidFill>
              <a:effectLst/>
              <a:uFillTx/>
              <a:latin typeface="Arial"/>
            </a:endParaRPr>
          </a:p>
        </p:txBody>
      </p:sp>
      <p:sp>
        <p:nvSpPr>
          <p:cNvPr id="83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83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83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053</a:t>
            </a:r>
            <a:endParaRPr lang="en-US" sz="1000" b="0" u="none" strike="noStrike">
              <a:solidFill>
                <a:srgbClr val="000000"/>
              </a:solidFill>
              <a:effectLst/>
              <a:uFillTx/>
              <a:latin typeface="Arial"/>
            </a:endParaRPr>
          </a:p>
        </p:txBody>
      </p:sp>
      <p:sp>
        <p:nvSpPr>
          <p:cNvPr id="835"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6"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837"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Make Cat inherit the eat() method.</a:t>
            </a:r>
            <a:endParaRPr lang="en-US" sz="1960" b="0" u="none" strike="noStrike">
              <a:solidFill>
                <a:srgbClr val="000000"/>
              </a:solidFill>
              <a:effectLst/>
              <a:uFillTx/>
              <a:latin typeface="Arial"/>
            </a:endParaRPr>
          </a:p>
        </p:txBody>
      </p:sp>
      <p:sp>
        <p:nvSpPr>
          <p:cNvPr id="838"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39"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class Animal:</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def eat(self):</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return "Eating"</a:t>
            </a:r>
            <a:endParaRPr lang="en-US" sz="1580" b="0" u="none" strike="noStrike">
              <a:solidFill>
                <a:srgbClr val="000000"/>
              </a:solidFill>
              <a:effectLst/>
              <a:uFillTx/>
              <a:latin typeface="Arial"/>
            </a:endParaRPr>
          </a:p>
          <a:p>
            <a:pPr defTabSz="914400">
              <a:lnSpc>
                <a:spcPct val="100000"/>
              </a:lnSpc>
              <a:tabLst>
                <a:tab pos="0" algn="l"/>
              </a:tabLst>
            </a:pP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Make Cat inherit Animal</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Print Cat().eat()</a:t>
            </a:r>
            <a:endParaRPr lang="en-US" sz="1580" b="0" u="none" strike="noStrike">
              <a:solidFill>
                <a:srgbClr val="000000"/>
              </a:solidFill>
              <a:effectLst/>
              <a:uFillTx/>
              <a:latin typeface="Arial"/>
            </a:endParaRPr>
          </a:p>
        </p:txBody>
      </p:sp>
      <p:sp>
        <p:nvSpPr>
          <p:cNvPr id="840"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1"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842"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Write class Cat(Animal)</a:t>
            </a:r>
            <a:endParaRPr lang="en-US" sz="1820" b="0" u="none" strike="noStrike">
              <a:solidFill>
                <a:srgbClr val="000000"/>
              </a:solidFill>
              <a:effectLst/>
              <a:uFillTx/>
              <a:latin typeface="Arial"/>
            </a:endParaRPr>
          </a:p>
        </p:txBody>
      </p:sp>
      <p:sp>
        <p:nvSpPr>
          <p:cNvPr id="843"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Use pass</a:t>
            </a:r>
            <a:endParaRPr lang="en-US" sz="1820" b="0" u="none" strike="noStrike">
              <a:solidFill>
                <a:srgbClr val="000000"/>
              </a:solidFill>
              <a:effectLst/>
              <a:uFillTx/>
              <a:latin typeface="Arial"/>
            </a:endParaRPr>
          </a:p>
        </p:txBody>
      </p:sp>
      <p:sp>
        <p:nvSpPr>
          <p:cNvPr id="844"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Create Cat()</a:t>
            </a:r>
            <a:endParaRPr lang="en-US" sz="1820" b="0" u="none" strike="noStrike">
              <a:solidFill>
                <a:srgbClr val="000000"/>
              </a:solidFill>
              <a:effectLst/>
              <a:uFillTx/>
              <a:latin typeface="Arial"/>
            </a:endParaRPr>
          </a:p>
        </p:txBody>
      </p:sp>
      <p:sp>
        <p:nvSpPr>
          <p:cNvPr id="845"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Call eat()</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84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84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84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Inheritance answer</a:t>
            </a:r>
            <a:endParaRPr lang="en-US" sz="3400" b="0" u="none" strike="noStrike">
              <a:solidFill>
                <a:srgbClr val="000000"/>
              </a:solidFill>
              <a:effectLst/>
              <a:uFillTx/>
              <a:latin typeface="Arial"/>
            </a:endParaRPr>
          </a:p>
        </p:txBody>
      </p:sp>
      <p:sp>
        <p:nvSpPr>
          <p:cNvPr id="84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85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85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054</a:t>
            </a:r>
            <a:endParaRPr lang="en-US" sz="1000" b="0" u="none" strike="noStrike">
              <a:solidFill>
                <a:srgbClr val="000000"/>
              </a:solidFill>
              <a:effectLst/>
              <a:uFillTx/>
              <a:latin typeface="Arial"/>
            </a:endParaRPr>
          </a:p>
        </p:txBody>
      </p:sp>
      <p:sp>
        <p:nvSpPr>
          <p:cNvPr id="852"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3"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854"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5"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class Cat(Animal):  # Inherit Animal</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pass  # No new method yet</a:t>
            </a:r>
            <a:endParaRPr lang="en-US" sz="1620" b="0" u="none" strike="noStrike">
              <a:solidFill>
                <a:srgbClr val="000000"/>
              </a:solidFill>
              <a:effectLst/>
              <a:uFillTx/>
              <a:latin typeface="Arial"/>
            </a:endParaRPr>
          </a:p>
          <a:p>
            <a:pPr defTabSz="914400">
              <a:lnSpc>
                <a:spcPct val="100000"/>
              </a:lnSpc>
              <a:tabLst>
                <a:tab pos="0" algn="l"/>
              </a:tabLst>
            </a:pP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print(Cat().eat())  # Use parent's eat()</a:t>
            </a:r>
            <a:endParaRPr lang="en-US" sz="1620" b="0" u="none" strike="noStrike">
              <a:solidFill>
                <a:srgbClr val="000000"/>
              </a:solidFill>
              <a:effectLst/>
              <a:uFillTx/>
              <a:latin typeface="Arial"/>
            </a:endParaRPr>
          </a:p>
        </p:txBody>
      </p:sp>
      <p:sp>
        <p:nvSpPr>
          <p:cNvPr id="856"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7"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858"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Eating</a:t>
            </a:r>
            <a:endParaRPr lang="en-US" sz="1600" b="0" u="none" strike="noStrike">
              <a:solidFill>
                <a:srgbClr val="000000"/>
              </a:solidFill>
              <a:effectLst/>
              <a:uFillTx/>
              <a:latin typeface="Arial"/>
            </a:endParaRPr>
          </a:p>
        </p:txBody>
      </p:sp>
      <p:sp>
        <p:nvSpPr>
          <p:cNvPr id="859"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860"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Cat reuses parent method</a:t>
            </a:r>
            <a:endParaRPr lang="en-US" sz="1679" b="0" u="none" strike="noStrike">
              <a:solidFill>
                <a:srgbClr val="000000"/>
              </a:solidFill>
              <a:effectLst/>
              <a:uFillTx/>
              <a:latin typeface="Arial"/>
            </a:endParaRPr>
          </a:p>
        </p:txBody>
      </p:sp>
      <p:sp>
        <p:nvSpPr>
          <p:cNvPr id="861"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No duplicated code</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86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86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86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Polymorphism and overriding</a:t>
            </a:r>
            <a:endParaRPr lang="en-US" sz="3400" b="0" u="none" strike="noStrike">
              <a:solidFill>
                <a:srgbClr val="000000"/>
              </a:solidFill>
              <a:effectLst/>
              <a:uFillTx/>
              <a:latin typeface="Arial"/>
            </a:endParaRPr>
          </a:p>
        </p:txBody>
      </p:sp>
      <p:sp>
        <p:nvSpPr>
          <p:cNvPr id="86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86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86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055</a:t>
            </a:r>
            <a:endParaRPr lang="en-US" sz="1000" b="0" u="none" strike="noStrike">
              <a:solidFill>
                <a:srgbClr val="000000"/>
              </a:solidFill>
              <a:effectLst/>
              <a:uFillTx/>
              <a:latin typeface="Arial"/>
            </a:endParaRPr>
          </a:p>
        </p:txBody>
      </p:sp>
      <p:sp>
        <p:nvSpPr>
          <p:cNvPr id="868"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9"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870"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Different objects can respond differently to the same method name.</a:t>
            </a:r>
            <a:endParaRPr lang="en-US" sz="2250" b="0" u="none" strike="noStrike">
              <a:solidFill>
                <a:srgbClr val="000000"/>
              </a:solidFill>
              <a:effectLst/>
              <a:uFillTx/>
              <a:latin typeface="Arial"/>
            </a:endParaRPr>
          </a:p>
        </p:txBody>
      </p:sp>
      <p:sp>
        <p:nvSpPr>
          <p:cNvPr id="871"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72"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The parent can define speak()</a:t>
            </a:r>
            <a:endParaRPr lang="en-US" sz="2100" b="0" u="none" strike="noStrike">
              <a:solidFill>
                <a:srgbClr val="000000"/>
              </a:solidFill>
              <a:effectLst/>
              <a:uFillTx/>
              <a:latin typeface="Arial"/>
            </a:endParaRPr>
          </a:p>
        </p:txBody>
      </p:sp>
      <p:sp>
        <p:nvSpPr>
          <p:cNvPr id="873"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74"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Dog can override speak() with "Woof"</a:t>
            </a:r>
            <a:endParaRPr lang="en-US" sz="2100" b="0" u="none" strike="noStrike">
              <a:solidFill>
                <a:srgbClr val="000000"/>
              </a:solidFill>
              <a:effectLst/>
              <a:uFillTx/>
              <a:latin typeface="Arial"/>
            </a:endParaRPr>
          </a:p>
        </p:txBody>
      </p:sp>
      <p:sp>
        <p:nvSpPr>
          <p:cNvPr id="875"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76"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Cat can override speak() with "Meow"</a:t>
            </a:r>
            <a:endParaRPr lang="en-US" sz="2100" b="0" u="none" strike="noStrike">
              <a:solidFill>
                <a:srgbClr val="000000"/>
              </a:solidFill>
              <a:effectLst/>
              <a:uFillTx/>
              <a:latin typeface="Arial"/>
            </a:endParaRPr>
          </a:p>
        </p:txBody>
      </p:sp>
      <p:sp>
        <p:nvSpPr>
          <p:cNvPr id="877"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78"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Same method name; behavior depends on the object</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87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88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88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Polymorphism: same method, different output</a:t>
            </a:r>
            <a:endParaRPr lang="en-US" sz="3400" b="0" u="none" strike="noStrike">
              <a:solidFill>
                <a:srgbClr val="000000"/>
              </a:solidFill>
              <a:effectLst/>
              <a:uFillTx/>
              <a:latin typeface="Arial"/>
            </a:endParaRPr>
          </a:p>
        </p:txBody>
      </p:sp>
      <p:sp>
        <p:nvSpPr>
          <p:cNvPr id="88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88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88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056</a:t>
            </a:r>
            <a:endParaRPr lang="en-US" sz="1000" b="0" u="none" strike="noStrike">
              <a:solidFill>
                <a:srgbClr val="000000"/>
              </a:solidFill>
              <a:effectLst/>
              <a:uFillTx/>
              <a:latin typeface="Arial"/>
            </a:endParaRPr>
          </a:p>
        </p:txBody>
      </p:sp>
      <p:sp>
        <p:nvSpPr>
          <p:cNvPr id="885"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886"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87"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370" b="0" u="none" strike="noStrike">
                <a:solidFill>
                  <a:srgbClr val="ECF4FA"/>
                </a:solidFill>
                <a:effectLst/>
                <a:uFillTx/>
                <a:latin typeface="DejaVu Sans Mono"/>
                <a:ea typeface="DejaVu Sans Mono"/>
              </a:rPr>
              <a:t>class Animal:</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    def speak(self):  # Parent version</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        return "Sound"</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class Dog(Animal):</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    def speak(self):  # Override</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        return "Woof"</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class Cat(Animal):</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    def speak(self):  # Override</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        return "Meow"</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print(Dog().speak())</a:t>
            </a:r>
            <a:endParaRPr lang="en-US" sz="1370" b="0" u="none" strike="noStrike">
              <a:solidFill>
                <a:srgbClr val="000000"/>
              </a:solidFill>
              <a:effectLst/>
              <a:uFillTx/>
              <a:latin typeface="Arial"/>
            </a:endParaRPr>
          </a:p>
          <a:p>
            <a:pPr defTabSz="914400">
              <a:lnSpc>
                <a:spcPct val="100000"/>
              </a:lnSpc>
              <a:tabLst>
                <a:tab pos="0" algn="l"/>
              </a:tabLst>
            </a:pPr>
            <a:r>
              <a:rPr lang="en-US" sz="1370" b="0" u="none" strike="noStrike">
                <a:solidFill>
                  <a:srgbClr val="ECF4FA"/>
                </a:solidFill>
                <a:effectLst/>
                <a:uFillTx/>
                <a:latin typeface="DejaVu Sans Mono"/>
                <a:ea typeface="DejaVu Sans Mono"/>
              </a:rPr>
              <a:t>print(Cat().speak())</a:t>
            </a:r>
            <a:endParaRPr lang="en-US" sz="1370" b="0" u="none" strike="noStrike">
              <a:solidFill>
                <a:srgbClr val="000000"/>
              </a:solidFill>
              <a:effectLst/>
              <a:uFillTx/>
              <a:latin typeface="Arial"/>
            </a:endParaRPr>
          </a:p>
        </p:txBody>
      </p:sp>
      <p:sp>
        <p:nvSpPr>
          <p:cNvPr id="888"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9"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890"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Both use speak()</a:t>
            </a:r>
            <a:endParaRPr lang="en-US" sz="1750" b="0" u="none" strike="noStrike">
              <a:solidFill>
                <a:srgbClr val="000000"/>
              </a:solidFill>
              <a:effectLst/>
              <a:uFillTx/>
              <a:latin typeface="Arial"/>
            </a:endParaRPr>
          </a:p>
        </p:txBody>
      </p:sp>
      <p:sp>
        <p:nvSpPr>
          <p:cNvPr id="891"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Child changes behavior</a:t>
            </a:r>
            <a:endParaRPr lang="en-US" sz="1750" b="0" u="none" strike="noStrike">
              <a:solidFill>
                <a:srgbClr val="000000"/>
              </a:solidFill>
              <a:effectLst/>
              <a:uFillTx/>
              <a:latin typeface="Arial"/>
            </a:endParaRPr>
          </a:p>
        </p:txBody>
      </p:sp>
      <p:sp>
        <p:nvSpPr>
          <p:cNvPr id="892"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This is overriding</a:t>
            </a:r>
            <a:endParaRPr lang="en-US" sz="1750" b="0" u="none" strike="noStrike">
              <a:solidFill>
                <a:srgbClr val="000000"/>
              </a:solidFill>
              <a:effectLst/>
              <a:uFillTx/>
              <a:latin typeface="Arial"/>
            </a:endParaRPr>
          </a:p>
        </p:txBody>
      </p:sp>
      <p:sp>
        <p:nvSpPr>
          <p:cNvPr id="893"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4"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895"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Woof</a:t>
            </a:r>
            <a:endParaRPr lang="en-US" sz="1620" b="0" u="none" strike="noStrike">
              <a:solidFill>
                <a:srgbClr val="000000"/>
              </a:solidFill>
              <a:effectLst/>
              <a:uFillTx/>
              <a:latin typeface="Arial"/>
            </a:endParaRPr>
          </a:p>
          <a:p>
            <a:pPr defTabSz="914400">
              <a:lnSpc>
                <a:spcPct val="100000"/>
              </a:lnSpc>
              <a:tabLst>
                <a:tab pos="0" algn="l"/>
              </a:tabLst>
            </a:pPr>
            <a:r>
              <a:rPr lang="en-US" sz="1620" b="1" u="none" strike="noStrike">
                <a:solidFill>
                  <a:srgbClr val="152B42"/>
                </a:solidFill>
                <a:effectLst/>
                <a:uFillTx/>
                <a:latin typeface="DejaVu Sans Mono"/>
                <a:ea typeface="DejaVu Sans Mono"/>
              </a:rPr>
              <a:t>Meow</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89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89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89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Polymorphism practice</a:t>
            </a:r>
            <a:endParaRPr lang="en-US" sz="3400" b="0" u="none" strike="noStrike">
              <a:solidFill>
                <a:srgbClr val="000000"/>
              </a:solidFill>
              <a:effectLst/>
              <a:uFillTx/>
              <a:latin typeface="Arial"/>
            </a:endParaRPr>
          </a:p>
        </p:txBody>
      </p:sp>
      <p:sp>
        <p:nvSpPr>
          <p:cNvPr id="89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90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90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057</a:t>
            </a:r>
            <a:endParaRPr lang="en-US" sz="1000" b="0" u="none" strike="noStrike">
              <a:solidFill>
                <a:srgbClr val="000000"/>
              </a:solidFill>
              <a:effectLst/>
              <a:uFillTx/>
              <a:latin typeface="Arial"/>
            </a:endParaRPr>
          </a:p>
        </p:txBody>
      </p:sp>
      <p:sp>
        <p:nvSpPr>
          <p:cNvPr id="902"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03"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904"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Create Cow that overrides speak().</a:t>
            </a:r>
            <a:endParaRPr lang="en-US" sz="1960" b="0" u="none" strike="noStrike">
              <a:solidFill>
                <a:srgbClr val="000000"/>
              </a:solidFill>
              <a:effectLst/>
              <a:uFillTx/>
              <a:latin typeface="Arial"/>
            </a:endParaRPr>
          </a:p>
        </p:txBody>
      </p:sp>
      <p:sp>
        <p:nvSpPr>
          <p:cNvPr id="905"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06"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class Animal:</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def speak(self):</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return "Sound"</a:t>
            </a:r>
            <a:endParaRPr lang="en-US" sz="1580" b="0" u="none" strike="noStrike">
              <a:solidFill>
                <a:srgbClr val="000000"/>
              </a:solidFill>
              <a:effectLst/>
              <a:uFillTx/>
              <a:latin typeface="Arial"/>
            </a:endParaRPr>
          </a:p>
          <a:p>
            <a:pPr defTabSz="914400">
              <a:lnSpc>
                <a:spcPct val="100000"/>
              </a:lnSpc>
              <a:tabLst>
                <a:tab pos="0" algn="l"/>
              </a:tabLst>
            </a:pP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Make Cow(Animal)</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Override speak() to return "Moo"</a:t>
            </a:r>
            <a:endParaRPr lang="en-US" sz="1580" b="0" u="none" strike="noStrike">
              <a:solidFill>
                <a:srgbClr val="000000"/>
              </a:solidFill>
              <a:effectLst/>
              <a:uFillTx/>
              <a:latin typeface="Arial"/>
            </a:endParaRPr>
          </a:p>
        </p:txBody>
      </p:sp>
      <p:sp>
        <p:nvSpPr>
          <p:cNvPr id="907"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08"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909"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Create child class</a:t>
            </a:r>
            <a:endParaRPr lang="en-US" sz="1820" b="0" u="none" strike="noStrike">
              <a:solidFill>
                <a:srgbClr val="000000"/>
              </a:solidFill>
              <a:effectLst/>
              <a:uFillTx/>
              <a:latin typeface="Arial"/>
            </a:endParaRPr>
          </a:p>
        </p:txBody>
      </p:sp>
      <p:sp>
        <p:nvSpPr>
          <p:cNvPr id="910"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820" b="0" u="none" strike="noStrike">
                <a:solidFill>
                  <a:srgbClr val="152B42"/>
                </a:solidFill>
                <a:effectLst/>
                <a:uFillTx/>
                <a:latin typeface="Aptos"/>
                <a:ea typeface="Aptos"/>
              </a:rPr>
              <a:t>2. Use same speak method name</a:t>
            </a:r>
            <a:endParaRPr lang="en-US" sz="1820" b="0" u="none" strike="noStrike">
              <a:solidFill>
                <a:srgbClr val="000000"/>
              </a:solidFill>
              <a:effectLst/>
              <a:uFillTx/>
              <a:latin typeface="Arial"/>
            </a:endParaRPr>
          </a:p>
        </p:txBody>
      </p:sp>
      <p:sp>
        <p:nvSpPr>
          <p:cNvPr id="911"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Return "Moo"</a:t>
            </a:r>
            <a:endParaRPr lang="en-US" sz="1820" b="0" u="none" strike="noStrike">
              <a:solidFill>
                <a:srgbClr val="000000"/>
              </a:solidFill>
              <a:effectLst/>
              <a:uFillTx/>
              <a:latin typeface="Arial"/>
            </a:endParaRPr>
          </a:p>
        </p:txBody>
      </p:sp>
      <p:sp>
        <p:nvSpPr>
          <p:cNvPr id="912"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Print Cow().speak()</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91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91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91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Polymorphism answer</a:t>
            </a:r>
            <a:endParaRPr lang="en-US" sz="3400" b="0" u="none" strike="noStrike">
              <a:solidFill>
                <a:srgbClr val="000000"/>
              </a:solidFill>
              <a:effectLst/>
              <a:uFillTx/>
              <a:latin typeface="Arial"/>
            </a:endParaRPr>
          </a:p>
        </p:txBody>
      </p:sp>
      <p:sp>
        <p:nvSpPr>
          <p:cNvPr id="91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91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91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058</a:t>
            </a:r>
            <a:endParaRPr lang="en-US" sz="1000" b="0" u="none" strike="noStrike">
              <a:solidFill>
                <a:srgbClr val="000000"/>
              </a:solidFill>
              <a:effectLst/>
              <a:uFillTx/>
              <a:latin typeface="Arial"/>
            </a:endParaRPr>
          </a:p>
        </p:txBody>
      </p:sp>
      <p:sp>
        <p:nvSpPr>
          <p:cNvPr id="919"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0"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921"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2"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class Cow(Animal):  # Animal child</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def speak(self):  # Override method</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return "Moo"  # Own sound</a:t>
            </a:r>
            <a:endParaRPr lang="en-US" sz="1620" b="0" u="none" strike="noStrike">
              <a:solidFill>
                <a:srgbClr val="000000"/>
              </a:solidFill>
              <a:effectLst/>
              <a:uFillTx/>
              <a:latin typeface="Arial"/>
            </a:endParaRPr>
          </a:p>
          <a:p>
            <a:pPr defTabSz="914400">
              <a:lnSpc>
                <a:spcPct val="100000"/>
              </a:lnSpc>
              <a:tabLst>
                <a:tab pos="0" algn="l"/>
              </a:tabLst>
            </a:pP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print(Cow().speak())  # Call child method</a:t>
            </a:r>
            <a:endParaRPr lang="en-US" sz="1620" b="0" u="none" strike="noStrike">
              <a:solidFill>
                <a:srgbClr val="000000"/>
              </a:solidFill>
              <a:effectLst/>
              <a:uFillTx/>
              <a:latin typeface="Arial"/>
            </a:endParaRPr>
          </a:p>
        </p:txBody>
      </p:sp>
      <p:sp>
        <p:nvSpPr>
          <p:cNvPr id="923"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4"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925"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Moo</a:t>
            </a:r>
            <a:endParaRPr lang="en-US" sz="1600" b="0" u="none" strike="noStrike">
              <a:solidFill>
                <a:srgbClr val="000000"/>
              </a:solidFill>
              <a:effectLst/>
              <a:uFillTx/>
              <a:latin typeface="Arial"/>
            </a:endParaRPr>
          </a:p>
        </p:txBody>
      </p:sp>
      <p:sp>
        <p:nvSpPr>
          <p:cNvPr id="926"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927"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Same method name</a:t>
            </a:r>
            <a:endParaRPr lang="en-US" sz="1679" b="0" u="none" strike="noStrike">
              <a:solidFill>
                <a:srgbClr val="000000"/>
              </a:solidFill>
              <a:effectLst/>
              <a:uFillTx/>
              <a:latin typeface="Arial"/>
            </a:endParaRPr>
          </a:p>
        </p:txBody>
      </p:sp>
      <p:sp>
        <p:nvSpPr>
          <p:cNvPr id="928"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Different child result</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92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93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93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Abstraction: show what matters</a:t>
            </a:r>
            <a:endParaRPr lang="en-US" sz="3400" b="0" u="none" strike="noStrike">
              <a:solidFill>
                <a:srgbClr val="000000"/>
              </a:solidFill>
              <a:effectLst/>
              <a:uFillTx/>
              <a:latin typeface="Arial"/>
            </a:endParaRPr>
          </a:p>
        </p:txBody>
      </p:sp>
      <p:sp>
        <p:nvSpPr>
          <p:cNvPr id="93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93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93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059</a:t>
            </a:r>
            <a:endParaRPr lang="en-US" sz="1000" b="0" u="none" strike="noStrike">
              <a:solidFill>
                <a:srgbClr val="000000"/>
              </a:solidFill>
              <a:effectLst/>
              <a:uFillTx/>
              <a:latin typeface="Arial"/>
            </a:endParaRPr>
          </a:p>
        </p:txBody>
      </p:sp>
      <p:sp>
        <p:nvSpPr>
          <p:cNvPr id="935"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36"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937"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9999"/>
          </a:bodyPr>
          <a:lstStyle/>
          <a:p>
            <a:pPr defTabSz="914400">
              <a:lnSpc>
                <a:spcPct val="100000"/>
              </a:lnSpc>
              <a:tabLst>
                <a:tab pos="0" algn="l"/>
              </a:tabLst>
            </a:pPr>
            <a:r>
              <a:rPr lang="en-US" sz="2250" b="1" u="none" strike="noStrike">
                <a:solidFill>
                  <a:srgbClr val="152B42"/>
                </a:solidFill>
                <a:effectLst/>
                <a:uFillTx/>
                <a:latin typeface="Aptos"/>
                <a:ea typeface="Aptos"/>
              </a:rPr>
              <a:t>Abstraction hides unnecessary details and presents a simple way to use something.</a:t>
            </a:r>
            <a:endParaRPr lang="en-US" sz="2250" b="0" u="none" strike="noStrike">
              <a:solidFill>
                <a:srgbClr val="000000"/>
              </a:solidFill>
              <a:effectLst/>
              <a:uFillTx/>
              <a:latin typeface="Arial"/>
            </a:endParaRPr>
          </a:p>
        </p:txBody>
      </p:sp>
      <p:sp>
        <p:nvSpPr>
          <p:cNvPr id="938"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939"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phone has a call button without showing wiring</a:t>
            </a:r>
            <a:endParaRPr lang="en-US" sz="2100" b="0" u="none" strike="noStrike">
              <a:solidFill>
                <a:srgbClr val="000000"/>
              </a:solidFill>
              <a:effectLst/>
              <a:uFillTx/>
              <a:latin typeface="Arial"/>
            </a:endParaRPr>
          </a:p>
        </p:txBody>
      </p:sp>
      <p:sp>
        <p:nvSpPr>
          <p:cNvPr id="940"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941"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In code, a method can hide several steps</a:t>
            </a:r>
            <a:endParaRPr lang="en-US" sz="2100" b="0" u="none" strike="noStrike">
              <a:solidFill>
                <a:srgbClr val="000000"/>
              </a:solidFill>
              <a:effectLst/>
              <a:uFillTx/>
              <a:latin typeface="Arial"/>
            </a:endParaRPr>
          </a:p>
        </p:txBody>
      </p:sp>
      <p:sp>
        <p:nvSpPr>
          <p:cNvPr id="942"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943"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Users call a method rather than managing every detail</a:t>
            </a:r>
            <a:endParaRPr lang="en-US" sz="2100" b="0" u="none" strike="noStrike">
              <a:solidFill>
                <a:srgbClr val="000000"/>
              </a:solidFill>
              <a:effectLst/>
              <a:uFillTx/>
              <a:latin typeface="Arial"/>
            </a:endParaRPr>
          </a:p>
        </p:txBody>
      </p:sp>
      <p:sp>
        <p:nvSpPr>
          <p:cNvPr id="944"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945"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Formal abstract classes can be studied later</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94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94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94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Abstraction: a simple total method</a:t>
            </a:r>
            <a:endParaRPr lang="en-US" sz="3400" b="0" u="none" strike="noStrike">
              <a:solidFill>
                <a:srgbClr val="000000"/>
              </a:solidFill>
              <a:effectLst/>
              <a:uFillTx/>
              <a:latin typeface="Arial"/>
            </a:endParaRPr>
          </a:p>
        </p:txBody>
      </p:sp>
      <p:sp>
        <p:nvSpPr>
          <p:cNvPr id="94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95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95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060</a:t>
            </a:r>
            <a:endParaRPr lang="en-US" sz="1000" b="0" u="none" strike="noStrike">
              <a:solidFill>
                <a:srgbClr val="000000"/>
              </a:solidFill>
              <a:effectLst/>
              <a:uFillTx/>
              <a:latin typeface="Arial"/>
            </a:endParaRPr>
          </a:p>
        </p:txBody>
      </p:sp>
      <p:sp>
        <p:nvSpPr>
          <p:cNvPr id="952"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953"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4"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430" b="0" u="none" strike="noStrike">
                <a:solidFill>
                  <a:srgbClr val="ECF4FA"/>
                </a:solidFill>
                <a:effectLst/>
                <a:uFillTx/>
                <a:latin typeface="DejaVu Sans Mono"/>
                <a:ea typeface="DejaVu Sans Mono"/>
              </a:rPr>
              <a:t>class Bill:</a:t>
            </a:r>
            <a:endParaRPr lang="en-US" sz="1430" b="0" u="none" strike="noStrike">
              <a:solidFill>
                <a:srgbClr val="000000"/>
              </a:solidFill>
              <a:effectLst/>
              <a:uFillTx/>
              <a:latin typeface="Arial"/>
            </a:endParaRPr>
          </a:p>
          <a:p>
            <a:pPr defTabSz="914400">
              <a:lnSpc>
                <a:spcPct val="100000"/>
              </a:lnSpc>
              <a:tabLst>
                <a:tab pos="0" algn="l"/>
              </a:tabLst>
            </a:pPr>
            <a:r>
              <a:rPr lang="en-US" sz="1430" b="0" u="none" strike="noStrike">
                <a:solidFill>
                  <a:srgbClr val="ECF4FA"/>
                </a:solidFill>
                <a:effectLst/>
                <a:uFillTx/>
                <a:latin typeface="DejaVu Sans Mono"/>
                <a:ea typeface="DejaVu Sans Mono"/>
              </a:rPr>
              <a:t>    def __init__(self, price, quantity):</a:t>
            </a:r>
            <a:endParaRPr lang="en-US" sz="1430" b="0" u="none" strike="noStrike">
              <a:solidFill>
                <a:srgbClr val="000000"/>
              </a:solidFill>
              <a:effectLst/>
              <a:uFillTx/>
              <a:latin typeface="Arial"/>
            </a:endParaRPr>
          </a:p>
          <a:p>
            <a:pPr defTabSz="914400">
              <a:lnSpc>
                <a:spcPct val="100000"/>
              </a:lnSpc>
              <a:tabLst>
                <a:tab pos="0" algn="l"/>
              </a:tabLst>
            </a:pPr>
            <a:r>
              <a:rPr lang="en-US" sz="1430" b="0" u="none" strike="noStrike">
                <a:solidFill>
                  <a:srgbClr val="ECF4FA"/>
                </a:solidFill>
                <a:effectLst/>
                <a:uFillTx/>
                <a:latin typeface="DejaVu Sans Mono"/>
                <a:ea typeface="DejaVu Sans Mono"/>
              </a:rPr>
              <a:t>        self.price = price  # Unit price</a:t>
            </a:r>
            <a:endParaRPr lang="en-US" sz="1430" b="0" u="none" strike="noStrike">
              <a:solidFill>
                <a:srgbClr val="000000"/>
              </a:solidFill>
              <a:effectLst/>
              <a:uFillTx/>
              <a:latin typeface="Arial"/>
            </a:endParaRPr>
          </a:p>
          <a:p>
            <a:pPr defTabSz="914400">
              <a:lnSpc>
                <a:spcPct val="100000"/>
              </a:lnSpc>
              <a:tabLst>
                <a:tab pos="0" algn="l"/>
              </a:tabLst>
            </a:pPr>
            <a:r>
              <a:rPr lang="en-US" sz="1430" b="0" u="none" strike="noStrike">
                <a:solidFill>
                  <a:srgbClr val="ECF4FA"/>
                </a:solidFill>
                <a:effectLst/>
                <a:uFillTx/>
                <a:latin typeface="DejaVu Sans Mono"/>
                <a:ea typeface="DejaVu Sans Mono"/>
              </a:rPr>
              <a:t>        self.quantity = quantity  # Units</a:t>
            </a:r>
            <a:endParaRPr lang="en-US" sz="1430" b="0" u="none" strike="noStrike">
              <a:solidFill>
                <a:srgbClr val="000000"/>
              </a:solidFill>
              <a:effectLst/>
              <a:uFillTx/>
              <a:latin typeface="Arial"/>
            </a:endParaRPr>
          </a:p>
          <a:p>
            <a:pPr defTabSz="914400">
              <a:lnSpc>
                <a:spcPct val="100000"/>
              </a:lnSpc>
              <a:tabLst>
                <a:tab pos="0" algn="l"/>
              </a:tabLst>
            </a:pPr>
            <a:r>
              <a:rPr lang="en-US" sz="1430" b="0" u="none" strike="noStrike">
                <a:solidFill>
                  <a:srgbClr val="ECF4FA"/>
                </a:solidFill>
                <a:effectLst/>
                <a:uFillTx/>
                <a:latin typeface="DejaVu Sans Mono"/>
                <a:ea typeface="DejaVu Sans Mono"/>
              </a:rPr>
              <a:t>    def total(self):  # Hide calculation</a:t>
            </a:r>
            <a:endParaRPr lang="en-US" sz="1430" b="0" u="none" strike="noStrike">
              <a:solidFill>
                <a:srgbClr val="000000"/>
              </a:solidFill>
              <a:effectLst/>
              <a:uFillTx/>
              <a:latin typeface="Arial"/>
            </a:endParaRPr>
          </a:p>
          <a:p>
            <a:pPr defTabSz="914400">
              <a:lnSpc>
                <a:spcPct val="100000"/>
              </a:lnSpc>
              <a:tabLst>
                <a:tab pos="0" algn="l"/>
              </a:tabLst>
            </a:pPr>
            <a:r>
              <a:rPr lang="en-US" sz="1430" b="0" u="none" strike="noStrike">
                <a:solidFill>
                  <a:srgbClr val="ECF4FA"/>
                </a:solidFill>
                <a:effectLst/>
                <a:uFillTx/>
                <a:latin typeface="DejaVu Sans Mono"/>
                <a:ea typeface="DejaVu Sans Mono"/>
              </a:rPr>
              <a:t>        return self.price * self.quantity</a:t>
            </a:r>
            <a:endParaRPr lang="en-US" sz="1430" b="0" u="none" strike="noStrike">
              <a:solidFill>
                <a:srgbClr val="000000"/>
              </a:solidFill>
              <a:effectLst/>
              <a:uFillTx/>
              <a:latin typeface="Arial"/>
            </a:endParaRPr>
          </a:p>
          <a:p>
            <a:pPr defTabSz="914400">
              <a:lnSpc>
                <a:spcPct val="100000"/>
              </a:lnSpc>
              <a:tabLst>
                <a:tab pos="0" algn="l"/>
              </a:tabLst>
            </a:pPr>
            <a:endParaRPr lang="en-US" sz="1430" b="0" u="none" strike="noStrike">
              <a:solidFill>
                <a:srgbClr val="000000"/>
              </a:solidFill>
              <a:effectLst/>
              <a:uFillTx/>
              <a:latin typeface="Arial"/>
            </a:endParaRPr>
          </a:p>
          <a:p>
            <a:pPr defTabSz="914400">
              <a:lnSpc>
                <a:spcPct val="100000"/>
              </a:lnSpc>
              <a:tabLst>
                <a:tab pos="0" algn="l"/>
              </a:tabLst>
            </a:pPr>
            <a:r>
              <a:rPr lang="en-US" sz="1430" b="0" u="none" strike="noStrike">
                <a:solidFill>
                  <a:srgbClr val="ECF4FA"/>
                </a:solidFill>
                <a:effectLst/>
                <a:uFillTx/>
                <a:latin typeface="DejaVu Sans Mono"/>
                <a:ea typeface="DejaVu Sans Mono"/>
              </a:rPr>
              <a:t>bill = Bill(100, 3)  # Make bill</a:t>
            </a:r>
            <a:endParaRPr lang="en-US" sz="1430" b="0" u="none" strike="noStrike">
              <a:solidFill>
                <a:srgbClr val="000000"/>
              </a:solidFill>
              <a:effectLst/>
              <a:uFillTx/>
              <a:latin typeface="Arial"/>
            </a:endParaRPr>
          </a:p>
          <a:p>
            <a:pPr defTabSz="914400">
              <a:lnSpc>
                <a:spcPct val="100000"/>
              </a:lnSpc>
              <a:tabLst>
                <a:tab pos="0" algn="l"/>
              </a:tabLst>
            </a:pPr>
            <a:r>
              <a:rPr lang="en-US" sz="1430" b="0" u="none" strike="noStrike">
                <a:solidFill>
                  <a:srgbClr val="ECF4FA"/>
                </a:solidFill>
                <a:effectLst/>
                <a:uFillTx/>
                <a:latin typeface="DejaVu Sans Mono"/>
                <a:ea typeface="DejaVu Sans Mono"/>
              </a:rPr>
              <a:t>print(bill.total())  # Just call total()</a:t>
            </a:r>
            <a:endParaRPr lang="en-US" sz="1430" b="0" u="none" strike="noStrike">
              <a:solidFill>
                <a:srgbClr val="000000"/>
              </a:solidFill>
              <a:effectLst/>
              <a:uFillTx/>
              <a:latin typeface="Arial"/>
            </a:endParaRPr>
          </a:p>
        </p:txBody>
      </p:sp>
      <p:sp>
        <p:nvSpPr>
          <p:cNvPr id="955"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56"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957"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Caller sees total()</a:t>
            </a:r>
            <a:endParaRPr lang="en-US" sz="1750" b="0" u="none" strike="noStrike">
              <a:solidFill>
                <a:srgbClr val="000000"/>
              </a:solidFill>
              <a:effectLst/>
              <a:uFillTx/>
              <a:latin typeface="Arial"/>
            </a:endParaRPr>
          </a:p>
        </p:txBody>
      </p:sp>
      <p:sp>
        <p:nvSpPr>
          <p:cNvPr id="958"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Calculation stays inside</a:t>
            </a:r>
            <a:endParaRPr lang="en-US" sz="1750" b="0" u="none" strike="noStrike">
              <a:solidFill>
                <a:srgbClr val="000000"/>
              </a:solidFill>
              <a:effectLst/>
              <a:uFillTx/>
              <a:latin typeface="Arial"/>
            </a:endParaRPr>
          </a:p>
        </p:txBody>
      </p:sp>
      <p:sp>
        <p:nvSpPr>
          <p:cNvPr id="959"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The method hides a step</a:t>
            </a:r>
            <a:endParaRPr lang="en-US" sz="1750" b="0" u="none" strike="noStrike">
              <a:solidFill>
                <a:srgbClr val="000000"/>
              </a:solidFill>
              <a:effectLst/>
              <a:uFillTx/>
              <a:latin typeface="Arial"/>
            </a:endParaRPr>
          </a:p>
        </p:txBody>
      </p:sp>
      <p:sp>
        <p:nvSpPr>
          <p:cNvPr id="960"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61"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962"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300</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96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96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96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Abstraction practice</a:t>
            </a:r>
            <a:endParaRPr lang="en-US" sz="3400" b="0" u="none" strike="noStrike">
              <a:solidFill>
                <a:srgbClr val="000000"/>
              </a:solidFill>
              <a:effectLst/>
              <a:uFillTx/>
              <a:latin typeface="Arial"/>
            </a:endParaRPr>
          </a:p>
        </p:txBody>
      </p:sp>
      <p:sp>
        <p:nvSpPr>
          <p:cNvPr id="96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96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96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061</a:t>
            </a:r>
            <a:endParaRPr lang="en-US" sz="1000" b="0" u="none" strike="noStrike">
              <a:solidFill>
                <a:srgbClr val="000000"/>
              </a:solidFill>
              <a:effectLst/>
              <a:uFillTx/>
              <a:latin typeface="Arial"/>
            </a:endParaRPr>
          </a:p>
        </p:txBody>
      </p:sp>
      <p:sp>
        <p:nvSpPr>
          <p:cNvPr id="969"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0"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971"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Add a method that shows marks percentage.</a:t>
            </a:r>
            <a:endParaRPr lang="en-US" sz="1960" b="0" u="none" strike="noStrike">
              <a:solidFill>
                <a:srgbClr val="000000"/>
              </a:solidFill>
              <a:effectLst/>
              <a:uFillTx/>
              <a:latin typeface="Arial"/>
            </a:endParaRPr>
          </a:p>
        </p:txBody>
      </p:sp>
      <p:sp>
        <p:nvSpPr>
          <p:cNvPr id="972"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73"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class Result:</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def __init__(self, marks):</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self.marks = marks</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 Add percentage(self)</a:t>
            </a:r>
            <a:endParaRPr lang="en-US" sz="1580" b="0" u="none" strike="noStrike">
              <a:solidFill>
                <a:srgbClr val="000000"/>
              </a:solidFill>
              <a:effectLst/>
              <a:uFillTx/>
              <a:latin typeface="Arial"/>
            </a:endParaRPr>
          </a:p>
          <a:p>
            <a:pPr defTabSz="914400">
              <a:lnSpc>
                <a:spcPct val="100000"/>
              </a:lnSpc>
              <a:tabLst>
                <a:tab pos="0" algn="l"/>
              </a:tabLst>
            </a:pP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For marks 80 out of 100</a:t>
            </a:r>
            <a:endParaRPr lang="en-US" sz="1580" b="0" u="none" strike="noStrike">
              <a:solidFill>
                <a:srgbClr val="000000"/>
              </a:solidFill>
              <a:effectLst/>
              <a:uFillTx/>
              <a:latin typeface="Arial"/>
            </a:endParaRPr>
          </a:p>
        </p:txBody>
      </p:sp>
      <p:sp>
        <p:nvSpPr>
          <p:cNvPr id="974"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5"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976"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Create percentage method</a:t>
            </a:r>
            <a:endParaRPr lang="en-US" sz="1820" b="0" u="none" strike="noStrike">
              <a:solidFill>
                <a:srgbClr val="000000"/>
              </a:solidFill>
              <a:effectLst/>
              <a:uFillTx/>
              <a:latin typeface="Arial"/>
            </a:endParaRPr>
          </a:p>
        </p:txBody>
      </p:sp>
      <p:sp>
        <p:nvSpPr>
          <p:cNvPr id="977"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820" b="0" u="none" strike="noStrike">
                <a:solidFill>
                  <a:srgbClr val="152B42"/>
                </a:solidFill>
                <a:effectLst/>
                <a:uFillTx/>
                <a:latin typeface="Aptos"/>
                <a:ea typeface="Aptos"/>
              </a:rPr>
              <a:t>2. Return self.marks / 100 * 100</a:t>
            </a:r>
            <a:endParaRPr lang="en-US" sz="1820" b="0" u="none" strike="noStrike">
              <a:solidFill>
                <a:srgbClr val="000000"/>
              </a:solidFill>
              <a:effectLst/>
              <a:uFillTx/>
              <a:latin typeface="Arial"/>
            </a:endParaRPr>
          </a:p>
        </p:txBody>
      </p:sp>
      <p:sp>
        <p:nvSpPr>
          <p:cNvPr id="978"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Call Result(80)</a:t>
            </a:r>
            <a:endParaRPr lang="en-US" sz="1820" b="0" u="none" strike="noStrike">
              <a:solidFill>
                <a:srgbClr val="000000"/>
              </a:solidFill>
              <a:effectLst/>
              <a:uFillTx/>
              <a:latin typeface="Arial"/>
            </a:endParaRPr>
          </a:p>
        </p:txBody>
      </p:sp>
      <p:sp>
        <p:nvSpPr>
          <p:cNvPr id="979"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Print result</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980"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981"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982"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Abstraction answer</a:t>
            </a:r>
            <a:endParaRPr lang="en-US" sz="3400" b="0" u="none" strike="noStrike">
              <a:solidFill>
                <a:srgbClr val="000000"/>
              </a:solidFill>
              <a:effectLst/>
              <a:uFillTx/>
              <a:latin typeface="Arial"/>
            </a:endParaRPr>
          </a:p>
        </p:txBody>
      </p:sp>
      <p:sp>
        <p:nvSpPr>
          <p:cNvPr id="983"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984"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985"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062</a:t>
            </a:r>
            <a:endParaRPr lang="en-US" sz="1000" b="0" u="none" strike="noStrike">
              <a:solidFill>
                <a:srgbClr val="000000"/>
              </a:solidFill>
              <a:effectLst/>
              <a:uFillTx/>
              <a:latin typeface="Arial"/>
            </a:endParaRPr>
          </a:p>
        </p:txBody>
      </p:sp>
      <p:sp>
        <p:nvSpPr>
          <p:cNvPr id="986"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7"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988"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9"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class Result:</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def __init__(self, marks):</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self.marks = marks  # Save marks</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def percentage(self):  # Hide formula</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return (self.marks / 100) * 100</a:t>
            </a:r>
            <a:endParaRPr lang="en-US" sz="1620" b="0" u="none" strike="noStrike">
              <a:solidFill>
                <a:srgbClr val="000000"/>
              </a:solidFill>
              <a:effectLst/>
              <a:uFillTx/>
              <a:latin typeface="Arial"/>
            </a:endParaRPr>
          </a:p>
          <a:p>
            <a:pPr defTabSz="914400">
              <a:lnSpc>
                <a:spcPct val="100000"/>
              </a:lnSpc>
              <a:tabLst>
                <a:tab pos="0" algn="l"/>
              </a:tabLst>
            </a:pP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print(Result(80).percentage())</a:t>
            </a:r>
            <a:endParaRPr lang="en-US" sz="1620" b="0" u="none" strike="noStrike">
              <a:solidFill>
                <a:srgbClr val="000000"/>
              </a:solidFill>
              <a:effectLst/>
              <a:uFillTx/>
              <a:latin typeface="Arial"/>
            </a:endParaRPr>
          </a:p>
        </p:txBody>
      </p:sp>
      <p:sp>
        <p:nvSpPr>
          <p:cNvPr id="990"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1"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992"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80.0</a:t>
            </a:r>
            <a:endParaRPr lang="en-US" sz="1600" b="0" u="none" strike="noStrike">
              <a:solidFill>
                <a:srgbClr val="000000"/>
              </a:solidFill>
              <a:effectLst/>
              <a:uFillTx/>
              <a:latin typeface="Arial"/>
            </a:endParaRPr>
          </a:p>
        </p:txBody>
      </p:sp>
      <p:sp>
        <p:nvSpPr>
          <p:cNvPr id="993"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994"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Caller uses one method</a:t>
            </a:r>
            <a:endParaRPr lang="en-US" sz="1679" b="0" u="none" strike="noStrike">
              <a:solidFill>
                <a:srgbClr val="000000"/>
              </a:solidFill>
              <a:effectLst/>
              <a:uFillTx/>
              <a:latin typeface="Arial"/>
            </a:endParaRPr>
          </a:p>
        </p:txBody>
      </p:sp>
      <p:sp>
        <p:nvSpPr>
          <p:cNvPr id="995"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Method handles calculation</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99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99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99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Composition: one object has another</a:t>
            </a:r>
            <a:endParaRPr lang="en-US" sz="3400" b="0" u="none" strike="noStrike">
              <a:solidFill>
                <a:srgbClr val="000000"/>
              </a:solidFill>
              <a:effectLst/>
              <a:uFillTx/>
              <a:latin typeface="Arial"/>
            </a:endParaRPr>
          </a:p>
        </p:txBody>
      </p:sp>
      <p:sp>
        <p:nvSpPr>
          <p:cNvPr id="99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00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00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063</a:t>
            </a:r>
            <a:endParaRPr lang="en-US" sz="1000" b="0" u="none" strike="noStrike">
              <a:solidFill>
                <a:srgbClr val="000000"/>
              </a:solidFill>
              <a:effectLst/>
              <a:uFillTx/>
              <a:latin typeface="Arial"/>
            </a:endParaRPr>
          </a:p>
        </p:txBody>
      </p:sp>
      <p:sp>
        <p:nvSpPr>
          <p:cNvPr id="1002"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3"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004"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Composition means one class uses an object of another class.</a:t>
            </a:r>
            <a:endParaRPr lang="en-US" sz="2250" b="0" u="none" strike="noStrike">
              <a:solidFill>
                <a:srgbClr val="000000"/>
              </a:solidFill>
              <a:effectLst/>
              <a:uFillTx/>
              <a:latin typeface="Arial"/>
            </a:endParaRPr>
          </a:p>
        </p:txBody>
      </p:sp>
      <p:sp>
        <p:nvSpPr>
          <p:cNvPr id="1005"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06"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Library has books</a:t>
            </a:r>
            <a:endParaRPr lang="en-US" sz="2100" b="0" u="none" strike="noStrike">
              <a:solidFill>
                <a:srgbClr val="000000"/>
              </a:solidFill>
              <a:effectLst/>
              <a:uFillTx/>
              <a:latin typeface="Arial"/>
            </a:endParaRPr>
          </a:p>
        </p:txBody>
      </p:sp>
      <p:sp>
        <p:nvSpPr>
          <p:cNvPr id="1007"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08"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Car has an engine</a:t>
            </a:r>
            <a:endParaRPr lang="en-US" sz="2100" b="0" u="none" strike="noStrike">
              <a:solidFill>
                <a:srgbClr val="000000"/>
              </a:solidFill>
              <a:effectLst/>
              <a:uFillTx/>
              <a:latin typeface="Arial"/>
            </a:endParaRPr>
          </a:p>
        </p:txBody>
      </p:sp>
      <p:sp>
        <p:nvSpPr>
          <p:cNvPr id="1009"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10"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composition for a has-a relationship</a:t>
            </a:r>
            <a:endParaRPr lang="en-US" sz="2100" b="0" u="none" strike="noStrike">
              <a:solidFill>
                <a:srgbClr val="000000"/>
              </a:solidFill>
              <a:effectLst/>
              <a:uFillTx/>
              <a:latin typeface="Arial"/>
            </a:endParaRPr>
          </a:p>
        </p:txBody>
      </p:sp>
      <p:sp>
        <p:nvSpPr>
          <p:cNvPr id="1011"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12"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inheritance for an is-a relationship</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01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01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101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Composition: library has books</a:t>
            </a:r>
            <a:endParaRPr lang="en-US" sz="3400" b="0" u="none" strike="noStrike">
              <a:solidFill>
                <a:srgbClr val="000000"/>
              </a:solidFill>
              <a:effectLst/>
              <a:uFillTx/>
              <a:latin typeface="Arial"/>
            </a:endParaRPr>
          </a:p>
        </p:txBody>
      </p:sp>
      <p:sp>
        <p:nvSpPr>
          <p:cNvPr id="101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01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01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064</a:t>
            </a:r>
            <a:endParaRPr lang="en-US" sz="1000" b="0" u="none" strike="noStrike">
              <a:solidFill>
                <a:srgbClr val="000000"/>
              </a:solidFill>
              <a:effectLst/>
              <a:uFillTx/>
              <a:latin typeface="Arial"/>
            </a:endParaRPr>
          </a:p>
        </p:txBody>
      </p:sp>
      <p:sp>
        <p:nvSpPr>
          <p:cNvPr id="1019"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020"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21"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90" b="0" u="none" strike="noStrike" dirty="0">
                <a:solidFill>
                  <a:srgbClr val="ECF4FA"/>
                </a:solidFill>
                <a:effectLst/>
                <a:uFillTx/>
                <a:latin typeface="DejaVu Sans Mono"/>
                <a:ea typeface="DejaVu Sans Mono"/>
              </a:rPr>
              <a:t>class Book:</a:t>
            </a: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a:solidFill>
                  <a:srgbClr val="ECF4FA"/>
                </a:solidFill>
                <a:effectLst/>
                <a:uFillTx/>
                <a:latin typeface="DejaVu Sans Mono"/>
                <a:ea typeface="DejaVu Sans Mono"/>
              </a:rPr>
              <a:t>    </a:t>
            </a:r>
            <a:r>
              <a:rPr lang="en-US" sz="1290" b="0" u="none" strike="noStrike" dirty="0" err="1">
                <a:solidFill>
                  <a:srgbClr val="ECF4FA"/>
                </a:solidFill>
                <a:effectLst/>
                <a:uFillTx/>
                <a:latin typeface="DejaVu Sans Mono"/>
                <a:ea typeface="DejaVu Sans Mono"/>
              </a:rPr>
              <a:t>def</a:t>
            </a:r>
            <a:r>
              <a:rPr lang="en-US" sz="1290" b="0" u="none" strike="noStrike" dirty="0">
                <a:solidFill>
                  <a:srgbClr val="ECF4FA"/>
                </a:solidFill>
                <a:effectLst/>
                <a:uFillTx/>
                <a:latin typeface="DejaVu Sans Mono"/>
                <a:ea typeface="DejaVu Sans Mono"/>
              </a:rPr>
              <a:t> __</a:t>
            </a:r>
            <a:r>
              <a:rPr lang="en-US" sz="1290" b="0" u="none" strike="noStrike" dirty="0" err="1">
                <a:solidFill>
                  <a:srgbClr val="ECF4FA"/>
                </a:solidFill>
                <a:effectLst/>
                <a:uFillTx/>
                <a:latin typeface="DejaVu Sans Mono"/>
                <a:ea typeface="DejaVu Sans Mono"/>
              </a:rPr>
              <a:t>init</a:t>
            </a:r>
            <a:r>
              <a:rPr lang="en-US" sz="1290" b="0" u="none" strike="noStrike" dirty="0">
                <a:solidFill>
                  <a:srgbClr val="ECF4FA"/>
                </a:solidFill>
                <a:effectLst/>
                <a:uFillTx/>
                <a:latin typeface="DejaVu Sans Mono"/>
                <a:ea typeface="DejaVu Sans Mono"/>
              </a:rPr>
              <a:t>__(self, title):</a:t>
            </a: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a:solidFill>
                  <a:srgbClr val="ECF4FA"/>
                </a:solidFill>
                <a:effectLst/>
                <a:uFillTx/>
                <a:latin typeface="DejaVu Sans Mono"/>
                <a:ea typeface="DejaVu Sans Mono"/>
              </a:rPr>
              <a:t>        </a:t>
            </a:r>
            <a:r>
              <a:rPr lang="en-US" sz="1290" b="0" u="none" strike="noStrike" dirty="0" err="1">
                <a:solidFill>
                  <a:srgbClr val="ECF4FA"/>
                </a:solidFill>
                <a:effectLst/>
                <a:uFillTx/>
                <a:latin typeface="DejaVu Sans Mono"/>
                <a:ea typeface="DejaVu Sans Mono"/>
              </a:rPr>
              <a:t>self.title</a:t>
            </a:r>
            <a:r>
              <a:rPr lang="en-US" sz="1290" b="0" u="none" strike="noStrike" dirty="0">
                <a:solidFill>
                  <a:srgbClr val="ECF4FA"/>
                </a:solidFill>
                <a:effectLst/>
                <a:uFillTx/>
                <a:latin typeface="DejaVu Sans Mono"/>
                <a:ea typeface="DejaVu Sans Mono"/>
              </a:rPr>
              <a:t> = title  # Save book title</a:t>
            </a:r>
            <a:endParaRPr lang="en-US" sz="1290" b="0" u="none" strike="noStrike" dirty="0">
              <a:solidFill>
                <a:srgbClr val="000000"/>
              </a:solidFill>
              <a:effectLst/>
              <a:uFillTx/>
              <a:latin typeface="Arial"/>
            </a:endParaRPr>
          </a:p>
          <a:p>
            <a:pPr defTabSz="914400">
              <a:lnSpc>
                <a:spcPct val="100000"/>
              </a:lnSpc>
              <a:tabLst>
                <a:tab pos="0" algn="l"/>
              </a:tabLst>
            </a:pP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a:solidFill>
                  <a:srgbClr val="ECF4FA"/>
                </a:solidFill>
                <a:effectLst/>
                <a:uFillTx/>
                <a:latin typeface="DejaVu Sans Mono"/>
                <a:ea typeface="DejaVu Sans Mono"/>
              </a:rPr>
              <a:t>class Library:</a:t>
            </a: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a:solidFill>
                  <a:srgbClr val="ECF4FA"/>
                </a:solidFill>
                <a:effectLst/>
                <a:uFillTx/>
                <a:latin typeface="DejaVu Sans Mono"/>
                <a:ea typeface="DejaVu Sans Mono"/>
              </a:rPr>
              <a:t>    </a:t>
            </a:r>
            <a:r>
              <a:rPr lang="en-US" sz="1290" b="0" u="none" strike="noStrike" dirty="0" err="1">
                <a:solidFill>
                  <a:srgbClr val="ECF4FA"/>
                </a:solidFill>
                <a:effectLst/>
                <a:uFillTx/>
                <a:latin typeface="DejaVu Sans Mono"/>
                <a:ea typeface="DejaVu Sans Mono"/>
              </a:rPr>
              <a:t>def</a:t>
            </a:r>
            <a:r>
              <a:rPr lang="en-US" sz="1290" b="0" u="none" strike="noStrike" dirty="0">
                <a:solidFill>
                  <a:srgbClr val="ECF4FA"/>
                </a:solidFill>
                <a:effectLst/>
                <a:uFillTx/>
                <a:latin typeface="DejaVu Sans Mono"/>
                <a:ea typeface="DejaVu Sans Mono"/>
              </a:rPr>
              <a:t> __</a:t>
            </a:r>
            <a:r>
              <a:rPr lang="en-US" sz="1290" b="0" u="none" strike="noStrike" dirty="0" err="1">
                <a:solidFill>
                  <a:srgbClr val="ECF4FA"/>
                </a:solidFill>
                <a:effectLst/>
                <a:uFillTx/>
                <a:latin typeface="DejaVu Sans Mono"/>
                <a:ea typeface="DejaVu Sans Mono"/>
              </a:rPr>
              <a:t>init</a:t>
            </a:r>
            <a:r>
              <a:rPr lang="en-US" sz="1290" b="0" u="none" strike="noStrike" dirty="0">
                <a:solidFill>
                  <a:srgbClr val="ECF4FA"/>
                </a:solidFill>
                <a:effectLst/>
                <a:uFillTx/>
                <a:latin typeface="DejaVu Sans Mono"/>
                <a:ea typeface="DejaVu Sans Mono"/>
              </a:rPr>
              <a:t>__(self):</a:t>
            </a: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a:solidFill>
                  <a:srgbClr val="ECF4FA"/>
                </a:solidFill>
                <a:effectLst/>
                <a:uFillTx/>
                <a:latin typeface="DejaVu Sans Mono"/>
                <a:ea typeface="DejaVu Sans Mono"/>
              </a:rPr>
              <a:t>        </a:t>
            </a:r>
            <a:r>
              <a:rPr lang="en-US" sz="1290" b="0" u="none" strike="noStrike" dirty="0" err="1">
                <a:solidFill>
                  <a:srgbClr val="ECF4FA"/>
                </a:solidFill>
                <a:effectLst/>
                <a:uFillTx/>
                <a:latin typeface="DejaVu Sans Mono"/>
                <a:ea typeface="DejaVu Sans Mono"/>
              </a:rPr>
              <a:t>self.books</a:t>
            </a:r>
            <a:r>
              <a:rPr lang="en-US" sz="1290" b="0" u="none" strike="noStrike" dirty="0">
                <a:solidFill>
                  <a:srgbClr val="ECF4FA"/>
                </a:solidFill>
                <a:effectLst/>
                <a:uFillTx/>
                <a:latin typeface="DejaVu Sans Mono"/>
                <a:ea typeface="DejaVu Sans Mono"/>
              </a:rPr>
              <a:t> = []  # Library has books</a:t>
            </a: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a:solidFill>
                  <a:srgbClr val="ECF4FA"/>
                </a:solidFill>
                <a:effectLst/>
                <a:uFillTx/>
                <a:latin typeface="DejaVu Sans Mono"/>
                <a:ea typeface="DejaVu Sans Mono"/>
              </a:rPr>
              <a:t>    </a:t>
            </a:r>
            <a:r>
              <a:rPr lang="en-US" sz="1290" b="0" u="none" strike="noStrike" dirty="0" err="1">
                <a:solidFill>
                  <a:srgbClr val="ECF4FA"/>
                </a:solidFill>
                <a:effectLst/>
                <a:uFillTx/>
                <a:latin typeface="DejaVu Sans Mono"/>
                <a:ea typeface="DejaVu Sans Mono"/>
              </a:rPr>
              <a:t>def</a:t>
            </a:r>
            <a:r>
              <a:rPr lang="en-US" sz="1290" b="0" u="none" strike="noStrike" dirty="0">
                <a:solidFill>
                  <a:srgbClr val="ECF4FA"/>
                </a:solidFill>
                <a:effectLst/>
                <a:uFillTx/>
                <a:latin typeface="DejaVu Sans Mono"/>
                <a:ea typeface="DejaVu Sans Mono"/>
              </a:rPr>
              <a:t> add(self, book):</a:t>
            </a: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a:solidFill>
                  <a:srgbClr val="ECF4FA"/>
                </a:solidFill>
                <a:effectLst/>
                <a:uFillTx/>
                <a:latin typeface="DejaVu Sans Mono"/>
                <a:ea typeface="DejaVu Sans Mono"/>
              </a:rPr>
              <a:t>        </a:t>
            </a:r>
            <a:r>
              <a:rPr lang="en-US" sz="1290" b="0" u="none" strike="noStrike" dirty="0" err="1">
                <a:solidFill>
                  <a:srgbClr val="ECF4FA"/>
                </a:solidFill>
                <a:effectLst/>
                <a:uFillTx/>
                <a:latin typeface="DejaVu Sans Mono"/>
                <a:ea typeface="DejaVu Sans Mono"/>
              </a:rPr>
              <a:t>self.books.append</a:t>
            </a:r>
            <a:r>
              <a:rPr lang="en-US" sz="1290" b="0" u="none" strike="noStrike" dirty="0">
                <a:solidFill>
                  <a:srgbClr val="ECF4FA"/>
                </a:solidFill>
                <a:effectLst/>
                <a:uFillTx/>
                <a:latin typeface="DejaVu Sans Mono"/>
                <a:ea typeface="DejaVu Sans Mono"/>
              </a:rPr>
              <a:t>(book)  # Save object</a:t>
            </a:r>
            <a:endParaRPr lang="en-US" sz="1290" b="0" u="none" strike="noStrike" dirty="0">
              <a:solidFill>
                <a:srgbClr val="000000"/>
              </a:solidFill>
              <a:effectLst/>
              <a:uFillTx/>
              <a:latin typeface="Arial"/>
            </a:endParaRPr>
          </a:p>
          <a:p>
            <a:pPr defTabSz="914400">
              <a:lnSpc>
                <a:spcPct val="100000"/>
              </a:lnSpc>
              <a:tabLst>
                <a:tab pos="0" algn="l"/>
              </a:tabLst>
            </a:pP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a:solidFill>
                  <a:srgbClr val="ECF4FA"/>
                </a:solidFill>
                <a:effectLst/>
                <a:uFillTx/>
                <a:latin typeface="DejaVu Sans Mono"/>
                <a:ea typeface="DejaVu Sans Mono"/>
              </a:rPr>
              <a:t>library = Library()</a:t>
            </a: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err="1">
                <a:solidFill>
                  <a:srgbClr val="ECF4FA"/>
                </a:solidFill>
                <a:effectLst/>
                <a:uFillTx/>
                <a:latin typeface="DejaVu Sans Mono"/>
                <a:ea typeface="DejaVu Sans Mono"/>
              </a:rPr>
              <a:t>library.add</a:t>
            </a:r>
            <a:r>
              <a:rPr lang="en-US" sz="1290" b="0" u="none" strike="noStrike" dirty="0">
                <a:solidFill>
                  <a:srgbClr val="ECF4FA"/>
                </a:solidFill>
                <a:effectLst/>
                <a:uFillTx/>
                <a:latin typeface="DejaVu Sans Mono"/>
                <a:ea typeface="DejaVu Sans Mono"/>
              </a:rPr>
              <a:t>(Book("Python"))</a:t>
            </a:r>
            <a:endParaRPr lang="en-US" sz="1290" b="0" u="none" strike="noStrike" dirty="0">
              <a:solidFill>
                <a:srgbClr val="000000"/>
              </a:solidFill>
              <a:effectLst/>
              <a:uFillTx/>
              <a:latin typeface="Arial"/>
            </a:endParaRPr>
          </a:p>
          <a:p>
            <a:pPr defTabSz="914400">
              <a:lnSpc>
                <a:spcPct val="100000"/>
              </a:lnSpc>
              <a:tabLst>
                <a:tab pos="0" algn="l"/>
              </a:tabLst>
            </a:pPr>
            <a:r>
              <a:rPr lang="en-US" sz="1290" b="0" u="none" strike="noStrike" dirty="0">
                <a:solidFill>
                  <a:srgbClr val="ECF4FA"/>
                </a:solidFill>
                <a:effectLst/>
                <a:uFillTx/>
                <a:latin typeface="DejaVu Sans Mono"/>
                <a:ea typeface="DejaVu Sans Mono"/>
              </a:rPr>
              <a:t>print(</a:t>
            </a:r>
            <a:r>
              <a:rPr lang="en-US" sz="1290" b="0" u="none" strike="noStrike" dirty="0" err="1">
                <a:solidFill>
                  <a:srgbClr val="ECF4FA"/>
                </a:solidFill>
                <a:effectLst/>
                <a:uFillTx/>
                <a:latin typeface="DejaVu Sans Mono"/>
                <a:ea typeface="DejaVu Sans Mono"/>
              </a:rPr>
              <a:t>library.books</a:t>
            </a:r>
            <a:r>
              <a:rPr lang="en-US" sz="1290" b="0" u="none" strike="noStrike" dirty="0">
                <a:solidFill>
                  <a:srgbClr val="ECF4FA"/>
                </a:solidFill>
                <a:effectLst/>
                <a:uFillTx/>
                <a:latin typeface="DejaVu Sans Mono"/>
                <a:ea typeface="DejaVu Sans Mono"/>
              </a:rPr>
              <a:t>[0].title)</a:t>
            </a:r>
            <a:endParaRPr lang="en-US" sz="1290" b="0" u="none" strike="noStrike" dirty="0">
              <a:solidFill>
                <a:srgbClr val="000000"/>
              </a:solidFill>
              <a:effectLst/>
              <a:uFillTx/>
              <a:latin typeface="Arial"/>
            </a:endParaRPr>
          </a:p>
        </p:txBody>
      </p:sp>
      <p:sp>
        <p:nvSpPr>
          <p:cNvPr id="1022"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3"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024"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Library has Book objects</a:t>
            </a:r>
            <a:endParaRPr lang="en-US" sz="1750" b="0" u="none" strike="noStrike">
              <a:solidFill>
                <a:srgbClr val="000000"/>
              </a:solidFill>
              <a:effectLst/>
              <a:uFillTx/>
              <a:latin typeface="Arial"/>
            </a:endParaRPr>
          </a:p>
        </p:txBody>
      </p:sp>
      <p:sp>
        <p:nvSpPr>
          <p:cNvPr id="1025"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Uses list to store them</a:t>
            </a:r>
            <a:endParaRPr lang="en-US" sz="1750" b="0" u="none" strike="noStrike">
              <a:solidFill>
                <a:srgbClr val="000000"/>
              </a:solidFill>
              <a:effectLst/>
              <a:uFillTx/>
              <a:latin typeface="Arial"/>
            </a:endParaRPr>
          </a:p>
        </p:txBody>
      </p:sp>
      <p:sp>
        <p:nvSpPr>
          <p:cNvPr id="1026"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Not an inheritance relation</a:t>
            </a:r>
            <a:endParaRPr lang="en-US" sz="1750" b="0" u="none" strike="noStrike">
              <a:solidFill>
                <a:srgbClr val="000000"/>
              </a:solidFill>
              <a:effectLst/>
              <a:uFillTx/>
              <a:latin typeface="Arial"/>
            </a:endParaRPr>
          </a:p>
        </p:txBody>
      </p:sp>
      <p:sp>
        <p:nvSpPr>
          <p:cNvPr id="1027"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8"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029"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Python</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030"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031"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1032"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Composition practice</a:t>
            </a:r>
            <a:endParaRPr lang="en-US" sz="3400" b="0" u="none" strike="noStrike">
              <a:solidFill>
                <a:srgbClr val="000000"/>
              </a:solidFill>
              <a:effectLst/>
              <a:uFillTx/>
              <a:latin typeface="Arial"/>
            </a:endParaRPr>
          </a:p>
        </p:txBody>
      </p:sp>
      <p:sp>
        <p:nvSpPr>
          <p:cNvPr id="1033"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034"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1035"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065</a:t>
            </a:r>
            <a:endParaRPr lang="en-US" sz="1000" b="0" u="none" strike="noStrike">
              <a:solidFill>
                <a:srgbClr val="000000"/>
              </a:solidFill>
              <a:effectLst/>
              <a:uFillTx/>
              <a:latin typeface="Arial"/>
            </a:endParaRPr>
          </a:p>
        </p:txBody>
      </p:sp>
      <p:sp>
        <p:nvSpPr>
          <p:cNvPr id="1036"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7"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1038"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Add a second book to a Library.</a:t>
            </a:r>
            <a:endParaRPr lang="en-US" sz="1960" b="0" u="none" strike="noStrike">
              <a:solidFill>
                <a:srgbClr val="000000"/>
              </a:solidFill>
              <a:effectLst/>
              <a:uFillTx/>
              <a:latin typeface="Arial"/>
            </a:endParaRPr>
          </a:p>
        </p:txBody>
      </p:sp>
      <p:sp>
        <p:nvSpPr>
          <p:cNvPr id="1039"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40"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library = Library()</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library.add(Book("Python"))</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Add Book("AI Basics")</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Print title of second book</a:t>
            </a:r>
            <a:endParaRPr lang="en-US" sz="1580" b="0" u="none" strike="noStrike">
              <a:solidFill>
                <a:srgbClr val="000000"/>
              </a:solidFill>
              <a:effectLst/>
              <a:uFillTx/>
              <a:latin typeface="Arial"/>
            </a:endParaRPr>
          </a:p>
        </p:txBody>
      </p:sp>
      <p:sp>
        <p:nvSpPr>
          <p:cNvPr id="1041"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42"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1043"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Reuse Library and Book</a:t>
            </a:r>
            <a:endParaRPr lang="en-US" sz="1820" b="0" u="none" strike="noStrike">
              <a:solidFill>
                <a:srgbClr val="000000"/>
              </a:solidFill>
              <a:effectLst/>
              <a:uFillTx/>
              <a:latin typeface="Arial"/>
            </a:endParaRPr>
          </a:p>
        </p:txBody>
      </p:sp>
      <p:sp>
        <p:nvSpPr>
          <p:cNvPr id="1044"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Add second object</a:t>
            </a:r>
            <a:endParaRPr lang="en-US" sz="1820" b="0" u="none" strike="noStrike">
              <a:solidFill>
                <a:srgbClr val="000000"/>
              </a:solidFill>
              <a:effectLst/>
              <a:uFillTx/>
              <a:latin typeface="Arial"/>
            </a:endParaRPr>
          </a:p>
        </p:txBody>
      </p:sp>
      <p:sp>
        <p:nvSpPr>
          <p:cNvPr id="1045"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Access books[1]</a:t>
            </a:r>
            <a:endParaRPr lang="en-US" sz="1820" b="0" u="none" strike="noStrike">
              <a:solidFill>
                <a:srgbClr val="000000"/>
              </a:solidFill>
              <a:effectLst/>
              <a:uFillTx/>
              <a:latin typeface="Arial"/>
            </a:endParaRPr>
          </a:p>
        </p:txBody>
      </p:sp>
      <p:sp>
        <p:nvSpPr>
          <p:cNvPr id="1046"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Print its title</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047"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048"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1049"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Composition answer</a:t>
            </a:r>
            <a:endParaRPr lang="en-US" sz="3400" b="0" u="none" strike="noStrike">
              <a:solidFill>
                <a:srgbClr val="000000"/>
              </a:solidFill>
              <a:effectLst/>
              <a:uFillTx/>
              <a:latin typeface="Arial"/>
            </a:endParaRPr>
          </a:p>
        </p:txBody>
      </p:sp>
      <p:sp>
        <p:nvSpPr>
          <p:cNvPr id="1050"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051"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1052"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066</a:t>
            </a:r>
            <a:endParaRPr lang="en-US" sz="1000" b="0" u="none" strike="noStrike">
              <a:solidFill>
                <a:srgbClr val="000000"/>
              </a:solidFill>
              <a:effectLst/>
              <a:uFillTx/>
              <a:latin typeface="Arial"/>
            </a:endParaRPr>
          </a:p>
        </p:txBody>
      </p:sp>
      <p:sp>
        <p:nvSpPr>
          <p:cNvPr id="1053"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4"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1055"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56"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library = Library()  # Make library</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library.add(Book("Python"))  # Book 1</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library.add(Book("AI Basics"))  # Book 2</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print(library.books[1].title)  # Second title</a:t>
            </a:r>
            <a:endParaRPr lang="en-US" sz="1620" b="0" u="none" strike="noStrike">
              <a:solidFill>
                <a:srgbClr val="000000"/>
              </a:solidFill>
              <a:effectLst/>
              <a:uFillTx/>
              <a:latin typeface="Arial"/>
            </a:endParaRPr>
          </a:p>
        </p:txBody>
      </p:sp>
      <p:sp>
        <p:nvSpPr>
          <p:cNvPr id="1057"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8"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1059"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AI Basics</a:t>
            </a:r>
            <a:endParaRPr lang="en-US" sz="1600" b="0" u="none" strike="noStrike">
              <a:solidFill>
                <a:srgbClr val="000000"/>
              </a:solidFill>
              <a:effectLst/>
              <a:uFillTx/>
              <a:latin typeface="Arial"/>
            </a:endParaRPr>
          </a:p>
        </p:txBody>
      </p:sp>
      <p:sp>
        <p:nvSpPr>
          <p:cNvPr id="1060"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1061"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Index 1 is second item</a:t>
            </a:r>
            <a:endParaRPr lang="en-US" sz="1679" b="0" u="none" strike="noStrike">
              <a:solidFill>
                <a:srgbClr val="000000"/>
              </a:solidFill>
              <a:effectLst/>
              <a:uFillTx/>
              <a:latin typeface="Arial"/>
            </a:endParaRPr>
          </a:p>
        </p:txBody>
      </p:sp>
      <p:sp>
        <p:nvSpPr>
          <p:cNvPr id="1062"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Library stores objects</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06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06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OOP</a:t>
            </a:r>
            <a:endParaRPr lang="en-US" sz="1250" b="0" u="none" strike="noStrike">
              <a:solidFill>
                <a:srgbClr val="000000"/>
              </a:solidFill>
              <a:effectLst/>
              <a:uFillTx/>
              <a:latin typeface="Arial"/>
            </a:endParaRPr>
          </a:p>
        </p:txBody>
      </p:sp>
      <p:sp>
        <p:nvSpPr>
          <p:cNvPr id="106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Inheritance vs composition</a:t>
            </a:r>
            <a:endParaRPr lang="en-US" sz="3400" b="0" u="none" strike="noStrike">
              <a:solidFill>
                <a:srgbClr val="000000"/>
              </a:solidFill>
              <a:effectLst/>
              <a:uFillTx/>
              <a:latin typeface="Arial"/>
            </a:endParaRPr>
          </a:p>
        </p:txBody>
      </p:sp>
      <p:sp>
        <p:nvSpPr>
          <p:cNvPr id="106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06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SIDE-BY-SIDE COMPARISON</a:t>
            </a:r>
            <a:endParaRPr lang="en-US" sz="1000" b="0" u="none" strike="noStrike">
              <a:solidFill>
                <a:srgbClr val="000000"/>
              </a:solidFill>
              <a:effectLst/>
              <a:uFillTx/>
              <a:latin typeface="Arial"/>
            </a:endParaRPr>
          </a:p>
        </p:txBody>
      </p:sp>
      <p:sp>
        <p:nvSpPr>
          <p:cNvPr id="106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067</a:t>
            </a:r>
            <a:endParaRPr lang="en-US" sz="1000" b="0" u="none" strike="noStrike">
              <a:solidFill>
                <a:srgbClr val="000000"/>
              </a:solidFill>
              <a:effectLst/>
              <a:uFillTx/>
              <a:latin typeface="Arial"/>
            </a:endParaRPr>
          </a:p>
        </p:txBody>
      </p:sp>
      <p:sp>
        <p:nvSpPr>
          <p:cNvPr id="1069" name="Shape 6"/>
          <p:cNvSpPr/>
          <p:nvPr/>
        </p:nvSpPr>
        <p:spPr>
          <a:xfrm>
            <a:off x="502920" y="1691640"/>
            <a:ext cx="5449320" cy="4507560"/>
          </a:xfrm>
          <a:prstGeom prst="roundRect">
            <a:avLst>
              <a:gd name="adj" fmla="val 3245"/>
            </a:avLst>
          </a:prstGeom>
          <a:solidFill>
            <a:srgbClr val="DCF6E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0" name="Text 7"/>
          <p:cNvSpPr/>
          <p:nvPr/>
        </p:nvSpPr>
        <p:spPr>
          <a:xfrm>
            <a:off x="841320" y="2066400"/>
            <a:ext cx="468144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008D87"/>
                </a:solidFill>
                <a:effectLst/>
                <a:uFillTx/>
                <a:latin typeface="Aptos"/>
                <a:ea typeface="Aptos"/>
              </a:rPr>
              <a:t>INHERITANCE (is-a)</a:t>
            </a:r>
            <a:endParaRPr lang="en-US" sz="1600" b="0" u="none" strike="noStrike" dirty="0">
              <a:solidFill>
                <a:srgbClr val="000000"/>
              </a:solidFill>
              <a:effectLst/>
              <a:uFillTx/>
              <a:latin typeface="Arial"/>
            </a:endParaRPr>
          </a:p>
          <a:p>
            <a:pPr defTabSz="914400">
              <a:lnSpc>
                <a:spcPct val="100000"/>
              </a:lnSpc>
              <a:tabLst>
                <a:tab pos="0" algn="l"/>
              </a:tabLst>
            </a:pPr>
            <a:endParaRPr lang="en-US" sz="1600" b="0" u="none" strike="noStrike" dirty="0">
              <a:solidFill>
                <a:srgbClr val="000000"/>
              </a:solidFill>
              <a:effectLst/>
              <a:uFillTx/>
              <a:latin typeface="Arial"/>
            </a:endParaRPr>
          </a:p>
          <a:p>
            <a:pPr defTabSz="914400">
              <a:lnSpc>
                <a:spcPct val="100000"/>
              </a:lnSpc>
              <a:tabLst>
                <a:tab pos="0" algn="l"/>
              </a:tabLst>
            </a:pPr>
            <a:r>
              <a:rPr lang="en-US" sz="1600" b="1" u="none" strike="noStrike" dirty="0">
                <a:solidFill>
                  <a:srgbClr val="008D87"/>
                </a:solidFill>
                <a:effectLst/>
                <a:uFillTx/>
                <a:latin typeface="Aptos"/>
                <a:ea typeface="Aptos"/>
              </a:rPr>
              <a:t>Dog is an Animal.</a:t>
            </a:r>
            <a:endParaRPr lang="en-US" sz="1600" b="0" u="none" strike="noStrike" dirty="0">
              <a:solidFill>
                <a:srgbClr val="000000"/>
              </a:solidFill>
              <a:effectLst/>
              <a:uFillTx/>
              <a:latin typeface="Arial"/>
            </a:endParaRPr>
          </a:p>
          <a:p>
            <a:pPr defTabSz="914400">
              <a:lnSpc>
                <a:spcPct val="100000"/>
              </a:lnSpc>
              <a:tabLst>
                <a:tab pos="0" algn="l"/>
              </a:tabLst>
            </a:pPr>
            <a:r>
              <a:rPr lang="en-US" sz="1600" b="1" u="none" strike="noStrike" dirty="0">
                <a:solidFill>
                  <a:srgbClr val="008D87"/>
                </a:solidFill>
                <a:effectLst/>
                <a:uFillTx/>
                <a:latin typeface="Aptos"/>
                <a:ea typeface="Aptos"/>
              </a:rPr>
              <a:t>class Dog(Animal):</a:t>
            </a:r>
            <a:endParaRPr lang="en-US" sz="1600" b="0" u="none" strike="noStrike" dirty="0">
              <a:solidFill>
                <a:srgbClr val="000000"/>
              </a:solidFill>
              <a:effectLst/>
              <a:uFillTx/>
              <a:latin typeface="Arial"/>
            </a:endParaRPr>
          </a:p>
          <a:p>
            <a:pPr defTabSz="914400">
              <a:lnSpc>
                <a:spcPct val="100000"/>
              </a:lnSpc>
              <a:tabLst>
                <a:tab pos="0" algn="l"/>
              </a:tabLst>
            </a:pPr>
            <a:r>
              <a:rPr lang="en-US" sz="1600" b="1" u="none" strike="noStrike" dirty="0">
                <a:solidFill>
                  <a:srgbClr val="008D87"/>
                </a:solidFill>
                <a:effectLst/>
                <a:uFillTx/>
                <a:latin typeface="Aptos"/>
                <a:ea typeface="Aptos"/>
              </a:rPr>
              <a:t>    pass</a:t>
            </a:r>
            <a:endParaRPr lang="en-US" sz="1600" b="0" u="none" strike="noStrike" dirty="0">
              <a:solidFill>
                <a:srgbClr val="000000"/>
              </a:solidFill>
              <a:effectLst/>
              <a:uFillTx/>
              <a:latin typeface="Arial"/>
            </a:endParaRPr>
          </a:p>
          <a:p>
            <a:pPr defTabSz="914400">
              <a:lnSpc>
                <a:spcPct val="100000"/>
              </a:lnSpc>
              <a:tabLst>
                <a:tab pos="0" algn="l"/>
              </a:tabLst>
            </a:pPr>
            <a:endParaRPr lang="en-US" sz="1600" b="0" u="none" strike="noStrike" dirty="0">
              <a:solidFill>
                <a:srgbClr val="000000"/>
              </a:solidFill>
              <a:effectLst/>
              <a:uFillTx/>
              <a:latin typeface="Arial"/>
            </a:endParaRPr>
          </a:p>
          <a:p>
            <a:pPr defTabSz="914400">
              <a:lnSpc>
                <a:spcPct val="100000"/>
              </a:lnSpc>
              <a:tabLst>
                <a:tab pos="0" algn="l"/>
              </a:tabLst>
            </a:pPr>
            <a:r>
              <a:rPr lang="en-US" sz="1600" b="1" u="none" strike="noStrike" dirty="0">
                <a:solidFill>
                  <a:srgbClr val="008D87"/>
                </a:solidFill>
                <a:effectLst/>
                <a:uFillTx/>
                <a:latin typeface="Aptos"/>
                <a:ea typeface="Aptos"/>
              </a:rPr>
              <a:t>Reuse a parent’s behavior.</a:t>
            </a:r>
            <a:endParaRPr lang="en-US" sz="1600" b="0" u="none" strike="noStrike" dirty="0">
              <a:solidFill>
                <a:srgbClr val="000000"/>
              </a:solidFill>
              <a:effectLst/>
              <a:uFillTx/>
              <a:latin typeface="Arial"/>
            </a:endParaRPr>
          </a:p>
        </p:txBody>
      </p:sp>
      <p:sp>
        <p:nvSpPr>
          <p:cNvPr id="1071" name="Text 8"/>
          <p:cNvSpPr/>
          <p:nvPr/>
        </p:nvSpPr>
        <p:spPr>
          <a:xfrm>
            <a:off x="841320" y="3470400"/>
            <a:ext cx="4608360" cy="290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2150" b="0" u="none" strike="noStrike" dirty="0">
                <a:solidFill>
                  <a:srgbClr val="152B42"/>
                </a:solidFill>
                <a:effectLst/>
                <a:uFillTx/>
                <a:latin typeface="Aptos"/>
                <a:ea typeface="Aptos"/>
              </a:rPr>
              <a:t>COMPOSITION (has-a)</a:t>
            </a:r>
            <a:endParaRPr lang="en-US" sz="2150" b="0" u="none" strike="noStrike" dirty="0">
              <a:solidFill>
                <a:srgbClr val="000000"/>
              </a:solidFill>
              <a:effectLst/>
              <a:uFillTx/>
              <a:latin typeface="Arial"/>
            </a:endParaRPr>
          </a:p>
          <a:p>
            <a:pPr defTabSz="914400">
              <a:lnSpc>
                <a:spcPct val="100000"/>
              </a:lnSpc>
              <a:tabLst>
                <a:tab pos="0" algn="l"/>
              </a:tabLst>
            </a:pP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Library has Books.</a:t>
            </a: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err="1">
                <a:solidFill>
                  <a:srgbClr val="152B42"/>
                </a:solidFill>
                <a:effectLst/>
                <a:uFillTx/>
                <a:latin typeface="Aptos"/>
                <a:ea typeface="Aptos"/>
              </a:rPr>
              <a:t>self.books</a:t>
            </a:r>
            <a:r>
              <a:rPr lang="en-US" sz="2150" b="0" u="none" strike="noStrike" dirty="0">
                <a:solidFill>
                  <a:srgbClr val="152B42"/>
                </a:solidFill>
                <a:effectLst/>
                <a:uFillTx/>
                <a:latin typeface="Aptos"/>
                <a:ea typeface="Aptos"/>
              </a:rPr>
              <a:t> = []</a:t>
            </a:r>
            <a:endParaRPr lang="en-US" sz="2150" b="0" u="none" strike="noStrike" dirty="0">
              <a:solidFill>
                <a:srgbClr val="000000"/>
              </a:solidFill>
              <a:effectLst/>
              <a:uFillTx/>
              <a:latin typeface="Arial"/>
            </a:endParaRPr>
          </a:p>
          <a:p>
            <a:pPr defTabSz="914400">
              <a:lnSpc>
                <a:spcPct val="100000"/>
              </a:lnSpc>
              <a:tabLst>
                <a:tab pos="0" algn="l"/>
              </a:tabLst>
            </a:pP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Combine objects together.</a:t>
            </a:r>
            <a:endParaRPr lang="en-US" sz="2150" b="0" u="none" strike="noStrike" dirty="0">
              <a:solidFill>
                <a:srgbClr val="000000"/>
              </a:solidFill>
              <a:effectLst/>
              <a:uFillTx/>
              <a:latin typeface="Arial"/>
            </a:endParaRPr>
          </a:p>
        </p:txBody>
      </p:sp>
      <p:sp>
        <p:nvSpPr>
          <p:cNvPr id="1072" name="Shape 9"/>
          <p:cNvSpPr/>
          <p:nvPr/>
        </p:nvSpPr>
        <p:spPr>
          <a:xfrm>
            <a:off x="6208920" y="1691640"/>
            <a:ext cx="5449320" cy="4507560"/>
          </a:xfrm>
          <a:prstGeom prst="roundRect">
            <a:avLst>
              <a:gd name="adj" fmla="val 3245"/>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3" name="Text 10"/>
          <p:cNvSpPr/>
          <p:nvPr/>
        </p:nvSpPr>
        <p:spPr>
          <a:xfrm>
            <a:off x="6546960" y="2066400"/>
            <a:ext cx="468144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62500" lnSpcReduction="19999"/>
          </a:bodyPr>
          <a:lstStyle/>
          <a:p>
            <a:pPr defTabSz="914400">
              <a:lnSpc>
                <a:spcPct val="100000"/>
              </a:lnSpc>
              <a:tabLst>
                <a:tab pos="0" algn="l"/>
              </a:tabLst>
            </a:pPr>
            <a:r>
              <a:rPr lang="en-US" sz="2600" b="1" u="none" strike="noStrike">
                <a:solidFill>
                  <a:srgbClr val="008D87"/>
                </a:solidFill>
                <a:effectLst/>
                <a:uFillTx/>
                <a:latin typeface="Aptos"/>
                <a:ea typeface="Aptos"/>
              </a:rPr>
              <a:t>Ask learners whether a school has students or is a student (has-a, composition).</a:t>
            </a:r>
            <a:endParaRPr lang="en-US" sz="2600" b="0" u="none" strike="noStrike">
              <a:solidFill>
                <a:srgbClr val="000000"/>
              </a:solidFill>
              <a:effectLst/>
              <a:uFillTx/>
              <a:latin typeface="Arial"/>
            </a:endParaRPr>
          </a:p>
        </p:txBody>
      </p:sp>
      <p:sp>
        <p:nvSpPr>
          <p:cNvPr id="1074" name="Text 11"/>
          <p:cNvSpPr/>
          <p:nvPr/>
        </p:nvSpPr>
        <p:spPr>
          <a:xfrm>
            <a:off x="6546960" y="2880360"/>
            <a:ext cx="4608360" cy="290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endParaRPr lang="en-US" sz="2150" b="0" u="none" strike="noStrike">
              <a:solidFill>
                <a:schemeClr val="dk1"/>
              </a:solidFill>
              <a:effectLst/>
              <a:uFillTx/>
              <a:latin typeface="Apto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1075"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76"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GIT &amp; GITHUB</a:t>
            </a:r>
            <a:endParaRPr lang="en-US" sz="1700" b="0" u="none" strike="noStrike">
              <a:solidFill>
                <a:srgbClr val="FFFFFF"/>
              </a:solidFill>
              <a:effectLst/>
              <a:uFillTx/>
              <a:latin typeface="Arial"/>
            </a:endParaRPr>
          </a:p>
        </p:txBody>
      </p:sp>
      <p:sp>
        <p:nvSpPr>
          <p:cNvPr id="1077"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Save Versions of Your Code</a:t>
            </a:r>
            <a:endParaRPr lang="en-US" sz="4500" b="0" u="none" strike="noStrike">
              <a:solidFill>
                <a:srgbClr val="FFFFFF"/>
              </a:solidFill>
              <a:effectLst/>
              <a:uFillTx/>
              <a:latin typeface="Arial"/>
            </a:endParaRPr>
          </a:p>
        </p:txBody>
      </p:sp>
      <p:sp>
        <p:nvSpPr>
          <p:cNvPr id="1078"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Think of commits as saved checkpoints.</a:t>
            </a:r>
            <a:endParaRPr lang="en-US" sz="2400" b="0" u="none" strike="noStrike">
              <a:solidFill>
                <a:srgbClr val="FFFFFF"/>
              </a:solidFill>
              <a:effectLst/>
              <a:uFillTx/>
              <a:latin typeface="Arial"/>
            </a:endParaRPr>
          </a:p>
        </p:txBody>
      </p:sp>
      <p:sp>
        <p:nvSpPr>
          <p:cNvPr id="1079"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080"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081"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GIT &amp; GITHUB</a:t>
            </a:r>
            <a:endParaRPr lang="en-US" sz="1250" b="0" u="none" strike="noStrike">
              <a:solidFill>
                <a:srgbClr val="000000"/>
              </a:solidFill>
              <a:effectLst/>
              <a:uFillTx/>
              <a:latin typeface="Arial"/>
            </a:endParaRPr>
          </a:p>
        </p:txBody>
      </p:sp>
      <p:sp>
        <p:nvSpPr>
          <p:cNvPr id="1082"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Git vs GitHub</a:t>
            </a:r>
            <a:endParaRPr lang="en-US" sz="3400" b="0" u="none" strike="noStrike">
              <a:solidFill>
                <a:srgbClr val="000000"/>
              </a:solidFill>
              <a:effectLst/>
              <a:uFillTx/>
              <a:latin typeface="Arial"/>
            </a:endParaRPr>
          </a:p>
        </p:txBody>
      </p:sp>
      <p:sp>
        <p:nvSpPr>
          <p:cNvPr id="1083"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084"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085"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069</a:t>
            </a:r>
            <a:endParaRPr lang="en-US" sz="1000" b="0" u="none" strike="noStrike">
              <a:solidFill>
                <a:srgbClr val="000000"/>
              </a:solidFill>
              <a:effectLst/>
              <a:uFillTx/>
              <a:latin typeface="Arial"/>
            </a:endParaRPr>
          </a:p>
        </p:txBody>
      </p:sp>
      <p:sp>
        <p:nvSpPr>
          <p:cNvPr id="1086"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7"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088"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Git tracks code changes; GitHub stores and shares Git repositories online.</a:t>
            </a:r>
            <a:endParaRPr lang="en-US" sz="2250" b="0" u="none" strike="noStrike">
              <a:solidFill>
                <a:srgbClr val="000000"/>
              </a:solidFill>
              <a:effectLst/>
              <a:uFillTx/>
              <a:latin typeface="Arial"/>
            </a:endParaRPr>
          </a:p>
        </p:txBody>
      </p:sp>
      <p:sp>
        <p:nvSpPr>
          <p:cNvPr id="1089"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90"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Repository: a project tracked by Git</a:t>
            </a:r>
            <a:endParaRPr lang="en-US" sz="2100" b="0" u="none" strike="noStrike">
              <a:solidFill>
                <a:srgbClr val="000000"/>
              </a:solidFill>
              <a:effectLst/>
              <a:uFillTx/>
              <a:latin typeface="Arial"/>
            </a:endParaRPr>
          </a:p>
        </p:txBody>
      </p:sp>
      <p:sp>
        <p:nvSpPr>
          <p:cNvPr id="1091"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92"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Working tree: files you are editing</a:t>
            </a:r>
            <a:endParaRPr lang="en-US" sz="2100" b="0" u="none" strike="noStrike">
              <a:solidFill>
                <a:srgbClr val="000000"/>
              </a:solidFill>
              <a:effectLst/>
              <a:uFillTx/>
              <a:latin typeface="Arial"/>
            </a:endParaRPr>
          </a:p>
        </p:txBody>
      </p:sp>
      <p:sp>
        <p:nvSpPr>
          <p:cNvPr id="1093"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94"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Staging: choose changes for next commit</a:t>
            </a:r>
            <a:endParaRPr lang="en-US" sz="2100" b="0" u="none" strike="noStrike">
              <a:solidFill>
                <a:srgbClr val="000000"/>
              </a:solidFill>
              <a:effectLst/>
              <a:uFillTx/>
              <a:latin typeface="Arial"/>
            </a:endParaRPr>
          </a:p>
        </p:txBody>
      </p:sp>
      <p:sp>
        <p:nvSpPr>
          <p:cNvPr id="1095"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96"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Commit: save a named checkpoint</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097"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098"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GIT &amp; GITHUB</a:t>
            </a:r>
            <a:endParaRPr lang="en-US" sz="1250" b="0" u="none" strike="noStrike">
              <a:solidFill>
                <a:srgbClr val="000000"/>
              </a:solidFill>
              <a:effectLst/>
              <a:uFillTx/>
              <a:latin typeface="Arial"/>
            </a:endParaRPr>
          </a:p>
        </p:txBody>
      </p:sp>
      <p:sp>
        <p:nvSpPr>
          <p:cNvPr id="1099"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Git: your first four commands</a:t>
            </a:r>
            <a:endParaRPr lang="en-US" sz="3400" b="0" u="none" strike="noStrike">
              <a:solidFill>
                <a:srgbClr val="000000"/>
              </a:solidFill>
              <a:effectLst/>
              <a:uFillTx/>
              <a:latin typeface="Arial"/>
            </a:endParaRPr>
          </a:p>
        </p:txBody>
      </p:sp>
      <p:sp>
        <p:nvSpPr>
          <p:cNvPr id="1100"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101"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FOLLOW THESE STEPS</a:t>
            </a:r>
            <a:endParaRPr lang="en-US" sz="1000" b="0" u="none" strike="noStrike">
              <a:solidFill>
                <a:srgbClr val="000000"/>
              </a:solidFill>
              <a:effectLst/>
              <a:uFillTx/>
              <a:latin typeface="Arial"/>
            </a:endParaRPr>
          </a:p>
        </p:txBody>
      </p:sp>
      <p:sp>
        <p:nvSpPr>
          <p:cNvPr id="1102"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070</a:t>
            </a:r>
            <a:endParaRPr lang="en-US" sz="1000" b="0" u="none" strike="noStrike">
              <a:solidFill>
                <a:srgbClr val="000000"/>
              </a:solidFill>
              <a:effectLst/>
              <a:uFillTx/>
              <a:latin typeface="Arial"/>
            </a:endParaRPr>
          </a:p>
        </p:txBody>
      </p:sp>
      <p:sp>
        <p:nvSpPr>
          <p:cNvPr id="1103" name="Shape 6"/>
          <p:cNvSpPr/>
          <p:nvPr/>
        </p:nvSpPr>
        <p:spPr>
          <a:xfrm>
            <a:off x="612720" y="171900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4" name="Shape 7"/>
          <p:cNvSpPr/>
          <p:nvPr/>
        </p:nvSpPr>
        <p:spPr>
          <a:xfrm>
            <a:off x="786240" y="186552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5" name="Text 8"/>
          <p:cNvSpPr/>
          <p:nvPr/>
        </p:nvSpPr>
        <p:spPr>
          <a:xfrm>
            <a:off x="868680" y="192024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1</a:t>
            </a:r>
            <a:endParaRPr lang="en-US" sz="1200" b="0" u="none" strike="noStrike">
              <a:solidFill>
                <a:srgbClr val="000000"/>
              </a:solidFill>
              <a:effectLst/>
              <a:uFillTx/>
              <a:latin typeface="Arial"/>
            </a:endParaRPr>
          </a:p>
        </p:txBody>
      </p:sp>
      <p:sp>
        <p:nvSpPr>
          <p:cNvPr id="1106" name="Text 9"/>
          <p:cNvSpPr/>
          <p:nvPr/>
        </p:nvSpPr>
        <p:spPr>
          <a:xfrm>
            <a:off x="1334880" y="185616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git init - start Git in a project folder</a:t>
            </a:r>
            <a:endParaRPr lang="en-US" sz="2020" b="0" u="none" strike="noStrike">
              <a:solidFill>
                <a:srgbClr val="000000"/>
              </a:solidFill>
              <a:effectLst/>
              <a:uFillTx/>
              <a:latin typeface="Arial"/>
            </a:endParaRPr>
          </a:p>
        </p:txBody>
      </p:sp>
      <p:sp>
        <p:nvSpPr>
          <p:cNvPr id="1107" name="Shape 10"/>
          <p:cNvSpPr/>
          <p:nvPr/>
        </p:nvSpPr>
        <p:spPr>
          <a:xfrm>
            <a:off x="612720" y="2468880"/>
            <a:ext cx="10972440" cy="621360"/>
          </a:xfrm>
          <a:prstGeom prst="roundRect">
            <a:avLst>
              <a:gd name="adj" fmla="val 23529"/>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8" name="Shape 11"/>
          <p:cNvSpPr/>
          <p:nvPr/>
        </p:nvSpPr>
        <p:spPr>
          <a:xfrm>
            <a:off x="786240" y="261504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9" name="Text 12"/>
          <p:cNvSpPr/>
          <p:nvPr/>
        </p:nvSpPr>
        <p:spPr>
          <a:xfrm>
            <a:off x="868680" y="267012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2</a:t>
            </a:r>
            <a:endParaRPr lang="en-US" sz="1200" b="0" u="none" strike="noStrike">
              <a:solidFill>
                <a:srgbClr val="000000"/>
              </a:solidFill>
              <a:effectLst/>
              <a:uFillTx/>
              <a:latin typeface="Arial"/>
            </a:endParaRPr>
          </a:p>
        </p:txBody>
      </p:sp>
      <p:sp>
        <p:nvSpPr>
          <p:cNvPr id="1110" name="Text 13"/>
          <p:cNvSpPr/>
          <p:nvPr/>
        </p:nvSpPr>
        <p:spPr>
          <a:xfrm>
            <a:off x="1334880" y="260604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git status - see which files changed</a:t>
            </a:r>
            <a:endParaRPr lang="en-US" sz="2020" b="0" u="none" strike="noStrike">
              <a:solidFill>
                <a:srgbClr val="000000"/>
              </a:solidFill>
              <a:effectLst/>
              <a:uFillTx/>
              <a:latin typeface="Arial"/>
            </a:endParaRPr>
          </a:p>
        </p:txBody>
      </p:sp>
      <p:sp>
        <p:nvSpPr>
          <p:cNvPr id="1111" name="Shape 14"/>
          <p:cNvSpPr/>
          <p:nvPr/>
        </p:nvSpPr>
        <p:spPr>
          <a:xfrm>
            <a:off x="612720" y="321876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2" name="Shape 15"/>
          <p:cNvSpPr/>
          <p:nvPr/>
        </p:nvSpPr>
        <p:spPr>
          <a:xfrm>
            <a:off x="786240" y="336492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13" name="Text 16"/>
          <p:cNvSpPr/>
          <p:nvPr/>
        </p:nvSpPr>
        <p:spPr>
          <a:xfrm>
            <a:off x="868680" y="342000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3</a:t>
            </a:r>
            <a:endParaRPr lang="en-US" sz="1200" b="0" u="none" strike="noStrike">
              <a:solidFill>
                <a:srgbClr val="000000"/>
              </a:solidFill>
              <a:effectLst/>
              <a:uFillTx/>
              <a:latin typeface="Arial"/>
            </a:endParaRPr>
          </a:p>
        </p:txBody>
      </p:sp>
      <p:sp>
        <p:nvSpPr>
          <p:cNvPr id="1114" name="Text 17"/>
          <p:cNvSpPr/>
          <p:nvPr/>
        </p:nvSpPr>
        <p:spPr>
          <a:xfrm>
            <a:off x="1334880" y="335592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git add . - stage changed files</a:t>
            </a:r>
            <a:endParaRPr lang="en-US" sz="2020" b="0" u="none" strike="noStrike">
              <a:solidFill>
                <a:srgbClr val="000000"/>
              </a:solidFill>
              <a:effectLst/>
              <a:uFillTx/>
              <a:latin typeface="Arial"/>
            </a:endParaRPr>
          </a:p>
        </p:txBody>
      </p:sp>
      <p:sp>
        <p:nvSpPr>
          <p:cNvPr id="1115" name="Shape 18"/>
          <p:cNvSpPr/>
          <p:nvPr/>
        </p:nvSpPr>
        <p:spPr>
          <a:xfrm>
            <a:off x="612720" y="3968640"/>
            <a:ext cx="10972440" cy="621360"/>
          </a:xfrm>
          <a:prstGeom prst="roundRect">
            <a:avLst>
              <a:gd name="adj" fmla="val 23529"/>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6" name="Shape 19"/>
          <p:cNvSpPr/>
          <p:nvPr/>
        </p:nvSpPr>
        <p:spPr>
          <a:xfrm>
            <a:off x="786240" y="411480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17" name="Text 20"/>
          <p:cNvSpPr/>
          <p:nvPr/>
        </p:nvSpPr>
        <p:spPr>
          <a:xfrm>
            <a:off x="868680" y="416952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4</a:t>
            </a:r>
            <a:endParaRPr lang="en-US" sz="1200" b="0" u="none" strike="noStrike">
              <a:solidFill>
                <a:srgbClr val="000000"/>
              </a:solidFill>
              <a:effectLst/>
              <a:uFillTx/>
              <a:latin typeface="Arial"/>
            </a:endParaRPr>
          </a:p>
        </p:txBody>
      </p:sp>
      <p:sp>
        <p:nvSpPr>
          <p:cNvPr id="1118" name="Text 21"/>
          <p:cNvSpPr/>
          <p:nvPr/>
        </p:nvSpPr>
        <p:spPr>
          <a:xfrm>
            <a:off x="1334880" y="410580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git commit -m "First version" - save checkpoint</a:t>
            </a:r>
            <a:endParaRPr lang="en-US" sz="2020" b="0" u="none" strike="noStrike">
              <a:solidFill>
                <a:srgbClr val="000000"/>
              </a:solidFill>
              <a:effectLst/>
              <a:uFillTx/>
              <a:latin typeface="Arial"/>
            </a:endParaRPr>
          </a:p>
        </p:txBody>
      </p:sp>
      <p:sp>
        <p:nvSpPr>
          <p:cNvPr id="1119" name="Shape 22"/>
          <p:cNvSpPr/>
          <p:nvPr/>
        </p:nvSpPr>
        <p:spPr>
          <a:xfrm>
            <a:off x="612720" y="471816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0" name="Shape 23"/>
          <p:cNvSpPr/>
          <p:nvPr/>
        </p:nvSpPr>
        <p:spPr>
          <a:xfrm>
            <a:off x="786240" y="486468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21" name="Text 24"/>
          <p:cNvSpPr/>
          <p:nvPr/>
        </p:nvSpPr>
        <p:spPr>
          <a:xfrm>
            <a:off x="868680" y="491940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5</a:t>
            </a:r>
            <a:endParaRPr lang="en-US" sz="1200" b="0" u="none" strike="noStrike">
              <a:solidFill>
                <a:srgbClr val="000000"/>
              </a:solidFill>
              <a:effectLst/>
              <a:uFillTx/>
              <a:latin typeface="Arial"/>
            </a:endParaRPr>
          </a:p>
        </p:txBody>
      </p:sp>
      <p:sp>
        <p:nvSpPr>
          <p:cNvPr id="1122" name="Text 25"/>
          <p:cNvSpPr/>
          <p:nvPr/>
        </p:nvSpPr>
        <p:spPr>
          <a:xfrm>
            <a:off x="1334880" y="485532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git log - view previous commits</a:t>
            </a:r>
            <a:endParaRPr lang="en-US" sz="20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12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12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GIT &amp; GITHUB</a:t>
            </a:r>
            <a:endParaRPr lang="en-US" sz="1250" b="0" u="none" strike="noStrike">
              <a:solidFill>
                <a:srgbClr val="000000"/>
              </a:solidFill>
              <a:effectLst/>
              <a:uFillTx/>
              <a:latin typeface="Arial"/>
            </a:endParaRPr>
          </a:p>
        </p:txBody>
      </p:sp>
      <p:sp>
        <p:nvSpPr>
          <p:cNvPr id="112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README and .gitignore</a:t>
            </a:r>
            <a:endParaRPr lang="en-US" sz="3400" b="0" u="none" strike="noStrike">
              <a:solidFill>
                <a:srgbClr val="000000"/>
              </a:solidFill>
              <a:effectLst/>
              <a:uFillTx/>
              <a:latin typeface="Arial"/>
            </a:endParaRPr>
          </a:p>
        </p:txBody>
      </p:sp>
      <p:sp>
        <p:nvSpPr>
          <p:cNvPr id="112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12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SIDE-BY-SIDE COMPARISON</a:t>
            </a:r>
            <a:endParaRPr lang="en-US" sz="1000" b="0" u="none" strike="noStrike">
              <a:solidFill>
                <a:srgbClr val="000000"/>
              </a:solidFill>
              <a:effectLst/>
              <a:uFillTx/>
              <a:latin typeface="Arial"/>
            </a:endParaRPr>
          </a:p>
        </p:txBody>
      </p:sp>
      <p:sp>
        <p:nvSpPr>
          <p:cNvPr id="112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071</a:t>
            </a:r>
            <a:endParaRPr lang="en-US" sz="1000" b="0" u="none" strike="noStrike">
              <a:solidFill>
                <a:srgbClr val="000000"/>
              </a:solidFill>
              <a:effectLst/>
              <a:uFillTx/>
              <a:latin typeface="Arial"/>
            </a:endParaRPr>
          </a:p>
        </p:txBody>
      </p:sp>
      <p:sp>
        <p:nvSpPr>
          <p:cNvPr id="1129" name="Shape 6"/>
          <p:cNvSpPr/>
          <p:nvPr/>
        </p:nvSpPr>
        <p:spPr>
          <a:xfrm>
            <a:off x="502920" y="1691640"/>
            <a:ext cx="5449320" cy="4507560"/>
          </a:xfrm>
          <a:prstGeom prst="roundRect">
            <a:avLst>
              <a:gd name="adj" fmla="val 3245"/>
            </a:avLst>
          </a:prstGeom>
          <a:solidFill>
            <a:srgbClr val="DCF6E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0" name="Text 7"/>
          <p:cNvSpPr/>
          <p:nvPr/>
        </p:nvSpPr>
        <p:spPr>
          <a:xfrm>
            <a:off x="841320" y="2066400"/>
            <a:ext cx="468144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25000" lnSpcReduction="19999"/>
          </a:bodyPr>
          <a:lstStyle/>
          <a:p>
            <a:pPr defTabSz="914400">
              <a:lnSpc>
                <a:spcPct val="100000"/>
              </a:lnSpc>
              <a:tabLst>
                <a:tab pos="0" algn="l"/>
              </a:tabLst>
            </a:pPr>
            <a:r>
              <a:rPr lang="en-US" sz="2600" b="1" u="none" strike="noStrike">
                <a:solidFill>
                  <a:srgbClr val="008D87"/>
                </a:solidFill>
                <a:effectLst/>
                <a:uFillTx/>
                <a:latin typeface="Aptos"/>
                <a:ea typeface="Aptos"/>
              </a:rPr>
              <a:t>README.md</a:t>
            </a:r>
            <a:endParaRPr lang="en-US" sz="2600" b="0" u="none" strike="noStrike">
              <a:solidFill>
                <a:srgbClr val="000000"/>
              </a:solidFill>
              <a:effectLst/>
              <a:uFillTx/>
              <a:latin typeface="Arial"/>
            </a:endParaRPr>
          </a:p>
          <a:p>
            <a:pPr defTabSz="914400">
              <a:lnSpc>
                <a:spcPct val="100000"/>
              </a:lnSpc>
              <a:tabLst>
                <a:tab pos="0" algn="l"/>
              </a:tabLst>
            </a:pPr>
            <a:endParaRPr lang="en-US" sz="2600" b="0" u="none" strike="noStrike">
              <a:solidFill>
                <a:srgbClr val="000000"/>
              </a:solidFill>
              <a:effectLst/>
              <a:uFillTx/>
              <a:latin typeface="Arial"/>
            </a:endParaRPr>
          </a:p>
          <a:p>
            <a:pPr defTabSz="914400">
              <a:lnSpc>
                <a:spcPct val="100000"/>
              </a:lnSpc>
              <a:tabLst>
                <a:tab pos="0" algn="l"/>
              </a:tabLst>
            </a:pPr>
            <a:r>
              <a:rPr lang="en-US" sz="2600" b="1" u="none" strike="noStrike">
                <a:solidFill>
                  <a:srgbClr val="008D87"/>
                </a:solidFill>
                <a:effectLst/>
                <a:uFillTx/>
                <a:latin typeface="Aptos"/>
                <a:ea typeface="Aptos"/>
              </a:rPr>
              <a:t>Explains what the project does and how to run it.</a:t>
            </a:r>
            <a:endParaRPr lang="en-US" sz="2600" b="0" u="none" strike="noStrike">
              <a:solidFill>
                <a:srgbClr val="000000"/>
              </a:solidFill>
              <a:effectLst/>
              <a:uFillTx/>
              <a:latin typeface="Arial"/>
            </a:endParaRPr>
          </a:p>
          <a:p>
            <a:pPr defTabSz="914400">
              <a:lnSpc>
                <a:spcPct val="100000"/>
              </a:lnSpc>
              <a:tabLst>
                <a:tab pos="0" algn="l"/>
              </a:tabLst>
            </a:pPr>
            <a:endParaRPr lang="en-US" sz="2600" b="0" u="none" strike="noStrike">
              <a:solidFill>
                <a:srgbClr val="000000"/>
              </a:solidFill>
              <a:effectLst/>
              <a:uFillTx/>
              <a:latin typeface="Arial"/>
            </a:endParaRPr>
          </a:p>
          <a:p>
            <a:pPr defTabSz="914400">
              <a:lnSpc>
                <a:spcPct val="100000"/>
              </a:lnSpc>
              <a:tabLst>
                <a:tab pos="0" algn="l"/>
              </a:tabLst>
            </a:pPr>
            <a:r>
              <a:rPr lang="en-US" sz="2600" b="1" u="none" strike="noStrike">
                <a:solidFill>
                  <a:srgbClr val="008D87"/>
                </a:solidFill>
                <a:effectLst/>
                <a:uFillTx/>
                <a:latin typeface="Aptos"/>
                <a:ea typeface="Aptos"/>
              </a:rPr>
              <a:t>Great for classmates and reviewers.</a:t>
            </a:r>
            <a:endParaRPr lang="en-US" sz="2600" b="0" u="none" strike="noStrike">
              <a:solidFill>
                <a:srgbClr val="000000"/>
              </a:solidFill>
              <a:effectLst/>
              <a:uFillTx/>
              <a:latin typeface="Arial"/>
            </a:endParaRPr>
          </a:p>
        </p:txBody>
      </p:sp>
      <p:sp>
        <p:nvSpPr>
          <p:cNvPr id="1131" name="Text 8"/>
          <p:cNvSpPr/>
          <p:nvPr/>
        </p:nvSpPr>
        <p:spPr>
          <a:xfrm>
            <a:off x="841320" y="2880360"/>
            <a:ext cx="4608360" cy="290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2150" b="0" u="none" strike="noStrike">
                <a:solidFill>
                  <a:srgbClr val="152B42"/>
                </a:solidFill>
                <a:effectLst/>
                <a:uFillTx/>
                <a:latin typeface="Aptos"/>
                <a:ea typeface="Aptos"/>
              </a:rPr>
              <a:t>.gitignore</a:t>
            </a:r>
            <a:endParaRPr lang="en-US" sz="2150" b="0" u="none" strike="noStrike">
              <a:solidFill>
                <a:srgbClr val="000000"/>
              </a:solidFill>
              <a:effectLst/>
              <a:uFillTx/>
              <a:latin typeface="Arial"/>
            </a:endParaRPr>
          </a:p>
          <a:p>
            <a:pPr defTabSz="914400">
              <a:lnSpc>
                <a:spcPct val="100000"/>
              </a:lnSpc>
              <a:tabLst>
                <a:tab pos="0" algn="l"/>
              </a:tabLst>
            </a:pPr>
            <a:endParaRPr lang="en-US" sz="2150" b="0" u="none" strike="noStrike">
              <a:solidFill>
                <a:srgbClr val="000000"/>
              </a:solidFill>
              <a:effectLst/>
              <a:uFillTx/>
              <a:latin typeface="Arial"/>
            </a:endParaRPr>
          </a:p>
          <a:p>
            <a:pPr defTabSz="914400">
              <a:lnSpc>
                <a:spcPct val="100000"/>
              </a:lnSpc>
              <a:tabLst>
                <a:tab pos="0" algn="l"/>
              </a:tabLst>
            </a:pPr>
            <a:r>
              <a:rPr lang="en-US" sz="2150" b="0" u="none" strike="noStrike">
                <a:solidFill>
                  <a:srgbClr val="152B42"/>
                </a:solidFill>
                <a:effectLst/>
                <a:uFillTx/>
                <a:latin typeface="Aptos"/>
                <a:ea typeface="Aptos"/>
              </a:rPr>
              <a:t>Tells Git not to track chosen files, e.g. .env, __pycache__/</a:t>
            </a:r>
            <a:endParaRPr lang="en-US" sz="2150" b="0" u="none" strike="noStrike">
              <a:solidFill>
                <a:srgbClr val="000000"/>
              </a:solidFill>
              <a:effectLst/>
              <a:uFillTx/>
              <a:latin typeface="Arial"/>
            </a:endParaRPr>
          </a:p>
          <a:p>
            <a:pPr defTabSz="914400">
              <a:lnSpc>
                <a:spcPct val="100000"/>
              </a:lnSpc>
              <a:tabLst>
                <a:tab pos="0" algn="l"/>
              </a:tabLst>
            </a:pPr>
            <a:endParaRPr lang="en-US" sz="2150" b="0" u="none" strike="noStrike">
              <a:solidFill>
                <a:srgbClr val="000000"/>
              </a:solidFill>
              <a:effectLst/>
              <a:uFillTx/>
              <a:latin typeface="Arial"/>
            </a:endParaRPr>
          </a:p>
          <a:p>
            <a:pPr defTabSz="914400">
              <a:lnSpc>
                <a:spcPct val="100000"/>
              </a:lnSpc>
              <a:tabLst>
                <a:tab pos="0" algn="l"/>
              </a:tabLst>
            </a:pPr>
            <a:r>
              <a:rPr lang="en-US" sz="2150" b="0" u="none" strike="noStrike">
                <a:solidFill>
                  <a:srgbClr val="152B42"/>
                </a:solidFill>
                <a:effectLst/>
                <a:uFillTx/>
                <a:latin typeface="Aptos"/>
                <a:ea typeface="Aptos"/>
              </a:rPr>
              <a:t>Never commit passwords or API keys.</a:t>
            </a:r>
            <a:endParaRPr lang="en-US" sz="2150" b="0" u="none" strike="noStrike">
              <a:solidFill>
                <a:srgbClr val="000000"/>
              </a:solidFill>
              <a:effectLst/>
              <a:uFillTx/>
              <a:latin typeface="Arial"/>
            </a:endParaRPr>
          </a:p>
        </p:txBody>
      </p:sp>
      <p:sp>
        <p:nvSpPr>
          <p:cNvPr id="1132" name="Shape 9"/>
          <p:cNvSpPr/>
          <p:nvPr/>
        </p:nvSpPr>
        <p:spPr>
          <a:xfrm>
            <a:off x="6208920" y="1691640"/>
            <a:ext cx="5449320" cy="4507560"/>
          </a:xfrm>
          <a:prstGeom prst="roundRect">
            <a:avLst>
              <a:gd name="adj" fmla="val 3245"/>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3" name="Text 10"/>
          <p:cNvSpPr/>
          <p:nvPr/>
        </p:nvSpPr>
        <p:spPr>
          <a:xfrm>
            <a:off x="6546960" y="2066400"/>
            <a:ext cx="468144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62500" lnSpcReduction="19999"/>
          </a:bodyPr>
          <a:lstStyle/>
          <a:p>
            <a:pPr defTabSz="914400">
              <a:lnSpc>
                <a:spcPct val="100000"/>
              </a:lnSpc>
              <a:tabLst>
                <a:tab pos="0" algn="l"/>
              </a:tabLst>
            </a:pPr>
            <a:r>
              <a:rPr lang="en-US" sz="2600" b="1" u="none" strike="noStrike">
                <a:solidFill>
                  <a:srgbClr val="008D87"/>
                </a:solidFill>
                <a:effectLst/>
                <a:uFillTx/>
                <a:latin typeface="Aptos"/>
                <a:ea typeface="Aptos"/>
              </a:rPr>
              <a:t>README is documentation, .gitignore is for excluding files from version control.</a:t>
            </a:r>
            <a:endParaRPr lang="en-US" sz="2600" b="0" u="none" strike="noStrike">
              <a:solidFill>
                <a:srgbClr val="000000"/>
              </a:solidFill>
              <a:effectLst/>
              <a:uFillTx/>
              <a:latin typeface="Arial"/>
            </a:endParaRPr>
          </a:p>
        </p:txBody>
      </p:sp>
      <p:sp>
        <p:nvSpPr>
          <p:cNvPr id="1134" name="Text 11"/>
          <p:cNvSpPr/>
          <p:nvPr/>
        </p:nvSpPr>
        <p:spPr>
          <a:xfrm>
            <a:off x="6546960" y="2880360"/>
            <a:ext cx="4608360" cy="290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endParaRPr lang="en-US" sz="2150" b="0" u="none" strike="noStrike">
              <a:solidFill>
                <a:schemeClr val="dk1"/>
              </a:solidFill>
              <a:effectLst/>
              <a:uFillTx/>
              <a:latin typeface="Apto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13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13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GIT &amp; GITHUB</a:t>
            </a:r>
            <a:endParaRPr lang="en-US" sz="1250" b="0" u="none" strike="noStrike">
              <a:solidFill>
                <a:srgbClr val="000000"/>
              </a:solidFill>
              <a:effectLst/>
              <a:uFillTx/>
              <a:latin typeface="Arial"/>
            </a:endParaRPr>
          </a:p>
        </p:txBody>
      </p:sp>
      <p:sp>
        <p:nvSpPr>
          <p:cNvPr id="113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Branches and pull requests</a:t>
            </a:r>
            <a:endParaRPr lang="en-US" sz="3400" b="0" u="none" strike="noStrike">
              <a:solidFill>
                <a:srgbClr val="000000"/>
              </a:solidFill>
              <a:effectLst/>
              <a:uFillTx/>
              <a:latin typeface="Arial"/>
            </a:endParaRPr>
          </a:p>
        </p:txBody>
      </p:sp>
      <p:sp>
        <p:nvSpPr>
          <p:cNvPr id="113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13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14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072</a:t>
            </a:r>
            <a:endParaRPr lang="en-US" sz="1000" b="0" u="none" strike="noStrike">
              <a:solidFill>
                <a:srgbClr val="000000"/>
              </a:solidFill>
              <a:effectLst/>
              <a:uFillTx/>
              <a:latin typeface="Arial"/>
            </a:endParaRPr>
          </a:p>
        </p:txBody>
      </p:sp>
      <p:sp>
        <p:nvSpPr>
          <p:cNvPr id="1141"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42"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143"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defTabSz="914400">
              <a:lnSpc>
                <a:spcPct val="100000"/>
              </a:lnSpc>
              <a:tabLst>
                <a:tab pos="0" algn="l"/>
              </a:tabLst>
            </a:pPr>
            <a:r>
              <a:rPr lang="en-US" sz="2250" b="1" u="none" strike="noStrike">
                <a:solidFill>
                  <a:srgbClr val="152B42"/>
                </a:solidFill>
                <a:effectLst/>
                <a:uFillTx/>
                <a:latin typeface="Aptos"/>
                <a:ea typeface="Aptos"/>
              </a:rPr>
              <a:t>A branch lets you work on changes without immediately changing the main version.</a:t>
            </a:r>
            <a:endParaRPr lang="en-US" sz="2250" b="0" u="none" strike="noStrike">
              <a:solidFill>
                <a:srgbClr val="000000"/>
              </a:solidFill>
              <a:effectLst/>
              <a:uFillTx/>
              <a:latin typeface="Arial"/>
            </a:endParaRPr>
          </a:p>
        </p:txBody>
      </p:sp>
      <p:sp>
        <p:nvSpPr>
          <p:cNvPr id="1144"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45"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Create a branch for one small feature</a:t>
            </a:r>
            <a:endParaRPr lang="en-US" sz="2100" b="0" u="none" strike="noStrike">
              <a:solidFill>
                <a:srgbClr val="000000"/>
              </a:solidFill>
              <a:effectLst/>
              <a:uFillTx/>
              <a:latin typeface="Arial"/>
            </a:endParaRPr>
          </a:p>
        </p:txBody>
      </p:sp>
      <p:sp>
        <p:nvSpPr>
          <p:cNvPr id="1146"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47"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Push the branch to GitHub</a:t>
            </a:r>
            <a:endParaRPr lang="en-US" sz="2100" b="0" u="none" strike="noStrike">
              <a:solidFill>
                <a:srgbClr val="000000"/>
              </a:solidFill>
              <a:effectLst/>
              <a:uFillTx/>
              <a:latin typeface="Arial"/>
            </a:endParaRPr>
          </a:p>
        </p:txBody>
      </p:sp>
      <p:sp>
        <p:nvSpPr>
          <p:cNvPr id="1148"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49"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Open a pull request to ask for review</a:t>
            </a:r>
            <a:endParaRPr lang="en-US" sz="2100" b="0" u="none" strike="noStrike">
              <a:solidFill>
                <a:srgbClr val="000000"/>
              </a:solidFill>
              <a:effectLst/>
              <a:uFillTx/>
              <a:latin typeface="Arial"/>
            </a:endParaRPr>
          </a:p>
        </p:txBody>
      </p:sp>
      <p:sp>
        <p:nvSpPr>
          <p:cNvPr id="1150"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51"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After review, merge changes into main</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1152"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53"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API &amp; JSON</a:t>
            </a:r>
            <a:endParaRPr lang="en-US" sz="1700" b="0" u="none" strike="noStrike">
              <a:solidFill>
                <a:srgbClr val="FFFFFF"/>
              </a:solidFill>
              <a:effectLst/>
              <a:uFillTx/>
              <a:latin typeface="Arial"/>
            </a:endParaRPr>
          </a:p>
        </p:txBody>
      </p:sp>
      <p:sp>
        <p:nvSpPr>
          <p:cNvPr id="1154"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How Applications Exchange Data</a:t>
            </a:r>
            <a:endParaRPr lang="en-US" sz="4500" b="0" u="none" strike="noStrike">
              <a:solidFill>
                <a:srgbClr val="FFFFFF"/>
              </a:solidFill>
              <a:effectLst/>
              <a:uFillTx/>
              <a:latin typeface="Arial"/>
            </a:endParaRPr>
          </a:p>
        </p:txBody>
      </p:sp>
      <p:sp>
        <p:nvSpPr>
          <p:cNvPr id="1155"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Understand requests and responses before building an API.</a:t>
            </a:r>
            <a:endParaRPr lang="en-US" sz="2400" b="0" u="none" strike="noStrike">
              <a:solidFill>
                <a:srgbClr val="FFFFFF"/>
              </a:solidFill>
              <a:effectLst/>
              <a:uFillTx/>
              <a:latin typeface="Arial"/>
            </a:endParaRPr>
          </a:p>
        </p:txBody>
      </p:sp>
      <p:sp>
        <p:nvSpPr>
          <p:cNvPr id="1156"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157"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158"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API &amp; JSON</a:t>
            </a:r>
            <a:endParaRPr lang="en-US" sz="1250" b="0" u="none" strike="noStrike">
              <a:solidFill>
                <a:srgbClr val="000000"/>
              </a:solidFill>
              <a:effectLst/>
              <a:uFillTx/>
              <a:latin typeface="Arial"/>
            </a:endParaRPr>
          </a:p>
        </p:txBody>
      </p:sp>
      <p:sp>
        <p:nvSpPr>
          <p:cNvPr id="1159"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is an API?</a:t>
            </a:r>
            <a:endParaRPr lang="en-US" sz="3400" b="0" u="none" strike="noStrike">
              <a:solidFill>
                <a:srgbClr val="000000"/>
              </a:solidFill>
              <a:effectLst/>
              <a:uFillTx/>
              <a:latin typeface="Arial"/>
            </a:endParaRPr>
          </a:p>
        </p:txBody>
      </p:sp>
      <p:sp>
        <p:nvSpPr>
          <p:cNvPr id="1160"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161"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162"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074</a:t>
            </a:r>
            <a:endParaRPr lang="en-US" sz="1000" b="0" u="none" strike="noStrike">
              <a:solidFill>
                <a:srgbClr val="000000"/>
              </a:solidFill>
              <a:effectLst/>
              <a:uFillTx/>
              <a:latin typeface="Arial"/>
            </a:endParaRPr>
          </a:p>
        </p:txBody>
      </p:sp>
      <p:sp>
        <p:nvSpPr>
          <p:cNvPr id="1163"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4"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165"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2250" b="1" u="none" strike="noStrike">
                <a:solidFill>
                  <a:srgbClr val="152B42"/>
                </a:solidFill>
                <a:effectLst/>
                <a:uFillTx/>
                <a:latin typeface="Aptos"/>
                <a:ea typeface="Aptos"/>
              </a:rPr>
              <a:t>An API is a way for one software program to ask another for data or an action.</a:t>
            </a:r>
            <a:endParaRPr lang="en-US" sz="2250" b="0" u="none" strike="noStrike">
              <a:solidFill>
                <a:srgbClr val="000000"/>
              </a:solidFill>
              <a:effectLst/>
              <a:uFillTx/>
              <a:latin typeface="Arial"/>
            </a:endParaRPr>
          </a:p>
        </p:txBody>
      </p:sp>
      <p:sp>
        <p:nvSpPr>
          <p:cNvPr id="1166"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67"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Your app sends a request</a:t>
            </a:r>
            <a:endParaRPr lang="en-US" sz="2100" b="0" u="none" strike="noStrike">
              <a:solidFill>
                <a:srgbClr val="000000"/>
              </a:solidFill>
              <a:effectLst/>
              <a:uFillTx/>
              <a:latin typeface="Arial"/>
            </a:endParaRPr>
          </a:p>
        </p:txBody>
      </p:sp>
      <p:sp>
        <p:nvSpPr>
          <p:cNvPr id="1168"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69"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Another service returns a response</a:t>
            </a:r>
            <a:endParaRPr lang="en-US" sz="2100" b="0" u="none" strike="noStrike">
              <a:solidFill>
                <a:srgbClr val="000000"/>
              </a:solidFill>
              <a:effectLst/>
              <a:uFillTx/>
              <a:latin typeface="Arial"/>
            </a:endParaRPr>
          </a:p>
        </p:txBody>
      </p:sp>
      <p:sp>
        <p:nvSpPr>
          <p:cNvPr id="1170"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71"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The API defines what can be requested</a:t>
            </a:r>
            <a:endParaRPr lang="en-US" sz="2100" b="0" u="none" strike="noStrike">
              <a:solidFill>
                <a:srgbClr val="000000"/>
              </a:solidFill>
              <a:effectLst/>
              <a:uFillTx/>
              <a:latin typeface="Arial"/>
            </a:endParaRPr>
          </a:p>
        </p:txBody>
      </p:sp>
      <p:sp>
        <p:nvSpPr>
          <p:cNvPr id="1172"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73"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Think of a waiter between customer and kitchen</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174"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175"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API &amp; JSON</a:t>
            </a:r>
            <a:endParaRPr lang="en-US" sz="1250" b="0" u="none" strike="noStrike">
              <a:solidFill>
                <a:srgbClr val="000000"/>
              </a:solidFill>
              <a:effectLst/>
              <a:uFillTx/>
              <a:latin typeface="Arial"/>
            </a:endParaRPr>
          </a:p>
        </p:txBody>
      </p:sp>
      <p:sp>
        <p:nvSpPr>
          <p:cNvPr id="1176"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HTTP: request and response</a:t>
            </a:r>
            <a:endParaRPr lang="en-US" sz="3400" b="0" u="none" strike="noStrike">
              <a:solidFill>
                <a:srgbClr val="000000"/>
              </a:solidFill>
              <a:effectLst/>
              <a:uFillTx/>
              <a:latin typeface="Arial"/>
            </a:endParaRPr>
          </a:p>
        </p:txBody>
      </p:sp>
      <p:sp>
        <p:nvSpPr>
          <p:cNvPr id="1177"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178"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179"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075</a:t>
            </a:r>
            <a:endParaRPr lang="en-US" sz="1000" b="0" u="none" strike="noStrike">
              <a:solidFill>
                <a:srgbClr val="000000"/>
              </a:solidFill>
              <a:effectLst/>
              <a:uFillTx/>
              <a:latin typeface="Arial"/>
            </a:endParaRPr>
          </a:p>
        </p:txBody>
      </p:sp>
      <p:sp>
        <p:nvSpPr>
          <p:cNvPr id="1180"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1"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182"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HTTP is a set of rules used when a client communicates with a web server.</a:t>
            </a:r>
            <a:endParaRPr lang="en-US" sz="2250" b="0" u="none" strike="noStrike">
              <a:solidFill>
                <a:srgbClr val="000000"/>
              </a:solidFill>
              <a:effectLst/>
              <a:uFillTx/>
              <a:latin typeface="Arial"/>
            </a:endParaRPr>
          </a:p>
        </p:txBody>
      </p:sp>
      <p:sp>
        <p:nvSpPr>
          <p:cNvPr id="1183"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84"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Client: browser or mobile app</a:t>
            </a:r>
            <a:endParaRPr lang="en-US" sz="2100" b="0" u="none" strike="noStrike">
              <a:solidFill>
                <a:srgbClr val="000000"/>
              </a:solidFill>
              <a:effectLst/>
              <a:uFillTx/>
              <a:latin typeface="Arial"/>
            </a:endParaRPr>
          </a:p>
        </p:txBody>
      </p:sp>
      <p:sp>
        <p:nvSpPr>
          <p:cNvPr id="1185"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86"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Server: program receiving the request</a:t>
            </a:r>
            <a:endParaRPr lang="en-US" sz="2100" b="0" u="none" strike="noStrike">
              <a:solidFill>
                <a:srgbClr val="000000"/>
              </a:solidFill>
              <a:effectLst/>
              <a:uFillTx/>
              <a:latin typeface="Arial"/>
            </a:endParaRPr>
          </a:p>
        </p:txBody>
      </p:sp>
      <p:sp>
        <p:nvSpPr>
          <p:cNvPr id="1187"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88"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Request: method + address + optional data</a:t>
            </a:r>
            <a:endParaRPr lang="en-US" sz="2100" b="0" u="none" strike="noStrike">
              <a:solidFill>
                <a:srgbClr val="000000"/>
              </a:solidFill>
              <a:effectLst/>
              <a:uFillTx/>
              <a:latin typeface="Arial"/>
            </a:endParaRPr>
          </a:p>
        </p:txBody>
      </p:sp>
      <p:sp>
        <p:nvSpPr>
          <p:cNvPr id="1189"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90"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Response: status + data back to client</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19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19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API &amp; JSON</a:t>
            </a:r>
            <a:endParaRPr lang="en-US" sz="1250" b="0" u="none" strike="noStrike">
              <a:solidFill>
                <a:srgbClr val="000000"/>
              </a:solidFill>
              <a:effectLst/>
              <a:uFillTx/>
              <a:latin typeface="Arial"/>
            </a:endParaRPr>
          </a:p>
        </p:txBody>
      </p:sp>
      <p:sp>
        <p:nvSpPr>
          <p:cNvPr id="119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GET and POST</a:t>
            </a:r>
            <a:endParaRPr lang="en-US" sz="3400" b="0" u="none" strike="noStrike">
              <a:solidFill>
                <a:srgbClr val="000000"/>
              </a:solidFill>
              <a:effectLst/>
              <a:uFillTx/>
              <a:latin typeface="Arial"/>
            </a:endParaRPr>
          </a:p>
        </p:txBody>
      </p:sp>
      <p:sp>
        <p:nvSpPr>
          <p:cNvPr id="119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19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SIDE-BY-SIDE COMPARISON</a:t>
            </a:r>
            <a:endParaRPr lang="en-US" sz="1000" b="0" u="none" strike="noStrike">
              <a:solidFill>
                <a:srgbClr val="000000"/>
              </a:solidFill>
              <a:effectLst/>
              <a:uFillTx/>
              <a:latin typeface="Arial"/>
            </a:endParaRPr>
          </a:p>
        </p:txBody>
      </p:sp>
      <p:sp>
        <p:nvSpPr>
          <p:cNvPr id="119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076</a:t>
            </a:r>
            <a:endParaRPr lang="en-US" sz="1000" b="0" u="none" strike="noStrike">
              <a:solidFill>
                <a:srgbClr val="000000"/>
              </a:solidFill>
              <a:effectLst/>
              <a:uFillTx/>
              <a:latin typeface="Arial"/>
            </a:endParaRPr>
          </a:p>
        </p:txBody>
      </p:sp>
      <p:sp>
        <p:nvSpPr>
          <p:cNvPr id="1197" name="Shape 6"/>
          <p:cNvSpPr/>
          <p:nvPr/>
        </p:nvSpPr>
        <p:spPr>
          <a:xfrm>
            <a:off x="502920" y="1691640"/>
            <a:ext cx="5449320" cy="4507560"/>
          </a:xfrm>
          <a:prstGeom prst="roundRect">
            <a:avLst>
              <a:gd name="adj" fmla="val 3245"/>
            </a:avLst>
          </a:prstGeom>
          <a:solidFill>
            <a:srgbClr val="DCF6E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8" name="Text 7"/>
          <p:cNvSpPr/>
          <p:nvPr/>
        </p:nvSpPr>
        <p:spPr>
          <a:xfrm>
            <a:off x="841320" y="2066400"/>
            <a:ext cx="468144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008D87"/>
                </a:solidFill>
                <a:effectLst/>
                <a:uFillTx/>
                <a:latin typeface="Aptos"/>
                <a:ea typeface="Aptos"/>
              </a:rPr>
              <a:t>GET</a:t>
            </a:r>
            <a:endParaRPr lang="en-US" sz="1600" b="0" u="none" strike="noStrike" dirty="0">
              <a:solidFill>
                <a:srgbClr val="000000"/>
              </a:solidFill>
              <a:effectLst/>
              <a:uFillTx/>
              <a:latin typeface="Arial"/>
            </a:endParaRPr>
          </a:p>
          <a:p>
            <a:pPr defTabSz="914400">
              <a:lnSpc>
                <a:spcPct val="100000"/>
              </a:lnSpc>
              <a:tabLst>
                <a:tab pos="0" algn="l"/>
              </a:tabLst>
            </a:pPr>
            <a:endParaRPr lang="en-US" sz="1600" b="0" u="none" strike="noStrike" dirty="0">
              <a:solidFill>
                <a:srgbClr val="000000"/>
              </a:solidFill>
              <a:effectLst/>
              <a:uFillTx/>
              <a:latin typeface="Arial"/>
            </a:endParaRPr>
          </a:p>
          <a:p>
            <a:pPr defTabSz="914400">
              <a:lnSpc>
                <a:spcPct val="100000"/>
              </a:lnSpc>
              <a:tabLst>
                <a:tab pos="0" algn="l"/>
              </a:tabLst>
            </a:pPr>
            <a:r>
              <a:rPr lang="en-US" sz="1600" b="1" u="none" strike="noStrike" dirty="0">
                <a:solidFill>
                  <a:srgbClr val="008D87"/>
                </a:solidFill>
                <a:effectLst/>
                <a:uFillTx/>
                <a:latin typeface="Aptos"/>
                <a:ea typeface="Aptos"/>
              </a:rPr>
              <a:t>Ask for existing information.</a:t>
            </a:r>
            <a:endParaRPr lang="en-US" sz="1600" b="0" u="none" strike="noStrike" dirty="0">
              <a:solidFill>
                <a:srgbClr val="000000"/>
              </a:solidFill>
              <a:effectLst/>
              <a:uFillTx/>
              <a:latin typeface="Arial"/>
            </a:endParaRPr>
          </a:p>
          <a:p>
            <a:pPr defTabSz="914400">
              <a:lnSpc>
                <a:spcPct val="100000"/>
              </a:lnSpc>
              <a:tabLst>
                <a:tab pos="0" algn="l"/>
              </a:tabLst>
            </a:pPr>
            <a:endParaRPr lang="en-US" sz="1600" b="0" u="none" strike="noStrike" dirty="0">
              <a:solidFill>
                <a:srgbClr val="000000"/>
              </a:solidFill>
              <a:effectLst/>
              <a:uFillTx/>
              <a:latin typeface="Arial"/>
            </a:endParaRPr>
          </a:p>
          <a:p>
            <a:pPr defTabSz="914400">
              <a:lnSpc>
                <a:spcPct val="100000"/>
              </a:lnSpc>
              <a:tabLst>
                <a:tab pos="0" algn="l"/>
              </a:tabLst>
            </a:pPr>
            <a:r>
              <a:rPr lang="en-US" sz="1600" b="1" u="none" strike="noStrike" dirty="0">
                <a:solidFill>
                  <a:srgbClr val="008D87"/>
                </a:solidFill>
                <a:effectLst/>
                <a:uFillTx/>
                <a:latin typeface="Aptos"/>
                <a:ea typeface="Aptos"/>
              </a:rPr>
              <a:t>Example: Show all tasks.</a:t>
            </a:r>
            <a:endParaRPr lang="en-US" sz="1600" b="0" u="none" strike="noStrike" dirty="0">
              <a:solidFill>
                <a:srgbClr val="000000"/>
              </a:solidFill>
              <a:effectLst/>
              <a:uFillTx/>
              <a:latin typeface="Arial"/>
            </a:endParaRPr>
          </a:p>
          <a:p>
            <a:pPr defTabSz="914400">
              <a:lnSpc>
                <a:spcPct val="100000"/>
              </a:lnSpc>
              <a:tabLst>
                <a:tab pos="0" algn="l"/>
              </a:tabLst>
            </a:pPr>
            <a:endParaRPr lang="en-US" sz="1600" b="0" u="none" strike="noStrike" dirty="0">
              <a:solidFill>
                <a:srgbClr val="000000"/>
              </a:solidFill>
              <a:effectLst/>
              <a:uFillTx/>
              <a:latin typeface="Arial"/>
            </a:endParaRPr>
          </a:p>
          <a:p>
            <a:pPr defTabSz="914400">
              <a:lnSpc>
                <a:spcPct val="100000"/>
              </a:lnSpc>
              <a:tabLst>
                <a:tab pos="0" algn="l"/>
              </a:tabLst>
            </a:pPr>
            <a:r>
              <a:rPr lang="en-US" sz="1600" b="1" u="none" strike="noStrike" dirty="0">
                <a:solidFill>
                  <a:srgbClr val="008D87"/>
                </a:solidFill>
                <a:effectLst/>
                <a:uFillTx/>
                <a:latin typeface="Aptos"/>
                <a:ea typeface="Aptos"/>
              </a:rPr>
              <a:t>Usually no new record is created.</a:t>
            </a:r>
            <a:endParaRPr lang="en-US" sz="1600" b="0" u="none" strike="noStrike" dirty="0">
              <a:solidFill>
                <a:srgbClr val="000000"/>
              </a:solidFill>
              <a:effectLst/>
              <a:uFillTx/>
              <a:latin typeface="Arial"/>
            </a:endParaRPr>
          </a:p>
        </p:txBody>
      </p:sp>
      <p:sp>
        <p:nvSpPr>
          <p:cNvPr id="1199" name="Text 8"/>
          <p:cNvSpPr/>
          <p:nvPr/>
        </p:nvSpPr>
        <p:spPr>
          <a:xfrm>
            <a:off x="841320" y="3291348"/>
            <a:ext cx="4608360" cy="290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2150" b="0" u="none" strike="noStrike" dirty="0">
                <a:solidFill>
                  <a:srgbClr val="152B42"/>
                </a:solidFill>
                <a:effectLst/>
                <a:uFillTx/>
                <a:latin typeface="Aptos"/>
                <a:ea typeface="Aptos"/>
              </a:rPr>
              <a:t>POST</a:t>
            </a:r>
            <a:endParaRPr lang="en-US" sz="2150" b="0" u="none" strike="noStrike" dirty="0">
              <a:solidFill>
                <a:srgbClr val="000000"/>
              </a:solidFill>
              <a:effectLst/>
              <a:uFillTx/>
              <a:latin typeface="Arial"/>
            </a:endParaRPr>
          </a:p>
          <a:p>
            <a:pPr defTabSz="914400">
              <a:lnSpc>
                <a:spcPct val="100000"/>
              </a:lnSpc>
              <a:tabLst>
                <a:tab pos="0" algn="l"/>
              </a:tabLst>
            </a:pP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Send information to create a record.</a:t>
            </a:r>
            <a:endParaRPr lang="en-US" sz="2150" b="0" u="none" strike="noStrike" dirty="0">
              <a:solidFill>
                <a:srgbClr val="000000"/>
              </a:solidFill>
              <a:effectLst/>
              <a:uFillTx/>
              <a:latin typeface="Arial"/>
            </a:endParaRPr>
          </a:p>
          <a:p>
            <a:pPr defTabSz="914400">
              <a:lnSpc>
                <a:spcPct val="100000"/>
              </a:lnSpc>
              <a:tabLst>
                <a:tab pos="0" algn="l"/>
              </a:tabLst>
            </a:pP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Example: Add a new task.</a:t>
            </a:r>
            <a:endParaRPr lang="en-US" sz="2150" b="0" u="none" strike="noStrike" dirty="0">
              <a:solidFill>
                <a:srgbClr val="000000"/>
              </a:solidFill>
              <a:effectLst/>
              <a:uFillTx/>
              <a:latin typeface="Arial"/>
            </a:endParaRPr>
          </a:p>
          <a:p>
            <a:pPr defTabSz="914400">
              <a:lnSpc>
                <a:spcPct val="100000"/>
              </a:lnSpc>
              <a:tabLst>
                <a:tab pos="0" algn="l"/>
              </a:tabLst>
            </a:pP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Often carries a JSON body.</a:t>
            </a:r>
            <a:endParaRPr lang="en-US" sz="2150" b="0" u="none" strike="noStrike" dirty="0">
              <a:solidFill>
                <a:srgbClr val="000000"/>
              </a:solidFill>
              <a:effectLst/>
              <a:uFillTx/>
              <a:latin typeface="Arial"/>
            </a:endParaRPr>
          </a:p>
        </p:txBody>
      </p:sp>
      <p:sp>
        <p:nvSpPr>
          <p:cNvPr id="1200" name="Shape 9"/>
          <p:cNvSpPr/>
          <p:nvPr/>
        </p:nvSpPr>
        <p:spPr>
          <a:xfrm>
            <a:off x="6208920" y="1691640"/>
            <a:ext cx="5449320" cy="4507560"/>
          </a:xfrm>
          <a:prstGeom prst="roundRect">
            <a:avLst>
              <a:gd name="adj" fmla="val 3245"/>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1" name="Text 10"/>
          <p:cNvSpPr/>
          <p:nvPr/>
        </p:nvSpPr>
        <p:spPr>
          <a:xfrm>
            <a:off x="6546960" y="2066400"/>
            <a:ext cx="468144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endParaRPr lang="en-US" sz="2600" b="0" u="none" strike="noStrike">
              <a:solidFill>
                <a:schemeClr val="dk1"/>
              </a:solidFill>
              <a:effectLst/>
              <a:uFillTx/>
              <a:latin typeface="Aptos"/>
            </a:endParaRPr>
          </a:p>
        </p:txBody>
      </p:sp>
      <p:sp>
        <p:nvSpPr>
          <p:cNvPr id="1202" name="Text 11"/>
          <p:cNvSpPr/>
          <p:nvPr/>
        </p:nvSpPr>
        <p:spPr>
          <a:xfrm>
            <a:off x="6546960" y="2880360"/>
            <a:ext cx="4608360" cy="290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endParaRPr lang="en-US" sz="2150" b="0" u="none" strike="noStrike">
              <a:solidFill>
                <a:schemeClr val="dk1"/>
              </a:solidFill>
              <a:effectLst/>
              <a:uFillTx/>
              <a:latin typeface="Apto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20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20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API &amp; JSON</a:t>
            </a:r>
            <a:endParaRPr lang="en-US" sz="1250" b="0" u="none" strike="noStrike">
              <a:solidFill>
                <a:srgbClr val="000000"/>
              </a:solidFill>
              <a:effectLst/>
              <a:uFillTx/>
              <a:latin typeface="Arial"/>
            </a:endParaRPr>
          </a:p>
        </p:txBody>
      </p:sp>
      <p:sp>
        <p:nvSpPr>
          <p:cNvPr id="120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Useful HTTP status codes</a:t>
            </a:r>
            <a:endParaRPr lang="en-US" sz="3400" b="0" u="none" strike="noStrike">
              <a:solidFill>
                <a:srgbClr val="000000"/>
              </a:solidFill>
              <a:effectLst/>
              <a:uFillTx/>
              <a:latin typeface="Arial"/>
            </a:endParaRPr>
          </a:p>
        </p:txBody>
      </p:sp>
      <p:sp>
        <p:nvSpPr>
          <p:cNvPr id="120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20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20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077</a:t>
            </a:r>
            <a:endParaRPr lang="en-US" sz="1000" b="0" u="none" strike="noStrike">
              <a:solidFill>
                <a:srgbClr val="000000"/>
              </a:solidFill>
              <a:effectLst/>
              <a:uFillTx/>
              <a:latin typeface="Arial"/>
            </a:endParaRPr>
          </a:p>
        </p:txBody>
      </p:sp>
      <p:sp>
        <p:nvSpPr>
          <p:cNvPr id="1209"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0"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211"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A response includes a status code saying what happened.</a:t>
            </a:r>
            <a:endParaRPr lang="en-US" sz="2250" b="0" u="none" strike="noStrike">
              <a:solidFill>
                <a:srgbClr val="000000"/>
              </a:solidFill>
              <a:effectLst/>
              <a:uFillTx/>
              <a:latin typeface="Arial"/>
            </a:endParaRPr>
          </a:p>
        </p:txBody>
      </p:sp>
      <p:sp>
        <p:nvSpPr>
          <p:cNvPr id="1212"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13"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200 OK: request worked</a:t>
            </a:r>
            <a:endParaRPr lang="en-US" sz="2100" b="0" u="none" strike="noStrike">
              <a:solidFill>
                <a:srgbClr val="000000"/>
              </a:solidFill>
              <a:effectLst/>
              <a:uFillTx/>
              <a:latin typeface="Arial"/>
            </a:endParaRPr>
          </a:p>
        </p:txBody>
      </p:sp>
      <p:sp>
        <p:nvSpPr>
          <p:cNvPr id="1214"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15"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201 Created: new item saved</a:t>
            </a:r>
            <a:endParaRPr lang="en-US" sz="2100" b="0" u="none" strike="noStrike">
              <a:solidFill>
                <a:srgbClr val="000000"/>
              </a:solidFill>
              <a:effectLst/>
              <a:uFillTx/>
              <a:latin typeface="Arial"/>
            </a:endParaRPr>
          </a:p>
        </p:txBody>
      </p:sp>
      <p:sp>
        <p:nvSpPr>
          <p:cNvPr id="1216"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17"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400 Bad Request: request was invalid</a:t>
            </a:r>
            <a:endParaRPr lang="en-US" sz="2100" b="0" u="none" strike="noStrike">
              <a:solidFill>
                <a:srgbClr val="000000"/>
              </a:solidFill>
              <a:effectLst/>
              <a:uFillTx/>
              <a:latin typeface="Arial"/>
            </a:endParaRPr>
          </a:p>
        </p:txBody>
      </p:sp>
      <p:sp>
        <p:nvSpPr>
          <p:cNvPr id="1218"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19"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404 Not Found: requested item missing</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220"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221"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API &amp; JSON</a:t>
            </a:r>
            <a:endParaRPr lang="en-US" sz="1250" b="0" u="none" strike="noStrike">
              <a:solidFill>
                <a:srgbClr val="000000"/>
              </a:solidFill>
              <a:effectLst/>
              <a:uFillTx/>
              <a:latin typeface="Arial"/>
            </a:endParaRPr>
          </a:p>
        </p:txBody>
      </p:sp>
      <p:sp>
        <p:nvSpPr>
          <p:cNvPr id="1222"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Reading API-style JSON in Python</a:t>
            </a:r>
            <a:endParaRPr lang="en-US" sz="3400" b="0" u="none" strike="noStrike">
              <a:solidFill>
                <a:srgbClr val="000000"/>
              </a:solidFill>
              <a:effectLst/>
              <a:uFillTx/>
              <a:latin typeface="Arial"/>
            </a:endParaRPr>
          </a:p>
        </p:txBody>
      </p:sp>
      <p:sp>
        <p:nvSpPr>
          <p:cNvPr id="1223"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224"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225"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078</a:t>
            </a:r>
            <a:endParaRPr lang="en-US" sz="1000" b="0" u="none" strike="noStrike">
              <a:solidFill>
                <a:srgbClr val="000000"/>
              </a:solidFill>
              <a:effectLst/>
              <a:uFillTx/>
              <a:latin typeface="Arial"/>
            </a:endParaRPr>
          </a:p>
        </p:txBody>
      </p:sp>
      <p:sp>
        <p:nvSpPr>
          <p:cNvPr id="1226"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227"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8"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dirty="0">
                <a:solidFill>
                  <a:srgbClr val="ECF4FA"/>
                </a:solidFill>
                <a:effectLst/>
                <a:uFillTx/>
                <a:latin typeface="DejaVu Sans Mono"/>
                <a:ea typeface="DejaVu Sans Mono"/>
              </a:rPr>
              <a:t>student = {  # Example response data</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    "name": "Ali",</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    "marks": 90</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print(student["name"])  # Read a field</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print(student["marks"])  # Another field</a:t>
            </a:r>
            <a:endParaRPr lang="en-US" sz="1550" b="0" u="none" strike="noStrike" dirty="0">
              <a:solidFill>
                <a:srgbClr val="000000"/>
              </a:solidFill>
              <a:effectLst/>
              <a:uFillTx/>
              <a:latin typeface="Arial"/>
            </a:endParaRPr>
          </a:p>
        </p:txBody>
      </p:sp>
      <p:sp>
        <p:nvSpPr>
          <p:cNvPr id="1229"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0"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231"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JSON resembles a dictionary</a:t>
            </a:r>
            <a:endParaRPr lang="en-US" sz="1750" b="0" u="none" strike="noStrike">
              <a:solidFill>
                <a:srgbClr val="000000"/>
              </a:solidFill>
              <a:effectLst/>
              <a:uFillTx/>
              <a:latin typeface="Arial"/>
            </a:endParaRPr>
          </a:p>
        </p:txBody>
      </p:sp>
      <p:sp>
        <p:nvSpPr>
          <p:cNvPr id="1232"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Keys describe values</a:t>
            </a:r>
            <a:endParaRPr lang="en-US" sz="1750" b="0" u="none" strike="noStrike">
              <a:solidFill>
                <a:srgbClr val="000000"/>
              </a:solidFill>
              <a:effectLst/>
              <a:uFillTx/>
              <a:latin typeface="Arial"/>
            </a:endParaRPr>
          </a:p>
        </p:txBody>
      </p:sp>
      <p:sp>
        <p:nvSpPr>
          <p:cNvPr id="1233"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750" b="0" u="none" strike="noStrike">
                <a:solidFill>
                  <a:srgbClr val="152B42"/>
                </a:solidFill>
                <a:effectLst/>
                <a:uFillTx/>
                <a:latin typeface="Aptos"/>
                <a:ea typeface="Aptos"/>
              </a:rPr>
              <a:t>• This is sample data, not a live API</a:t>
            </a:r>
            <a:endParaRPr lang="en-US" sz="1750" b="0" u="none" strike="noStrike">
              <a:solidFill>
                <a:srgbClr val="000000"/>
              </a:solidFill>
              <a:effectLst/>
              <a:uFillTx/>
              <a:latin typeface="Arial"/>
            </a:endParaRPr>
          </a:p>
        </p:txBody>
      </p:sp>
      <p:sp>
        <p:nvSpPr>
          <p:cNvPr id="1234"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5"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236"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Ali</a:t>
            </a:r>
            <a:endParaRPr lang="en-US" sz="1620" b="0" u="none" strike="noStrike">
              <a:solidFill>
                <a:srgbClr val="000000"/>
              </a:solidFill>
              <a:effectLst/>
              <a:uFillTx/>
              <a:latin typeface="Arial"/>
            </a:endParaRPr>
          </a:p>
          <a:p>
            <a:pPr defTabSz="914400">
              <a:lnSpc>
                <a:spcPct val="100000"/>
              </a:lnSpc>
              <a:tabLst>
                <a:tab pos="0" algn="l"/>
              </a:tabLst>
            </a:pPr>
            <a:r>
              <a:rPr lang="en-US" sz="1620" b="1" u="none" strike="noStrike">
                <a:solidFill>
                  <a:srgbClr val="152B42"/>
                </a:solidFill>
                <a:effectLst/>
                <a:uFillTx/>
                <a:latin typeface="DejaVu Sans Mono"/>
                <a:ea typeface="DejaVu Sans Mono"/>
              </a:rPr>
              <a:t>90</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1237"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8"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CRUD &amp; SQL</a:t>
            </a:r>
            <a:endParaRPr lang="en-US" sz="1700" b="0" u="none" strike="noStrike">
              <a:solidFill>
                <a:srgbClr val="FFFFFF"/>
              </a:solidFill>
              <a:effectLst/>
              <a:uFillTx/>
              <a:latin typeface="Arial"/>
            </a:endParaRPr>
          </a:p>
        </p:txBody>
      </p:sp>
      <p:sp>
        <p:nvSpPr>
          <p:cNvPr id="1239"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From Four Actions to a Database</a:t>
            </a:r>
            <a:endParaRPr lang="en-US" sz="4500" b="0" u="none" strike="noStrike">
              <a:solidFill>
                <a:srgbClr val="FFFFFF"/>
              </a:solidFill>
              <a:effectLst/>
              <a:uFillTx/>
              <a:latin typeface="Arial"/>
            </a:endParaRPr>
          </a:p>
        </p:txBody>
      </p:sp>
      <p:sp>
        <p:nvSpPr>
          <p:cNvPr id="1240"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First learn CRUD with a Python list, then SQL.</a:t>
            </a:r>
            <a:endParaRPr lang="en-US" sz="2400" b="0" u="none" strike="noStrike">
              <a:solidFill>
                <a:srgbClr val="FFFFFF"/>
              </a:solidFill>
              <a:effectLst/>
              <a:uFillTx/>
              <a:latin typeface="Arial"/>
            </a:endParaRPr>
          </a:p>
        </p:txBody>
      </p:sp>
      <p:sp>
        <p:nvSpPr>
          <p:cNvPr id="1241"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24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24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24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is CRUD?</a:t>
            </a:r>
            <a:endParaRPr lang="en-US" sz="3400" b="0" u="none" strike="noStrike">
              <a:solidFill>
                <a:srgbClr val="000000"/>
              </a:solidFill>
              <a:effectLst/>
              <a:uFillTx/>
              <a:latin typeface="Arial"/>
            </a:endParaRPr>
          </a:p>
        </p:txBody>
      </p:sp>
      <p:sp>
        <p:nvSpPr>
          <p:cNvPr id="124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24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24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080</a:t>
            </a:r>
            <a:endParaRPr lang="en-US" sz="1000" b="0" u="none" strike="noStrike">
              <a:solidFill>
                <a:srgbClr val="000000"/>
              </a:solidFill>
              <a:effectLst/>
              <a:uFillTx/>
              <a:latin typeface="Arial"/>
            </a:endParaRPr>
          </a:p>
        </p:txBody>
      </p:sp>
      <p:sp>
        <p:nvSpPr>
          <p:cNvPr id="1248"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9"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250"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CRUD names the four actions we perform on stored information.</a:t>
            </a:r>
            <a:endParaRPr lang="en-US" sz="2250" b="0" u="none" strike="noStrike">
              <a:solidFill>
                <a:srgbClr val="000000"/>
              </a:solidFill>
              <a:effectLst/>
              <a:uFillTx/>
              <a:latin typeface="Arial"/>
            </a:endParaRPr>
          </a:p>
        </p:txBody>
      </p:sp>
      <p:sp>
        <p:nvSpPr>
          <p:cNvPr id="1251"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52"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 = Create: add a new task</a:t>
            </a:r>
            <a:endParaRPr lang="en-US" sz="2100" b="0" u="none" strike="noStrike">
              <a:solidFill>
                <a:srgbClr val="000000"/>
              </a:solidFill>
              <a:effectLst/>
              <a:uFillTx/>
              <a:latin typeface="Arial"/>
            </a:endParaRPr>
          </a:p>
        </p:txBody>
      </p:sp>
      <p:sp>
        <p:nvSpPr>
          <p:cNvPr id="1253"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54"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 = Read: view an existing task</a:t>
            </a:r>
            <a:endParaRPr lang="en-US" sz="2100" b="0" u="none" strike="noStrike">
              <a:solidFill>
                <a:srgbClr val="000000"/>
              </a:solidFill>
              <a:effectLst/>
              <a:uFillTx/>
              <a:latin typeface="Arial"/>
            </a:endParaRPr>
          </a:p>
        </p:txBody>
      </p:sp>
      <p:sp>
        <p:nvSpPr>
          <p:cNvPr id="1255"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56"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 = Update: change a task</a:t>
            </a:r>
            <a:endParaRPr lang="en-US" sz="2100" b="0" u="none" strike="noStrike">
              <a:solidFill>
                <a:srgbClr val="000000"/>
              </a:solidFill>
              <a:effectLst/>
              <a:uFillTx/>
              <a:latin typeface="Arial"/>
            </a:endParaRPr>
          </a:p>
        </p:txBody>
      </p:sp>
      <p:sp>
        <p:nvSpPr>
          <p:cNvPr id="1257"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258"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D = Delete: remove a task</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25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26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26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CRUD example: everyday task list</a:t>
            </a:r>
            <a:endParaRPr lang="en-US" sz="3400" b="0" u="none" strike="noStrike">
              <a:solidFill>
                <a:srgbClr val="000000"/>
              </a:solidFill>
              <a:effectLst/>
              <a:uFillTx/>
              <a:latin typeface="Arial"/>
            </a:endParaRPr>
          </a:p>
        </p:txBody>
      </p:sp>
      <p:sp>
        <p:nvSpPr>
          <p:cNvPr id="126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26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FOLLOW THESE STEPS</a:t>
            </a:r>
            <a:endParaRPr lang="en-US" sz="1000" b="0" u="none" strike="noStrike">
              <a:solidFill>
                <a:srgbClr val="000000"/>
              </a:solidFill>
              <a:effectLst/>
              <a:uFillTx/>
              <a:latin typeface="Arial"/>
            </a:endParaRPr>
          </a:p>
        </p:txBody>
      </p:sp>
      <p:sp>
        <p:nvSpPr>
          <p:cNvPr id="126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081</a:t>
            </a:r>
            <a:endParaRPr lang="en-US" sz="1000" b="0" u="none" strike="noStrike">
              <a:solidFill>
                <a:srgbClr val="000000"/>
              </a:solidFill>
              <a:effectLst/>
              <a:uFillTx/>
              <a:latin typeface="Arial"/>
            </a:endParaRPr>
          </a:p>
        </p:txBody>
      </p:sp>
      <p:sp>
        <p:nvSpPr>
          <p:cNvPr id="1265" name="Shape 6"/>
          <p:cNvSpPr/>
          <p:nvPr/>
        </p:nvSpPr>
        <p:spPr>
          <a:xfrm>
            <a:off x="612720" y="171900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6" name="Shape 7"/>
          <p:cNvSpPr/>
          <p:nvPr/>
        </p:nvSpPr>
        <p:spPr>
          <a:xfrm>
            <a:off x="786240" y="186552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7" name="Text 8"/>
          <p:cNvSpPr/>
          <p:nvPr/>
        </p:nvSpPr>
        <p:spPr>
          <a:xfrm>
            <a:off x="868680" y="192024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1</a:t>
            </a:r>
            <a:endParaRPr lang="en-US" sz="1200" b="0" u="none" strike="noStrike">
              <a:solidFill>
                <a:srgbClr val="000000"/>
              </a:solidFill>
              <a:effectLst/>
              <a:uFillTx/>
              <a:latin typeface="Arial"/>
            </a:endParaRPr>
          </a:p>
        </p:txBody>
      </p:sp>
      <p:sp>
        <p:nvSpPr>
          <p:cNvPr id="1268" name="Text 9"/>
          <p:cNvSpPr/>
          <p:nvPr/>
        </p:nvSpPr>
        <p:spPr>
          <a:xfrm>
            <a:off x="1334880" y="185616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CREATE: write "Study Python" on a new line</a:t>
            </a:r>
            <a:endParaRPr lang="en-US" sz="2020" b="0" u="none" strike="noStrike">
              <a:solidFill>
                <a:srgbClr val="000000"/>
              </a:solidFill>
              <a:effectLst/>
              <a:uFillTx/>
              <a:latin typeface="Arial"/>
            </a:endParaRPr>
          </a:p>
        </p:txBody>
      </p:sp>
      <p:sp>
        <p:nvSpPr>
          <p:cNvPr id="1269" name="Shape 10"/>
          <p:cNvSpPr/>
          <p:nvPr/>
        </p:nvSpPr>
        <p:spPr>
          <a:xfrm>
            <a:off x="612720" y="2468880"/>
            <a:ext cx="10972440" cy="621360"/>
          </a:xfrm>
          <a:prstGeom prst="roundRect">
            <a:avLst>
              <a:gd name="adj" fmla="val 23529"/>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0" name="Shape 11"/>
          <p:cNvSpPr/>
          <p:nvPr/>
        </p:nvSpPr>
        <p:spPr>
          <a:xfrm>
            <a:off x="786240" y="261504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71" name="Text 12"/>
          <p:cNvSpPr/>
          <p:nvPr/>
        </p:nvSpPr>
        <p:spPr>
          <a:xfrm>
            <a:off x="868680" y="267012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2</a:t>
            </a:r>
            <a:endParaRPr lang="en-US" sz="1200" b="0" u="none" strike="noStrike">
              <a:solidFill>
                <a:srgbClr val="000000"/>
              </a:solidFill>
              <a:effectLst/>
              <a:uFillTx/>
              <a:latin typeface="Arial"/>
            </a:endParaRPr>
          </a:p>
        </p:txBody>
      </p:sp>
      <p:sp>
        <p:nvSpPr>
          <p:cNvPr id="1272" name="Text 13"/>
          <p:cNvSpPr/>
          <p:nvPr/>
        </p:nvSpPr>
        <p:spPr>
          <a:xfrm>
            <a:off x="1334880" y="260604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READ: look at the list</a:t>
            </a:r>
            <a:endParaRPr lang="en-US" sz="2020" b="0" u="none" strike="noStrike">
              <a:solidFill>
                <a:srgbClr val="000000"/>
              </a:solidFill>
              <a:effectLst/>
              <a:uFillTx/>
              <a:latin typeface="Arial"/>
            </a:endParaRPr>
          </a:p>
        </p:txBody>
      </p:sp>
      <p:sp>
        <p:nvSpPr>
          <p:cNvPr id="1273" name="Shape 14"/>
          <p:cNvSpPr/>
          <p:nvPr/>
        </p:nvSpPr>
        <p:spPr>
          <a:xfrm>
            <a:off x="612720" y="321876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4" name="Shape 15"/>
          <p:cNvSpPr/>
          <p:nvPr/>
        </p:nvSpPr>
        <p:spPr>
          <a:xfrm>
            <a:off x="786240" y="336492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75" name="Text 16"/>
          <p:cNvSpPr/>
          <p:nvPr/>
        </p:nvSpPr>
        <p:spPr>
          <a:xfrm>
            <a:off x="868680" y="342000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3</a:t>
            </a:r>
            <a:endParaRPr lang="en-US" sz="1200" b="0" u="none" strike="noStrike">
              <a:solidFill>
                <a:srgbClr val="000000"/>
              </a:solidFill>
              <a:effectLst/>
              <a:uFillTx/>
              <a:latin typeface="Arial"/>
            </a:endParaRPr>
          </a:p>
        </p:txBody>
      </p:sp>
      <p:sp>
        <p:nvSpPr>
          <p:cNvPr id="1276" name="Text 17"/>
          <p:cNvSpPr/>
          <p:nvPr/>
        </p:nvSpPr>
        <p:spPr>
          <a:xfrm>
            <a:off x="1334880" y="335592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UPDATE: change it to "Study OOP"</a:t>
            </a:r>
            <a:endParaRPr lang="en-US" sz="2020" b="0" u="none" strike="noStrike">
              <a:solidFill>
                <a:srgbClr val="000000"/>
              </a:solidFill>
              <a:effectLst/>
              <a:uFillTx/>
              <a:latin typeface="Arial"/>
            </a:endParaRPr>
          </a:p>
        </p:txBody>
      </p:sp>
      <p:sp>
        <p:nvSpPr>
          <p:cNvPr id="1277" name="Shape 18"/>
          <p:cNvSpPr/>
          <p:nvPr/>
        </p:nvSpPr>
        <p:spPr>
          <a:xfrm>
            <a:off x="612720" y="3968640"/>
            <a:ext cx="10972440" cy="621360"/>
          </a:xfrm>
          <a:prstGeom prst="roundRect">
            <a:avLst>
              <a:gd name="adj" fmla="val 23529"/>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8" name="Shape 19"/>
          <p:cNvSpPr/>
          <p:nvPr/>
        </p:nvSpPr>
        <p:spPr>
          <a:xfrm>
            <a:off x="786240" y="411480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79" name="Text 20"/>
          <p:cNvSpPr/>
          <p:nvPr/>
        </p:nvSpPr>
        <p:spPr>
          <a:xfrm>
            <a:off x="868680" y="416952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4</a:t>
            </a:r>
            <a:endParaRPr lang="en-US" sz="1200" b="0" u="none" strike="noStrike">
              <a:solidFill>
                <a:srgbClr val="000000"/>
              </a:solidFill>
              <a:effectLst/>
              <a:uFillTx/>
              <a:latin typeface="Arial"/>
            </a:endParaRPr>
          </a:p>
        </p:txBody>
      </p:sp>
      <p:sp>
        <p:nvSpPr>
          <p:cNvPr id="1280" name="Text 21"/>
          <p:cNvSpPr/>
          <p:nvPr/>
        </p:nvSpPr>
        <p:spPr>
          <a:xfrm>
            <a:off x="1334880" y="410580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DELETE: remove the task</a:t>
            </a:r>
            <a:endParaRPr lang="en-US" sz="2020" b="0" u="none" strike="noStrike">
              <a:solidFill>
                <a:srgbClr val="000000"/>
              </a:solidFill>
              <a:effectLst/>
              <a:uFillTx/>
              <a:latin typeface="Arial"/>
            </a:endParaRPr>
          </a:p>
        </p:txBody>
      </p:sp>
      <p:sp>
        <p:nvSpPr>
          <p:cNvPr id="1281" name="Shape 22"/>
          <p:cNvSpPr/>
          <p:nvPr/>
        </p:nvSpPr>
        <p:spPr>
          <a:xfrm>
            <a:off x="612720" y="471816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2" name="Shape 23"/>
          <p:cNvSpPr/>
          <p:nvPr/>
        </p:nvSpPr>
        <p:spPr>
          <a:xfrm>
            <a:off x="786240" y="486468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83" name="Text 24"/>
          <p:cNvSpPr/>
          <p:nvPr/>
        </p:nvSpPr>
        <p:spPr>
          <a:xfrm>
            <a:off x="868680" y="491940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5</a:t>
            </a:r>
            <a:endParaRPr lang="en-US" sz="1200" b="0" u="none" strike="noStrike">
              <a:solidFill>
                <a:srgbClr val="000000"/>
              </a:solidFill>
              <a:effectLst/>
              <a:uFillTx/>
              <a:latin typeface="Arial"/>
            </a:endParaRPr>
          </a:p>
        </p:txBody>
      </p:sp>
      <p:sp>
        <p:nvSpPr>
          <p:cNvPr id="1284" name="Text 25"/>
          <p:cNvSpPr/>
          <p:nvPr/>
        </p:nvSpPr>
        <p:spPr>
          <a:xfrm>
            <a:off x="1334880" y="485532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We can do all four in Python or SQL</a:t>
            </a:r>
            <a:endParaRPr lang="en-US" sz="20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28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28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28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CRUD using a Python list</a:t>
            </a:r>
            <a:endParaRPr lang="en-US" sz="3400" b="0" u="none" strike="noStrike">
              <a:solidFill>
                <a:srgbClr val="000000"/>
              </a:solidFill>
              <a:effectLst/>
              <a:uFillTx/>
              <a:latin typeface="Arial"/>
            </a:endParaRPr>
          </a:p>
        </p:txBody>
      </p:sp>
      <p:sp>
        <p:nvSpPr>
          <p:cNvPr id="128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28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29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082</a:t>
            </a:r>
            <a:endParaRPr lang="en-US" sz="1000" b="0" u="none" strike="noStrike">
              <a:solidFill>
                <a:srgbClr val="000000"/>
              </a:solidFill>
              <a:effectLst/>
              <a:uFillTx/>
              <a:latin typeface="Arial"/>
            </a:endParaRPr>
          </a:p>
        </p:txBody>
      </p:sp>
      <p:sp>
        <p:nvSpPr>
          <p:cNvPr id="1291"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292"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3"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tasks = []  # Start empty</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tasks.append("Read")  # CREATE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print(tasks[0])  # READ</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tasks[0] = "Revise"  # UPDATE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tasks.remove("Revise")  # DELETE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print(tasks)  # Show final list</a:t>
            </a:r>
            <a:endParaRPr lang="en-US" sz="1550" b="0" u="none" strike="noStrike">
              <a:solidFill>
                <a:srgbClr val="000000"/>
              </a:solidFill>
              <a:effectLst/>
              <a:uFillTx/>
              <a:latin typeface="Arial"/>
            </a:endParaRPr>
          </a:p>
        </p:txBody>
      </p:sp>
      <p:sp>
        <p:nvSpPr>
          <p:cNvPr id="1294"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5"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296"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Each line is one CRUD action</a:t>
            </a:r>
            <a:endParaRPr lang="en-US" sz="1750" b="0" u="none" strike="noStrike">
              <a:solidFill>
                <a:srgbClr val="000000"/>
              </a:solidFill>
              <a:effectLst/>
              <a:uFillTx/>
              <a:latin typeface="Arial"/>
            </a:endParaRPr>
          </a:p>
        </p:txBody>
      </p:sp>
      <p:sp>
        <p:nvSpPr>
          <p:cNvPr id="1297"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A list is temporary data</a:t>
            </a:r>
            <a:endParaRPr lang="en-US" sz="1750" b="0" u="none" strike="noStrike">
              <a:solidFill>
                <a:srgbClr val="000000"/>
              </a:solidFill>
              <a:effectLst/>
              <a:uFillTx/>
              <a:latin typeface="Arial"/>
            </a:endParaRPr>
          </a:p>
        </p:txBody>
      </p:sp>
      <p:sp>
        <p:nvSpPr>
          <p:cNvPr id="1298"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Output becomes empty again</a:t>
            </a:r>
            <a:endParaRPr lang="en-US" sz="1750" b="0" u="none" strike="noStrike">
              <a:solidFill>
                <a:srgbClr val="000000"/>
              </a:solidFill>
              <a:effectLst/>
              <a:uFillTx/>
              <a:latin typeface="Arial"/>
            </a:endParaRPr>
          </a:p>
        </p:txBody>
      </p:sp>
      <p:sp>
        <p:nvSpPr>
          <p:cNvPr id="1299"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0"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301"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Read</a:t>
            </a:r>
            <a:endParaRPr lang="en-US" sz="1620" b="0" u="none" strike="noStrike">
              <a:solidFill>
                <a:srgbClr val="000000"/>
              </a:solidFill>
              <a:effectLst/>
              <a:uFillTx/>
              <a:latin typeface="Arial"/>
            </a:endParaRPr>
          </a:p>
          <a:p>
            <a:pPr defTabSz="914400">
              <a:lnSpc>
                <a:spcPct val="100000"/>
              </a:lnSpc>
              <a:tabLst>
                <a:tab pos="0" algn="l"/>
              </a:tabLst>
            </a:pPr>
            <a:r>
              <a:rPr lang="en-US" sz="1620" b="1" u="none" strike="noStrike">
                <a:solidFill>
                  <a:srgbClr val="152B42"/>
                </a:solidFill>
                <a:effectLst/>
                <a:uFillTx/>
                <a:latin typeface="DejaVu Sans Mono"/>
                <a:ea typeface="DejaVu Sans Mono"/>
              </a:rPr>
              <a:t>[]</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30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30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30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CRUD practice: finish four actions</a:t>
            </a:r>
            <a:endParaRPr lang="en-US" sz="3400" b="0" u="none" strike="noStrike">
              <a:solidFill>
                <a:srgbClr val="000000"/>
              </a:solidFill>
              <a:effectLst/>
              <a:uFillTx/>
              <a:latin typeface="Arial"/>
            </a:endParaRPr>
          </a:p>
        </p:txBody>
      </p:sp>
      <p:sp>
        <p:nvSpPr>
          <p:cNvPr id="130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30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130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083</a:t>
            </a:r>
            <a:endParaRPr lang="en-US" sz="1000" b="0" u="none" strike="noStrike">
              <a:solidFill>
                <a:srgbClr val="000000"/>
              </a:solidFill>
              <a:effectLst/>
              <a:uFillTx/>
              <a:latin typeface="Arial"/>
            </a:endParaRPr>
          </a:p>
        </p:txBody>
      </p:sp>
      <p:sp>
        <p:nvSpPr>
          <p:cNvPr id="1308"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9"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1310"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a:solidFill>
                  <a:srgbClr val="152B42"/>
                </a:solidFill>
                <a:effectLst/>
                <a:uFillTx/>
                <a:latin typeface="Aptos"/>
                <a:ea typeface="Aptos"/>
              </a:rPr>
              <a:t>Create, read, update and delete a book title.</a:t>
            </a:r>
            <a:endParaRPr lang="en-US" sz="1960" b="0" u="none" strike="noStrike">
              <a:solidFill>
                <a:srgbClr val="000000"/>
              </a:solidFill>
              <a:effectLst/>
              <a:uFillTx/>
              <a:latin typeface="Arial"/>
            </a:endParaRPr>
          </a:p>
        </p:txBody>
      </p:sp>
      <p:sp>
        <p:nvSpPr>
          <p:cNvPr id="1311"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2"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books = []  # Start empty</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CREATE "Python"</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READ first title</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UPDATE title to "AI"</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DELETE "AI"</a:t>
            </a:r>
            <a:endParaRPr lang="en-US" sz="1580" b="0" u="none" strike="noStrike">
              <a:solidFill>
                <a:srgbClr val="000000"/>
              </a:solidFill>
              <a:effectLst/>
              <a:uFillTx/>
              <a:latin typeface="Arial"/>
            </a:endParaRPr>
          </a:p>
        </p:txBody>
      </p:sp>
      <p:sp>
        <p:nvSpPr>
          <p:cNvPr id="1313"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4"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1315"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Use append()</a:t>
            </a:r>
            <a:endParaRPr lang="en-US" sz="1820" b="0" u="none" strike="noStrike">
              <a:solidFill>
                <a:srgbClr val="000000"/>
              </a:solidFill>
              <a:effectLst/>
              <a:uFillTx/>
              <a:latin typeface="Arial"/>
            </a:endParaRPr>
          </a:p>
        </p:txBody>
      </p:sp>
      <p:sp>
        <p:nvSpPr>
          <p:cNvPr id="1316"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Use index 0</a:t>
            </a:r>
            <a:endParaRPr lang="en-US" sz="1820" b="0" u="none" strike="noStrike">
              <a:solidFill>
                <a:srgbClr val="000000"/>
              </a:solidFill>
              <a:effectLst/>
              <a:uFillTx/>
              <a:latin typeface="Arial"/>
            </a:endParaRPr>
          </a:p>
        </p:txBody>
      </p:sp>
      <p:sp>
        <p:nvSpPr>
          <p:cNvPr id="1317"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Assign new string</a:t>
            </a:r>
            <a:endParaRPr lang="en-US" sz="1820" b="0" u="none" strike="noStrike">
              <a:solidFill>
                <a:srgbClr val="000000"/>
              </a:solidFill>
              <a:effectLst/>
              <a:uFillTx/>
              <a:latin typeface="Arial"/>
            </a:endParaRPr>
          </a:p>
        </p:txBody>
      </p:sp>
      <p:sp>
        <p:nvSpPr>
          <p:cNvPr id="1318"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Use remove()</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31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32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32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CRUD list answer</a:t>
            </a:r>
            <a:endParaRPr lang="en-US" sz="3400" b="0" u="none" strike="noStrike">
              <a:solidFill>
                <a:srgbClr val="000000"/>
              </a:solidFill>
              <a:effectLst/>
              <a:uFillTx/>
              <a:latin typeface="Arial"/>
            </a:endParaRPr>
          </a:p>
        </p:txBody>
      </p:sp>
      <p:sp>
        <p:nvSpPr>
          <p:cNvPr id="132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32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132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084</a:t>
            </a:r>
            <a:endParaRPr lang="en-US" sz="1000" b="0" u="none" strike="noStrike">
              <a:solidFill>
                <a:srgbClr val="000000"/>
              </a:solidFill>
              <a:effectLst/>
              <a:uFillTx/>
              <a:latin typeface="Arial"/>
            </a:endParaRPr>
          </a:p>
        </p:txBody>
      </p:sp>
      <p:sp>
        <p:nvSpPr>
          <p:cNvPr id="1325"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6"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1327"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28"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books = []  # Empty list</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books.append("Python")  # Create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print(books[0])  # Read</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books[0] = "AI"  # Update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books.remove("AI")  # Delete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print(books)  # Empty list</a:t>
            </a:r>
            <a:endParaRPr lang="en-US" sz="1620" b="0" u="none" strike="noStrike">
              <a:solidFill>
                <a:srgbClr val="000000"/>
              </a:solidFill>
              <a:effectLst/>
              <a:uFillTx/>
              <a:latin typeface="Arial"/>
            </a:endParaRPr>
          </a:p>
        </p:txBody>
      </p:sp>
      <p:sp>
        <p:nvSpPr>
          <p:cNvPr id="1329"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0"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1331"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Python</a:t>
            </a:r>
            <a:endParaRPr lang="en-US"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rgbClr val="152B42"/>
                </a:solidFill>
                <a:effectLst/>
                <a:uFillTx/>
                <a:latin typeface="DejaVu Sans Mono"/>
                <a:ea typeface="DejaVu Sans Mono"/>
              </a:rPr>
              <a:t>[]</a:t>
            </a:r>
            <a:endParaRPr lang="en-US" sz="1600" b="0" u="none" strike="noStrike">
              <a:solidFill>
                <a:srgbClr val="000000"/>
              </a:solidFill>
              <a:effectLst/>
              <a:uFillTx/>
              <a:latin typeface="Arial"/>
            </a:endParaRPr>
          </a:p>
        </p:txBody>
      </p:sp>
      <p:sp>
        <p:nvSpPr>
          <p:cNvPr id="1332"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1333"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Same four actions</a:t>
            </a:r>
            <a:endParaRPr lang="en-US" sz="1679" b="0" u="none" strike="noStrike">
              <a:solidFill>
                <a:srgbClr val="000000"/>
              </a:solidFill>
              <a:effectLst/>
              <a:uFillTx/>
              <a:latin typeface="Arial"/>
            </a:endParaRPr>
          </a:p>
        </p:txBody>
      </p:sp>
      <p:sp>
        <p:nvSpPr>
          <p:cNvPr id="1334"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No SQL needed yet</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33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33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33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is a database table?</a:t>
            </a:r>
            <a:endParaRPr lang="en-US" sz="3400" b="0" u="none" strike="noStrike">
              <a:solidFill>
                <a:srgbClr val="000000"/>
              </a:solidFill>
              <a:effectLst/>
              <a:uFillTx/>
              <a:latin typeface="Arial"/>
            </a:endParaRPr>
          </a:p>
        </p:txBody>
      </p:sp>
      <p:sp>
        <p:nvSpPr>
          <p:cNvPr id="133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33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34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085</a:t>
            </a:r>
            <a:endParaRPr lang="en-US" sz="1000" b="0" u="none" strike="noStrike">
              <a:solidFill>
                <a:srgbClr val="000000"/>
              </a:solidFill>
              <a:effectLst/>
              <a:uFillTx/>
              <a:latin typeface="Arial"/>
            </a:endParaRPr>
          </a:p>
        </p:txBody>
      </p:sp>
      <p:sp>
        <p:nvSpPr>
          <p:cNvPr id="1341"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2"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343"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A table saves related data in rows and columns.</a:t>
            </a:r>
            <a:endParaRPr lang="en-US" sz="2250" b="0" u="none" strike="noStrike">
              <a:solidFill>
                <a:srgbClr val="000000"/>
              </a:solidFill>
              <a:effectLst/>
              <a:uFillTx/>
              <a:latin typeface="Arial"/>
            </a:endParaRPr>
          </a:p>
        </p:txBody>
      </p:sp>
      <p:sp>
        <p:nvSpPr>
          <p:cNvPr id="1344"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345"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One row = one task record</a:t>
            </a:r>
            <a:endParaRPr lang="en-US" sz="2100" b="0" u="none" strike="noStrike">
              <a:solidFill>
                <a:srgbClr val="000000"/>
              </a:solidFill>
              <a:effectLst/>
              <a:uFillTx/>
              <a:latin typeface="Arial"/>
            </a:endParaRPr>
          </a:p>
        </p:txBody>
      </p:sp>
      <p:sp>
        <p:nvSpPr>
          <p:cNvPr id="1346"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347"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One column = one piece of information</a:t>
            </a:r>
            <a:endParaRPr lang="en-US" sz="2100" b="0" u="none" strike="noStrike">
              <a:solidFill>
                <a:srgbClr val="000000"/>
              </a:solidFill>
              <a:effectLst/>
              <a:uFillTx/>
              <a:latin typeface="Arial"/>
            </a:endParaRPr>
          </a:p>
        </p:txBody>
      </p:sp>
      <p:sp>
        <p:nvSpPr>
          <p:cNvPr id="1348"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349"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primary key identifies a row</a:t>
            </a:r>
            <a:endParaRPr lang="en-US" sz="2100" b="0" u="none" strike="noStrike">
              <a:solidFill>
                <a:srgbClr val="000000"/>
              </a:solidFill>
              <a:effectLst/>
              <a:uFillTx/>
              <a:latin typeface="Arial"/>
            </a:endParaRPr>
          </a:p>
        </p:txBody>
      </p:sp>
      <p:sp>
        <p:nvSpPr>
          <p:cNvPr id="1350"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351"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SQLite stores the table in a local file</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35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35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35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CRUD and SQL commands</a:t>
            </a:r>
            <a:endParaRPr lang="en-US" sz="3400" b="0" u="none" strike="noStrike">
              <a:solidFill>
                <a:srgbClr val="000000"/>
              </a:solidFill>
              <a:effectLst/>
              <a:uFillTx/>
              <a:latin typeface="Arial"/>
            </a:endParaRPr>
          </a:p>
        </p:txBody>
      </p:sp>
      <p:sp>
        <p:nvSpPr>
          <p:cNvPr id="135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35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SIDE-BY-SIDE COMPARISON</a:t>
            </a:r>
            <a:endParaRPr lang="en-US" sz="1000" b="0" u="none" strike="noStrike">
              <a:solidFill>
                <a:srgbClr val="000000"/>
              </a:solidFill>
              <a:effectLst/>
              <a:uFillTx/>
              <a:latin typeface="Arial"/>
            </a:endParaRPr>
          </a:p>
        </p:txBody>
      </p:sp>
      <p:sp>
        <p:nvSpPr>
          <p:cNvPr id="135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086</a:t>
            </a:r>
            <a:endParaRPr lang="en-US" sz="1000" b="0" u="none" strike="noStrike">
              <a:solidFill>
                <a:srgbClr val="000000"/>
              </a:solidFill>
              <a:effectLst/>
              <a:uFillTx/>
              <a:latin typeface="Arial"/>
            </a:endParaRPr>
          </a:p>
        </p:txBody>
      </p:sp>
      <p:sp>
        <p:nvSpPr>
          <p:cNvPr id="1358" name="Shape 6"/>
          <p:cNvSpPr/>
          <p:nvPr/>
        </p:nvSpPr>
        <p:spPr>
          <a:xfrm>
            <a:off x="438840" y="1852436"/>
            <a:ext cx="5449320" cy="4507560"/>
          </a:xfrm>
          <a:prstGeom prst="roundRect">
            <a:avLst>
              <a:gd name="adj" fmla="val 3245"/>
            </a:avLst>
          </a:prstGeom>
          <a:solidFill>
            <a:srgbClr val="DCF6E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9" name="Text 7"/>
          <p:cNvSpPr/>
          <p:nvPr/>
        </p:nvSpPr>
        <p:spPr>
          <a:xfrm>
            <a:off x="772560" y="2665620"/>
            <a:ext cx="468144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dirty="0">
                <a:solidFill>
                  <a:srgbClr val="008D87"/>
                </a:solidFill>
                <a:effectLst/>
                <a:uFillTx/>
                <a:latin typeface="Aptos"/>
                <a:ea typeface="Aptos"/>
              </a:rPr>
              <a:t>CRUD ACTIONS</a:t>
            </a:r>
            <a:endParaRPr lang="en-US" b="0" u="none" strike="noStrike" dirty="0">
              <a:solidFill>
                <a:srgbClr val="000000"/>
              </a:solidFill>
              <a:effectLst/>
              <a:uFillTx/>
              <a:latin typeface="Arial"/>
            </a:endParaRPr>
          </a:p>
          <a:p>
            <a:pPr defTabSz="914400">
              <a:lnSpc>
                <a:spcPct val="100000"/>
              </a:lnSpc>
              <a:tabLst>
                <a:tab pos="0" algn="l"/>
              </a:tabLst>
            </a:pPr>
            <a:endParaRPr lang="en-US" b="0" u="none" strike="noStrike" dirty="0">
              <a:solidFill>
                <a:srgbClr val="000000"/>
              </a:solidFill>
              <a:effectLst/>
              <a:uFillTx/>
              <a:latin typeface="Arial"/>
            </a:endParaRPr>
          </a:p>
          <a:p>
            <a:pPr defTabSz="914400">
              <a:lnSpc>
                <a:spcPct val="100000"/>
              </a:lnSpc>
              <a:tabLst>
                <a:tab pos="0" algn="l"/>
              </a:tabLst>
            </a:pPr>
            <a:r>
              <a:rPr lang="en-US" b="1" u="none" strike="noStrike" dirty="0">
                <a:solidFill>
                  <a:srgbClr val="008D87"/>
                </a:solidFill>
                <a:effectLst/>
                <a:uFillTx/>
                <a:latin typeface="Aptos"/>
                <a:ea typeface="Aptos"/>
              </a:rPr>
              <a:t>Create</a:t>
            </a:r>
            <a:endParaRPr lang="en-US" b="0" u="none" strike="noStrike" dirty="0">
              <a:solidFill>
                <a:srgbClr val="000000"/>
              </a:solidFill>
              <a:effectLst/>
              <a:uFillTx/>
              <a:latin typeface="Arial"/>
            </a:endParaRPr>
          </a:p>
          <a:p>
            <a:pPr defTabSz="914400">
              <a:lnSpc>
                <a:spcPct val="100000"/>
              </a:lnSpc>
              <a:tabLst>
                <a:tab pos="0" algn="l"/>
              </a:tabLst>
            </a:pPr>
            <a:r>
              <a:rPr lang="en-US" b="1" u="none" strike="noStrike" dirty="0">
                <a:solidFill>
                  <a:srgbClr val="008D87"/>
                </a:solidFill>
                <a:effectLst/>
                <a:uFillTx/>
                <a:latin typeface="Aptos"/>
                <a:ea typeface="Aptos"/>
              </a:rPr>
              <a:t>Read</a:t>
            </a:r>
            <a:endParaRPr lang="en-US" b="0" u="none" strike="noStrike" dirty="0">
              <a:solidFill>
                <a:srgbClr val="000000"/>
              </a:solidFill>
              <a:effectLst/>
              <a:uFillTx/>
              <a:latin typeface="Arial"/>
            </a:endParaRPr>
          </a:p>
          <a:p>
            <a:pPr defTabSz="914400">
              <a:lnSpc>
                <a:spcPct val="100000"/>
              </a:lnSpc>
              <a:tabLst>
                <a:tab pos="0" algn="l"/>
              </a:tabLst>
            </a:pPr>
            <a:r>
              <a:rPr lang="en-US" b="1" u="none" strike="noStrike" dirty="0">
                <a:solidFill>
                  <a:srgbClr val="008D87"/>
                </a:solidFill>
                <a:effectLst/>
                <a:uFillTx/>
                <a:latin typeface="Aptos"/>
                <a:ea typeface="Aptos"/>
              </a:rPr>
              <a:t>Update</a:t>
            </a:r>
            <a:endParaRPr lang="en-US" b="0" u="none" strike="noStrike" dirty="0">
              <a:solidFill>
                <a:srgbClr val="000000"/>
              </a:solidFill>
              <a:effectLst/>
              <a:uFillTx/>
              <a:latin typeface="Arial"/>
            </a:endParaRPr>
          </a:p>
          <a:p>
            <a:pPr defTabSz="914400">
              <a:lnSpc>
                <a:spcPct val="100000"/>
              </a:lnSpc>
              <a:tabLst>
                <a:tab pos="0" algn="l"/>
              </a:tabLst>
            </a:pPr>
            <a:r>
              <a:rPr lang="en-US" b="1" u="none" strike="noStrike" dirty="0">
                <a:solidFill>
                  <a:srgbClr val="008D87"/>
                </a:solidFill>
                <a:effectLst/>
                <a:uFillTx/>
                <a:latin typeface="Aptos"/>
                <a:ea typeface="Aptos"/>
              </a:rPr>
              <a:t>Delete</a:t>
            </a:r>
            <a:endParaRPr lang="en-US" b="0" u="none" strike="noStrike" dirty="0">
              <a:solidFill>
                <a:srgbClr val="000000"/>
              </a:solidFill>
              <a:effectLst/>
              <a:uFillTx/>
              <a:latin typeface="Arial"/>
            </a:endParaRPr>
          </a:p>
        </p:txBody>
      </p:sp>
      <p:sp>
        <p:nvSpPr>
          <p:cNvPr id="1360" name="Text 8"/>
          <p:cNvSpPr/>
          <p:nvPr/>
        </p:nvSpPr>
        <p:spPr>
          <a:xfrm>
            <a:off x="772560" y="4178218"/>
            <a:ext cx="4608360" cy="290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2150" b="0" u="none" strike="noStrike" dirty="0">
                <a:solidFill>
                  <a:srgbClr val="152B42"/>
                </a:solidFill>
                <a:effectLst/>
                <a:uFillTx/>
                <a:latin typeface="Aptos"/>
                <a:ea typeface="Aptos"/>
              </a:rPr>
              <a:t>SQL COMMANDS</a:t>
            </a:r>
            <a:endParaRPr lang="en-US" sz="2150" b="0" u="none" strike="noStrike" dirty="0">
              <a:solidFill>
                <a:srgbClr val="000000"/>
              </a:solidFill>
              <a:effectLst/>
              <a:uFillTx/>
              <a:latin typeface="Arial"/>
            </a:endParaRPr>
          </a:p>
          <a:p>
            <a:pPr defTabSz="914400">
              <a:lnSpc>
                <a:spcPct val="100000"/>
              </a:lnSpc>
              <a:tabLst>
                <a:tab pos="0" algn="l"/>
              </a:tabLst>
            </a:pP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INSERT</a:t>
            </a: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SELECT</a:t>
            </a: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UPDATE</a:t>
            </a:r>
            <a:endParaRPr lang="en-US" sz="2150" b="0" u="none" strike="noStrike" dirty="0">
              <a:solidFill>
                <a:srgbClr val="000000"/>
              </a:solidFill>
              <a:effectLst/>
              <a:uFillTx/>
              <a:latin typeface="Arial"/>
            </a:endParaRPr>
          </a:p>
          <a:p>
            <a:pPr defTabSz="914400">
              <a:lnSpc>
                <a:spcPct val="100000"/>
              </a:lnSpc>
              <a:tabLst>
                <a:tab pos="0" algn="l"/>
              </a:tabLst>
            </a:pPr>
            <a:r>
              <a:rPr lang="en-US" sz="2150" b="0" u="none" strike="noStrike" dirty="0">
                <a:solidFill>
                  <a:srgbClr val="152B42"/>
                </a:solidFill>
                <a:effectLst/>
                <a:uFillTx/>
                <a:latin typeface="Aptos"/>
                <a:ea typeface="Aptos"/>
              </a:rPr>
              <a:t>DELETE</a:t>
            </a:r>
            <a:endParaRPr lang="en-US" sz="2150" b="0" u="none" strike="noStrike" dirty="0">
              <a:solidFill>
                <a:srgbClr val="000000"/>
              </a:solidFill>
              <a:effectLst/>
              <a:uFillTx/>
              <a:latin typeface="Arial"/>
            </a:endParaRPr>
          </a:p>
        </p:txBody>
      </p:sp>
      <p:sp>
        <p:nvSpPr>
          <p:cNvPr id="1361" name="Shape 9"/>
          <p:cNvSpPr/>
          <p:nvPr/>
        </p:nvSpPr>
        <p:spPr>
          <a:xfrm>
            <a:off x="6208920" y="1691640"/>
            <a:ext cx="5449320" cy="4507560"/>
          </a:xfrm>
          <a:prstGeom prst="roundRect">
            <a:avLst>
              <a:gd name="adj" fmla="val 3245"/>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2800" b="0" u="none" strike="noStrike">
              <a:solidFill>
                <a:srgbClr val="000000"/>
              </a:solidFill>
              <a:effectLst/>
              <a:uFillTx/>
              <a:latin typeface="Arial"/>
            </a:endParaRPr>
          </a:p>
        </p:txBody>
      </p:sp>
      <p:sp>
        <p:nvSpPr>
          <p:cNvPr id="1362" name="Text 10"/>
          <p:cNvSpPr/>
          <p:nvPr/>
        </p:nvSpPr>
        <p:spPr>
          <a:xfrm>
            <a:off x="6546960" y="2066399"/>
            <a:ext cx="4681440" cy="12372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a:solidFill>
                  <a:srgbClr val="008D87"/>
                </a:solidFill>
                <a:effectLst/>
                <a:uFillTx/>
                <a:latin typeface="Aptos"/>
                <a:ea typeface="Aptos"/>
              </a:rPr>
              <a:t>Some materials also call CREATE TABLE a schema operation; inserting a record corresponds to CRUD Create.</a:t>
            </a:r>
            <a:endParaRPr lang="en-US" sz="2000" b="0" u="none" strike="noStrike" dirty="0">
              <a:solidFill>
                <a:srgbClr val="000000"/>
              </a:solidFill>
              <a:effectLst/>
              <a:uFillTx/>
              <a:latin typeface="Arial"/>
            </a:endParaRPr>
          </a:p>
        </p:txBody>
      </p:sp>
      <p:sp>
        <p:nvSpPr>
          <p:cNvPr id="1363" name="Text 11"/>
          <p:cNvSpPr/>
          <p:nvPr/>
        </p:nvSpPr>
        <p:spPr>
          <a:xfrm>
            <a:off x="6546960" y="2880360"/>
            <a:ext cx="4608360" cy="290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endParaRPr lang="en-US" sz="2150" b="0" u="none" strike="noStrike">
              <a:solidFill>
                <a:schemeClr val="dk1"/>
              </a:solidFill>
              <a:effectLst/>
              <a:uFillTx/>
              <a:latin typeface="Apto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364"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365"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366"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SQL: create a table</a:t>
            </a:r>
            <a:endParaRPr lang="en-US" sz="3400" b="0" u="none" strike="noStrike">
              <a:solidFill>
                <a:srgbClr val="000000"/>
              </a:solidFill>
              <a:effectLst/>
              <a:uFillTx/>
              <a:latin typeface="Arial"/>
            </a:endParaRPr>
          </a:p>
        </p:txBody>
      </p:sp>
      <p:sp>
        <p:nvSpPr>
          <p:cNvPr id="1367"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368"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369"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087</a:t>
            </a:r>
            <a:endParaRPr lang="en-US" sz="1000" b="0" u="none" strike="noStrike">
              <a:solidFill>
                <a:srgbClr val="000000"/>
              </a:solidFill>
              <a:effectLst/>
              <a:uFillTx/>
              <a:latin typeface="Arial"/>
            </a:endParaRPr>
          </a:p>
        </p:txBody>
      </p:sp>
      <p:sp>
        <p:nvSpPr>
          <p:cNvPr id="1370"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371"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72"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dirty="0">
                <a:solidFill>
                  <a:srgbClr val="ECF4FA"/>
                </a:solidFill>
                <a:effectLst/>
                <a:uFillTx/>
                <a:latin typeface="DejaVu Sans Mono"/>
                <a:ea typeface="DejaVu Sans Mono"/>
              </a:rPr>
              <a:t>CREATE TABLE tasks (       -- Make table</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  id INTEGER PRIMARY KEY, -- Unique ID</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  title TEXT              -- Task text</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a:t>
            </a:r>
            <a:endParaRPr lang="en-US" sz="1550" b="0" u="none" strike="noStrike" dirty="0">
              <a:solidFill>
                <a:srgbClr val="000000"/>
              </a:solidFill>
              <a:effectLst/>
              <a:uFillTx/>
              <a:latin typeface="Arial"/>
            </a:endParaRPr>
          </a:p>
        </p:txBody>
      </p:sp>
      <p:sp>
        <p:nvSpPr>
          <p:cNvPr id="1373"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4"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375"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750" b="0" u="none" strike="noStrike">
                <a:solidFill>
                  <a:srgbClr val="152B42"/>
                </a:solidFill>
                <a:effectLst/>
                <a:uFillTx/>
                <a:latin typeface="Aptos"/>
                <a:ea typeface="Aptos"/>
              </a:rPr>
              <a:t>• CREATE TABLE prepares storage</a:t>
            </a:r>
            <a:endParaRPr lang="en-US" sz="1750" b="0" u="none" strike="noStrike">
              <a:solidFill>
                <a:srgbClr val="000000"/>
              </a:solidFill>
              <a:effectLst/>
              <a:uFillTx/>
              <a:latin typeface="Arial"/>
            </a:endParaRPr>
          </a:p>
        </p:txBody>
      </p:sp>
      <p:sp>
        <p:nvSpPr>
          <p:cNvPr id="1376"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id identifies each row</a:t>
            </a:r>
            <a:endParaRPr lang="en-US" sz="1750" b="0" u="none" strike="noStrike">
              <a:solidFill>
                <a:srgbClr val="000000"/>
              </a:solidFill>
              <a:effectLst/>
              <a:uFillTx/>
              <a:latin typeface="Arial"/>
            </a:endParaRPr>
          </a:p>
        </p:txBody>
      </p:sp>
      <p:sp>
        <p:nvSpPr>
          <p:cNvPr id="1377"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title holds task text</a:t>
            </a:r>
            <a:endParaRPr lang="en-US" sz="1750" b="0" u="none" strike="noStrike">
              <a:solidFill>
                <a:srgbClr val="000000"/>
              </a:solidFill>
              <a:effectLst/>
              <a:uFillTx/>
              <a:latin typeface="Arial"/>
            </a:endParaRPr>
          </a:p>
        </p:txBody>
      </p:sp>
      <p:sp>
        <p:nvSpPr>
          <p:cNvPr id="1378"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9"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380"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Table tasks created</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38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38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38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SQL: CREATE and READ records</a:t>
            </a:r>
            <a:endParaRPr lang="en-US" sz="3400" b="0" u="none" strike="noStrike">
              <a:solidFill>
                <a:srgbClr val="000000"/>
              </a:solidFill>
              <a:effectLst/>
              <a:uFillTx/>
              <a:latin typeface="Arial"/>
            </a:endParaRPr>
          </a:p>
        </p:txBody>
      </p:sp>
      <p:sp>
        <p:nvSpPr>
          <p:cNvPr id="138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38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38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088</a:t>
            </a:r>
            <a:endParaRPr lang="en-US" sz="1000" b="0" u="none" strike="noStrike">
              <a:solidFill>
                <a:srgbClr val="000000"/>
              </a:solidFill>
              <a:effectLst/>
              <a:uFillTx/>
              <a:latin typeface="Arial"/>
            </a:endParaRPr>
          </a:p>
        </p:txBody>
      </p:sp>
      <p:sp>
        <p:nvSpPr>
          <p:cNvPr id="1387"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388"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89"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dirty="0">
                <a:solidFill>
                  <a:srgbClr val="ECF4FA"/>
                </a:solidFill>
                <a:effectLst/>
                <a:uFillTx/>
                <a:latin typeface="DejaVu Sans Mono"/>
                <a:ea typeface="DejaVu Sans Mono"/>
              </a:rPr>
              <a:t>INSERT INTO tasks (title)  -- Add one row</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VALUES ('Read');</a:t>
            </a:r>
            <a:endParaRPr lang="en-US" sz="1550" b="0" u="none" strike="noStrike" dirty="0">
              <a:solidFill>
                <a:srgbClr val="000000"/>
              </a:solidFill>
              <a:effectLst/>
              <a:uFillTx/>
              <a:latin typeface="Arial"/>
            </a:endParaRPr>
          </a:p>
          <a:p>
            <a:pPr defTabSz="914400">
              <a:lnSpc>
                <a:spcPct val="100000"/>
              </a:lnSpc>
              <a:tabLst>
                <a:tab pos="0" algn="l"/>
              </a:tabLst>
            </a:pP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ECF4FA"/>
                </a:solidFill>
                <a:effectLst/>
                <a:uFillTx/>
                <a:latin typeface="DejaVu Sans Mono"/>
                <a:ea typeface="DejaVu Sans Mono"/>
              </a:rPr>
              <a:t>SELECT * FROM tasks;  -- View all rows</a:t>
            </a:r>
            <a:endParaRPr lang="en-US" sz="1550" b="0" u="none" strike="noStrike" dirty="0">
              <a:solidFill>
                <a:srgbClr val="000000"/>
              </a:solidFill>
              <a:effectLst/>
              <a:uFillTx/>
              <a:latin typeface="Arial"/>
            </a:endParaRPr>
          </a:p>
        </p:txBody>
      </p:sp>
      <p:sp>
        <p:nvSpPr>
          <p:cNvPr id="1390"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1"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392"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INSERT adds a record</a:t>
            </a:r>
            <a:endParaRPr lang="en-US" sz="1750" b="0" u="none" strike="noStrike">
              <a:solidFill>
                <a:srgbClr val="000000"/>
              </a:solidFill>
              <a:effectLst/>
              <a:uFillTx/>
              <a:latin typeface="Arial"/>
            </a:endParaRPr>
          </a:p>
        </p:txBody>
      </p:sp>
      <p:sp>
        <p:nvSpPr>
          <p:cNvPr id="1393"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SELECT displays records</a:t>
            </a:r>
            <a:endParaRPr lang="en-US" sz="1750" b="0" u="none" strike="noStrike">
              <a:solidFill>
                <a:srgbClr val="000000"/>
              </a:solidFill>
              <a:effectLst/>
              <a:uFillTx/>
              <a:latin typeface="Arial"/>
            </a:endParaRPr>
          </a:p>
        </p:txBody>
      </p:sp>
      <p:sp>
        <p:nvSpPr>
          <p:cNvPr id="1394"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 means all columns</a:t>
            </a:r>
            <a:endParaRPr lang="en-US" sz="1750" b="0" u="none" strike="noStrike">
              <a:solidFill>
                <a:srgbClr val="000000"/>
              </a:solidFill>
              <a:effectLst/>
              <a:uFillTx/>
              <a:latin typeface="Arial"/>
            </a:endParaRPr>
          </a:p>
        </p:txBody>
      </p:sp>
      <p:sp>
        <p:nvSpPr>
          <p:cNvPr id="1395"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6"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397"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1 | Read</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39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39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40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SQL: UPDATE and DELETE records</a:t>
            </a:r>
            <a:endParaRPr lang="en-US" sz="3400" b="0" u="none" strike="noStrike">
              <a:solidFill>
                <a:srgbClr val="000000"/>
              </a:solidFill>
              <a:effectLst/>
              <a:uFillTx/>
              <a:latin typeface="Arial"/>
            </a:endParaRPr>
          </a:p>
        </p:txBody>
      </p:sp>
      <p:sp>
        <p:nvSpPr>
          <p:cNvPr id="140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40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40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089</a:t>
            </a:r>
            <a:endParaRPr lang="en-US" sz="1000" b="0" u="none" strike="noStrike">
              <a:solidFill>
                <a:srgbClr val="000000"/>
              </a:solidFill>
              <a:effectLst/>
              <a:uFillTx/>
              <a:latin typeface="Arial"/>
            </a:endParaRPr>
          </a:p>
        </p:txBody>
      </p:sp>
      <p:sp>
        <p:nvSpPr>
          <p:cNvPr id="1404"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405"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6"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UPDATE tasks               -- Change task</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SET title = 'Revise'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WHERE id = 1;             -- Choose row</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DELETE FROM tasks         -- Remove row</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WHERE id = 1;</a:t>
            </a:r>
            <a:endParaRPr lang="en-US" sz="1550" b="0" u="none" strike="noStrike">
              <a:solidFill>
                <a:srgbClr val="000000"/>
              </a:solidFill>
              <a:effectLst/>
              <a:uFillTx/>
              <a:latin typeface="Arial"/>
            </a:endParaRPr>
          </a:p>
        </p:txBody>
      </p:sp>
      <p:sp>
        <p:nvSpPr>
          <p:cNvPr id="1407"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08"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409"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WHERE chooses a row</a:t>
            </a:r>
            <a:endParaRPr lang="en-US" sz="1750" b="0" u="none" strike="noStrike">
              <a:solidFill>
                <a:srgbClr val="000000"/>
              </a:solidFill>
              <a:effectLst/>
              <a:uFillTx/>
              <a:latin typeface="Arial"/>
            </a:endParaRPr>
          </a:p>
        </p:txBody>
      </p:sp>
      <p:sp>
        <p:nvSpPr>
          <p:cNvPr id="1410"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914400">
              <a:lnSpc>
                <a:spcPct val="100000"/>
              </a:lnSpc>
              <a:tabLst>
                <a:tab pos="0" algn="l"/>
              </a:tabLst>
            </a:pPr>
            <a:r>
              <a:rPr lang="en-US" sz="1750" b="0" u="none" strike="noStrike">
                <a:solidFill>
                  <a:srgbClr val="152B42"/>
                </a:solidFill>
                <a:effectLst/>
                <a:uFillTx/>
                <a:latin typeface="Aptos"/>
                <a:ea typeface="Aptos"/>
              </a:rPr>
              <a:t>• Without WHERE affects all rows</a:t>
            </a:r>
            <a:endParaRPr lang="en-US" sz="1750" b="0" u="none" strike="noStrike">
              <a:solidFill>
                <a:srgbClr val="000000"/>
              </a:solidFill>
              <a:effectLst/>
              <a:uFillTx/>
              <a:latin typeface="Arial"/>
            </a:endParaRPr>
          </a:p>
        </p:txBody>
      </p:sp>
      <p:sp>
        <p:nvSpPr>
          <p:cNvPr id="1411"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SQL keywords are not Python</a:t>
            </a:r>
            <a:endParaRPr lang="en-US" sz="1750" b="0" u="none" strike="noStrike">
              <a:solidFill>
                <a:srgbClr val="000000"/>
              </a:solidFill>
              <a:effectLst/>
              <a:uFillTx/>
              <a:latin typeface="Arial"/>
            </a:endParaRPr>
          </a:p>
        </p:txBody>
      </p:sp>
      <p:sp>
        <p:nvSpPr>
          <p:cNvPr id="1412"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13"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414"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Row changed, then deleted</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41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41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41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SQLite with Python: why use sqlite3?</a:t>
            </a:r>
            <a:endParaRPr lang="en-US" sz="3400" b="0" u="none" strike="noStrike">
              <a:solidFill>
                <a:srgbClr val="000000"/>
              </a:solidFill>
              <a:effectLst/>
              <a:uFillTx/>
              <a:latin typeface="Arial"/>
            </a:endParaRPr>
          </a:p>
        </p:txBody>
      </p:sp>
      <p:sp>
        <p:nvSpPr>
          <p:cNvPr id="141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41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42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090</a:t>
            </a:r>
            <a:endParaRPr lang="en-US" sz="1000" b="0" u="none" strike="noStrike">
              <a:solidFill>
                <a:srgbClr val="000000"/>
              </a:solidFill>
              <a:effectLst/>
              <a:uFillTx/>
              <a:latin typeface="Arial"/>
            </a:endParaRPr>
          </a:p>
        </p:txBody>
      </p:sp>
      <p:sp>
        <p:nvSpPr>
          <p:cNvPr id="1421"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22"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423"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SQLite is a small database saved in a file; Python can use it with sqlite3.</a:t>
            </a:r>
            <a:endParaRPr lang="en-US" sz="2250" b="0" u="none" strike="noStrike">
              <a:solidFill>
                <a:srgbClr val="000000"/>
              </a:solidFill>
              <a:effectLst/>
              <a:uFillTx/>
              <a:latin typeface="Arial"/>
            </a:endParaRPr>
          </a:p>
        </p:txBody>
      </p:sp>
      <p:sp>
        <p:nvSpPr>
          <p:cNvPr id="1424"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425"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import sqlite3 uses Python’s built-in module</a:t>
            </a:r>
            <a:endParaRPr lang="en-US" sz="2100" b="0" u="none" strike="noStrike">
              <a:solidFill>
                <a:srgbClr val="000000"/>
              </a:solidFill>
              <a:effectLst/>
              <a:uFillTx/>
              <a:latin typeface="Arial"/>
            </a:endParaRPr>
          </a:p>
        </p:txBody>
      </p:sp>
      <p:sp>
        <p:nvSpPr>
          <p:cNvPr id="1426"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427"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connect("tasks.db") opens a database file</a:t>
            </a:r>
            <a:endParaRPr lang="en-US" sz="2100" b="0" u="none" strike="noStrike">
              <a:solidFill>
                <a:srgbClr val="000000"/>
              </a:solidFill>
              <a:effectLst/>
              <a:uFillTx/>
              <a:latin typeface="Arial"/>
            </a:endParaRPr>
          </a:p>
        </p:txBody>
      </p:sp>
      <p:sp>
        <p:nvSpPr>
          <p:cNvPr id="1428"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429"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execute() runs SQL statements</a:t>
            </a:r>
            <a:endParaRPr lang="en-US" sz="2100" b="0" u="none" strike="noStrike">
              <a:solidFill>
                <a:srgbClr val="000000"/>
              </a:solidFill>
              <a:effectLst/>
              <a:uFillTx/>
              <a:latin typeface="Arial"/>
            </a:endParaRPr>
          </a:p>
        </p:txBody>
      </p:sp>
      <p:sp>
        <p:nvSpPr>
          <p:cNvPr id="1430"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431"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commit() saves changes</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43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43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43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Python + SQLite: create table and add</a:t>
            </a:r>
            <a:endParaRPr lang="en-US" sz="3400" b="0" u="none" strike="noStrike">
              <a:solidFill>
                <a:srgbClr val="000000"/>
              </a:solidFill>
              <a:effectLst/>
              <a:uFillTx/>
              <a:latin typeface="Arial"/>
            </a:endParaRPr>
          </a:p>
        </p:txBody>
      </p:sp>
      <p:sp>
        <p:nvSpPr>
          <p:cNvPr id="143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43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43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091</a:t>
            </a:r>
            <a:endParaRPr lang="en-US" sz="1000" b="0" u="none" strike="noStrike">
              <a:solidFill>
                <a:srgbClr val="000000"/>
              </a:solidFill>
              <a:effectLst/>
              <a:uFillTx/>
              <a:latin typeface="Arial"/>
            </a:endParaRPr>
          </a:p>
        </p:txBody>
      </p:sp>
      <p:sp>
        <p:nvSpPr>
          <p:cNvPr id="1438"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439"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40"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430" b="0" u="none" strike="noStrike" dirty="0">
                <a:solidFill>
                  <a:srgbClr val="ECF4FA"/>
                </a:solidFill>
                <a:effectLst/>
                <a:uFillTx/>
                <a:latin typeface="DejaVu Sans Mono"/>
                <a:ea typeface="DejaVu Sans Mono"/>
              </a:rPr>
              <a:t>import sqlite3  # Built-in database module</a:t>
            </a:r>
            <a:endParaRPr lang="en-US" sz="1430" b="0" u="none" strike="noStrike" dirty="0">
              <a:solidFill>
                <a:srgbClr val="000000"/>
              </a:solidFill>
              <a:effectLst/>
              <a:uFillTx/>
              <a:latin typeface="Arial"/>
            </a:endParaRPr>
          </a:p>
          <a:p>
            <a:pPr defTabSz="914400">
              <a:lnSpc>
                <a:spcPct val="100000"/>
              </a:lnSpc>
              <a:tabLst>
                <a:tab pos="0" algn="l"/>
              </a:tabLst>
            </a:pP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err="1">
                <a:solidFill>
                  <a:srgbClr val="ECF4FA"/>
                </a:solidFill>
                <a:effectLst/>
                <a:uFillTx/>
                <a:latin typeface="DejaVu Sans Mono"/>
                <a:ea typeface="DejaVu Sans Mono"/>
              </a:rPr>
              <a:t>db</a:t>
            </a:r>
            <a:r>
              <a:rPr lang="en-US" sz="1430" b="0" u="none" strike="noStrike" dirty="0">
                <a:solidFill>
                  <a:srgbClr val="ECF4FA"/>
                </a:solidFill>
                <a:effectLst/>
                <a:uFillTx/>
                <a:latin typeface="DejaVu Sans Mono"/>
                <a:ea typeface="DejaVu Sans Mono"/>
              </a:rPr>
              <a:t> = sqlite3.connect("</a:t>
            </a:r>
            <a:r>
              <a:rPr lang="en-US" sz="1430" b="0" u="none" strike="noStrike" dirty="0" err="1">
                <a:solidFill>
                  <a:srgbClr val="ECF4FA"/>
                </a:solidFill>
                <a:effectLst/>
                <a:uFillTx/>
                <a:latin typeface="DejaVu Sans Mono"/>
                <a:ea typeface="DejaVu Sans Mono"/>
              </a:rPr>
              <a:t>tasks.db</a:t>
            </a:r>
            <a:r>
              <a:rPr lang="en-US" sz="1430" b="0" u="none" strike="noStrike" dirty="0">
                <a:solidFill>
                  <a:srgbClr val="ECF4FA"/>
                </a:solidFill>
                <a:effectLst/>
                <a:uFillTx/>
                <a:latin typeface="DejaVu Sans Mono"/>
                <a:ea typeface="DejaVu Sans Mono"/>
              </a:rPr>
              <a:t>")  # Open DB</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err="1">
                <a:solidFill>
                  <a:srgbClr val="ECF4FA"/>
                </a:solidFill>
                <a:effectLst/>
                <a:uFillTx/>
                <a:latin typeface="DejaVu Sans Mono"/>
                <a:ea typeface="DejaVu Sans Mono"/>
              </a:rPr>
              <a:t>db.execute</a:t>
            </a:r>
            <a:r>
              <a:rPr lang="en-US" sz="1430" b="0" u="none" strike="noStrike" dirty="0">
                <a:solidFill>
                  <a:srgbClr val="ECF4FA"/>
                </a:solidFill>
                <a:effectLst/>
                <a:uFillTx/>
                <a:latin typeface="DejaVu Sans Mono"/>
                <a:ea typeface="DejaVu Sans Mono"/>
              </a:rPr>
              <a:t>("CREATE TABLE IF NOT EXISTS tasks "</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a:solidFill>
                  <a:srgbClr val="ECF4FA"/>
                </a:solidFill>
                <a:effectLst/>
                <a:uFillTx/>
                <a:latin typeface="DejaVu Sans Mono"/>
                <a:ea typeface="DejaVu Sans Mono"/>
              </a:rPr>
              <a:t>           "(id INTEGER PRIMARY KEY, title TEXT)")</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err="1">
                <a:solidFill>
                  <a:srgbClr val="ECF4FA"/>
                </a:solidFill>
                <a:effectLst/>
                <a:uFillTx/>
                <a:latin typeface="DejaVu Sans Mono"/>
                <a:ea typeface="DejaVu Sans Mono"/>
              </a:rPr>
              <a:t>db.execute</a:t>
            </a:r>
            <a:r>
              <a:rPr lang="en-US" sz="1430" b="0" u="none" strike="noStrike" dirty="0">
                <a:solidFill>
                  <a:srgbClr val="ECF4FA"/>
                </a:solidFill>
                <a:effectLst/>
                <a:uFillTx/>
                <a:latin typeface="DejaVu Sans Mono"/>
                <a:ea typeface="DejaVu Sans Mono"/>
              </a:rPr>
              <a:t>("INSERT INTO tasks (title) VALUES (?)",</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a:solidFill>
                  <a:srgbClr val="ECF4FA"/>
                </a:solidFill>
                <a:effectLst/>
                <a:uFillTx/>
                <a:latin typeface="DejaVu Sans Mono"/>
                <a:ea typeface="DejaVu Sans Mono"/>
              </a:rPr>
              <a:t>           ("Read",))  # Safe placeholder</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err="1">
                <a:solidFill>
                  <a:srgbClr val="ECF4FA"/>
                </a:solidFill>
                <a:effectLst/>
                <a:uFillTx/>
                <a:latin typeface="DejaVu Sans Mono"/>
                <a:ea typeface="DejaVu Sans Mono"/>
              </a:rPr>
              <a:t>db.commit</a:t>
            </a:r>
            <a:r>
              <a:rPr lang="en-US" sz="1430" b="0" u="none" strike="noStrike" dirty="0">
                <a:solidFill>
                  <a:srgbClr val="ECF4FA"/>
                </a:solidFill>
                <a:effectLst/>
                <a:uFillTx/>
                <a:latin typeface="DejaVu Sans Mono"/>
                <a:ea typeface="DejaVu Sans Mono"/>
              </a:rPr>
              <a:t>()  # Save changes</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a:solidFill>
                  <a:srgbClr val="ECF4FA"/>
                </a:solidFill>
                <a:effectLst/>
                <a:uFillTx/>
                <a:latin typeface="DejaVu Sans Mono"/>
                <a:ea typeface="DejaVu Sans Mono"/>
              </a:rPr>
              <a:t>print("Saved")</a:t>
            </a:r>
            <a:endParaRPr lang="en-US" sz="1430" b="0" u="none" strike="noStrike" dirty="0">
              <a:solidFill>
                <a:srgbClr val="000000"/>
              </a:solidFill>
              <a:effectLst/>
              <a:uFillTx/>
              <a:latin typeface="Arial"/>
            </a:endParaRPr>
          </a:p>
          <a:p>
            <a:pPr defTabSz="914400">
              <a:lnSpc>
                <a:spcPct val="100000"/>
              </a:lnSpc>
              <a:tabLst>
                <a:tab pos="0" algn="l"/>
              </a:tabLst>
            </a:pPr>
            <a:r>
              <a:rPr lang="en-US" sz="1430" b="0" u="none" strike="noStrike" dirty="0" err="1">
                <a:solidFill>
                  <a:srgbClr val="ECF4FA"/>
                </a:solidFill>
                <a:effectLst/>
                <a:uFillTx/>
                <a:latin typeface="DejaVu Sans Mono"/>
                <a:ea typeface="DejaVu Sans Mono"/>
              </a:rPr>
              <a:t>db.close</a:t>
            </a:r>
            <a:r>
              <a:rPr lang="en-US" sz="1430" b="0" u="none" strike="noStrike" dirty="0">
                <a:solidFill>
                  <a:srgbClr val="ECF4FA"/>
                </a:solidFill>
                <a:effectLst/>
                <a:uFillTx/>
                <a:latin typeface="DejaVu Sans Mono"/>
                <a:ea typeface="DejaVu Sans Mono"/>
              </a:rPr>
              <a:t>()  # Close connection</a:t>
            </a:r>
            <a:endParaRPr lang="en-US" sz="1430" b="0" u="none" strike="noStrike" dirty="0">
              <a:solidFill>
                <a:srgbClr val="000000"/>
              </a:solidFill>
              <a:effectLst/>
              <a:uFillTx/>
              <a:latin typeface="Arial"/>
            </a:endParaRPr>
          </a:p>
        </p:txBody>
      </p:sp>
      <p:sp>
        <p:nvSpPr>
          <p:cNvPr id="1441"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42"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443"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Connection opens DB</a:t>
            </a:r>
            <a:endParaRPr lang="en-US" sz="1750" b="0" u="none" strike="noStrike">
              <a:solidFill>
                <a:srgbClr val="000000"/>
              </a:solidFill>
              <a:effectLst/>
              <a:uFillTx/>
              <a:latin typeface="Arial"/>
            </a:endParaRPr>
          </a:p>
        </p:txBody>
      </p:sp>
      <p:sp>
        <p:nvSpPr>
          <p:cNvPr id="1444"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 passes value safely</a:t>
            </a:r>
            <a:endParaRPr lang="en-US" sz="1750" b="0" u="none" strike="noStrike">
              <a:solidFill>
                <a:srgbClr val="000000"/>
              </a:solidFill>
              <a:effectLst/>
              <a:uFillTx/>
              <a:latin typeface="Arial"/>
            </a:endParaRPr>
          </a:p>
        </p:txBody>
      </p:sp>
      <p:sp>
        <p:nvSpPr>
          <p:cNvPr id="1445"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commit saves inserts</a:t>
            </a:r>
            <a:endParaRPr lang="en-US" sz="1750" b="0" u="none" strike="noStrike">
              <a:solidFill>
                <a:srgbClr val="000000"/>
              </a:solidFill>
              <a:effectLst/>
              <a:uFillTx/>
              <a:latin typeface="Arial"/>
            </a:endParaRPr>
          </a:p>
        </p:txBody>
      </p:sp>
      <p:sp>
        <p:nvSpPr>
          <p:cNvPr id="1446"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47"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448"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Saved</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44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45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45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Python + SQLite: read saved tasks</a:t>
            </a:r>
            <a:endParaRPr lang="en-US" sz="3400" b="0" u="none" strike="noStrike">
              <a:solidFill>
                <a:srgbClr val="000000"/>
              </a:solidFill>
              <a:effectLst/>
              <a:uFillTx/>
              <a:latin typeface="Arial"/>
            </a:endParaRPr>
          </a:p>
        </p:txBody>
      </p:sp>
      <p:sp>
        <p:nvSpPr>
          <p:cNvPr id="145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45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45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092</a:t>
            </a:r>
            <a:endParaRPr lang="en-US" sz="1000" b="0" u="none" strike="noStrike">
              <a:solidFill>
                <a:srgbClr val="000000"/>
              </a:solidFill>
              <a:effectLst/>
              <a:uFillTx/>
              <a:latin typeface="Arial"/>
            </a:endParaRPr>
          </a:p>
        </p:txBody>
      </p:sp>
      <p:sp>
        <p:nvSpPr>
          <p:cNvPr id="1455"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456"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57"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import sqlite3  # Database tools</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db = sqlite3.connect("tasks.db")  # Open DB</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rows = db.execute("SELECT title FROM tasks")</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for row in rows:  # Loop through result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print(row[0])  # Print first column</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db.close()  # Finish</a:t>
            </a:r>
            <a:endParaRPr lang="en-US" sz="1550" b="0" u="none" strike="noStrike">
              <a:solidFill>
                <a:srgbClr val="000000"/>
              </a:solidFill>
              <a:effectLst/>
              <a:uFillTx/>
              <a:latin typeface="Arial"/>
            </a:endParaRPr>
          </a:p>
        </p:txBody>
      </p:sp>
      <p:sp>
        <p:nvSpPr>
          <p:cNvPr id="1458"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9"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460"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SELECT reads saved rows</a:t>
            </a:r>
            <a:endParaRPr lang="en-US" sz="1750" b="0" u="none" strike="noStrike">
              <a:solidFill>
                <a:srgbClr val="000000"/>
              </a:solidFill>
              <a:effectLst/>
              <a:uFillTx/>
              <a:latin typeface="Arial"/>
            </a:endParaRPr>
          </a:p>
        </p:txBody>
      </p:sp>
      <p:sp>
        <p:nvSpPr>
          <p:cNvPr id="1461"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row[0] is title</a:t>
            </a:r>
            <a:endParaRPr lang="en-US" sz="1750" b="0" u="none" strike="noStrike">
              <a:solidFill>
                <a:srgbClr val="000000"/>
              </a:solidFill>
              <a:effectLst/>
              <a:uFillTx/>
              <a:latin typeface="Arial"/>
            </a:endParaRPr>
          </a:p>
        </p:txBody>
      </p:sp>
      <p:sp>
        <p:nvSpPr>
          <p:cNvPr id="1462"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Data is in tasks.db</a:t>
            </a:r>
            <a:endParaRPr lang="en-US" sz="1750" b="0" u="none" strike="noStrike">
              <a:solidFill>
                <a:srgbClr val="000000"/>
              </a:solidFill>
              <a:effectLst/>
              <a:uFillTx/>
              <a:latin typeface="Arial"/>
            </a:endParaRPr>
          </a:p>
        </p:txBody>
      </p:sp>
      <p:sp>
        <p:nvSpPr>
          <p:cNvPr id="1463"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64"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465"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Read</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466"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467"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468"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SQLite practice: update task text</a:t>
            </a:r>
            <a:endParaRPr lang="en-US" sz="3400" b="0" u="none" strike="noStrike">
              <a:solidFill>
                <a:srgbClr val="000000"/>
              </a:solidFill>
              <a:effectLst/>
              <a:uFillTx/>
              <a:latin typeface="Arial"/>
            </a:endParaRPr>
          </a:p>
        </p:txBody>
      </p:sp>
      <p:sp>
        <p:nvSpPr>
          <p:cNvPr id="1469"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470"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YOUR TURN • TRY BEFORE THE ANSWER</a:t>
            </a:r>
            <a:endParaRPr lang="en-US" sz="1000" b="0" u="none" strike="noStrike">
              <a:solidFill>
                <a:srgbClr val="000000"/>
              </a:solidFill>
              <a:effectLst/>
              <a:uFillTx/>
              <a:latin typeface="Arial"/>
            </a:endParaRPr>
          </a:p>
        </p:txBody>
      </p:sp>
      <p:sp>
        <p:nvSpPr>
          <p:cNvPr id="1471"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093</a:t>
            </a:r>
            <a:endParaRPr lang="en-US" sz="1000" b="0" u="none" strike="noStrike">
              <a:solidFill>
                <a:srgbClr val="000000"/>
              </a:solidFill>
              <a:effectLst/>
              <a:uFillTx/>
              <a:latin typeface="Arial"/>
            </a:endParaRPr>
          </a:p>
        </p:txBody>
      </p:sp>
      <p:sp>
        <p:nvSpPr>
          <p:cNvPr id="1472" name="Shape 6"/>
          <p:cNvSpPr/>
          <p:nvPr/>
        </p:nvSpPr>
        <p:spPr>
          <a:xfrm>
            <a:off x="502920" y="1600200"/>
            <a:ext cx="11182680" cy="914040"/>
          </a:xfrm>
          <a:prstGeom prst="roundRect">
            <a:avLst>
              <a:gd name="adj" fmla="val 16000"/>
            </a:avLst>
          </a:prstGeom>
          <a:solidFill>
            <a:srgbClr val="FFF5D6"/>
          </a:solidFill>
          <a:ln w="12700">
            <a:solidFill>
              <a:srgbClr val="F1D69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73" name="Text 7"/>
          <p:cNvSpPr/>
          <p:nvPr/>
        </p:nvSpPr>
        <p:spPr>
          <a:xfrm>
            <a:off x="749880" y="1774080"/>
            <a:ext cx="4297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50" b="1" u="none" strike="noStrike">
                <a:solidFill>
                  <a:srgbClr val="B65C16"/>
                </a:solidFill>
                <a:effectLst/>
                <a:uFillTx/>
                <a:latin typeface="Aptos"/>
                <a:ea typeface="Aptos"/>
              </a:rPr>
              <a:t>STUDENT PRACTICE</a:t>
            </a:r>
            <a:endParaRPr lang="en-US" sz="1750" b="0" u="none" strike="noStrike">
              <a:solidFill>
                <a:srgbClr val="000000"/>
              </a:solidFill>
              <a:effectLst/>
              <a:uFillTx/>
              <a:latin typeface="Arial"/>
            </a:endParaRPr>
          </a:p>
        </p:txBody>
      </p:sp>
      <p:sp>
        <p:nvSpPr>
          <p:cNvPr id="1474" name="Text 8"/>
          <p:cNvSpPr/>
          <p:nvPr/>
        </p:nvSpPr>
        <p:spPr>
          <a:xfrm>
            <a:off x="758880" y="2121480"/>
            <a:ext cx="104695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60" b="1" u="none" strike="noStrike" dirty="0">
                <a:solidFill>
                  <a:srgbClr val="152B42"/>
                </a:solidFill>
                <a:effectLst/>
                <a:uFillTx/>
                <a:latin typeface="Aptos"/>
                <a:ea typeface="Aptos"/>
              </a:rPr>
              <a:t>Update the first task to "</a:t>
            </a:r>
            <a:r>
              <a:rPr lang="en-US" sz="1960" b="1" u="none" strike="noStrike" dirty="0" smtClean="0">
                <a:solidFill>
                  <a:srgbClr val="152B42"/>
                </a:solidFill>
                <a:effectLst/>
                <a:uFillTx/>
                <a:latin typeface="Aptos"/>
                <a:ea typeface="Aptos"/>
              </a:rPr>
              <a:t>Practice</a:t>
            </a:r>
            <a:r>
              <a:rPr lang="en-US" sz="1960" b="1" u="none" strike="noStrike" dirty="0">
                <a:solidFill>
                  <a:srgbClr val="152B42"/>
                </a:solidFill>
                <a:effectLst/>
                <a:uFillTx/>
                <a:latin typeface="Aptos"/>
                <a:ea typeface="Aptos"/>
              </a:rPr>
              <a:t>" and read it.</a:t>
            </a:r>
            <a:endParaRPr lang="en-US" sz="1960" b="0" u="none" strike="noStrike" dirty="0">
              <a:solidFill>
                <a:srgbClr val="000000"/>
              </a:solidFill>
              <a:effectLst/>
              <a:uFillTx/>
              <a:latin typeface="Arial"/>
            </a:endParaRPr>
          </a:p>
        </p:txBody>
      </p:sp>
      <p:sp>
        <p:nvSpPr>
          <p:cNvPr id="1475" name="Shape 9"/>
          <p:cNvSpPr/>
          <p:nvPr/>
        </p:nvSpPr>
        <p:spPr>
          <a:xfrm>
            <a:off x="530280" y="2743200"/>
            <a:ext cx="6903360" cy="3337200"/>
          </a:xfrm>
          <a:prstGeom prst="roundRect">
            <a:avLst>
              <a:gd name="adj" fmla="val 4384"/>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76" name="Text 10"/>
          <p:cNvSpPr/>
          <p:nvPr/>
        </p:nvSpPr>
        <p:spPr>
          <a:xfrm>
            <a:off x="786240" y="2999160"/>
            <a:ext cx="6446160" cy="283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80" b="0" u="none" strike="noStrike">
                <a:solidFill>
                  <a:srgbClr val="ECF4FA"/>
                </a:solidFill>
                <a:effectLst/>
                <a:uFillTx/>
                <a:latin typeface="DejaVu Sans Mono"/>
                <a:ea typeface="DejaVu Sans Mono"/>
              </a:rPr>
              <a:t># db already connected</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db.execute(</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"UPDATE tasks SET title=? WHERE id=?",</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("Practise", 1)</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a:t>
            </a:r>
            <a:endParaRPr lang="en-US" sz="1580" b="0" u="none" strike="noStrike">
              <a:solidFill>
                <a:srgbClr val="000000"/>
              </a:solidFill>
              <a:effectLst/>
              <a:uFillTx/>
              <a:latin typeface="Arial"/>
            </a:endParaRPr>
          </a:p>
          <a:p>
            <a:pPr defTabSz="914400">
              <a:lnSpc>
                <a:spcPct val="100000"/>
              </a:lnSpc>
              <a:tabLst>
                <a:tab pos="0" algn="l"/>
              </a:tabLst>
            </a:pPr>
            <a:r>
              <a:rPr lang="en-US" sz="1580" b="0" u="none" strike="noStrike">
                <a:solidFill>
                  <a:srgbClr val="ECF4FA"/>
                </a:solidFill>
                <a:effectLst/>
                <a:uFillTx/>
                <a:latin typeface="DejaVu Sans Mono"/>
                <a:ea typeface="DejaVu Sans Mono"/>
              </a:rPr>
              <a:t># Save and SELECT again</a:t>
            </a:r>
            <a:endParaRPr lang="en-US" sz="1580" b="0" u="none" strike="noStrike">
              <a:solidFill>
                <a:srgbClr val="000000"/>
              </a:solidFill>
              <a:effectLst/>
              <a:uFillTx/>
              <a:latin typeface="Arial"/>
            </a:endParaRPr>
          </a:p>
        </p:txBody>
      </p:sp>
      <p:sp>
        <p:nvSpPr>
          <p:cNvPr id="1477" name="Shape 11"/>
          <p:cNvSpPr/>
          <p:nvPr/>
        </p:nvSpPr>
        <p:spPr>
          <a:xfrm>
            <a:off x="7644240" y="2743200"/>
            <a:ext cx="4023000" cy="3337200"/>
          </a:xfrm>
          <a:prstGeom prst="roundRect">
            <a:avLst>
              <a:gd name="adj" fmla="val 4384"/>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78" name="Text 12"/>
          <p:cNvSpPr/>
          <p:nvPr/>
        </p:nvSpPr>
        <p:spPr>
          <a:xfrm>
            <a:off x="7946280" y="2990160"/>
            <a:ext cx="3355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008D87"/>
                </a:solidFill>
                <a:effectLst/>
                <a:uFillTx/>
                <a:latin typeface="Aptos"/>
                <a:ea typeface="Aptos"/>
              </a:rPr>
              <a:t>STEPS</a:t>
            </a:r>
            <a:endParaRPr lang="en-US" sz="1800" b="0" u="none" strike="noStrike">
              <a:solidFill>
                <a:srgbClr val="000000"/>
              </a:solidFill>
              <a:effectLst/>
              <a:uFillTx/>
              <a:latin typeface="Arial"/>
            </a:endParaRPr>
          </a:p>
        </p:txBody>
      </p:sp>
      <p:sp>
        <p:nvSpPr>
          <p:cNvPr id="1479" name="Text 13"/>
          <p:cNvSpPr/>
          <p:nvPr/>
        </p:nvSpPr>
        <p:spPr>
          <a:xfrm>
            <a:off x="7936920" y="348372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1. Run after DB creation</a:t>
            </a:r>
            <a:endParaRPr lang="en-US" sz="1820" b="0" u="none" strike="noStrike">
              <a:solidFill>
                <a:srgbClr val="000000"/>
              </a:solidFill>
              <a:effectLst/>
              <a:uFillTx/>
              <a:latin typeface="Arial"/>
            </a:endParaRPr>
          </a:p>
        </p:txBody>
      </p:sp>
      <p:sp>
        <p:nvSpPr>
          <p:cNvPr id="1480" name="Text 14"/>
          <p:cNvSpPr/>
          <p:nvPr/>
        </p:nvSpPr>
        <p:spPr>
          <a:xfrm>
            <a:off x="7936920" y="4060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2. Keep question marks</a:t>
            </a:r>
            <a:endParaRPr lang="en-US" sz="1820" b="0" u="none" strike="noStrike">
              <a:solidFill>
                <a:srgbClr val="000000"/>
              </a:solidFill>
              <a:effectLst/>
              <a:uFillTx/>
              <a:latin typeface="Arial"/>
            </a:endParaRPr>
          </a:p>
        </p:txBody>
      </p:sp>
      <p:sp>
        <p:nvSpPr>
          <p:cNvPr id="1481" name="Text 15"/>
          <p:cNvSpPr/>
          <p:nvPr/>
        </p:nvSpPr>
        <p:spPr>
          <a:xfrm>
            <a:off x="7936920" y="4636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3. Call commit()</a:t>
            </a:r>
            <a:endParaRPr lang="en-US" sz="1820" b="0" u="none" strike="noStrike">
              <a:solidFill>
                <a:srgbClr val="000000"/>
              </a:solidFill>
              <a:effectLst/>
              <a:uFillTx/>
              <a:latin typeface="Arial"/>
            </a:endParaRPr>
          </a:p>
        </p:txBody>
      </p:sp>
      <p:sp>
        <p:nvSpPr>
          <p:cNvPr id="1482" name="Text 16"/>
          <p:cNvSpPr/>
          <p:nvPr/>
        </p:nvSpPr>
        <p:spPr>
          <a:xfrm>
            <a:off x="7936920" y="5212080"/>
            <a:ext cx="33372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20" b="0" u="none" strike="noStrike">
                <a:solidFill>
                  <a:srgbClr val="152B42"/>
                </a:solidFill>
                <a:effectLst/>
                <a:uFillTx/>
                <a:latin typeface="Aptos"/>
                <a:ea typeface="Aptos"/>
              </a:rPr>
              <a:t>4. Read updated title</a:t>
            </a:r>
            <a:endParaRPr lang="en-US" sz="18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483"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484"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485"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SQLite update answer</a:t>
            </a:r>
            <a:endParaRPr lang="en-US" sz="3400" b="0" u="none" strike="noStrike">
              <a:solidFill>
                <a:srgbClr val="000000"/>
              </a:solidFill>
              <a:effectLst/>
              <a:uFillTx/>
              <a:latin typeface="Arial"/>
            </a:endParaRPr>
          </a:p>
        </p:txBody>
      </p:sp>
      <p:sp>
        <p:nvSpPr>
          <p:cNvPr id="1486"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487"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ANSWER • EXPLAIN WHY</a:t>
            </a:r>
            <a:endParaRPr lang="en-US" sz="1000" b="0" u="none" strike="noStrike">
              <a:solidFill>
                <a:srgbClr val="000000"/>
              </a:solidFill>
              <a:effectLst/>
              <a:uFillTx/>
              <a:latin typeface="Arial"/>
            </a:endParaRPr>
          </a:p>
        </p:txBody>
      </p:sp>
      <p:sp>
        <p:nvSpPr>
          <p:cNvPr id="1488"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094</a:t>
            </a:r>
            <a:endParaRPr lang="en-US" sz="1000" b="0" u="none" strike="noStrike">
              <a:solidFill>
                <a:srgbClr val="000000"/>
              </a:solidFill>
              <a:effectLst/>
              <a:uFillTx/>
              <a:latin typeface="Arial"/>
            </a:endParaRPr>
          </a:p>
        </p:txBody>
      </p:sp>
      <p:sp>
        <p:nvSpPr>
          <p:cNvPr id="1489" name="Shape 6"/>
          <p:cNvSpPr/>
          <p:nvPr/>
        </p:nvSpPr>
        <p:spPr>
          <a:xfrm>
            <a:off x="475560" y="1627560"/>
            <a:ext cx="11201040" cy="447840"/>
          </a:xfrm>
          <a:prstGeom prst="roundRect">
            <a:avLst>
              <a:gd name="adj" fmla="val 32653"/>
            </a:avLst>
          </a:prstGeom>
          <a:solidFill>
            <a:srgbClr val="DEF4E5"/>
          </a:solidFill>
          <a:ln w="12700">
            <a:solidFill>
              <a:srgbClr val="DEF4E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90" name="Text 7"/>
          <p:cNvSpPr/>
          <p:nvPr/>
        </p:nvSpPr>
        <p:spPr>
          <a:xfrm>
            <a:off x="768240" y="174636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00" b="1" u="none" strike="noStrike">
                <a:solidFill>
                  <a:srgbClr val="176B46"/>
                </a:solidFill>
                <a:effectLst/>
                <a:uFillTx/>
                <a:latin typeface="Aptos"/>
                <a:ea typeface="Aptos"/>
              </a:rPr>
              <a:t>WORKED ANSWER — COMPARE WITH YOUR CODE</a:t>
            </a:r>
            <a:endParaRPr lang="en-US" sz="1600" b="0" u="none" strike="noStrike">
              <a:solidFill>
                <a:srgbClr val="000000"/>
              </a:solidFill>
              <a:effectLst/>
              <a:uFillTx/>
              <a:latin typeface="Arial"/>
            </a:endParaRPr>
          </a:p>
        </p:txBody>
      </p:sp>
      <p:sp>
        <p:nvSpPr>
          <p:cNvPr id="1491" name="Shape 8"/>
          <p:cNvSpPr/>
          <p:nvPr/>
        </p:nvSpPr>
        <p:spPr>
          <a:xfrm>
            <a:off x="484560" y="2258640"/>
            <a:ext cx="7461000" cy="3785400"/>
          </a:xfrm>
          <a:prstGeom prst="roundRect">
            <a:avLst>
              <a:gd name="adj" fmla="val 3865"/>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92" name="Text 9"/>
          <p:cNvSpPr/>
          <p:nvPr/>
        </p:nvSpPr>
        <p:spPr>
          <a:xfrm>
            <a:off x="731520" y="2487240"/>
            <a:ext cx="6949080" cy="335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620" b="0" u="none" strike="noStrike">
                <a:solidFill>
                  <a:srgbClr val="ECF4FA"/>
                </a:solidFill>
                <a:effectLst/>
                <a:uFillTx/>
                <a:latin typeface="DejaVu Sans Mono"/>
                <a:ea typeface="DejaVu Sans Mono"/>
              </a:rPr>
              <a:t>import sqlite3</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db = sqlite3.connect("tasks.db")</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db.execute("UPDATE tasks SET title=? WHERE id=?",</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("Practise", 1))  # Update safely</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db.commit()  # Save change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row = db.execute("SELECT title FROM tasks WHERE id=?",</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                 (1,)).fetchone()</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print(row[0] if row else "Not found")</a:t>
            </a:r>
            <a:endParaRPr lang="en-US" sz="1620" b="0" u="none" strike="noStrike">
              <a:solidFill>
                <a:srgbClr val="000000"/>
              </a:solidFill>
              <a:effectLst/>
              <a:uFillTx/>
              <a:latin typeface="Arial"/>
            </a:endParaRPr>
          </a:p>
          <a:p>
            <a:pPr defTabSz="914400">
              <a:lnSpc>
                <a:spcPct val="100000"/>
              </a:lnSpc>
              <a:tabLst>
                <a:tab pos="0" algn="l"/>
              </a:tabLst>
            </a:pPr>
            <a:r>
              <a:rPr lang="en-US" sz="1620" b="0" u="none" strike="noStrike">
                <a:solidFill>
                  <a:srgbClr val="ECF4FA"/>
                </a:solidFill>
                <a:effectLst/>
                <a:uFillTx/>
                <a:latin typeface="DejaVu Sans Mono"/>
                <a:ea typeface="DejaVu Sans Mono"/>
              </a:rPr>
              <a:t>db.close()</a:t>
            </a:r>
            <a:endParaRPr lang="en-US" sz="1620" b="0" u="none" strike="noStrike">
              <a:solidFill>
                <a:srgbClr val="000000"/>
              </a:solidFill>
              <a:effectLst/>
              <a:uFillTx/>
              <a:latin typeface="Arial"/>
            </a:endParaRPr>
          </a:p>
        </p:txBody>
      </p:sp>
      <p:sp>
        <p:nvSpPr>
          <p:cNvPr id="1493" name="Shape 10"/>
          <p:cNvSpPr/>
          <p:nvPr/>
        </p:nvSpPr>
        <p:spPr>
          <a:xfrm>
            <a:off x="8165520" y="2258640"/>
            <a:ext cx="3529080" cy="1416960"/>
          </a:xfrm>
          <a:prstGeom prst="roundRect">
            <a:avLst>
              <a:gd name="adj" fmla="val 10323"/>
            </a:avLst>
          </a:prstGeom>
          <a:solidFill>
            <a:srgbClr val="DCF6EF"/>
          </a:solidFill>
          <a:ln w="12700">
            <a:solidFill>
              <a:srgbClr val="DC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94" name="Text 11"/>
          <p:cNvSpPr/>
          <p:nvPr/>
        </p:nvSpPr>
        <p:spPr>
          <a:xfrm>
            <a:off x="8394120" y="2496240"/>
            <a:ext cx="306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008D87"/>
                </a:solidFill>
                <a:effectLst/>
                <a:uFillTx/>
                <a:latin typeface="Aptos"/>
                <a:ea typeface="Aptos"/>
              </a:rPr>
              <a:t>OUTPUT</a:t>
            </a:r>
            <a:endParaRPr lang="en-US" sz="1400" b="0" u="none" strike="noStrike">
              <a:solidFill>
                <a:srgbClr val="000000"/>
              </a:solidFill>
              <a:effectLst/>
              <a:uFillTx/>
              <a:latin typeface="Arial"/>
            </a:endParaRPr>
          </a:p>
        </p:txBody>
      </p:sp>
      <p:sp>
        <p:nvSpPr>
          <p:cNvPr id="1495" name="Text 12"/>
          <p:cNvSpPr/>
          <p:nvPr/>
        </p:nvSpPr>
        <p:spPr>
          <a:xfrm>
            <a:off x="8385120" y="2917080"/>
            <a:ext cx="30812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52B42"/>
                </a:solidFill>
                <a:effectLst/>
                <a:uFillTx/>
                <a:latin typeface="DejaVu Sans Mono"/>
                <a:ea typeface="DejaVu Sans Mono"/>
              </a:rPr>
              <a:t>Practise</a:t>
            </a:r>
            <a:endParaRPr lang="en-US" sz="1600" b="0" u="none" strike="noStrike">
              <a:solidFill>
                <a:srgbClr val="000000"/>
              </a:solidFill>
              <a:effectLst/>
              <a:uFillTx/>
              <a:latin typeface="Arial"/>
            </a:endParaRPr>
          </a:p>
        </p:txBody>
      </p:sp>
      <p:sp>
        <p:nvSpPr>
          <p:cNvPr id="1496" name="Text 13"/>
          <p:cNvSpPr/>
          <p:nvPr/>
        </p:nvSpPr>
        <p:spPr>
          <a:xfrm>
            <a:off x="8247960" y="4014360"/>
            <a:ext cx="3081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008D87"/>
                </a:solidFill>
                <a:effectLst/>
                <a:uFillTx/>
                <a:latin typeface="Aptos"/>
                <a:ea typeface="Aptos"/>
              </a:rPr>
              <a:t>WHY IT WORKS</a:t>
            </a:r>
            <a:endParaRPr lang="en-US" sz="1600" b="0" u="none" strike="noStrike">
              <a:solidFill>
                <a:srgbClr val="000000"/>
              </a:solidFill>
              <a:effectLst/>
              <a:uFillTx/>
              <a:latin typeface="Arial"/>
            </a:endParaRPr>
          </a:p>
        </p:txBody>
      </p:sp>
      <p:sp>
        <p:nvSpPr>
          <p:cNvPr id="1497" name="Text 14"/>
          <p:cNvSpPr/>
          <p:nvPr/>
        </p:nvSpPr>
        <p:spPr>
          <a:xfrm>
            <a:off x="8247960" y="4489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679" b="0" u="none" strike="noStrike">
                <a:solidFill>
                  <a:srgbClr val="152B42"/>
                </a:solidFill>
                <a:effectLst/>
                <a:uFillTx/>
                <a:latin typeface="Aptos"/>
                <a:ea typeface="Aptos"/>
              </a:rPr>
              <a:t>• Use parameters, not f-strings</a:t>
            </a:r>
            <a:endParaRPr lang="en-US" sz="1679" b="0" u="none" strike="noStrike">
              <a:solidFill>
                <a:srgbClr val="000000"/>
              </a:solidFill>
              <a:effectLst/>
              <a:uFillTx/>
              <a:latin typeface="Arial"/>
            </a:endParaRPr>
          </a:p>
        </p:txBody>
      </p:sp>
      <p:sp>
        <p:nvSpPr>
          <p:cNvPr id="1498" name="Text 15"/>
          <p:cNvSpPr/>
          <p:nvPr/>
        </p:nvSpPr>
        <p:spPr>
          <a:xfrm>
            <a:off x="8247960" y="5047560"/>
            <a:ext cx="3062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79" b="0" u="none" strike="noStrike">
                <a:solidFill>
                  <a:srgbClr val="152B42"/>
                </a:solidFill>
                <a:effectLst/>
                <a:uFillTx/>
                <a:latin typeface="Aptos"/>
                <a:ea typeface="Aptos"/>
              </a:rPr>
              <a:t>• Use WHERE with an ID</a:t>
            </a:r>
            <a:endParaRPr lang="en-US" sz="1679"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49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50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CRUD &amp; SQL</a:t>
            </a:r>
            <a:endParaRPr lang="en-US" sz="1250" b="0" u="none" strike="noStrike">
              <a:solidFill>
                <a:srgbClr val="000000"/>
              </a:solidFill>
              <a:effectLst/>
              <a:uFillTx/>
              <a:latin typeface="Arial"/>
            </a:endParaRPr>
          </a:p>
        </p:txBody>
      </p:sp>
      <p:sp>
        <p:nvSpPr>
          <p:cNvPr id="150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SQL safety: placeholders instead of strings</a:t>
            </a:r>
            <a:endParaRPr lang="en-US" sz="3400" b="0" u="none" strike="noStrike">
              <a:solidFill>
                <a:srgbClr val="000000"/>
              </a:solidFill>
              <a:effectLst/>
              <a:uFillTx/>
              <a:latin typeface="Arial"/>
            </a:endParaRPr>
          </a:p>
        </p:txBody>
      </p:sp>
      <p:sp>
        <p:nvSpPr>
          <p:cNvPr id="150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50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50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095</a:t>
            </a:r>
            <a:endParaRPr lang="en-US" sz="1000" b="0" u="none" strike="noStrike">
              <a:solidFill>
                <a:srgbClr val="000000"/>
              </a:solidFill>
              <a:effectLst/>
              <a:uFillTx/>
              <a:latin typeface="Arial"/>
            </a:endParaRPr>
          </a:p>
        </p:txBody>
      </p:sp>
      <p:sp>
        <p:nvSpPr>
          <p:cNvPr id="1505"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06"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507"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Parameterized queries keep user input separate from SQL commands.</a:t>
            </a:r>
            <a:endParaRPr lang="en-US" sz="2250" b="0" u="none" strike="noStrike">
              <a:solidFill>
                <a:srgbClr val="000000"/>
              </a:solidFill>
              <a:effectLst/>
              <a:uFillTx/>
              <a:latin typeface="Arial"/>
            </a:endParaRPr>
          </a:p>
        </p:txBody>
      </p:sp>
      <p:sp>
        <p:nvSpPr>
          <p:cNvPr id="1508"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09"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 placeholders in sqlite3 queries</a:t>
            </a:r>
            <a:endParaRPr lang="en-US" sz="2100" b="0" u="none" strike="noStrike">
              <a:solidFill>
                <a:srgbClr val="000000"/>
              </a:solidFill>
              <a:effectLst/>
              <a:uFillTx/>
              <a:latin typeface="Arial"/>
            </a:endParaRPr>
          </a:p>
        </p:txBody>
      </p:sp>
      <p:sp>
        <p:nvSpPr>
          <p:cNvPr id="1510"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11"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Pass values in a tuple</a:t>
            </a:r>
            <a:endParaRPr lang="en-US" sz="2100" b="0" u="none" strike="noStrike">
              <a:solidFill>
                <a:srgbClr val="000000"/>
              </a:solidFill>
              <a:effectLst/>
              <a:uFillTx/>
              <a:latin typeface="Arial"/>
            </a:endParaRPr>
          </a:p>
        </p:txBody>
      </p:sp>
      <p:sp>
        <p:nvSpPr>
          <p:cNvPr id="1512"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13"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Do not build SQL by joining user input</a:t>
            </a:r>
            <a:endParaRPr lang="en-US" sz="2100" b="0" u="none" strike="noStrike">
              <a:solidFill>
                <a:srgbClr val="000000"/>
              </a:solidFill>
              <a:effectLst/>
              <a:uFillTx/>
              <a:latin typeface="Arial"/>
            </a:endParaRPr>
          </a:p>
        </p:txBody>
      </p:sp>
      <p:sp>
        <p:nvSpPr>
          <p:cNvPr id="1514"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15"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This protects against SQL injection</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1516"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17"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TESTING</a:t>
            </a:r>
            <a:endParaRPr lang="en-US" sz="1700" b="0" u="none" strike="noStrike">
              <a:solidFill>
                <a:srgbClr val="FFFFFF"/>
              </a:solidFill>
              <a:effectLst/>
              <a:uFillTx/>
              <a:latin typeface="Arial"/>
            </a:endParaRPr>
          </a:p>
        </p:txBody>
      </p:sp>
      <p:sp>
        <p:nvSpPr>
          <p:cNvPr id="1518"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Check that Your Code Works</a:t>
            </a:r>
            <a:endParaRPr lang="en-US" sz="4500" b="0" u="none" strike="noStrike">
              <a:solidFill>
                <a:srgbClr val="FFFFFF"/>
              </a:solidFill>
              <a:effectLst/>
              <a:uFillTx/>
              <a:latin typeface="Arial"/>
            </a:endParaRPr>
          </a:p>
        </p:txBody>
      </p:sp>
      <p:sp>
        <p:nvSpPr>
          <p:cNvPr id="1519"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Test a simple function before building larger apps.</a:t>
            </a:r>
            <a:endParaRPr lang="en-US" sz="2400" b="0" u="none" strike="noStrike">
              <a:solidFill>
                <a:srgbClr val="FFFFFF"/>
              </a:solidFill>
              <a:effectLst/>
              <a:uFillTx/>
              <a:latin typeface="Arial"/>
            </a:endParaRPr>
          </a:p>
        </p:txBody>
      </p:sp>
      <p:sp>
        <p:nvSpPr>
          <p:cNvPr id="1520"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52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52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TESTING</a:t>
            </a:r>
            <a:endParaRPr lang="en-US" sz="1250" b="0" u="none" strike="noStrike">
              <a:solidFill>
                <a:srgbClr val="000000"/>
              </a:solidFill>
              <a:effectLst/>
              <a:uFillTx/>
              <a:latin typeface="Arial"/>
            </a:endParaRPr>
          </a:p>
        </p:txBody>
      </p:sp>
      <p:sp>
        <p:nvSpPr>
          <p:cNvPr id="152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is a software test?</a:t>
            </a:r>
            <a:endParaRPr lang="en-US" sz="3400" b="0" u="none" strike="noStrike">
              <a:solidFill>
                <a:srgbClr val="000000"/>
              </a:solidFill>
              <a:effectLst/>
              <a:uFillTx/>
              <a:latin typeface="Arial"/>
            </a:endParaRPr>
          </a:p>
        </p:txBody>
      </p:sp>
      <p:sp>
        <p:nvSpPr>
          <p:cNvPr id="152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52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52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097</a:t>
            </a:r>
            <a:endParaRPr lang="en-US" sz="1000" b="0" u="none" strike="noStrike">
              <a:solidFill>
                <a:srgbClr val="000000"/>
              </a:solidFill>
              <a:effectLst/>
              <a:uFillTx/>
              <a:latin typeface="Arial"/>
            </a:endParaRPr>
          </a:p>
        </p:txBody>
      </p:sp>
      <p:sp>
        <p:nvSpPr>
          <p:cNvPr id="1527"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28"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529"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A test checks whether code gives the expected result.</a:t>
            </a:r>
            <a:endParaRPr lang="en-US" sz="2250" b="0" u="none" strike="noStrike">
              <a:solidFill>
                <a:srgbClr val="000000"/>
              </a:solidFill>
              <a:effectLst/>
              <a:uFillTx/>
              <a:latin typeface="Arial"/>
            </a:endParaRPr>
          </a:p>
        </p:txBody>
      </p:sp>
      <p:sp>
        <p:nvSpPr>
          <p:cNvPr id="1530"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31"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Normal case: ordinary input</a:t>
            </a:r>
            <a:endParaRPr lang="en-US" sz="2100" b="0" u="none" strike="noStrike">
              <a:solidFill>
                <a:srgbClr val="000000"/>
              </a:solidFill>
              <a:effectLst/>
              <a:uFillTx/>
              <a:latin typeface="Arial"/>
            </a:endParaRPr>
          </a:p>
        </p:txBody>
      </p:sp>
      <p:sp>
        <p:nvSpPr>
          <p:cNvPr id="1532"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33"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Edge case: boundary input</a:t>
            </a:r>
            <a:endParaRPr lang="en-US" sz="2100" b="0" u="none" strike="noStrike">
              <a:solidFill>
                <a:srgbClr val="000000"/>
              </a:solidFill>
              <a:effectLst/>
              <a:uFillTx/>
              <a:latin typeface="Arial"/>
            </a:endParaRPr>
          </a:p>
        </p:txBody>
      </p:sp>
      <p:sp>
        <p:nvSpPr>
          <p:cNvPr id="1534"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35"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Invalid case: input that should be rejected</a:t>
            </a:r>
            <a:endParaRPr lang="en-US" sz="2100" b="0" u="none" strike="noStrike">
              <a:solidFill>
                <a:srgbClr val="000000"/>
              </a:solidFill>
              <a:effectLst/>
              <a:uFillTx/>
              <a:latin typeface="Arial"/>
            </a:endParaRPr>
          </a:p>
        </p:txBody>
      </p:sp>
      <p:sp>
        <p:nvSpPr>
          <p:cNvPr id="1536"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37"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Start by testing simple pure functions</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53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53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TESTING</a:t>
            </a:r>
            <a:endParaRPr lang="en-US" sz="1250" b="0" u="none" strike="noStrike">
              <a:solidFill>
                <a:srgbClr val="000000"/>
              </a:solidFill>
              <a:effectLst/>
              <a:uFillTx/>
              <a:latin typeface="Arial"/>
            </a:endParaRPr>
          </a:p>
        </p:txBody>
      </p:sp>
      <p:sp>
        <p:nvSpPr>
          <p:cNvPr id="154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Python assert: one simple test</a:t>
            </a:r>
            <a:endParaRPr lang="en-US" sz="3400" b="0" u="none" strike="noStrike">
              <a:solidFill>
                <a:srgbClr val="000000"/>
              </a:solidFill>
              <a:effectLst/>
              <a:uFillTx/>
              <a:latin typeface="Arial"/>
            </a:endParaRPr>
          </a:p>
        </p:txBody>
      </p:sp>
      <p:sp>
        <p:nvSpPr>
          <p:cNvPr id="154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54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54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098</a:t>
            </a:r>
            <a:endParaRPr lang="en-US" sz="1000" b="0" u="none" strike="noStrike">
              <a:solidFill>
                <a:srgbClr val="000000"/>
              </a:solidFill>
              <a:effectLst/>
              <a:uFillTx/>
              <a:latin typeface="Arial"/>
            </a:endParaRPr>
          </a:p>
        </p:txBody>
      </p:sp>
      <p:sp>
        <p:nvSpPr>
          <p:cNvPr id="1544"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545"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46"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def add(a, b):  # Function to test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return a + b  # Return sum</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assert add(2, 3) == 5  # Check answer</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print("Test passed")  # No error</a:t>
            </a:r>
            <a:endParaRPr lang="en-US" sz="1550" b="0" u="none" strike="noStrike">
              <a:solidFill>
                <a:srgbClr val="000000"/>
              </a:solidFill>
              <a:effectLst/>
              <a:uFillTx/>
              <a:latin typeface="Arial"/>
            </a:endParaRPr>
          </a:p>
        </p:txBody>
      </p:sp>
      <p:sp>
        <p:nvSpPr>
          <p:cNvPr id="1547"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48"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549"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assert verifies condition</a:t>
            </a:r>
            <a:endParaRPr lang="en-US" sz="1750" b="0" u="none" strike="noStrike">
              <a:solidFill>
                <a:srgbClr val="000000"/>
              </a:solidFill>
              <a:effectLst/>
              <a:uFillTx/>
              <a:latin typeface="Arial"/>
            </a:endParaRPr>
          </a:p>
        </p:txBody>
      </p:sp>
      <p:sp>
        <p:nvSpPr>
          <p:cNvPr id="1550"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750" b="0" u="none" strike="noStrike">
                <a:solidFill>
                  <a:srgbClr val="152B42"/>
                </a:solidFill>
                <a:effectLst/>
                <a:uFillTx/>
                <a:latin typeface="Aptos"/>
                <a:ea typeface="Aptos"/>
              </a:rPr>
              <a:t>• If false, it raises AssertionError</a:t>
            </a:r>
            <a:endParaRPr lang="en-US" sz="1750" b="0" u="none" strike="noStrike">
              <a:solidFill>
                <a:srgbClr val="000000"/>
              </a:solidFill>
              <a:effectLst/>
              <a:uFillTx/>
              <a:latin typeface="Arial"/>
            </a:endParaRPr>
          </a:p>
        </p:txBody>
      </p:sp>
      <p:sp>
        <p:nvSpPr>
          <p:cNvPr id="1551"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Great for quick checks</a:t>
            </a:r>
            <a:endParaRPr lang="en-US" sz="1750" b="0" u="none" strike="noStrike">
              <a:solidFill>
                <a:srgbClr val="000000"/>
              </a:solidFill>
              <a:effectLst/>
              <a:uFillTx/>
              <a:latin typeface="Arial"/>
            </a:endParaRPr>
          </a:p>
        </p:txBody>
      </p:sp>
      <p:sp>
        <p:nvSpPr>
          <p:cNvPr id="1552"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53"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554"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Test passed</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55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55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TESTING</a:t>
            </a:r>
            <a:endParaRPr lang="en-US" sz="1250" b="0" u="none" strike="noStrike">
              <a:solidFill>
                <a:srgbClr val="000000"/>
              </a:solidFill>
              <a:effectLst/>
              <a:uFillTx/>
              <a:latin typeface="Arial"/>
            </a:endParaRPr>
          </a:p>
        </p:txBody>
      </p:sp>
      <p:sp>
        <p:nvSpPr>
          <p:cNvPr id="155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pytest: test functions automatically</a:t>
            </a:r>
            <a:endParaRPr lang="en-US" sz="3400" b="0" u="none" strike="noStrike">
              <a:solidFill>
                <a:srgbClr val="000000"/>
              </a:solidFill>
              <a:effectLst/>
              <a:uFillTx/>
              <a:latin typeface="Arial"/>
            </a:endParaRPr>
          </a:p>
        </p:txBody>
      </p:sp>
      <p:sp>
        <p:nvSpPr>
          <p:cNvPr id="155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55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56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099</a:t>
            </a:r>
            <a:endParaRPr lang="en-US" sz="1000" b="0" u="none" strike="noStrike">
              <a:solidFill>
                <a:srgbClr val="000000"/>
              </a:solidFill>
              <a:effectLst/>
              <a:uFillTx/>
              <a:latin typeface="Arial"/>
            </a:endParaRPr>
          </a:p>
        </p:txBody>
      </p:sp>
      <p:sp>
        <p:nvSpPr>
          <p:cNvPr id="1561"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62"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563"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pytest is a tool that finds and runs test functions.</a:t>
            </a:r>
            <a:endParaRPr lang="en-US" sz="2250" b="0" u="none" strike="noStrike">
              <a:solidFill>
                <a:srgbClr val="000000"/>
              </a:solidFill>
              <a:effectLst/>
              <a:uFillTx/>
              <a:latin typeface="Arial"/>
            </a:endParaRPr>
          </a:p>
        </p:txBody>
      </p:sp>
      <p:sp>
        <p:nvSpPr>
          <p:cNvPr id="1564"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65"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Test files often start with test_</a:t>
            </a:r>
            <a:endParaRPr lang="en-US" sz="2100" b="0" u="none" strike="noStrike">
              <a:solidFill>
                <a:srgbClr val="000000"/>
              </a:solidFill>
              <a:effectLst/>
              <a:uFillTx/>
              <a:latin typeface="Arial"/>
            </a:endParaRPr>
          </a:p>
        </p:txBody>
      </p:sp>
      <p:sp>
        <p:nvSpPr>
          <p:cNvPr id="1566"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67"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Test functions start with test_</a:t>
            </a:r>
            <a:endParaRPr lang="en-US" sz="2100" b="0" u="none" strike="noStrike">
              <a:solidFill>
                <a:srgbClr val="000000"/>
              </a:solidFill>
              <a:effectLst/>
              <a:uFillTx/>
              <a:latin typeface="Arial"/>
            </a:endParaRPr>
          </a:p>
        </p:txBody>
      </p:sp>
      <p:sp>
        <p:nvSpPr>
          <p:cNvPr id="1568"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69"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Use assert to describe the expected result</a:t>
            </a:r>
            <a:endParaRPr lang="en-US" sz="2100" b="0" u="none" strike="noStrike">
              <a:solidFill>
                <a:srgbClr val="000000"/>
              </a:solidFill>
              <a:effectLst/>
              <a:uFillTx/>
              <a:latin typeface="Arial"/>
            </a:endParaRPr>
          </a:p>
        </p:txBody>
      </p:sp>
      <p:sp>
        <p:nvSpPr>
          <p:cNvPr id="1570"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71"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Install pytest when the environment needs it</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0624" y="274320"/>
            <a:ext cx="8229600" cy="292608"/>
          </a:xfrm>
          <a:prstGeom prst="rect">
            <a:avLst/>
          </a:prstGeom>
          <a:noFill/>
        </p:spPr>
        <p:txBody>
          <a:bodyPr wrap="square" lIns="27432" tIns="27432" rIns="27432" bIns="27432">
            <a:spAutoFit/>
          </a:bodyPr>
          <a:lstStyle/>
          <a:p>
            <a:pPr>
              <a:defRPr sz="1500" b="1">
                <a:solidFill>
                  <a:srgbClr val="007F79"/>
                </a:solidFill>
                <a:latin typeface="Aptos"/>
              </a:defRPr>
            </a:pPr>
            <a:r>
              <a:t>TESTING</a:t>
            </a:r>
          </a:p>
        </p:txBody>
      </p:sp>
      <p:sp>
        <p:nvSpPr>
          <p:cNvPr id="5" name="Rounded Rectangle 4"/>
          <p:cNvSpPr/>
          <p:nvPr/>
        </p:nvSpPr>
        <p:spPr>
          <a:xfrm>
            <a:off x="10195560" y="274320"/>
            <a:ext cx="1417320" cy="310896"/>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59568" y="310896"/>
            <a:ext cx="1298448" cy="219456"/>
          </a:xfrm>
          <a:prstGeom prst="rect">
            <a:avLst/>
          </a:prstGeom>
          <a:noFill/>
        </p:spPr>
        <p:txBody>
          <a:bodyPr wrap="square" lIns="27432" tIns="27432" rIns="27432" bIns="27432">
            <a:spAutoFit/>
          </a:bodyPr>
          <a:lstStyle/>
          <a:p>
            <a:pPr algn="ctr">
              <a:defRPr sz="1100" b="1">
                <a:solidFill>
                  <a:srgbClr val="007F79"/>
                </a:solidFill>
                <a:latin typeface="Aptos"/>
              </a:defRPr>
            </a:pPr>
            <a:r>
              <a:t>CORE</a:t>
            </a:r>
          </a:p>
        </p:txBody>
      </p:sp>
      <p:sp>
        <p:nvSpPr>
          <p:cNvPr id="7" name="TextBox 6"/>
          <p:cNvSpPr txBox="1"/>
          <p:nvPr/>
        </p:nvSpPr>
        <p:spPr>
          <a:xfrm>
            <a:off x="420624" y="731520"/>
            <a:ext cx="11292840" cy="640080"/>
          </a:xfrm>
          <a:prstGeom prst="rect">
            <a:avLst/>
          </a:prstGeom>
          <a:noFill/>
        </p:spPr>
        <p:txBody>
          <a:bodyPr wrap="square" lIns="27432" tIns="27432" rIns="27432" bIns="27432">
            <a:spAutoFit/>
          </a:bodyPr>
          <a:lstStyle/>
          <a:p>
            <a:pPr>
              <a:defRPr sz="3700" b="1">
                <a:solidFill>
                  <a:srgbClr val="15293F"/>
                </a:solidFill>
                <a:latin typeface="Aptos"/>
              </a:defRPr>
            </a:pPr>
            <a:r>
              <a:t>What Is a Test?</a:t>
            </a:r>
          </a:p>
        </p:txBody>
      </p:sp>
      <p:sp>
        <p:nvSpPr>
          <p:cNvPr id="8" name="Rectangle 7"/>
          <p:cNvSpPr/>
          <p:nvPr/>
        </p:nvSpPr>
        <p:spPr>
          <a:xfrm>
            <a:off x="420624" y="1417320"/>
            <a:ext cx="11338560" cy="22860"/>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0624" y="6547104"/>
            <a:ext cx="11338560" cy="12801"/>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 y="6583680"/>
            <a:ext cx="7315200" cy="164592"/>
          </a:xfrm>
          <a:prstGeom prst="rect">
            <a:avLst/>
          </a:prstGeom>
          <a:noFill/>
        </p:spPr>
        <p:txBody>
          <a:bodyPr wrap="square" lIns="27432" tIns="27432" rIns="27432" bIns="27432">
            <a:spAutoFit/>
          </a:bodyPr>
          <a:lstStyle/>
          <a:p>
            <a:pPr>
              <a:defRPr sz="1000" b="0">
                <a:solidFill>
                  <a:srgbClr val="516274"/>
                </a:solidFill>
                <a:latin typeface="Aptos"/>
              </a:defRPr>
            </a:pPr>
            <a:r>
              <a:t>AI ENGINEERING  /  DAY 2  /  STEP-BY-STEP</a:t>
            </a:r>
          </a:p>
        </p:txBody>
      </p:sp>
      <p:sp>
        <p:nvSpPr>
          <p:cNvPr id="11" name="TextBox 10"/>
          <p:cNvSpPr txBox="1"/>
          <p:nvPr/>
        </p:nvSpPr>
        <p:spPr>
          <a:xfrm>
            <a:off x="10972800" y="6583680"/>
            <a:ext cx="749808" cy="164592"/>
          </a:xfrm>
          <a:prstGeom prst="rect">
            <a:avLst/>
          </a:prstGeom>
          <a:noFill/>
        </p:spPr>
        <p:txBody>
          <a:bodyPr wrap="square" lIns="27432" tIns="27432" rIns="27432" bIns="27432">
            <a:spAutoFit/>
          </a:bodyPr>
          <a:lstStyle/>
          <a:p>
            <a:r>
              <a:t>084 / 128</a:t>
            </a:r>
          </a:p>
        </p:txBody>
      </p:sp>
      <p:sp>
        <p:nvSpPr>
          <p:cNvPr id="12" name="Rounded Rectangle 11"/>
          <p:cNvSpPr/>
          <p:nvPr/>
        </p:nvSpPr>
        <p:spPr>
          <a:xfrm>
            <a:off x="521207" y="1627632"/>
            <a:ext cx="11109960" cy="1097280"/>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1746504"/>
            <a:ext cx="2743200" cy="256032"/>
          </a:xfrm>
          <a:prstGeom prst="rect">
            <a:avLst/>
          </a:prstGeom>
          <a:noFill/>
        </p:spPr>
        <p:txBody>
          <a:bodyPr wrap="square" lIns="27432" tIns="27432" rIns="27432" bIns="27432">
            <a:spAutoFit/>
          </a:bodyPr>
          <a:lstStyle/>
          <a:p>
            <a:pPr>
              <a:defRPr sz="1500" b="1">
                <a:solidFill>
                  <a:srgbClr val="007F79"/>
                </a:solidFill>
                <a:latin typeface="Aptos"/>
              </a:defRPr>
            </a:pPr>
            <a:r>
              <a:t>DEFINITION / BIG IDEA</a:t>
            </a:r>
          </a:p>
        </p:txBody>
      </p:sp>
      <p:sp>
        <p:nvSpPr>
          <p:cNvPr id="14" name="TextBox 13"/>
          <p:cNvSpPr txBox="1"/>
          <p:nvPr/>
        </p:nvSpPr>
        <p:spPr>
          <a:xfrm>
            <a:off x="758952" y="2103120"/>
            <a:ext cx="10469880" cy="420624"/>
          </a:xfrm>
          <a:prstGeom prst="rect">
            <a:avLst/>
          </a:prstGeom>
          <a:noFill/>
        </p:spPr>
        <p:txBody>
          <a:bodyPr wrap="square" lIns="27432" tIns="27432" rIns="27432" bIns="27432">
            <a:spAutoFit/>
          </a:bodyPr>
          <a:lstStyle/>
          <a:p>
            <a:pPr>
              <a:defRPr sz="2300" b="1">
                <a:solidFill>
                  <a:srgbClr val="15293F"/>
                </a:solidFill>
                <a:latin typeface="Aptos"/>
              </a:defRPr>
            </a:pPr>
            <a:r>
              <a:t>A test automatically checks whether code produces the expected result.</a:t>
            </a:r>
          </a:p>
        </p:txBody>
      </p:sp>
      <p:sp>
        <p:nvSpPr>
          <p:cNvPr id="15" name="Rectangle 14"/>
          <p:cNvSpPr/>
          <p:nvPr/>
        </p:nvSpPr>
        <p:spPr>
          <a:xfrm>
            <a:off x="658368" y="3218688"/>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3072384"/>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Normal case: ordinary input (e.g., marks = 70).</a:t>
            </a:r>
          </a:p>
        </p:txBody>
      </p:sp>
      <p:sp>
        <p:nvSpPr>
          <p:cNvPr id="17" name="Rectangle 16"/>
          <p:cNvSpPr/>
          <p:nvPr/>
        </p:nvSpPr>
        <p:spPr>
          <a:xfrm>
            <a:off x="658368" y="3886200"/>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3739896"/>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Edge case: boundary input (marks = 50).</a:t>
            </a:r>
          </a:p>
        </p:txBody>
      </p:sp>
      <p:sp>
        <p:nvSpPr>
          <p:cNvPr id="19" name="Rectangle 18"/>
          <p:cNvSpPr/>
          <p:nvPr/>
        </p:nvSpPr>
        <p:spPr>
          <a:xfrm>
            <a:off x="658368" y="4553712"/>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 y="4407408"/>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Invalid input: a value that should be rejected.</a:t>
            </a:r>
          </a:p>
        </p:txBody>
      </p:sp>
      <p:sp>
        <p:nvSpPr>
          <p:cNvPr id="21" name="Rectangle 20"/>
          <p:cNvSpPr/>
          <p:nvPr/>
        </p:nvSpPr>
        <p:spPr>
          <a:xfrm>
            <a:off x="658368" y="5221224"/>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5074920"/>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Arrange → Act → Assert is a simple test structure.</a:t>
            </a:r>
          </a:p>
        </p:txBody>
      </p:sp>
    </p:spTree>
    <p:extLst>
      <p:ext uri="{BB962C8B-B14F-4D97-AF65-F5344CB8AC3E}">
        <p14:creationId xmlns:p14="http://schemas.microsoft.com/office/powerpoint/2010/main" val="273859579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0624" y="274320"/>
            <a:ext cx="8229600" cy="292608"/>
          </a:xfrm>
          <a:prstGeom prst="rect">
            <a:avLst/>
          </a:prstGeom>
          <a:noFill/>
        </p:spPr>
        <p:txBody>
          <a:bodyPr wrap="square" lIns="27432" tIns="27432" rIns="27432" bIns="27432">
            <a:spAutoFit/>
          </a:bodyPr>
          <a:lstStyle/>
          <a:p>
            <a:pPr>
              <a:defRPr sz="1500" b="1">
                <a:solidFill>
                  <a:srgbClr val="007F79"/>
                </a:solidFill>
                <a:latin typeface="Aptos"/>
              </a:defRPr>
            </a:pPr>
            <a:r>
              <a:t>TESTING</a:t>
            </a:r>
          </a:p>
        </p:txBody>
      </p:sp>
      <p:sp>
        <p:nvSpPr>
          <p:cNvPr id="5" name="Rounded Rectangle 4"/>
          <p:cNvSpPr/>
          <p:nvPr/>
        </p:nvSpPr>
        <p:spPr>
          <a:xfrm>
            <a:off x="10195560" y="274320"/>
            <a:ext cx="1417320" cy="310896"/>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59568" y="310896"/>
            <a:ext cx="1298448" cy="219456"/>
          </a:xfrm>
          <a:prstGeom prst="rect">
            <a:avLst/>
          </a:prstGeom>
          <a:noFill/>
        </p:spPr>
        <p:txBody>
          <a:bodyPr wrap="square" lIns="27432" tIns="27432" rIns="27432" bIns="27432">
            <a:spAutoFit/>
          </a:bodyPr>
          <a:lstStyle/>
          <a:p>
            <a:pPr algn="ctr">
              <a:defRPr sz="1100" b="1">
                <a:solidFill>
                  <a:srgbClr val="007F79"/>
                </a:solidFill>
                <a:latin typeface="Aptos"/>
              </a:defRPr>
            </a:pPr>
            <a:r>
              <a:t>CORE</a:t>
            </a:r>
          </a:p>
        </p:txBody>
      </p:sp>
      <p:sp>
        <p:nvSpPr>
          <p:cNvPr id="7" name="TextBox 6"/>
          <p:cNvSpPr txBox="1"/>
          <p:nvPr/>
        </p:nvSpPr>
        <p:spPr>
          <a:xfrm>
            <a:off x="420624" y="731520"/>
            <a:ext cx="11292840" cy="640080"/>
          </a:xfrm>
          <a:prstGeom prst="rect">
            <a:avLst/>
          </a:prstGeom>
          <a:noFill/>
        </p:spPr>
        <p:txBody>
          <a:bodyPr wrap="square" lIns="27432" tIns="27432" rIns="27432" bIns="27432">
            <a:spAutoFit/>
          </a:bodyPr>
          <a:lstStyle/>
          <a:p>
            <a:pPr>
              <a:defRPr sz="3700" b="1">
                <a:solidFill>
                  <a:srgbClr val="15293F"/>
                </a:solidFill>
                <a:latin typeface="Aptos"/>
              </a:defRPr>
            </a:pPr>
            <a:r>
              <a:t>First Test: Plain assert</a:t>
            </a:r>
          </a:p>
        </p:txBody>
      </p:sp>
      <p:sp>
        <p:nvSpPr>
          <p:cNvPr id="8" name="Rectangle 7"/>
          <p:cNvSpPr/>
          <p:nvPr/>
        </p:nvSpPr>
        <p:spPr>
          <a:xfrm>
            <a:off x="420624" y="1417320"/>
            <a:ext cx="11338560" cy="22860"/>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0624" y="6547104"/>
            <a:ext cx="11338560" cy="12801"/>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 y="6583680"/>
            <a:ext cx="7315200" cy="164592"/>
          </a:xfrm>
          <a:prstGeom prst="rect">
            <a:avLst/>
          </a:prstGeom>
          <a:noFill/>
        </p:spPr>
        <p:txBody>
          <a:bodyPr wrap="square" lIns="27432" tIns="27432" rIns="27432" bIns="27432">
            <a:spAutoFit/>
          </a:bodyPr>
          <a:lstStyle/>
          <a:p>
            <a:pPr>
              <a:defRPr sz="1000" b="0">
                <a:solidFill>
                  <a:srgbClr val="516274"/>
                </a:solidFill>
                <a:latin typeface="Aptos"/>
              </a:defRPr>
            </a:pPr>
            <a:r>
              <a:t>AI ENGINEERING  /  DAY 2  /  STEP-BY-STEP</a:t>
            </a:r>
          </a:p>
        </p:txBody>
      </p:sp>
      <p:sp>
        <p:nvSpPr>
          <p:cNvPr id="11" name="TextBox 10"/>
          <p:cNvSpPr txBox="1"/>
          <p:nvPr/>
        </p:nvSpPr>
        <p:spPr>
          <a:xfrm>
            <a:off x="10972800" y="6583680"/>
            <a:ext cx="749808" cy="164592"/>
          </a:xfrm>
          <a:prstGeom prst="rect">
            <a:avLst/>
          </a:prstGeom>
          <a:noFill/>
        </p:spPr>
        <p:txBody>
          <a:bodyPr wrap="square" lIns="27432" tIns="27432" rIns="27432" bIns="27432">
            <a:spAutoFit/>
          </a:bodyPr>
          <a:lstStyle/>
          <a:p>
            <a:r>
              <a:t>085 / 128</a:t>
            </a:r>
          </a:p>
        </p:txBody>
      </p:sp>
      <p:sp>
        <p:nvSpPr>
          <p:cNvPr id="12" name="Rounded Rectangle 11"/>
          <p:cNvSpPr/>
          <p:nvPr/>
        </p:nvSpPr>
        <p:spPr>
          <a:xfrm>
            <a:off x="502920" y="1709928"/>
            <a:ext cx="7360920" cy="4370832"/>
          </a:xfrm>
          <a:prstGeom prst="roundRect">
            <a:avLst>
              <a:gd name="adj" fmla="val 15000"/>
            </a:avLst>
          </a:prstGeom>
          <a:solidFill>
            <a:srgbClr val="16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 y="1819656"/>
            <a:ext cx="6839712" cy="310896"/>
          </a:xfrm>
          <a:prstGeom prst="rect">
            <a:avLst/>
          </a:prstGeom>
          <a:noFill/>
        </p:spPr>
        <p:txBody>
          <a:bodyPr wrap="square" lIns="27432" tIns="27432" rIns="27432" bIns="27432">
            <a:spAutoFit/>
          </a:bodyPr>
          <a:lstStyle/>
          <a:p>
            <a:pPr>
              <a:defRPr sz="1200" b="1">
                <a:solidFill>
                  <a:srgbClr val="78D7C7"/>
                </a:solidFill>
                <a:latin typeface="Aptos"/>
              </a:defRPr>
            </a:pPr>
            <a:r>
              <a:t>PYTHON / COMMAND / SQL</a:t>
            </a:r>
          </a:p>
        </p:txBody>
      </p:sp>
      <p:sp>
        <p:nvSpPr>
          <p:cNvPr id="14" name="TextBox 13"/>
          <p:cNvSpPr txBox="1"/>
          <p:nvPr/>
        </p:nvSpPr>
        <p:spPr>
          <a:xfrm>
            <a:off x="694944" y="2240280"/>
            <a:ext cx="6976872" cy="3602736"/>
          </a:xfrm>
          <a:prstGeom prst="rect">
            <a:avLst/>
          </a:prstGeom>
          <a:noFill/>
        </p:spPr>
        <p:txBody>
          <a:bodyPr wrap="none" lIns="18288" tIns="18288" rIns="18288" bIns="18288">
            <a:spAutoFit/>
          </a:bodyPr>
          <a:lstStyle/>
          <a:p>
            <a:pPr>
              <a:spcAft>
                <a:spcPts val="100"/>
              </a:spcAft>
              <a:defRPr sz="2000">
                <a:solidFill>
                  <a:srgbClr val="E6F5FF"/>
                </a:solidFill>
                <a:latin typeface="Consolas"/>
              </a:defRPr>
            </a:pPr>
            <a:r>
              <a:rPr sz="1930">
                <a:latin typeface="Consolas"/>
              </a:rPr>
              <a:t>def add(a, b):  # define a function</a:t>
            </a:r>
          </a:p>
          <a:p>
            <a:pPr>
              <a:spcAft>
                <a:spcPts val="100"/>
              </a:spcAft>
              <a:defRPr sz="2000">
                <a:solidFill>
                  <a:srgbClr val="E6F5FF"/>
                </a:solidFill>
                <a:latin typeface="Consolas"/>
              </a:defRPr>
            </a:pPr>
            <a:r>
              <a:rPr sz="1930">
                <a:latin typeface="Consolas"/>
              </a:rPr>
              <a:t>    return a + b  # send result back</a:t>
            </a:r>
          </a:p>
          <a:p>
            <a:pPr>
              <a:spcAft>
                <a:spcPts val="100"/>
              </a:spcAft>
              <a:defRPr sz="2000">
                <a:solidFill>
                  <a:srgbClr val="E6F5FF"/>
                </a:solidFill>
                <a:latin typeface="Consolas"/>
              </a:defRPr>
            </a:pPr>
            <a:endParaRPr sz="1930">
              <a:latin typeface="Consolas"/>
            </a:endParaRPr>
          </a:p>
          <a:p>
            <a:pPr>
              <a:spcAft>
                <a:spcPts val="100"/>
              </a:spcAft>
              <a:defRPr sz="2000">
                <a:solidFill>
                  <a:srgbClr val="E6F5FF"/>
                </a:solidFill>
                <a:latin typeface="Consolas"/>
              </a:defRPr>
            </a:pPr>
            <a:r>
              <a:rPr sz="1930">
                <a:latin typeface="Consolas"/>
              </a:rPr>
              <a:t>assert add(2, 3) == 5</a:t>
            </a:r>
          </a:p>
          <a:p>
            <a:pPr>
              <a:spcAft>
                <a:spcPts val="100"/>
              </a:spcAft>
              <a:defRPr sz="2000">
                <a:solidFill>
                  <a:srgbClr val="E6F5FF"/>
                </a:solidFill>
                <a:latin typeface="Consolas"/>
              </a:defRPr>
            </a:pPr>
            <a:r>
              <a:rPr sz="1930">
                <a:latin typeface="Consolas"/>
              </a:rPr>
              <a:t>print("Test passed")  # show the result</a:t>
            </a:r>
          </a:p>
        </p:txBody>
      </p:sp>
      <p:sp>
        <p:nvSpPr>
          <p:cNvPr id="15" name="Rounded Rectangle 14"/>
          <p:cNvSpPr/>
          <p:nvPr/>
        </p:nvSpPr>
        <p:spPr>
          <a:xfrm>
            <a:off x="8092440" y="1709928"/>
            <a:ext cx="3502152" cy="1499616"/>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02752" y="1847088"/>
            <a:ext cx="3017520" cy="301752"/>
          </a:xfrm>
          <a:prstGeom prst="rect">
            <a:avLst/>
          </a:prstGeom>
          <a:noFill/>
        </p:spPr>
        <p:txBody>
          <a:bodyPr wrap="square" lIns="27432" tIns="27432" rIns="27432" bIns="27432">
            <a:spAutoFit/>
          </a:bodyPr>
          <a:lstStyle/>
          <a:p>
            <a:r>
              <a:t>LINE-BY-LINE GUIDE</a:t>
            </a:r>
          </a:p>
        </p:txBody>
      </p:sp>
      <p:sp>
        <p:nvSpPr>
          <p:cNvPr id="17" name="TextBox 16"/>
          <p:cNvSpPr txBox="1"/>
          <p:nvPr/>
        </p:nvSpPr>
        <p:spPr>
          <a:xfrm>
            <a:off x="8302752" y="2194560"/>
            <a:ext cx="3035808" cy="859536"/>
          </a:xfrm>
          <a:prstGeom prst="rect">
            <a:avLst/>
          </a:prstGeom>
          <a:noFill/>
        </p:spPr>
        <p:txBody>
          <a:bodyPr wrap="square" lIns="27432" tIns="27432" rIns="27432" bIns="27432">
            <a:spAutoFit/>
          </a:bodyPr>
          <a:lstStyle/>
          <a:p>
            <a:r>
              <a:rPr sz="1200"/>
              <a:t>• Defines a named function or method that can be called again.</a:t>
            </a:r>
          </a:p>
          <a:p>
            <a:r>
              <a:rPr sz="1200"/>
              <a:t>• Sends this value back to the calling code.</a:t>
            </a:r>
          </a:p>
        </p:txBody>
      </p:sp>
      <p:sp>
        <p:nvSpPr>
          <p:cNvPr id="18" name="Rounded Rectangle 17"/>
          <p:cNvSpPr/>
          <p:nvPr/>
        </p:nvSpPr>
        <p:spPr>
          <a:xfrm>
            <a:off x="8092440" y="3392424"/>
            <a:ext cx="3502152" cy="2697480"/>
          </a:xfrm>
          <a:prstGeom prst="roundRect">
            <a:avLst>
              <a:gd name="adj" fmla="val 15000"/>
            </a:avLst>
          </a:prstGeom>
          <a:solidFill>
            <a:srgbClr val="ED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3557016"/>
            <a:ext cx="2990088" cy="256032"/>
          </a:xfrm>
          <a:prstGeom prst="rect">
            <a:avLst/>
          </a:prstGeom>
          <a:noFill/>
        </p:spPr>
        <p:txBody>
          <a:bodyPr wrap="square" lIns="27432" tIns="27432" rIns="27432" bIns="27432">
            <a:spAutoFit/>
          </a:bodyPr>
          <a:lstStyle/>
          <a:p>
            <a:pPr>
              <a:defRPr sz="1400" b="1">
                <a:solidFill>
                  <a:srgbClr val="007F79"/>
                </a:solidFill>
                <a:latin typeface="Aptos"/>
              </a:defRPr>
            </a:pPr>
            <a:r>
              <a:t>EXPECTED OUTPUT</a:t>
            </a:r>
          </a:p>
        </p:txBody>
      </p:sp>
      <p:sp>
        <p:nvSpPr>
          <p:cNvPr id="20" name="TextBox 19"/>
          <p:cNvSpPr txBox="1"/>
          <p:nvPr/>
        </p:nvSpPr>
        <p:spPr>
          <a:xfrm>
            <a:off x="8302752" y="3995928"/>
            <a:ext cx="3008376" cy="1828800"/>
          </a:xfrm>
          <a:prstGeom prst="rect">
            <a:avLst/>
          </a:prstGeom>
          <a:noFill/>
        </p:spPr>
        <p:txBody>
          <a:bodyPr wrap="square" lIns="27432" tIns="27432" rIns="27432" bIns="27432">
            <a:spAutoFit/>
          </a:bodyPr>
          <a:lstStyle/>
          <a:p>
            <a:pPr>
              <a:defRPr sz="1800" b="0">
                <a:solidFill>
                  <a:srgbClr val="15293F"/>
                </a:solidFill>
                <a:latin typeface="Consolas"/>
              </a:defRPr>
            </a:pPr>
            <a:r>
              <a:t>Test passed</a:t>
            </a:r>
          </a:p>
        </p:txBody>
      </p:sp>
    </p:spTree>
    <p:extLst>
      <p:ext uri="{BB962C8B-B14F-4D97-AF65-F5344CB8AC3E}">
        <p14:creationId xmlns:p14="http://schemas.microsoft.com/office/powerpoint/2010/main" val="235233229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0624" y="274320"/>
            <a:ext cx="8229600" cy="292608"/>
          </a:xfrm>
          <a:prstGeom prst="rect">
            <a:avLst/>
          </a:prstGeom>
          <a:noFill/>
        </p:spPr>
        <p:txBody>
          <a:bodyPr wrap="square" lIns="27432" tIns="27432" rIns="27432" bIns="27432">
            <a:spAutoFit/>
          </a:bodyPr>
          <a:lstStyle/>
          <a:p>
            <a:pPr>
              <a:defRPr sz="1500" b="1">
                <a:solidFill>
                  <a:srgbClr val="007F79"/>
                </a:solidFill>
                <a:latin typeface="Aptos"/>
              </a:defRPr>
            </a:pPr>
            <a:r>
              <a:t>TESTING</a:t>
            </a:r>
          </a:p>
        </p:txBody>
      </p:sp>
      <p:sp>
        <p:nvSpPr>
          <p:cNvPr id="5" name="Rounded Rectangle 4"/>
          <p:cNvSpPr/>
          <p:nvPr/>
        </p:nvSpPr>
        <p:spPr>
          <a:xfrm>
            <a:off x="10195560" y="274320"/>
            <a:ext cx="1417320" cy="310896"/>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59568" y="310896"/>
            <a:ext cx="1298448" cy="219456"/>
          </a:xfrm>
          <a:prstGeom prst="rect">
            <a:avLst/>
          </a:prstGeom>
          <a:noFill/>
        </p:spPr>
        <p:txBody>
          <a:bodyPr wrap="square" lIns="27432" tIns="27432" rIns="27432" bIns="27432">
            <a:spAutoFit/>
          </a:bodyPr>
          <a:lstStyle/>
          <a:p>
            <a:pPr algn="ctr">
              <a:defRPr sz="1100" b="1">
                <a:solidFill>
                  <a:srgbClr val="007F79"/>
                </a:solidFill>
                <a:latin typeface="Aptos"/>
              </a:defRPr>
            </a:pPr>
            <a:r>
              <a:t>CORE</a:t>
            </a:r>
          </a:p>
        </p:txBody>
      </p:sp>
      <p:sp>
        <p:nvSpPr>
          <p:cNvPr id="7" name="TextBox 6"/>
          <p:cNvSpPr txBox="1"/>
          <p:nvPr/>
        </p:nvSpPr>
        <p:spPr>
          <a:xfrm>
            <a:off x="420624" y="731520"/>
            <a:ext cx="11292840" cy="640080"/>
          </a:xfrm>
          <a:prstGeom prst="rect">
            <a:avLst/>
          </a:prstGeom>
          <a:noFill/>
        </p:spPr>
        <p:txBody>
          <a:bodyPr wrap="square" lIns="27432" tIns="27432" rIns="27432" bIns="27432">
            <a:spAutoFit/>
          </a:bodyPr>
          <a:lstStyle/>
          <a:p>
            <a:pPr>
              <a:defRPr sz="3700" b="1">
                <a:solidFill>
                  <a:srgbClr val="15293F"/>
                </a:solidFill>
                <a:latin typeface="Aptos"/>
              </a:defRPr>
            </a:pPr>
            <a:r>
              <a:t>pytest Test Function</a:t>
            </a:r>
          </a:p>
        </p:txBody>
      </p:sp>
      <p:sp>
        <p:nvSpPr>
          <p:cNvPr id="8" name="Rectangle 7"/>
          <p:cNvSpPr/>
          <p:nvPr/>
        </p:nvSpPr>
        <p:spPr>
          <a:xfrm>
            <a:off x="420624" y="1417320"/>
            <a:ext cx="11338560" cy="22860"/>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0624" y="6547104"/>
            <a:ext cx="11338560" cy="12801"/>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 y="6583680"/>
            <a:ext cx="7315200" cy="164592"/>
          </a:xfrm>
          <a:prstGeom prst="rect">
            <a:avLst/>
          </a:prstGeom>
          <a:noFill/>
        </p:spPr>
        <p:txBody>
          <a:bodyPr wrap="square" lIns="27432" tIns="27432" rIns="27432" bIns="27432">
            <a:spAutoFit/>
          </a:bodyPr>
          <a:lstStyle/>
          <a:p>
            <a:pPr>
              <a:defRPr sz="1000" b="0">
                <a:solidFill>
                  <a:srgbClr val="516274"/>
                </a:solidFill>
                <a:latin typeface="Aptos"/>
              </a:defRPr>
            </a:pPr>
            <a:r>
              <a:t>AI ENGINEERING  /  DAY 2  /  STEP-BY-STEP</a:t>
            </a:r>
          </a:p>
        </p:txBody>
      </p:sp>
      <p:sp>
        <p:nvSpPr>
          <p:cNvPr id="11" name="TextBox 10"/>
          <p:cNvSpPr txBox="1"/>
          <p:nvPr/>
        </p:nvSpPr>
        <p:spPr>
          <a:xfrm>
            <a:off x="10972800" y="6583680"/>
            <a:ext cx="749808" cy="164592"/>
          </a:xfrm>
          <a:prstGeom prst="rect">
            <a:avLst/>
          </a:prstGeom>
          <a:noFill/>
        </p:spPr>
        <p:txBody>
          <a:bodyPr wrap="square" lIns="27432" tIns="27432" rIns="27432" bIns="27432">
            <a:spAutoFit/>
          </a:bodyPr>
          <a:lstStyle/>
          <a:p>
            <a:r>
              <a:t>086 / 128</a:t>
            </a:r>
          </a:p>
        </p:txBody>
      </p:sp>
      <p:sp>
        <p:nvSpPr>
          <p:cNvPr id="12" name="Rounded Rectangle 11"/>
          <p:cNvSpPr/>
          <p:nvPr/>
        </p:nvSpPr>
        <p:spPr>
          <a:xfrm>
            <a:off x="502920" y="1709928"/>
            <a:ext cx="7360920" cy="4370832"/>
          </a:xfrm>
          <a:prstGeom prst="roundRect">
            <a:avLst>
              <a:gd name="adj" fmla="val 15000"/>
            </a:avLst>
          </a:prstGeom>
          <a:solidFill>
            <a:srgbClr val="16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 y="1819656"/>
            <a:ext cx="6839712" cy="310896"/>
          </a:xfrm>
          <a:prstGeom prst="rect">
            <a:avLst/>
          </a:prstGeom>
          <a:noFill/>
        </p:spPr>
        <p:txBody>
          <a:bodyPr wrap="square" lIns="27432" tIns="27432" rIns="27432" bIns="27432">
            <a:spAutoFit/>
          </a:bodyPr>
          <a:lstStyle/>
          <a:p>
            <a:pPr>
              <a:defRPr sz="1200" b="1">
                <a:solidFill>
                  <a:srgbClr val="78D7C7"/>
                </a:solidFill>
                <a:latin typeface="Aptos"/>
              </a:defRPr>
            </a:pPr>
            <a:r>
              <a:t>PYTHON / COMMAND / SQL</a:t>
            </a:r>
          </a:p>
        </p:txBody>
      </p:sp>
      <p:sp>
        <p:nvSpPr>
          <p:cNvPr id="14" name="TextBox 13"/>
          <p:cNvSpPr txBox="1"/>
          <p:nvPr/>
        </p:nvSpPr>
        <p:spPr>
          <a:xfrm>
            <a:off x="694944" y="2240280"/>
            <a:ext cx="6976872" cy="3602736"/>
          </a:xfrm>
          <a:prstGeom prst="rect">
            <a:avLst/>
          </a:prstGeom>
          <a:noFill/>
        </p:spPr>
        <p:txBody>
          <a:bodyPr wrap="none" lIns="18288" tIns="18288" rIns="18288" bIns="18288">
            <a:spAutoFit/>
          </a:bodyPr>
          <a:lstStyle/>
          <a:p>
            <a:pPr>
              <a:spcAft>
                <a:spcPts val="100"/>
              </a:spcAft>
              <a:defRPr sz="2000">
                <a:solidFill>
                  <a:srgbClr val="E6F5FF"/>
                </a:solidFill>
                <a:latin typeface="Consolas"/>
              </a:defRPr>
            </a:pPr>
            <a:r>
              <a:rPr sz="1930">
                <a:latin typeface="Consolas"/>
              </a:rPr>
              <a:t>def is_pass(marks):  # define a function</a:t>
            </a:r>
          </a:p>
          <a:p>
            <a:pPr>
              <a:spcAft>
                <a:spcPts val="100"/>
              </a:spcAft>
              <a:defRPr sz="2000">
                <a:solidFill>
                  <a:srgbClr val="E6F5FF"/>
                </a:solidFill>
                <a:latin typeface="Consolas"/>
              </a:defRPr>
            </a:pPr>
            <a:r>
              <a:rPr sz="1930">
                <a:latin typeface="Consolas"/>
              </a:rPr>
              <a:t>    return marks &gt;= 50  # send result back</a:t>
            </a:r>
          </a:p>
          <a:p>
            <a:pPr>
              <a:spcAft>
                <a:spcPts val="100"/>
              </a:spcAft>
              <a:defRPr sz="2000">
                <a:solidFill>
                  <a:srgbClr val="E6F5FF"/>
                </a:solidFill>
                <a:latin typeface="Consolas"/>
              </a:defRPr>
            </a:pPr>
            <a:endParaRPr sz="1930">
              <a:latin typeface="Consolas"/>
            </a:endParaRPr>
          </a:p>
          <a:p>
            <a:pPr>
              <a:spcAft>
                <a:spcPts val="100"/>
              </a:spcAft>
              <a:defRPr sz="2000">
                <a:solidFill>
                  <a:srgbClr val="E6F5FF"/>
                </a:solidFill>
                <a:latin typeface="Consolas"/>
              </a:defRPr>
            </a:pPr>
            <a:r>
              <a:rPr sz="1930">
                <a:latin typeface="Consolas"/>
              </a:rPr>
              <a:t>def test_pass_mark():  # define a test</a:t>
            </a:r>
          </a:p>
          <a:p>
            <a:pPr>
              <a:spcAft>
                <a:spcPts val="100"/>
              </a:spcAft>
              <a:defRPr sz="2000">
                <a:solidFill>
                  <a:srgbClr val="E6F5FF"/>
                </a:solidFill>
                <a:latin typeface="Consolas"/>
              </a:defRPr>
            </a:pPr>
            <a:r>
              <a:rPr sz="1930">
                <a:latin typeface="Consolas"/>
              </a:rPr>
              <a:t>    assert is_pass(50) is True</a:t>
            </a:r>
          </a:p>
          <a:p>
            <a:pPr>
              <a:spcAft>
                <a:spcPts val="100"/>
              </a:spcAft>
              <a:defRPr sz="2000">
                <a:solidFill>
                  <a:srgbClr val="E6F5FF"/>
                </a:solidFill>
                <a:latin typeface="Consolas"/>
              </a:defRPr>
            </a:pPr>
            <a:endParaRPr sz="1930">
              <a:latin typeface="Consolas"/>
            </a:endParaRPr>
          </a:p>
          <a:p>
            <a:pPr>
              <a:spcAft>
                <a:spcPts val="100"/>
              </a:spcAft>
              <a:defRPr sz="2000">
                <a:solidFill>
                  <a:srgbClr val="E6F5FF"/>
                </a:solidFill>
                <a:latin typeface="Consolas"/>
              </a:defRPr>
            </a:pPr>
            <a:r>
              <a:rPr sz="1930">
                <a:latin typeface="Consolas"/>
              </a:rPr>
              <a:t>def test_fail_mark():  # define a test</a:t>
            </a:r>
          </a:p>
          <a:p>
            <a:pPr>
              <a:spcAft>
                <a:spcPts val="100"/>
              </a:spcAft>
              <a:defRPr sz="2000">
                <a:solidFill>
                  <a:srgbClr val="E6F5FF"/>
                </a:solidFill>
                <a:latin typeface="Consolas"/>
              </a:defRPr>
            </a:pPr>
            <a:r>
              <a:rPr sz="1930">
                <a:latin typeface="Consolas"/>
              </a:rPr>
              <a:t>    assert is_pass(40) is False</a:t>
            </a:r>
          </a:p>
        </p:txBody>
      </p:sp>
      <p:sp>
        <p:nvSpPr>
          <p:cNvPr id="15" name="Rounded Rectangle 14"/>
          <p:cNvSpPr/>
          <p:nvPr/>
        </p:nvSpPr>
        <p:spPr>
          <a:xfrm>
            <a:off x="8092440" y="1709928"/>
            <a:ext cx="3502152" cy="1499616"/>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02752" y="1847088"/>
            <a:ext cx="3017520" cy="301752"/>
          </a:xfrm>
          <a:prstGeom prst="rect">
            <a:avLst/>
          </a:prstGeom>
          <a:noFill/>
        </p:spPr>
        <p:txBody>
          <a:bodyPr wrap="square" lIns="27432" tIns="27432" rIns="27432" bIns="27432">
            <a:spAutoFit/>
          </a:bodyPr>
          <a:lstStyle/>
          <a:p>
            <a:r>
              <a:t>LINE-BY-LINE GUIDE</a:t>
            </a:r>
          </a:p>
        </p:txBody>
      </p:sp>
      <p:sp>
        <p:nvSpPr>
          <p:cNvPr id="17" name="TextBox 16"/>
          <p:cNvSpPr txBox="1"/>
          <p:nvPr/>
        </p:nvSpPr>
        <p:spPr>
          <a:xfrm>
            <a:off x="8302752" y="2194560"/>
            <a:ext cx="3035808" cy="859536"/>
          </a:xfrm>
          <a:prstGeom prst="rect">
            <a:avLst/>
          </a:prstGeom>
          <a:noFill/>
        </p:spPr>
        <p:txBody>
          <a:bodyPr wrap="square" lIns="27432" tIns="27432" rIns="27432" bIns="27432">
            <a:spAutoFit/>
          </a:bodyPr>
          <a:lstStyle/>
          <a:p>
            <a:r>
              <a:rPr sz="1200"/>
              <a:t>• Defines a named function or method that can be called again.</a:t>
            </a:r>
          </a:p>
          <a:p>
            <a:r>
              <a:rPr sz="1200"/>
              <a:t>• Sends this value back to the calling code.</a:t>
            </a:r>
          </a:p>
        </p:txBody>
      </p:sp>
      <p:sp>
        <p:nvSpPr>
          <p:cNvPr id="18" name="Rounded Rectangle 17"/>
          <p:cNvSpPr/>
          <p:nvPr/>
        </p:nvSpPr>
        <p:spPr>
          <a:xfrm>
            <a:off x="8092440" y="3392424"/>
            <a:ext cx="3502152" cy="2697480"/>
          </a:xfrm>
          <a:prstGeom prst="roundRect">
            <a:avLst>
              <a:gd name="adj" fmla="val 15000"/>
            </a:avLst>
          </a:prstGeom>
          <a:solidFill>
            <a:srgbClr val="ED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3557016"/>
            <a:ext cx="2990088" cy="256032"/>
          </a:xfrm>
          <a:prstGeom prst="rect">
            <a:avLst/>
          </a:prstGeom>
          <a:noFill/>
        </p:spPr>
        <p:txBody>
          <a:bodyPr wrap="square" lIns="27432" tIns="27432" rIns="27432" bIns="27432">
            <a:spAutoFit/>
          </a:bodyPr>
          <a:lstStyle/>
          <a:p>
            <a:pPr>
              <a:defRPr sz="1400" b="1">
                <a:solidFill>
                  <a:srgbClr val="007F79"/>
                </a:solidFill>
                <a:latin typeface="Aptos"/>
              </a:defRPr>
            </a:pPr>
            <a:r>
              <a:t>EXPECTED OUTPUT</a:t>
            </a:r>
          </a:p>
        </p:txBody>
      </p:sp>
      <p:sp>
        <p:nvSpPr>
          <p:cNvPr id="20" name="TextBox 19"/>
          <p:cNvSpPr txBox="1"/>
          <p:nvPr/>
        </p:nvSpPr>
        <p:spPr>
          <a:xfrm>
            <a:off x="8302752" y="3995928"/>
            <a:ext cx="3008376" cy="1828800"/>
          </a:xfrm>
          <a:prstGeom prst="rect">
            <a:avLst/>
          </a:prstGeom>
          <a:noFill/>
        </p:spPr>
        <p:txBody>
          <a:bodyPr wrap="square" lIns="27432" tIns="27432" rIns="27432" bIns="27432">
            <a:spAutoFit/>
          </a:bodyPr>
          <a:lstStyle/>
          <a:p>
            <a:pPr>
              <a:defRPr sz="1800" b="0">
                <a:solidFill>
                  <a:srgbClr val="15293F"/>
                </a:solidFill>
                <a:latin typeface="Consolas"/>
              </a:defRPr>
            </a:pPr>
            <a:r>
              <a:t>2 tests pass</a:t>
            </a:r>
          </a:p>
        </p:txBody>
      </p:sp>
    </p:spTree>
    <p:extLst>
      <p:ext uri="{BB962C8B-B14F-4D97-AF65-F5344CB8AC3E}">
        <p14:creationId xmlns:p14="http://schemas.microsoft.com/office/powerpoint/2010/main" val="423024376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0624" y="274320"/>
            <a:ext cx="8229600" cy="292608"/>
          </a:xfrm>
          <a:prstGeom prst="rect">
            <a:avLst/>
          </a:prstGeom>
          <a:noFill/>
        </p:spPr>
        <p:txBody>
          <a:bodyPr wrap="square" lIns="27432" tIns="27432" rIns="27432" bIns="27432">
            <a:spAutoFit/>
          </a:bodyPr>
          <a:lstStyle/>
          <a:p>
            <a:pPr>
              <a:defRPr sz="1500" b="1">
                <a:solidFill>
                  <a:srgbClr val="007F79"/>
                </a:solidFill>
                <a:latin typeface="Aptos"/>
              </a:defRPr>
            </a:pPr>
            <a:r>
              <a:t>TESTING</a:t>
            </a:r>
          </a:p>
        </p:txBody>
      </p:sp>
      <p:sp>
        <p:nvSpPr>
          <p:cNvPr id="5" name="Rounded Rectangle 4"/>
          <p:cNvSpPr/>
          <p:nvPr/>
        </p:nvSpPr>
        <p:spPr>
          <a:xfrm>
            <a:off x="10195560" y="274320"/>
            <a:ext cx="1417320" cy="310896"/>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59568" y="310896"/>
            <a:ext cx="1298448" cy="219456"/>
          </a:xfrm>
          <a:prstGeom prst="rect">
            <a:avLst/>
          </a:prstGeom>
          <a:noFill/>
        </p:spPr>
        <p:txBody>
          <a:bodyPr wrap="square" lIns="27432" tIns="27432" rIns="27432" bIns="27432">
            <a:spAutoFit/>
          </a:bodyPr>
          <a:lstStyle/>
          <a:p>
            <a:pPr algn="ctr">
              <a:defRPr sz="1100" b="1">
                <a:solidFill>
                  <a:srgbClr val="007F79"/>
                </a:solidFill>
                <a:latin typeface="Aptos"/>
              </a:defRPr>
            </a:pPr>
            <a:r>
              <a:t>CORE</a:t>
            </a:r>
          </a:p>
        </p:txBody>
      </p:sp>
      <p:sp>
        <p:nvSpPr>
          <p:cNvPr id="7" name="TextBox 6"/>
          <p:cNvSpPr txBox="1"/>
          <p:nvPr/>
        </p:nvSpPr>
        <p:spPr>
          <a:xfrm>
            <a:off x="420624" y="731520"/>
            <a:ext cx="11292840" cy="640080"/>
          </a:xfrm>
          <a:prstGeom prst="rect">
            <a:avLst/>
          </a:prstGeom>
          <a:noFill/>
        </p:spPr>
        <p:txBody>
          <a:bodyPr wrap="square" lIns="27432" tIns="27432" rIns="27432" bIns="27432">
            <a:spAutoFit/>
          </a:bodyPr>
          <a:lstStyle/>
          <a:p>
            <a:pPr>
              <a:defRPr sz="3700" b="1">
                <a:solidFill>
                  <a:srgbClr val="15293F"/>
                </a:solidFill>
                <a:latin typeface="Aptos"/>
              </a:defRPr>
            </a:pPr>
            <a:r>
              <a:t>Normal, Edge and Failure Cases</a:t>
            </a:r>
          </a:p>
        </p:txBody>
      </p:sp>
      <p:sp>
        <p:nvSpPr>
          <p:cNvPr id="8" name="Rectangle 7"/>
          <p:cNvSpPr/>
          <p:nvPr/>
        </p:nvSpPr>
        <p:spPr>
          <a:xfrm>
            <a:off x="420624" y="1417320"/>
            <a:ext cx="11338560" cy="22860"/>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0624" y="6547104"/>
            <a:ext cx="11338560" cy="12801"/>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 y="6583680"/>
            <a:ext cx="7315200" cy="164592"/>
          </a:xfrm>
          <a:prstGeom prst="rect">
            <a:avLst/>
          </a:prstGeom>
          <a:noFill/>
        </p:spPr>
        <p:txBody>
          <a:bodyPr wrap="square" lIns="27432" tIns="27432" rIns="27432" bIns="27432">
            <a:spAutoFit/>
          </a:bodyPr>
          <a:lstStyle/>
          <a:p>
            <a:pPr>
              <a:defRPr sz="1000" b="0">
                <a:solidFill>
                  <a:srgbClr val="516274"/>
                </a:solidFill>
                <a:latin typeface="Aptos"/>
              </a:defRPr>
            </a:pPr>
            <a:r>
              <a:t>AI ENGINEERING  /  DAY 2  /  STEP-BY-STEP</a:t>
            </a:r>
          </a:p>
        </p:txBody>
      </p:sp>
      <p:sp>
        <p:nvSpPr>
          <p:cNvPr id="11" name="TextBox 10"/>
          <p:cNvSpPr txBox="1"/>
          <p:nvPr/>
        </p:nvSpPr>
        <p:spPr>
          <a:xfrm>
            <a:off x="10972800" y="6583680"/>
            <a:ext cx="749808" cy="164592"/>
          </a:xfrm>
          <a:prstGeom prst="rect">
            <a:avLst/>
          </a:prstGeom>
          <a:noFill/>
        </p:spPr>
        <p:txBody>
          <a:bodyPr wrap="square" lIns="27432" tIns="27432" rIns="27432" bIns="27432">
            <a:spAutoFit/>
          </a:bodyPr>
          <a:lstStyle/>
          <a:p>
            <a:r>
              <a:t>087 / 128</a:t>
            </a:r>
          </a:p>
        </p:txBody>
      </p:sp>
      <p:sp>
        <p:nvSpPr>
          <p:cNvPr id="12" name="Rounded Rectangle 11"/>
          <p:cNvSpPr/>
          <p:nvPr/>
        </p:nvSpPr>
        <p:spPr>
          <a:xfrm>
            <a:off x="521207" y="1627632"/>
            <a:ext cx="11109960" cy="1097280"/>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1746504"/>
            <a:ext cx="2743200" cy="256032"/>
          </a:xfrm>
          <a:prstGeom prst="rect">
            <a:avLst/>
          </a:prstGeom>
          <a:noFill/>
        </p:spPr>
        <p:txBody>
          <a:bodyPr wrap="square" lIns="27432" tIns="27432" rIns="27432" bIns="27432">
            <a:spAutoFit/>
          </a:bodyPr>
          <a:lstStyle/>
          <a:p>
            <a:pPr>
              <a:defRPr sz="1500" b="1">
                <a:solidFill>
                  <a:srgbClr val="007F79"/>
                </a:solidFill>
                <a:latin typeface="Aptos"/>
              </a:defRPr>
            </a:pPr>
            <a:r>
              <a:t>DEFINITION / BIG IDEA</a:t>
            </a:r>
          </a:p>
        </p:txBody>
      </p:sp>
      <p:sp>
        <p:nvSpPr>
          <p:cNvPr id="14" name="TextBox 13"/>
          <p:cNvSpPr txBox="1"/>
          <p:nvPr/>
        </p:nvSpPr>
        <p:spPr>
          <a:xfrm>
            <a:off x="758952" y="2103120"/>
            <a:ext cx="10469880" cy="420624"/>
          </a:xfrm>
          <a:prstGeom prst="rect">
            <a:avLst/>
          </a:prstGeom>
          <a:noFill/>
        </p:spPr>
        <p:txBody>
          <a:bodyPr wrap="square" lIns="27432" tIns="27432" rIns="27432" bIns="27432">
            <a:spAutoFit/>
          </a:bodyPr>
          <a:lstStyle/>
          <a:p>
            <a:pPr>
              <a:defRPr sz="2300" b="1">
                <a:solidFill>
                  <a:srgbClr val="15293F"/>
                </a:solidFill>
                <a:latin typeface="Aptos"/>
              </a:defRPr>
            </a:pPr>
            <a:r>
              <a:t>A reliable test set checks more than the typical happy path.</a:t>
            </a:r>
          </a:p>
        </p:txBody>
      </p:sp>
      <p:sp>
        <p:nvSpPr>
          <p:cNvPr id="15" name="Rectangle 14"/>
          <p:cNvSpPr/>
          <p:nvPr/>
        </p:nvSpPr>
        <p:spPr>
          <a:xfrm>
            <a:off x="658368" y="3218688"/>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3072384"/>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Normal: add a title such as "Read notes".</a:t>
            </a:r>
          </a:p>
        </p:txBody>
      </p:sp>
      <p:sp>
        <p:nvSpPr>
          <p:cNvPr id="17" name="Rectangle 16"/>
          <p:cNvSpPr/>
          <p:nvPr/>
        </p:nvSpPr>
        <p:spPr>
          <a:xfrm>
            <a:off x="658368" y="3886200"/>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3739896"/>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Edge: title is only one character.</a:t>
            </a:r>
          </a:p>
        </p:txBody>
      </p:sp>
      <p:sp>
        <p:nvSpPr>
          <p:cNvPr id="19" name="Rectangle 18"/>
          <p:cNvSpPr/>
          <p:nvPr/>
        </p:nvSpPr>
        <p:spPr>
          <a:xfrm>
            <a:off x="658368" y="4553712"/>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 y="4407408"/>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Invalid: blank title should be rejected.</a:t>
            </a:r>
          </a:p>
        </p:txBody>
      </p:sp>
      <p:sp>
        <p:nvSpPr>
          <p:cNvPr id="21" name="Rectangle 20"/>
          <p:cNvSpPr/>
          <p:nvPr/>
        </p:nvSpPr>
        <p:spPr>
          <a:xfrm>
            <a:off x="658368" y="5221224"/>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5074920"/>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Persistence: reload saved data after restarting.</a:t>
            </a:r>
          </a:p>
        </p:txBody>
      </p:sp>
    </p:spTree>
    <p:extLst>
      <p:ext uri="{BB962C8B-B14F-4D97-AF65-F5344CB8AC3E}">
        <p14:creationId xmlns:p14="http://schemas.microsoft.com/office/powerpoint/2010/main" val="317435251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0624" y="274320"/>
            <a:ext cx="8229600" cy="292608"/>
          </a:xfrm>
          <a:prstGeom prst="rect">
            <a:avLst/>
          </a:prstGeom>
          <a:noFill/>
        </p:spPr>
        <p:txBody>
          <a:bodyPr wrap="square" lIns="27432" tIns="27432" rIns="27432" bIns="27432">
            <a:spAutoFit/>
          </a:bodyPr>
          <a:lstStyle/>
          <a:p>
            <a:pPr>
              <a:defRPr sz="1500" b="1">
                <a:solidFill>
                  <a:srgbClr val="007F79"/>
                </a:solidFill>
                <a:latin typeface="Aptos"/>
              </a:defRPr>
            </a:pPr>
            <a:r>
              <a:t>DEBUGGING</a:t>
            </a:r>
          </a:p>
        </p:txBody>
      </p:sp>
      <p:sp>
        <p:nvSpPr>
          <p:cNvPr id="5" name="Rounded Rectangle 4"/>
          <p:cNvSpPr/>
          <p:nvPr/>
        </p:nvSpPr>
        <p:spPr>
          <a:xfrm>
            <a:off x="10195560" y="274320"/>
            <a:ext cx="1417320" cy="310896"/>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59568" y="310896"/>
            <a:ext cx="1298448" cy="219456"/>
          </a:xfrm>
          <a:prstGeom prst="rect">
            <a:avLst/>
          </a:prstGeom>
          <a:noFill/>
        </p:spPr>
        <p:txBody>
          <a:bodyPr wrap="square" lIns="27432" tIns="27432" rIns="27432" bIns="27432">
            <a:spAutoFit/>
          </a:bodyPr>
          <a:lstStyle/>
          <a:p>
            <a:pPr algn="ctr">
              <a:defRPr sz="1100" b="1">
                <a:solidFill>
                  <a:srgbClr val="007F79"/>
                </a:solidFill>
                <a:latin typeface="Aptos"/>
              </a:defRPr>
            </a:pPr>
            <a:r>
              <a:t>CORE</a:t>
            </a:r>
          </a:p>
        </p:txBody>
      </p:sp>
      <p:sp>
        <p:nvSpPr>
          <p:cNvPr id="7" name="TextBox 6"/>
          <p:cNvSpPr txBox="1"/>
          <p:nvPr/>
        </p:nvSpPr>
        <p:spPr>
          <a:xfrm>
            <a:off x="420624" y="731520"/>
            <a:ext cx="11292840" cy="640080"/>
          </a:xfrm>
          <a:prstGeom prst="rect">
            <a:avLst/>
          </a:prstGeom>
          <a:noFill/>
        </p:spPr>
        <p:txBody>
          <a:bodyPr wrap="square" lIns="27432" tIns="27432" rIns="27432" bIns="27432">
            <a:spAutoFit/>
          </a:bodyPr>
          <a:lstStyle/>
          <a:p>
            <a:pPr>
              <a:defRPr sz="3700" b="1">
                <a:solidFill>
                  <a:srgbClr val="15293F"/>
                </a:solidFill>
                <a:latin typeface="Aptos"/>
              </a:defRPr>
            </a:pPr>
            <a:r>
              <a:t>Debugging: Reproduce, Read, Fix</a:t>
            </a:r>
          </a:p>
        </p:txBody>
      </p:sp>
      <p:sp>
        <p:nvSpPr>
          <p:cNvPr id="8" name="Rectangle 7"/>
          <p:cNvSpPr/>
          <p:nvPr/>
        </p:nvSpPr>
        <p:spPr>
          <a:xfrm>
            <a:off x="420624" y="1417320"/>
            <a:ext cx="11338560" cy="22860"/>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0624" y="6547104"/>
            <a:ext cx="11338560" cy="12801"/>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 y="6583680"/>
            <a:ext cx="7315200" cy="164592"/>
          </a:xfrm>
          <a:prstGeom prst="rect">
            <a:avLst/>
          </a:prstGeom>
          <a:noFill/>
        </p:spPr>
        <p:txBody>
          <a:bodyPr wrap="square" lIns="27432" tIns="27432" rIns="27432" bIns="27432">
            <a:spAutoFit/>
          </a:bodyPr>
          <a:lstStyle/>
          <a:p>
            <a:pPr>
              <a:defRPr sz="1000" b="0">
                <a:solidFill>
                  <a:srgbClr val="516274"/>
                </a:solidFill>
                <a:latin typeface="Aptos"/>
              </a:defRPr>
            </a:pPr>
            <a:r>
              <a:t>AI ENGINEERING  /  DAY 2  /  STEP-BY-STEP</a:t>
            </a:r>
          </a:p>
        </p:txBody>
      </p:sp>
      <p:sp>
        <p:nvSpPr>
          <p:cNvPr id="11" name="TextBox 10"/>
          <p:cNvSpPr txBox="1"/>
          <p:nvPr/>
        </p:nvSpPr>
        <p:spPr>
          <a:xfrm>
            <a:off x="10972800" y="6583680"/>
            <a:ext cx="749808" cy="164592"/>
          </a:xfrm>
          <a:prstGeom prst="rect">
            <a:avLst/>
          </a:prstGeom>
          <a:noFill/>
        </p:spPr>
        <p:txBody>
          <a:bodyPr wrap="square" lIns="27432" tIns="27432" rIns="27432" bIns="27432">
            <a:spAutoFit/>
          </a:bodyPr>
          <a:lstStyle/>
          <a:p>
            <a:r>
              <a:t>088 / 128</a:t>
            </a:r>
          </a:p>
        </p:txBody>
      </p:sp>
      <p:sp>
        <p:nvSpPr>
          <p:cNvPr id="12" name="Rounded Rectangle 11"/>
          <p:cNvSpPr/>
          <p:nvPr/>
        </p:nvSpPr>
        <p:spPr>
          <a:xfrm>
            <a:off x="521207" y="1627632"/>
            <a:ext cx="11109960" cy="1097280"/>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1746504"/>
            <a:ext cx="2743200" cy="256032"/>
          </a:xfrm>
          <a:prstGeom prst="rect">
            <a:avLst/>
          </a:prstGeom>
          <a:noFill/>
        </p:spPr>
        <p:txBody>
          <a:bodyPr wrap="square" lIns="27432" tIns="27432" rIns="27432" bIns="27432">
            <a:spAutoFit/>
          </a:bodyPr>
          <a:lstStyle/>
          <a:p>
            <a:pPr>
              <a:defRPr sz="1500" b="1">
                <a:solidFill>
                  <a:srgbClr val="007F79"/>
                </a:solidFill>
                <a:latin typeface="Aptos"/>
              </a:defRPr>
            </a:pPr>
            <a:r>
              <a:t>DEFINITION / BIG IDEA</a:t>
            </a:r>
          </a:p>
        </p:txBody>
      </p:sp>
      <p:sp>
        <p:nvSpPr>
          <p:cNvPr id="14" name="TextBox 13"/>
          <p:cNvSpPr txBox="1"/>
          <p:nvPr/>
        </p:nvSpPr>
        <p:spPr>
          <a:xfrm>
            <a:off x="758952" y="2103120"/>
            <a:ext cx="10469880" cy="420624"/>
          </a:xfrm>
          <a:prstGeom prst="rect">
            <a:avLst/>
          </a:prstGeom>
          <a:noFill/>
        </p:spPr>
        <p:txBody>
          <a:bodyPr wrap="square" lIns="27432" tIns="27432" rIns="27432" bIns="27432">
            <a:spAutoFit/>
          </a:bodyPr>
          <a:lstStyle/>
          <a:p>
            <a:pPr>
              <a:defRPr sz="2300" b="1">
                <a:solidFill>
                  <a:srgbClr val="15293F"/>
                </a:solidFill>
                <a:latin typeface="Aptos"/>
              </a:defRPr>
            </a:pPr>
            <a:r>
              <a:t>Debugging means finding the cause of a problem and correcting it.</a:t>
            </a:r>
          </a:p>
        </p:txBody>
      </p:sp>
      <p:sp>
        <p:nvSpPr>
          <p:cNvPr id="15" name="Rectangle 14"/>
          <p:cNvSpPr/>
          <p:nvPr/>
        </p:nvSpPr>
        <p:spPr>
          <a:xfrm>
            <a:off x="658368" y="3218688"/>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3072384"/>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Reproduce the error using the same steps and inputs.</a:t>
            </a:r>
          </a:p>
        </p:txBody>
      </p:sp>
      <p:sp>
        <p:nvSpPr>
          <p:cNvPr id="17" name="Rectangle 16"/>
          <p:cNvSpPr/>
          <p:nvPr/>
        </p:nvSpPr>
        <p:spPr>
          <a:xfrm>
            <a:off x="658368" y="3886200"/>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3739896"/>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Read the traceback, especially error type and line number.</a:t>
            </a:r>
          </a:p>
        </p:txBody>
      </p:sp>
      <p:sp>
        <p:nvSpPr>
          <p:cNvPr id="19" name="Rectangle 18"/>
          <p:cNvSpPr/>
          <p:nvPr/>
        </p:nvSpPr>
        <p:spPr>
          <a:xfrm>
            <a:off x="658368" y="4553712"/>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 y="4407408"/>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Inspect variable values with print() or debugger breakpoints.</a:t>
            </a:r>
          </a:p>
        </p:txBody>
      </p:sp>
      <p:sp>
        <p:nvSpPr>
          <p:cNvPr id="21" name="Rectangle 20"/>
          <p:cNvSpPr/>
          <p:nvPr/>
        </p:nvSpPr>
        <p:spPr>
          <a:xfrm>
            <a:off x="658368" y="5221224"/>
            <a:ext cx="96012" cy="96012"/>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5074920"/>
            <a:ext cx="10652759" cy="612647"/>
          </a:xfrm>
          <a:prstGeom prst="rect">
            <a:avLst/>
          </a:prstGeom>
          <a:noFill/>
        </p:spPr>
        <p:txBody>
          <a:bodyPr wrap="square" lIns="27432" tIns="27432" rIns="27432" bIns="27432">
            <a:spAutoFit/>
          </a:bodyPr>
          <a:lstStyle/>
          <a:p>
            <a:pPr>
              <a:defRPr sz="2200" b="0">
                <a:solidFill>
                  <a:srgbClr val="15293F"/>
                </a:solidFill>
                <a:latin typeface="Aptos"/>
              </a:defRPr>
            </a:pPr>
            <a:r>
              <a:t>Change one thing, rerun the test and confirm the fix.</a:t>
            </a:r>
          </a:p>
        </p:txBody>
      </p:sp>
    </p:spTree>
    <p:extLst>
      <p:ext uri="{BB962C8B-B14F-4D97-AF65-F5344CB8AC3E}">
        <p14:creationId xmlns:p14="http://schemas.microsoft.com/office/powerpoint/2010/main" val="130196375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0624" y="274320"/>
            <a:ext cx="8229600" cy="292608"/>
          </a:xfrm>
          <a:prstGeom prst="rect">
            <a:avLst/>
          </a:prstGeom>
          <a:noFill/>
        </p:spPr>
        <p:txBody>
          <a:bodyPr wrap="square" lIns="27432" tIns="27432" rIns="27432" bIns="27432">
            <a:spAutoFit/>
          </a:bodyPr>
          <a:lstStyle/>
          <a:p>
            <a:pPr>
              <a:defRPr sz="1500" b="1">
                <a:solidFill>
                  <a:srgbClr val="007F79"/>
                </a:solidFill>
                <a:latin typeface="Aptos"/>
              </a:defRPr>
            </a:pPr>
            <a:r>
              <a:t>DEBUGGING</a:t>
            </a:r>
          </a:p>
        </p:txBody>
      </p:sp>
      <p:sp>
        <p:nvSpPr>
          <p:cNvPr id="5" name="Rounded Rectangle 4"/>
          <p:cNvSpPr/>
          <p:nvPr/>
        </p:nvSpPr>
        <p:spPr>
          <a:xfrm>
            <a:off x="10195560" y="274320"/>
            <a:ext cx="1417320" cy="310896"/>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59568" y="310896"/>
            <a:ext cx="1298448" cy="219456"/>
          </a:xfrm>
          <a:prstGeom prst="rect">
            <a:avLst/>
          </a:prstGeom>
          <a:noFill/>
        </p:spPr>
        <p:txBody>
          <a:bodyPr wrap="square" lIns="27432" tIns="27432" rIns="27432" bIns="27432">
            <a:spAutoFit/>
          </a:bodyPr>
          <a:lstStyle/>
          <a:p>
            <a:pPr algn="ctr">
              <a:defRPr sz="1100" b="1">
                <a:solidFill>
                  <a:srgbClr val="007F79"/>
                </a:solidFill>
                <a:latin typeface="Aptos"/>
              </a:defRPr>
            </a:pPr>
            <a:r>
              <a:t>CORE</a:t>
            </a:r>
          </a:p>
        </p:txBody>
      </p:sp>
      <p:sp>
        <p:nvSpPr>
          <p:cNvPr id="7" name="TextBox 6"/>
          <p:cNvSpPr txBox="1"/>
          <p:nvPr/>
        </p:nvSpPr>
        <p:spPr>
          <a:xfrm>
            <a:off x="420624" y="731520"/>
            <a:ext cx="11292840" cy="640080"/>
          </a:xfrm>
          <a:prstGeom prst="rect">
            <a:avLst/>
          </a:prstGeom>
          <a:noFill/>
        </p:spPr>
        <p:txBody>
          <a:bodyPr wrap="square" lIns="27432" tIns="27432" rIns="27432" bIns="27432">
            <a:spAutoFit/>
          </a:bodyPr>
          <a:lstStyle/>
          <a:p>
            <a:pPr>
              <a:defRPr sz="3700" b="1">
                <a:solidFill>
                  <a:srgbClr val="15293F"/>
                </a:solidFill>
                <a:latin typeface="Aptos"/>
              </a:defRPr>
            </a:pPr>
            <a:r>
              <a:t>Debugging Example: Wrong Variable</a:t>
            </a:r>
          </a:p>
        </p:txBody>
      </p:sp>
      <p:sp>
        <p:nvSpPr>
          <p:cNvPr id="8" name="Rectangle 7"/>
          <p:cNvSpPr/>
          <p:nvPr/>
        </p:nvSpPr>
        <p:spPr>
          <a:xfrm>
            <a:off x="420624" y="1417320"/>
            <a:ext cx="11338560" cy="22860"/>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0624" y="6547104"/>
            <a:ext cx="11338560" cy="12801"/>
          </a:xfrm>
          <a:prstGeom prst="rect">
            <a:avLst/>
          </a:prstGeom>
          <a:solidFill>
            <a:srgbClr val="D8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 y="6583680"/>
            <a:ext cx="7315200" cy="164592"/>
          </a:xfrm>
          <a:prstGeom prst="rect">
            <a:avLst/>
          </a:prstGeom>
          <a:noFill/>
        </p:spPr>
        <p:txBody>
          <a:bodyPr wrap="square" lIns="27432" tIns="27432" rIns="27432" bIns="27432">
            <a:spAutoFit/>
          </a:bodyPr>
          <a:lstStyle/>
          <a:p>
            <a:pPr>
              <a:defRPr sz="1000" b="0">
                <a:solidFill>
                  <a:srgbClr val="516274"/>
                </a:solidFill>
                <a:latin typeface="Aptos"/>
              </a:defRPr>
            </a:pPr>
            <a:r>
              <a:t>AI ENGINEERING  /  DAY 2  /  STEP-BY-STEP</a:t>
            </a:r>
          </a:p>
        </p:txBody>
      </p:sp>
      <p:sp>
        <p:nvSpPr>
          <p:cNvPr id="11" name="TextBox 10"/>
          <p:cNvSpPr txBox="1"/>
          <p:nvPr/>
        </p:nvSpPr>
        <p:spPr>
          <a:xfrm>
            <a:off x="10972800" y="6583680"/>
            <a:ext cx="749808" cy="164592"/>
          </a:xfrm>
          <a:prstGeom prst="rect">
            <a:avLst/>
          </a:prstGeom>
          <a:noFill/>
        </p:spPr>
        <p:txBody>
          <a:bodyPr wrap="square" lIns="27432" tIns="27432" rIns="27432" bIns="27432">
            <a:spAutoFit/>
          </a:bodyPr>
          <a:lstStyle/>
          <a:p>
            <a:r>
              <a:t>089 / 128</a:t>
            </a:r>
          </a:p>
        </p:txBody>
      </p:sp>
      <p:sp>
        <p:nvSpPr>
          <p:cNvPr id="12" name="Rounded Rectangle 11"/>
          <p:cNvSpPr/>
          <p:nvPr/>
        </p:nvSpPr>
        <p:spPr>
          <a:xfrm>
            <a:off x="502920" y="1709928"/>
            <a:ext cx="7360920" cy="4370832"/>
          </a:xfrm>
          <a:prstGeom prst="roundRect">
            <a:avLst>
              <a:gd name="adj" fmla="val 15000"/>
            </a:avLst>
          </a:prstGeom>
          <a:solidFill>
            <a:srgbClr val="16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 y="1819656"/>
            <a:ext cx="6839712" cy="310896"/>
          </a:xfrm>
          <a:prstGeom prst="rect">
            <a:avLst/>
          </a:prstGeom>
          <a:noFill/>
        </p:spPr>
        <p:txBody>
          <a:bodyPr wrap="square" lIns="27432" tIns="27432" rIns="27432" bIns="27432">
            <a:spAutoFit/>
          </a:bodyPr>
          <a:lstStyle/>
          <a:p>
            <a:pPr>
              <a:defRPr sz="1200" b="1">
                <a:solidFill>
                  <a:srgbClr val="78D7C7"/>
                </a:solidFill>
                <a:latin typeface="Aptos"/>
              </a:defRPr>
            </a:pPr>
            <a:r>
              <a:t>PYTHON / COMMAND / SQL</a:t>
            </a:r>
          </a:p>
        </p:txBody>
      </p:sp>
      <p:sp>
        <p:nvSpPr>
          <p:cNvPr id="14" name="TextBox 13"/>
          <p:cNvSpPr txBox="1"/>
          <p:nvPr/>
        </p:nvSpPr>
        <p:spPr>
          <a:xfrm>
            <a:off x="694944" y="2240280"/>
            <a:ext cx="6976872" cy="3602736"/>
          </a:xfrm>
          <a:prstGeom prst="rect">
            <a:avLst/>
          </a:prstGeom>
          <a:noFill/>
        </p:spPr>
        <p:txBody>
          <a:bodyPr wrap="none" lIns="18288" tIns="18288" rIns="18288" bIns="18288">
            <a:spAutoFit/>
          </a:bodyPr>
          <a:lstStyle/>
          <a:p>
            <a:pPr>
              <a:spcAft>
                <a:spcPts val="100"/>
              </a:spcAft>
              <a:defRPr sz="2000">
                <a:solidFill>
                  <a:srgbClr val="E6F5FF"/>
                </a:solidFill>
                <a:latin typeface="Consolas"/>
              </a:defRPr>
            </a:pPr>
            <a:r>
              <a:rPr sz="1930">
                <a:latin typeface="Consolas"/>
              </a:rPr>
              <a:t>price = 100  # store a value</a:t>
            </a:r>
          </a:p>
          <a:p>
            <a:pPr>
              <a:spcAft>
                <a:spcPts val="100"/>
              </a:spcAft>
              <a:defRPr sz="2000">
                <a:solidFill>
                  <a:srgbClr val="E6F5FF"/>
                </a:solidFill>
                <a:latin typeface="Consolas"/>
              </a:defRPr>
            </a:pPr>
            <a:r>
              <a:rPr sz="1930">
                <a:latin typeface="Consolas"/>
              </a:rPr>
              <a:t>quantity = 2  # store a value</a:t>
            </a:r>
          </a:p>
          <a:p>
            <a:pPr>
              <a:spcAft>
                <a:spcPts val="100"/>
              </a:spcAft>
              <a:defRPr sz="2000">
                <a:solidFill>
                  <a:srgbClr val="E6F5FF"/>
                </a:solidFill>
                <a:latin typeface="Consolas"/>
              </a:defRPr>
            </a:pPr>
            <a:r>
              <a:rPr sz="1930">
                <a:latin typeface="Consolas"/>
              </a:rPr>
              <a:t># Wrong: total = price + quantity</a:t>
            </a:r>
          </a:p>
          <a:p>
            <a:pPr>
              <a:spcAft>
                <a:spcPts val="100"/>
              </a:spcAft>
              <a:defRPr sz="2000">
                <a:solidFill>
                  <a:srgbClr val="E6F5FF"/>
                </a:solidFill>
                <a:latin typeface="Consolas"/>
              </a:defRPr>
            </a:pPr>
            <a:r>
              <a:rPr sz="1930">
                <a:latin typeface="Consolas"/>
              </a:rPr>
              <a:t>total = price * quantity  # store a value</a:t>
            </a:r>
          </a:p>
          <a:p>
            <a:pPr>
              <a:spcAft>
                <a:spcPts val="100"/>
              </a:spcAft>
              <a:defRPr sz="2000">
                <a:solidFill>
                  <a:srgbClr val="E6F5FF"/>
                </a:solidFill>
                <a:latin typeface="Consolas"/>
              </a:defRPr>
            </a:pPr>
            <a:r>
              <a:rPr sz="1930">
                <a:latin typeface="Consolas"/>
              </a:rPr>
              <a:t>print(total)  # show the result</a:t>
            </a:r>
          </a:p>
        </p:txBody>
      </p:sp>
      <p:sp>
        <p:nvSpPr>
          <p:cNvPr id="15" name="Rounded Rectangle 14"/>
          <p:cNvSpPr/>
          <p:nvPr/>
        </p:nvSpPr>
        <p:spPr>
          <a:xfrm>
            <a:off x="8092440" y="1709928"/>
            <a:ext cx="3502152" cy="1499616"/>
          </a:xfrm>
          <a:prstGeom prst="roundRect">
            <a:avLst>
              <a:gd name="adj" fmla="val 15000"/>
            </a:avLst>
          </a:prstGeom>
          <a:solidFill>
            <a:srgbClr val="E0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02752" y="1847088"/>
            <a:ext cx="3017520" cy="301752"/>
          </a:xfrm>
          <a:prstGeom prst="rect">
            <a:avLst/>
          </a:prstGeom>
          <a:noFill/>
        </p:spPr>
        <p:txBody>
          <a:bodyPr wrap="square" lIns="27432" tIns="27432" rIns="27432" bIns="27432">
            <a:spAutoFit/>
          </a:bodyPr>
          <a:lstStyle/>
          <a:p>
            <a:r>
              <a:t>LINE-BY-LINE GUIDE</a:t>
            </a:r>
          </a:p>
        </p:txBody>
      </p:sp>
      <p:sp>
        <p:nvSpPr>
          <p:cNvPr id="17" name="TextBox 16"/>
          <p:cNvSpPr txBox="1"/>
          <p:nvPr/>
        </p:nvSpPr>
        <p:spPr>
          <a:xfrm>
            <a:off x="8302752" y="2194560"/>
            <a:ext cx="3035808" cy="859536"/>
          </a:xfrm>
          <a:prstGeom prst="rect">
            <a:avLst/>
          </a:prstGeom>
          <a:noFill/>
        </p:spPr>
        <p:txBody>
          <a:bodyPr wrap="square" lIns="27432" tIns="27432" rIns="27432" bIns="27432">
            <a:spAutoFit/>
          </a:bodyPr>
          <a:lstStyle/>
          <a:p>
            <a:r>
              <a:rPr sz="1300"/>
              <a:t>• Assigns a value or computed result to a variable.</a:t>
            </a:r>
          </a:p>
          <a:p>
            <a:r>
              <a:rPr sz="1300"/>
              <a:t>• Displays information in the notebook output.</a:t>
            </a:r>
          </a:p>
        </p:txBody>
      </p:sp>
      <p:sp>
        <p:nvSpPr>
          <p:cNvPr id="18" name="Rounded Rectangle 17"/>
          <p:cNvSpPr/>
          <p:nvPr/>
        </p:nvSpPr>
        <p:spPr>
          <a:xfrm>
            <a:off x="8092440" y="3392424"/>
            <a:ext cx="3502152" cy="2697480"/>
          </a:xfrm>
          <a:prstGeom prst="roundRect">
            <a:avLst>
              <a:gd name="adj" fmla="val 15000"/>
            </a:avLst>
          </a:prstGeom>
          <a:solidFill>
            <a:srgbClr val="ED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3557016"/>
            <a:ext cx="2990088" cy="256032"/>
          </a:xfrm>
          <a:prstGeom prst="rect">
            <a:avLst/>
          </a:prstGeom>
          <a:noFill/>
        </p:spPr>
        <p:txBody>
          <a:bodyPr wrap="square" lIns="27432" tIns="27432" rIns="27432" bIns="27432">
            <a:spAutoFit/>
          </a:bodyPr>
          <a:lstStyle/>
          <a:p>
            <a:pPr>
              <a:defRPr sz="1400" b="1">
                <a:solidFill>
                  <a:srgbClr val="007F79"/>
                </a:solidFill>
                <a:latin typeface="Aptos"/>
              </a:defRPr>
            </a:pPr>
            <a:r>
              <a:t>EXPECTED OUTPUT</a:t>
            </a:r>
          </a:p>
        </p:txBody>
      </p:sp>
      <p:sp>
        <p:nvSpPr>
          <p:cNvPr id="20" name="TextBox 19"/>
          <p:cNvSpPr txBox="1"/>
          <p:nvPr/>
        </p:nvSpPr>
        <p:spPr>
          <a:xfrm>
            <a:off x="8302752" y="3995928"/>
            <a:ext cx="3008376" cy="1828800"/>
          </a:xfrm>
          <a:prstGeom prst="rect">
            <a:avLst/>
          </a:prstGeom>
          <a:noFill/>
        </p:spPr>
        <p:txBody>
          <a:bodyPr wrap="square" lIns="27432" tIns="27432" rIns="27432" bIns="27432">
            <a:spAutoFit/>
          </a:bodyPr>
          <a:lstStyle/>
          <a:p>
            <a:pPr>
              <a:defRPr sz="1800" b="0">
                <a:solidFill>
                  <a:srgbClr val="15293F"/>
                </a:solidFill>
                <a:latin typeface="Consolas"/>
              </a:defRPr>
            </a:pPr>
            <a:r>
              <a:t>200</a:t>
            </a:r>
          </a:p>
        </p:txBody>
      </p:sp>
    </p:spTree>
    <p:extLst>
      <p:ext uri="{BB962C8B-B14F-4D97-AF65-F5344CB8AC3E}">
        <p14:creationId xmlns:p14="http://schemas.microsoft.com/office/powerpoint/2010/main" val="337033703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572"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573"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TESTING</a:t>
            </a:r>
            <a:endParaRPr lang="en-US" sz="1250" b="0" u="none" strike="noStrike">
              <a:solidFill>
                <a:srgbClr val="000000"/>
              </a:solidFill>
              <a:effectLst/>
              <a:uFillTx/>
              <a:latin typeface="Arial"/>
            </a:endParaRPr>
          </a:p>
        </p:txBody>
      </p:sp>
      <p:sp>
        <p:nvSpPr>
          <p:cNvPr id="1574"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Debugging: find and fix mistakes</a:t>
            </a:r>
            <a:endParaRPr lang="en-US" sz="3400" b="0" u="none" strike="noStrike">
              <a:solidFill>
                <a:srgbClr val="000000"/>
              </a:solidFill>
              <a:effectLst/>
              <a:uFillTx/>
              <a:latin typeface="Arial"/>
            </a:endParaRPr>
          </a:p>
        </p:txBody>
      </p:sp>
      <p:sp>
        <p:nvSpPr>
          <p:cNvPr id="1575"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576"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577"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100</a:t>
            </a:r>
            <a:endParaRPr lang="en-US" sz="1000" b="0" u="none" strike="noStrike">
              <a:solidFill>
                <a:srgbClr val="000000"/>
              </a:solidFill>
              <a:effectLst/>
              <a:uFillTx/>
              <a:latin typeface="Arial"/>
            </a:endParaRPr>
          </a:p>
        </p:txBody>
      </p:sp>
      <p:sp>
        <p:nvSpPr>
          <p:cNvPr id="1578"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79"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580"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9999"/>
          </a:bodyPr>
          <a:lstStyle/>
          <a:p>
            <a:pPr defTabSz="914400">
              <a:lnSpc>
                <a:spcPct val="100000"/>
              </a:lnSpc>
              <a:tabLst>
                <a:tab pos="0" algn="l"/>
              </a:tabLst>
            </a:pPr>
            <a:r>
              <a:rPr lang="en-US" sz="2250" b="1" u="none" strike="noStrike">
                <a:solidFill>
                  <a:srgbClr val="152B42"/>
                </a:solidFill>
                <a:effectLst/>
                <a:uFillTx/>
                <a:latin typeface="Aptos"/>
                <a:ea typeface="Aptos"/>
              </a:rPr>
              <a:t>Debugging means locating why a program behaves incorrectly and correcting it.</a:t>
            </a:r>
            <a:endParaRPr lang="en-US" sz="2250" b="0" u="none" strike="noStrike">
              <a:solidFill>
                <a:srgbClr val="000000"/>
              </a:solidFill>
              <a:effectLst/>
              <a:uFillTx/>
              <a:latin typeface="Arial"/>
            </a:endParaRPr>
          </a:p>
        </p:txBody>
      </p:sp>
      <p:sp>
        <p:nvSpPr>
          <p:cNvPr id="1581"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82"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Reproduce the problem</a:t>
            </a:r>
            <a:endParaRPr lang="en-US" sz="2100" b="0" u="none" strike="noStrike">
              <a:solidFill>
                <a:srgbClr val="000000"/>
              </a:solidFill>
              <a:effectLst/>
              <a:uFillTx/>
              <a:latin typeface="Arial"/>
            </a:endParaRPr>
          </a:p>
        </p:txBody>
      </p:sp>
      <p:sp>
        <p:nvSpPr>
          <p:cNvPr id="1583"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84"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Read the last line of the traceback</a:t>
            </a:r>
            <a:endParaRPr lang="en-US" sz="2100" b="0" u="none" strike="noStrike">
              <a:solidFill>
                <a:srgbClr val="000000"/>
              </a:solidFill>
              <a:effectLst/>
              <a:uFillTx/>
              <a:latin typeface="Arial"/>
            </a:endParaRPr>
          </a:p>
        </p:txBody>
      </p:sp>
      <p:sp>
        <p:nvSpPr>
          <p:cNvPr id="1585"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86"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Check inputs and variable values</a:t>
            </a:r>
            <a:endParaRPr lang="en-US" sz="2100" b="0" u="none" strike="noStrike">
              <a:solidFill>
                <a:srgbClr val="000000"/>
              </a:solidFill>
              <a:effectLst/>
              <a:uFillTx/>
              <a:latin typeface="Arial"/>
            </a:endParaRPr>
          </a:p>
        </p:txBody>
      </p:sp>
      <p:sp>
        <p:nvSpPr>
          <p:cNvPr id="1587"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88"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Fix one issue, then run the code again</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589"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590"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TESTING</a:t>
            </a:r>
            <a:endParaRPr lang="en-US" sz="1250" b="0" u="none" strike="noStrike">
              <a:solidFill>
                <a:srgbClr val="000000"/>
              </a:solidFill>
              <a:effectLst/>
              <a:uFillTx/>
              <a:latin typeface="Arial"/>
            </a:endParaRPr>
          </a:p>
        </p:txBody>
      </p:sp>
      <p:sp>
        <p:nvSpPr>
          <p:cNvPr id="1591"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Debug a common logic error</a:t>
            </a:r>
            <a:endParaRPr lang="en-US" sz="3400" b="0" u="none" strike="noStrike">
              <a:solidFill>
                <a:srgbClr val="000000"/>
              </a:solidFill>
              <a:effectLst/>
              <a:uFillTx/>
              <a:latin typeface="Arial"/>
            </a:endParaRPr>
          </a:p>
        </p:txBody>
      </p:sp>
      <p:sp>
        <p:nvSpPr>
          <p:cNvPr id="1592"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593"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GUIDED EXAMPLE</a:t>
            </a:r>
            <a:endParaRPr lang="en-US" sz="1000" b="0" u="none" strike="noStrike">
              <a:solidFill>
                <a:srgbClr val="000000"/>
              </a:solidFill>
              <a:effectLst/>
              <a:uFillTx/>
              <a:latin typeface="Arial"/>
            </a:endParaRPr>
          </a:p>
        </p:txBody>
      </p:sp>
      <p:sp>
        <p:nvSpPr>
          <p:cNvPr id="1594"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101</a:t>
            </a:r>
            <a:endParaRPr lang="en-US" sz="1000" b="0" u="none" strike="noStrike">
              <a:solidFill>
                <a:srgbClr val="000000"/>
              </a:solidFill>
              <a:effectLst/>
              <a:uFillTx/>
              <a:latin typeface="Arial"/>
            </a:endParaRPr>
          </a:p>
        </p:txBody>
      </p:sp>
      <p:sp>
        <p:nvSpPr>
          <p:cNvPr id="1595" name="Text 6"/>
          <p:cNvSpPr/>
          <p:nvPr/>
        </p:nvSpPr>
        <p:spPr>
          <a:xfrm>
            <a:off x="594360" y="1618560"/>
            <a:ext cx="6674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50" b="1" u="none" strike="noStrike">
                <a:solidFill>
                  <a:srgbClr val="008D87"/>
                </a:solidFill>
                <a:effectLst/>
                <a:uFillTx/>
                <a:latin typeface="Aptos"/>
                <a:ea typeface="Aptos"/>
              </a:rPr>
              <a:t>CODE: READ THE COMMENTS</a:t>
            </a:r>
            <a:endParaRPr lang="en-US" sz="1450" b="0" u="none" strike="noStrike">
              <a:solidFill>
                <a:srgbClr val="000000"/>
              </a:solidFill>
              <a:effectLst/>
              <a:uFillTx/>
              <a:latin typeface="Arial"/>
            </a:endParaRPr>
          </a:p>
        </p:txBody>
      </p:sp>
      <p:sp>
        <p:nvSpPr>
          <p:cNvPr id="1596" name="Shape 7"/>
          <p:cNvSpPr/>
          <p:nvPr/>
        </p:nvSpPr>
        <p:spPr>
          <a:xfrm>
            <a:off x="493920" y="1984320"/>
            <a:ext cx="7177680" cy="4132800"/>
          </a:xfrm>
          <a:prstGeom prst="roundRect">
            <a:avLst>
              <a:gd name="adj" fmla="val 3540"/>
            </a:avLst>
          </a:prstGeom>
          <a:solidFill>
            <a:srgbClr val="17283A"/>
          </a:solidFill>
          <a:ln w="12700">
            <a:solidFill>
              <a:srgbClr val="17283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97" name="Text 8"/>
          <p:cNvSpPr/>
          <p:nvPr/>
        </p:nvSpPr>
        <p:spPr>
          <a:xfrm>
            <a:off x="713160" y="2212920"/>
            <a:ext cx="6757200" cy="360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550" b="0" u="none" strike="noStrike">
                <a:solidFill>
                  <a:srgbClr val="ECF4FA"/>
                </a:solidFill>
                <a:effectLst/>
                <a:uFillTx/>
                <a:latin typeface="DejaVu Sans Mono"/>
                <a:ea typeface="DejaVu Sans Mono"/>
              </a:rPr>
              <a:t>marks = [80, 90, 100]  # Three scores</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 Wrong: dividing by 2 changes the average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average = sum(marks) / len(marks)</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ECF4FA"/>
                </a:solidFill>
                <a:effectLst/>
                <a:uFillTx/>
                <a:latin typeface="DejaVu Sans Mono"/>
                <a:ea typeface="DejaVu Sans Mono"/>
              </a:rPr>
              <a:t>print(average)  # Correct average</a:t>
            </a:r>
            <a:endParaRPr lang="en-US" sz="1550" b="0" u="none" strike="noStrike">
              <a:solidFill>
                <a:srgbClr val="000000"/>
              </a:solidFill>
              <a:effectLst/>
              <a:uFillTx/>
              <a:latin typeface="Arial"/>
            </a:endParaRPr>
          </a:p>
        </p:txBody>
      </p:sp>
      <p:sp>
        <p:nvSpPr>
          <p:cNvPr id="1598" name="Shape 9"/>
          <p:cNvSpPr/>
          <p:nvPr/>
        </p:nvSpPr>
        <p:spPr>
          <a:xfrm>
            <a:off x="7900560" y="1984320"/>
            <a:ext cx="3785400" cy="2761200"/>
          </a:xfrm>
          <a:prstGeom prst="roundRect">
            <a:avLst>
              <a:gd name="adj" fmla="val 5298"/>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99" name="Text 10"/>
          <p:cNvSpPr/>
          <p:nvPr/>
        </p:nvSpPr>
        <p:spPr>
          <a:xfrm>
            <a:off x="8119800" y="2231280"/>
            <a:ext cx="3254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50" b="1" u="none" strike="noStrike">
                <a:solidFill>
                  <a:srgbClr val="008D87"/>
                </a:solidFill>
                <a:effectLst/>
                <a:uFillTx/>
                <a:latin typeface="Aptos"/>
                <a:ea typeface="Aptos"/>
              </a:rPr>
              <a:t>WHAT TO NOTICE</a:t>
            </a:r>
            <a:endParaRPr lang="en-US" sz="1550" b="0" u="none" strike="noStrike">
              <a:solidFill>
                <a:srgbClr val="000000"/>
              </a:solidFill>
              <a:effectLst/>
              <a:uFillTx/>
              <a:latin typeface="Arial"/>
            </a:endParaRPr>
          </a:p>
        </p:txBody>
      </p:sp>
      <p:sp>
        <p:nvSpPr>
          <p:cNvPr id="1600" name="Text 11"/>
          <p:cNvSpPr/>
          <p:nvPr/>
        </p:nvSpPr>
        <p:spPr>
          <a:xfrm>
            <a:off x="8129160" y="266076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Sum marks</a:t>
            </a:r>
            <a:endParaRPr lang="en-US" sz="1750" b="0" u="none" strike="noStrike">
              <a:solidFill>
                <a:srgbClr val="000000"/>
              </a:solidFill>
              <a:effectLst/>
              <a:uFillTx/>
              <a:latin typeface="Arial"/>
            </a:endParaRPr>
          </a:p>
        </p:txBody>
      </p:sp>
      <p:sp>
        <p:nvSpPr>
          <p:cNvPr id="1601" name="Text 12"/>
          <p:cNvSpPr/>
          <p:nvPr/>
        </p:nvSpPr>
        <p:spPr>
          <a:xfrm>
            <a:off x="8129160" y="318204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Divide by count (3)</a:t>
            </a:r>
            <a:endParaRPr lang="en-US" sz="1750" b="0" u="none" strike="noStrike">
              <a:solidFill>
                <a:srgbClr val="000000"/>
              </a:solidFill>
              <a:effectLst/>
              <a:uFillTx/>
              <a:latin typeface="Arial"/>
            </a:endParaRPr>
          </a:p>
        </p:txBody>
      </p:sp>
      <p:sp>
        <p:nvSpPr>
          <p:cNvPr id="1602" name="Text 13"/>
          <p:cNvSpPr/>
          <p:nvPr/>
        </p:nvSpPr>
        <p:spPr>
          <a:xfrm>
            <a:off x="8129160" y="3703320"/>
            <a:ext cx="3254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0" u="none" strike="noStrike">
                <a:solidFill>
                  <a:srgbClr val="152B42"/>
                </a:solidFill>
                <a:effectLst/>
                <a:uFillTx/>
                <a:latin typeface="Aptos"/>
                <a:ea typeface="Aptos"/>
              </a:rPr>
              <a:t>• Result should be 90.0</a:t>
            </a:r>
            <a:endParaRPr lang="en-US" sz="1750" b="0" u="none" strike="noStrike">
              <a:solidFill>
                <a:srgbClr val="000000"/>
              </a:solidFill>
              <a:effectLst/>
              <a:uFillTx/>
              <a:latin typeface="Arial"/>
            </a:endParaRPr>
          </a:p>
        </p:txBody>
      </p:sp>
      <p:sp>
        <p:nvSpPr>
          <p:cNvPr id="1603" name="Shape 14"/>
          <p:cNvSpPr/>
          <p:nvPr/>
        </p:nvSpPr>
        <p:spPr>
          <a:xfrm>
            <a:off x="7900560" y="4901040"/>
            <a:ext cx="3785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04" name="Text 15"/>
          <p:cNvSpPr/>
          <p:nvPr/>
        </p:nvSpPr>
        <p:spPr>
          <a:xfrm>
            <a:off x="8129160" y="5111640"/>
            <a:ext cx="3254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8D87"/>
                </a:solidFill>
                <a:effectLst/>
                <a:uFillTx/>
                <a:latin typeface="Aptos"/>
                <a:ea typeface="Aptos"/>
              </a:rPr>
              <a:t>EXPECTED OUTPUT</a:t>
            </a:r>
            <a:endParaRPr lang="en-US" sz="1300" b="0" u="none" strike="noStrike">
              <a:solidFill>
                <a:srgbClr val="000000"/>
              </a:solidFill>
              <a:effectLst/>
              <a:uFillTx/>
              <a:latin typeface="Arial"/>
            </a:endParaRPr>
          </a:p>
        </p:txBody>
      </p:sp>
      <p:sp>
        <p:nvSpPr>
          <p:cNvPr id="1605" name="Text 16"/>
          <p:cNvSpPr/>
          <p:nvPr/>
        </p:nvSpPr>
        <p:spPr>
          <a:xfrm>
            <a:off x="8138160" y="5449680"/>
            <a:ext cx="3218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20" b="1" u="none" strike="noStrike">
                <a:solidFill>
                  <a:srgbClr val="152B42"/>
                </a:solidFill>
                <a:effectLst/>
                <a:uFillTx/>
                <a:latin typeface="DejaVu Sans Mono"/>
                <a:ea typeface="DejaVu Sans Mono"/>
              </a:rPr>
              <a:t>90.0</a:t>
            </a:r>
            <a:endParaRPr lang="en-US" sz="16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1606"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07"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NEXT STEPS</a:t>
            </a:r>
            <a:endParaRPr lang="en-US" sz="1700" b="0" u="none" strike="noStrike">
              <a:solidFill>
                <a:srgbClr val="FFFFFF"/>
              </a:solidFill>
              <a:effectLst/>
              <a:uFillTx/>
              <a:latin typeface="Arial"/>
            </a:endParaRPr>
          </a:p>
        </p:txBody>
      </p:sp>
      <p:sp>
        <p:nvSpPr>
          <p:cNvPr id="1608"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From Python to a Small Web App</a:t>
            </a:r>
            <a:endParaRPr lang="en-US" sz="4500" b="0" u="none" strike="noStrike">
              <a:solidFill>
                <a:srgbClr val="FFFFFF"/>
              </a:solidFill>
              <a:effectLst/>
              <a:uFillTx/>
              <a:latin typeface="Arial"/>
            </a:endParaRPr>
          </a:p>
        </p:txBody>
      </p:sp>
      <p:sp>
        <p:nvSpPr>
          <p:cNvPr id="1609"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Recognise the tools; full coding can come later.</a:t>
            </a:r>
            <a:endParaRPr lang="en-US" sz="2400" b="0" u="none" strike="noStrike">
              <a:solidFill>
                <a:srgbClr val="FFFFFF"/>
              </a:solidFill>
              <a:effectLst/>
              <a:uFillTx/>
              <a:latin typeface="Arial"/>
            </a:endParaRPr>
          </a:p>
        </p:txBody>
      </p:sp>
      <p:sp>
        <p:nvSpPr>
          <p:cNvPr id="1610"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611"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612"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NEXT STEPS</a:t>
            </a:r>
            <a:endParaRPr lang="en-US" sz="1250" b="0" u="none" strike="noStrike">
              <a:solidFill>
                <a:srgbClr val="000000"/>
              </a:solidFill>
              <a:effectLst/>
              <a:uFillTx/>
              <a:latin typeface="Arial"/>
            </a:endParaRPr>
          </a:p>
        </p:txBody>
      </p:sp>
      <p:sp>
        <p:nvSpPr>
          <p:cNvPr id="1613"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is FastAPI?</a:t>
            </a:r>
            <a:endParaRPr lang="en-US" sz="3400" b="0" u="none" strike="noStrike">
              <a:solidFill>
                <a:srgbClr val="000000"/>
              </a:solidFill>
              <a:effectLst/>
              <a:uFillTx/>
              <a:latin typeface="Arial"/>
            </a:endParaRPr>
          </a:p>
        </p:txBody>
      </p:sp>
      <p:sp>
        <p:nvSpPr>
          <p:cNvPr id="1614"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615"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616"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103</a:t>
            </a:r>
            <a:endParaRPr lang="en-US" sz="1000" b="0" u="none" strike="noStrike">
              <a:solidFill>
                <a:srgbClr val="000000"/>
              </a:solidFill>
              <a:effectLst/>
              <a:uFillTx/>
              <a:latin typeface="Arial"/>
            </a:endParaRPr>
          </a:p>
        </p:txBody>
      </p:sp>
      <p:sp>
        <p:nvSpPr>
          <p:cNvPr id="1617"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18"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619"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defTabSz="914400">
              <a:lnSpc>
                <a:spcPct val="100000"/>
              </a:lnSpc>
              <a:tabLst>
                <a:tab pos="0" algn="l"/>
              </a:tabLst>
            </a:pPr>
            <a:r>
              <a:rPr lang="en-US" sz="2250" b="1" u="none" strike="noStrike">
                <a:solidFill>
                  <a:srgbClr val="152B42"/>
                </a:solidFill>
                <a:effectLst/>
                <a:uFillTx/>
                <a:latin typeface="Aptos"/>
                <a:ea typeface="Aptos"/>
              </a:rPr>
              <a:t>FastAPI helps Python programs provide information to other applications through web endpoints.</a:t>
            </a:r>
            <a:endParaRPr lang="en-US" sz="2250" b="0" u="none" strike="noStrike">
              <a:solidFill>
                <a:srgbClr val="000000"/>
              </a:solidFill>
              <a:effectLst/>
              <a:uFillTx/>
              <a:latin typeface="Arial"/>
            </a:endParaRPr>
          </a:p>
        </p:txBody>
      </p:sp>
      <p:sp>
        <p:nvSpPr>
          <p:cNvPr id="1620"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21"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 route such as /tasks tells the API what to return</a:t>
            </a:r>
            <a:endParaRPr lang="en-US" sz="2100" b="0" u="none" strike="noStrike">
              <a:solidFill>
                <a:srgbClr val="000000"/>
              </a:solidFill>
              <a:effectLst/>
              <a:uFillTx/>
              <a:latin typeface="Arial"/>
            </a:endParaRPr>
          </a:p>
        </p:txBody>
      </p:sp>
      <p:sp>
        <p:nvSpPr>
          <p:cNvPr id="1622"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23"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GET commonly reads; POST commonly creates</a:t>
            </a:r>
            <a:endParaRPr lang="en-US" sz="2100" b="0" u="none" strike="noStrike">
              <a:solidFill>
                <a:srgbClr val="000000"/>
              </a:solidFill>
              <a:effectLst/>
              <a:uFillTx/>
              <a:latin typeface="Arial"/>
            </a:endParaRPr>
          </a:p>
        </p:txBody>
      </p:sp>
      <p:sp>
        <p:nvSpPr>
          <p:cNvPr id="1624"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25"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Pydantic checks incoming data</a:t>
            </a:r>
            <a:endParaRPr lang="en-US" sz="2100" b="0" u="none" strike="noStrike">
              <a:solidFill>
                <a:srgbClr val="000000"/>
              </a:solidFill>
              <a:effectLst/>
              <a:uFillTx/>
              <a:latin typeface="Arial"/>
            </a:endParaRPr>
          </a:p>
        </p:txBody>
      </p:sp>
      <p:sp>
        <p:nvSpPr>
          <p:cNvPr id="1626"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27"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Automatic docs help us try endpoints</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628"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629"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NEXT STEPS</a:t>
            </a:r>
            <a:endParaRPr lang="en-US" sz="1250" b="0" u="none" strike="noStrike">
              <a:solidFill>
                <a:srgbClr val="000000"/>
              </a:solidFill>
              <a:effectLst/>
              <a:uFillTx/>
              <a:latin typeface="Arial"/>
            </a:endParaRPr>
          </a:p>
        </p:txBody>
      </p:sp>
      <p:sp>
        <p:nvSpPr>
          <p:cNvPr id="1630"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What are Pydantic and Streamlit?</a:t>
            </a:r>
            <a:endParaRPr lang="en-US" sz="3400" b="0" u="none" strike="noStrike">
              <a:solidFill>
                <a:srgbClr val="000000"/>
              </a:solidFill>
              <a:effectLst/>
              <a:uFillTx/>
              <a:latin typeface="Arial"/>
            </a:endParaRPr>
          </a:p>
        </p:txBody>
      </p:sp>
      <p:sp>
        <p:nvSpPr>
          <p:cNvPr id="1631"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632"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633"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104</a:t>
            </a:r>
            <a:endParaRPr lang="en-US" sz="1000" b="0" u="none" strike="noStrike">
              <a:solidFill>
                <a:srgbClr val="000000"/>
              </a:solidFill>
              <a:effectLst/>
              <a:uFillTx/>
              <a:latin typeface="Arial"/>
            </a:endParaRPr>
          </a:p>
        </p:txBody>
      </p:sp>
      <p:sp>
        <p:nvSpPr>
          <p:cNvPr id="1634"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35"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636"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Pydantic checks data; Streamlit makes simple web interfaces with Python.</a:t>
            </a:r>
            <a:endParaRPr lang="en-US" sz="2250" b="0" u="none" strike="noStrike">
              <a:solidFill>
                <a:srgbClr val="000000"/>
              </a:solidFill>
              <a:effectLst/>
              <a:uFillTx/>
              <a:latin typeface="Arial"/>
            </a:endParaRPr>
          </a:p>
        </p:txBody>
      </p:sp>
      <p:sp>
        <p:nvSpPr>
          <p:cNvPr id="1637"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38"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Pydantic: check fields such as title: str</a:t>
            </a:r>
            <a:endParaRPr lang="en-US" sz="2100" b="0" u="none" strike="noStrike">
              <a:solidFill>
                <a:srgbClr val="000000"/>
              </a:solidFill>
              <a:effectLst/>
              <a:uFillTx/>
              <a:latin typeface="Arial"/>
            </a:endParaRPr>
          </a:p>
        </p:txBody>
      </p:sp>
      <p:sp>
        <p:nvSpPr>
          <p:cNvPr id="1639"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40"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Streamlit: show buttons, inputs and task tables</a:t>
            </a:r>
            <a:endParaRPr lang="en-US" sz="2100" b="0" u="none" strike="noStrike">
              <a:solidFill>
                <a:srgbClr val="000000"/>
              </a:solidFill>
              <a:effectLst/>
              <a:uFillTx/>
              <a:latin typeface="Arial"/>
            </a:endParaRPr>
          </a:p>
        </p:txBody>
      </p:sp>
      <p:sp>
        <p:nvSpPr>
          <p:cNvPr id="1641"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42"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FastAPI: send and receive information</a:t>
            </a:r>
            <a:endParaRPr lang="en-US" sz="2100" b="0" u="none" strike="noStrike">
              <a:solidFill>
                <a:srgbClr val="000000"/>
              </a:solidFill>
              <a:effectLst/>
              <a:uFillTx/>
              <a:latin typeface="Arial"/>
            </a:endParaRPr>
          </a:p>
        </p:txBody>
      </p:sp>
      <p:sp>
        <p:nvSpPr>
          <p:cNvPr id="1643"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44"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We can connect these tools in a later project</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645"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646"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NEXT STEPS</a:t>
            </a:r>
            <a:endParaRPr lang="en-US" sz="1250" b="0" u="none" strike="noStrike">
              <a:solidFill>
                <a:srgbClr val="000000"/>
              </a:solidFill>
              <a:effectLst/>
              <a:uFillTx/>
              <a:latin typeface="Arial"/>
            </a:endParaRPr>
          </a:p>
        </p:txBody>
      </p:sp>
      <p:sp>
        <p:nvSpPr>
          <p:cNvPr id="1647"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Where to use each tool</a:t>
            </a:r>
            <a:endParaRPr lang="en-US" sz="3400" b="0" u="none" strike="noStrike">
              <a:solidFill>
                <a:srgbClr val="000000"/>
              </a:solidFill>
              <a:effectLst/>
              <a:uFillTx/>
              <a:latin typeface="Arial"/>
            </a:endParaRPr>
          </a:p>
        </p:txBody>
      </p:sp>
      <p:sp>
        <p:nvSpPr>
          <p:cNvPr id="1648"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649"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FOLLOW THESE STEPS</a:t>
            </a:r>
            <a:endParaRPr lang="en-US" sz="1000" b="0" u="none" strike="noStrike">
              <a:solidFill>
                <a:srgbClr val="000000"/>
              </a:solidFill>
              <a:effectLst/>
              <a:uFillTx/>
              <a:latin typeface="Arial"/>
            </a:endParaRPr>
          </a:p>
        </p:txBody>
      </p:sp>
      <p:sp>
        <p:nvSpPr>
          <p:cNvPr id="1650"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105</a:t>
            </a:r>
            <a:endParaRPr lang="en-US" sz="1000" b="0" u="none" strike="noStrike">
              <a:solidFill>
                <a:srgbClr val="000000"/>
              </a:solidFill>
              <a:effectLst/>
              <a:uFillTx/>
              <a:latin typeface="Arial"/>
            </a:endParaRPr>
          </a:p>
        </p:txBody>
      </p:sp>
      <p:sp>
        <p:nvSpPr>
          <p:cNvPr id="1651" name="Shape 6"/>
          <p:cNvSpPr/>
          <p:nvPr/>
        </p:nvSpPr>
        <p:spPr>
          <a:xfrm>
            <a:off x="612720" y="171900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52" name="Shape 7"/>
          <p:cNvSpPr/>
          <p:nvPr/>
        </p:nvSpPr>
        <p:spPr>
          <a:xfrm>
            <a:off x="786240" y="186552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53" name="Text 8"/>
          <p:cNvSpPr/>
          <p:nvPr/>
        </p:nvSpPr>
        <p:spPr>
          <a:xfrm>
            <a:off x="868680" y="192024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1</a:t>
            </a:r>
            <a:endParaRPr lang="en-US" sz="1200" b="0" u="none" strike="noStrike">
              <a:solidFill>
                <a:srgbClr val="000000"/>
              </a:solidFill>
              <a:effectLst/>
              <a:uFillTx/>
              <a:latin typeface="Arial"/>
            </a:endParaRPr>
          </a:p>
        </p:txBody>
      </p:sp>
      <p:sp>
        <p:nvSpPr>
          <p:cNvPr id="1654" name="Text 9"/>
          <p:cNvSpPr/>
          <p:nvPr/>
        </p:nvSpPr>
        <p:spPr>
          <a:xfrm>
            <a:off x="1334880" y="185616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Google Colab: Python examples, files, JSON, classes and SQLite</a:t>
            </a:r>
            <a:endParaRPr lang="en-US" sz="2020" b="0" u="none" strike="noStrike">
              <a:solidFill>
                <a:srgbClr val="000000"/>
              </a:solidFill>
              <a:effectLst/>
              <a:uFillTx/>
              <a:latin typeface="Arial"/>
            </a:endParaRPr>
          </a:p>
        </p:txBody>
      </p:sp>
      <p:sp>
        <p:nvSpPr>
          <p:cNvPr id="1655" name="Shape 10"/>
          <p:cNvSpPr/>
          <p:nvPr/>
        </p:nvSpPr>
        <p:spPr>
          <a:xfrm>
            <a:off x="612720" y="2468880"/>
            <a:ext cx="10972440" cy="621360"/>
          </a:xfrm>
          <a:prstGeom prst="roundRect">
            <a:avLst>
              <a:gd name="adj" fmla="val 23529"/>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56" name="Shape 11"/>
          <p:cNvSpPr/>
          <p:nvPr/>
        </p:nvSpPr>
        <p:spPr>
          <a:xfrm>
            <a:off x="786240" y="261504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57" name="Text 12"/>
          <p:cNvSpPr/>
          <p:nvPr/>
        </p:nvSpPr>
        <p:spPr>
          <a:xfrm>
            <a:off x="868680" y="267012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2</a:t>
            </a:r>
            <a:endParaRPr lang="en-US" sz="1200" b="0" u="none" strike="noStrike">
              <a:solidFill>
                <a:srgbClr val="000000"/>
              </a:solidFill>
              <a:effectLst/>
              <a:uFillTx/>
              <a:latin typeface="Arial"/>
            </a:endParaRPr>
          </a:p>
        </p:txBody>
      </p:sp>
      <p:sp>
        <p:nvSpPr>
          <p:cNvPr id="1658" name="Text 13"/>
          <p:cNvSpPr/>
          <p:nvPr/>
        </p:nvSpPr>
        <p:spPr>
          <a:xfrm>
            <a:off x="1334880" y="260604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GitHub: store code and show your project history</a:t>
            </a:r>
            <a:endParaRPr lang="en-US" sz="2020" b="0" u="none" strike="noStrike">
              <a:solidFill>
                <a:srgbClr val="000000"/>
              </a:solidFill>
              <a:effectLst/>
              <a:uFillTx/>
              <a:latin typeface="Arial"/>
            </a:endParaRPr>
          </a:p>
        </p:txBody>
      </p:sp>
      <p:sp>
        <p:nvSpPr>
          <p:cNvPr id="1659" name="Shape 14"/>
          <p:cNvSpPr/>
          <p:nvPr/>
        </p:nvSpPr>
        <p:spPr>
          <a:xfrm>
            <a:off x="612720" y="321876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60" name="Shape 15"/>
          <p:cNvSpPr/>
          <p:nvPr/>
        </p:nvSpPr>
        <p:spPr>
          <a:xfrm>
            <a:off x="786240" y="336492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61" name="Text 16"/>
          <p:cNvSpPr/>
          <p:nvPr/>
        </p:nvSpPr>
        <p:spPr>
          <a:xfrm>
            <a:off x="868680" y="342000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3</a:t>
            </a:r>
            <a:endParaRPr lang="en-US" sz="1200" b="0" u="none" strike="noStrike">
              <a:solidFill>
                <a:srgbClr val="000000"/>
              </a:solidFill>
              <a:effectLst/>
              <a:uFillTx/>
              <a:latin typeface="Arial"/>
            </a:endParaRPr>
          </a:p>
        </p:txBody>
      </p:sp>
      <p:sp>
        <p:nvSpPr>
          <p:cNvPr id="1662" name="Text 17"/>
          <p:cNvSpPr/>
          <p:nvPr/>
        </p:nvSpPr>
        <p:spPr>
          <a:xfrm>
            <a:off x="1334880" y="335592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GitHub Codespaces: optional browser-based project workspace</a:t>
            </a:r>
            <a:endParaRPr lang="en-US" sz="2020" b="0" u="none" strike="noStrike">
              <a:solidFill>
                <a:srgbClr val="000000"/>
              </a:solidFill>
              <a:effectLst/>
              <a:uFillTx/>
              <a:latin typeface="Arial"/>
            </a:endParaRPr>
          </a:p>
        </p:txBody>
      </p:sp>
      <p:sp>
        <p:nvSpPr>
          <p:cNvPr id="1663" name="Shape 18"/>
          <p:cNvSpPr/>
          <p:nvPr/>
        </p:nvSpPr>
        <p:spPr>
          <a:xfrm>
            <a:off x="612720" y="3968640"/>
            <a:ext cx="10972440" cy="621360"/>
          </a:xfrm>
          <a:prstGeom prst="roundRect">
            <a:avLst>
              <a:gd name="adj" fmla="val 23529"/>
            </a:avLst>
          </a:prstGeom>
          <a:solidFill>
            <a:srgbClr val="FFFFFF"/>
          </a:solidFill>
          <a:ln w="12700">
            <a:solidFill>
              <a:srgbClr val="D9E4E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64" name="Shape 19"/>
          <p:cNvSpPr/>
          <p:nvPr/>
        </p:nvSpPr>
        <p:spPr>
          <a:xfrm>
            <a:off x="786240" y="411480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65" name="Text 20"/>
          <p:cNvSpPr/>
          <p:nvPr/>
        </p:nvSpPr>
        <p:spPr>
          <a:xfrm>
            <a:off x="868680" y="416952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4</a:t>
            </a:r>
            <a:endParaRPr lang="en-US" sz="1200" b="0" u="none" strike="noStrike">
              <a:solidFill>
                <a:srgbClr val="000000"/>
              </a:solidFill>
              <a:effectLst/>
              <a:uFillTx/>
              <a:latin typeface="Arial"/>
            </a:endParaRPr>
          </a:p>
        </p:txBody>
      </p:sp>
      <p:sp>
        <p:nvSpPr>
          <p:cNvPr id="1666" name="Text 21"/>
          <p:cNvSpPr/>
          <p:nvPr/>
        </p:nvSpPr>
        <p:spPr>
          <a:xfrm>
            <a:off x="1334880" y="410580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FastAPI / Streamlit: optional follow-up web app</a:t>
            </a:r>
            <a:endParaRPr lang="en-US" sz="2020" b="0" u="none" strike="noStrike">
              <a:solidFill>
                <a:srgbClr val="000000"/>
              </a:solidFill>
              <a:effectLst/>
              <a:uFillTx/>
              <a:latin typeface="Arial"/>
            </a:endParaRPr>
          </a:p>
        </p:txBody>
      </p:sp>
      <p:sp>
        <p:nvSpPr>
          <p:cNvPr id="1667" name="Shape 22"/>
          <p:cNvSpPr/>
          <p:nvPr/>
        </p:nvSpPr>
        <p:spPr>
          <a:xfrm>
            <a:off x="612720" y="4718160"/>
            <a:ext cx="10972440" cy="621360"/>
          </a:xfrm>
          <a:prstGeom prst="roundRect">
            <a:avLst>
              <a:gd name="adj" fmla="val 23529"/>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68" name="Shape 23"/>
          <p:cNvSpPr/>
          <p:nvPr/>
        </p:nvSpPr>
        <p:spPr>
          <a:xfrm>
            <a:off x="786240" y="4864680"/>
            <a:ext cx="356400" cy="35640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69" name="Text 24"/>
          <p:cNvSpPr/>
          <p:nvPr/>
        </p:nvSpPr>
        <p:spPr>
          <a:xfrm>
            <a:off x="868680" y="4919400"/>
            <a:ext cx="1825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00" b="1" u="none" strike="noStrike">
                <a:solidFill>
                  <a:srgbClr val="FFFFFF"/>
                </a:solidFill>
                <a:effectLst/>
                <a:uFillTx/>
                <a:latin typeface="Aptos"/>
                <a:ea typeface="Aptos"/>
              </a:rPr>
              <a:t>5</a:t>
            </a:r>
            <a:endParaRPr lang="en-US" sz="1200" b="0" u="none" strike="noStrike">
              <a:solidFill>
                <a:srgbClr val="000000"/>
              </a:solidFill>
              <a:effectLst/>
              <a:uFillTx/>
              <a:latin typeface="Arial"/>
            </a:endParaRPr>
          </a:p>
        </p:txBody>
      </p:sp>
      <p:sp>
        <p:nvSpPr>
          <p:cNvPr id="1670" name="Text 25"/>
          <p:cNvSpPr/>
          <p:nvPr/>
        </p:nvSpPr>
        <p:spPr>
          <a:xfrm>
            <a:off x="1334880" y="4855320"/>
            <a:ext cx="9875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20" b="0" u="none" strike="noStrike">
                <a:solidFill>
                  <a:srgbClr val="152B42"/>
                </a:solidFill>
                <a:effectLst/>
                <a:uFillTx/>
                <a:latin typeface="Aptos"/>
                <a:ea typeface="Aptos"/>
              </a:rPr>
              <a:t>Never share real API keys in notebooks or repositories</a:t>
            </a:r>
            <a:endParaRPr lang="en-US" sz="202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152B42"/>
        </a:solidFill>
        <a:effectLst/>
      </p:bgPr>
    </p:bg>
    <p:spTree>
      <p:nvGrpSpPr>
        <p:cNvPr id="1" name=""/>
        <p:cNvGrpSpPr/>
        <p:nvPr/>
      </p:nvGrpSpPr>
      <p:grpSpPr>
        <a:xfrm>
          <a:off x="0" y="0"/>
          <a:ext cx="0" cy="0"/>
          <a:chOff x="0" y="0"/>
          <a:chExt cx="0" cy="0"/>
        </a:xfrm>
      </p:grpSpPr>
      <p:sp>
        <p:nvSpPr>
          <p:cNvPr id="1671" name="Shape 0"/>
          <p:cNvSpPr/>
          <p:nvPr/>
        </p:nvSpPr>
        <p:spPr>
          <a:xfrm>
            <a:off x="0" y="0"/>
            <a:ext cx="12191400" cy="11844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72" name="Text 1"/>
          <p:cNvSpPr/>
          <p:nvPr/>
        </p:nvSpPr>
        <p:spPr>
          <a:xfrm>
            <a:off x="685800" y="11613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spc="300">
                <a:solidFill>
                  <a:srgbClr val="88DAD0"/>
                </a:solidFill>
                <a:effectLst/>
                <a:uFillTx/>
                <a:latin typeface="Aptos"/>
                <a:ea typeface="Aptos"/>
              </a:rPr>
              <a:t>MINI PROJECT</a:t>
            </a:r>
            <a:endParaRPr lang="en-US" sz="1700" b="0" u="none" strike="noStrike">
              <a:solidFill>
                <a:srgbClr val="FFFFFF"/>
              </a:solidFill>
              <a:effectLst/>
              <a:uFillTx/>
              <a:latin typeface="Arial"/>
            </a:endParaRPr>
          </a:p>
        </p:txBody>
      </p:sp>
      <p:sp>
        <p:nvSpPr>
          <p:cNvPr id="1673" name="Text 2"/>
          <p:cNvSpPr/>
          <p:nvPr/>
        </p:nvSpPr>
        <p:spPr>
          <a:xfrm>
            <a:off x="658440" y="1956960"/>
            <a:ext cx="10789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500" b="1" u="none" strike="noStrike">
                <a:solidFill>
                  <a:srgbClr val="FFFFFF"/>
                </a:solidFill>
                <a:effectLst/>
                <a:uFillTx/>
                <a:latin typeface="Aptos"/>
                <a:ea typeface="Aptos"/>
              </a:rPr>
              <a:t>A Simple Task Tracker</a:t>
            </a:r>
            <a:endParaRPr lang="en-US" sz="4500" b="0" u="none" strike="noStrike">
              <a:solidFill>
                <a:srgbClr val="FFFFFF"/>
              </a:solidFill>
              <a:effectLst/>
              <a:uFillTx/>
              <a:latin typeface="Arial"/>
            </a:endParaRPr>
          </a:p>
        </p:txBody>
      </p:sp>
      <p:sp>
        <p:nvSpPr>
          <p:cNvPr id="1674" name="Text 3"/>
          <p:cNvSpPr/>
          <p:nvPr/>
        </p:nvSpPr>
        <p:spPr>
          <a:xfrm>
            <a:off x="685800" y="3474720"/>
            <a:ext cx="10423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0" u="none" strike="noStrike">
                <a:solidFill>
                  <a:srgbClr val="D9E7EF"/>
                </a:solidFill>
                <a:effectLst/>
                <a:uFillTx/>
                <a:latin typeface="Aptos"/>
                <a:ea typeface="Aptos"/>
              </a:rPr>
              <a:t>Build it gradually, not all at once.</a:t>
            </a:r>
            <a:endParaRPr lang="en-US" sz="2400" b="0" u="none" strike="noStrike">
              <a:solidFill>
                <a:srgbClr val="FFFFFF"/>
              </a:solidFill>
              <a:effectLst/>
              <a:uFillTx/>
              <a:latin typeface="Arial"/>
            </a:endParaRPr>
          </a:p>
        </p:txBody>
      </p:sp>
      <p:sp>
        <p:nvSpPr>
          <p:cNvPr id="1675" name="Text 4"/>
          <p:cNvSpPr/>
          <p:nvPr/>
        </p:nvSpPr>
        <p:spPr>
          <a:xfrm>
            <a:off x="713160" y="604404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FD7D8"/>
                </a:solidFill>
                <a:effectLst/>
                <a:uFillTx/>
                <a:latin typeface="Aptos"/>
                <a:ea typeface="Aptos"/>
              </a:rPr>
              <a:t>One idea at a time • Google Colab for Python</a:t>
            </a:r>
            <a:endParaRPr lang="en-US"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8580" cy="6858000"/>
          </a:xfrm>
          <a:prstGeom prst="rect">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73736"/>
            <a:ext cx="10972800" cy="274320"/>
          </a:xfrm>
          <a:prstGeom prst="rect">
            <a:avLst/>
          </a:prstGeom>
          <a:noFill/>
        </p:spPr>
        <p:txBody>
          <a:bodyPr wrap="square" lIns="27432" tIns="13716" rIns="27432" bIns="0">
            <a:spAutoFit/>
          </a:bodyPr>
          <a:lstStyle/>
          <a:p>
            <a:pPr>
              <a:lnSpc>
                <a:spcPct val="105000"/>
              </a:lnSpc>
              <a:spcAft>
                <a:spcPts val="0"/>
              </a:spcAft>
              <a:defRPr sz="1300" b="1">
                <a:solidFill>
                  <a:srgbClr val="008E87"/>
                </a:solidFill>
                <a:latin typeface="Aptos"/>
              </a:defRPr>
            </a:pPr>
            <a:r>
              <a:t>MINI PROJECT</a:t>
            </a:r>
          </a:p>
        </p:txBody>
      </p:sp>
      <p:sp>
        <p:nvSpPr>
          <p:cNvPr id="5" name="TextBox 4"/>
          <p:cNvSpPr txBox="1"/>
          <p:nvPr/>
        </p:nvSpPr>
        <p:spPr>
          <a:xfrm>
            <a:off x="438912" y="484632"/>
            <a:ext cx="11292840" cy="621792"/>
          </a:xfrm>
          <a:prstGeom prst="rect">
            <a:avLst/>
          </a:prstGeom>
          <a:noFill/>
        </p:spPr>
        <p:txBody>
          <a:bodyPr wrap="square" lIns="27432" tIns="13716" rIns="27432" bIns="0">
            <a:spAutoFit/>
          </a:bodyPr>
          <a:lstStyle/>
          <a:p>
            <a:pPr>
              <a:lnSpc>
                <a:spcPct val="105000"/>
              </a:lnSpc>
              <a:spcAft>
                <a:spcPts val="0"/>
              </a:spcAft>
              <a:defRPr sz="3000" b="0">
                <a:solidFill>
                  <a:srgbClr val="172B43"/>
                </a:solidFill>
                <a:latin typeface="Aptos"/>
              </a:defRPr>
            </a:pPr>
            <a:r>
              <a:t>Easy Task Tracker: Python + JSON + GitHub</a:t>
            </a:r>
          </a:p>
        </p:txBody>
      </p:sp>
      <p:sp>
        <p:nvSpPr>
          <p:cNvPr id="6" name="Rectangle 5"/>
          <p:cNvSpPr/>
          <p:nvPr/>
        </p:nvSpPr>
        <p:spPr>
          <a:xfrm>
            <a:off x="438912" y="1179576"/>
            <a:ext cx="11247120" cy="17373"/>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9144000" cy="173736"/>
          </a:xfrm>
          <a:prstGeom prst="rect">
            <a:avLst/>
          </a:prstGeom>
          <a:noFill/>
        </p:spPr>
        <p:txBody>
          <a:bodyPr wrap="square" lIns="27432" tIns="13716" rIns="27432" bIns="0">
            <a:spAutoFit/>
          </a:bodyPr>
          <a:lstStyle/>
          <a:p>
            <a:pPr>
              <a:lnSpc>
                <a:spcPct val="105000"/>
              </a:lnSpc>
              <a:spcAft>
                <a:spcPts val="0"/>
              </a:spcAft>
              <a:defRPr sz="900" b="0">
                <a:solidFill>
                  <a:srgbClr val="536679"/>
                </a:solidFill>
                <a:latin typeface="Aptos"/>
              </a:defRPr>
            </a:pPr>
            <a:r>
              <a:t>MINI PROJECT  |  PYTHON + GITHUB</a:t>
            </a:r>
          </a:p>
        </p:txBody>
      </p:sp>
      <p:sp>
        <p:nvSpPr>
          <p:cNvPr id="8" name="Rounded Rectangle 7"/>
          <p:cNvSpPr/>
          <p:nvPr/>
        </p:nvSpPr>
        <p:spPr>
          <a:xfrm>
            <a:off x="457200" y="1399032"/>
            <a:ext cx="11247120" cy="1097280"/>
          </a:xfrm>
          <a:prstGeom prst="roundRect">
            <a:avLst>
              <a:gd name="adj" fmla="val 12000"/>
            </a:avLst>
          </a:prstGeom>
          <a:solidFill>
            <a:srgbClr val="DD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63624"/>
            <a:ext cx="10881360" cy="256032"/>
          </a:xfrm>
          <a:prstGeom prst="rect">
            <a:avLst/>
          </a:prstGeom>
          <a:noFill/>
        </p:spPr>
        <p:txBody>
          <a:bodyPr wrap="square" lIns="27432" tIns="13716" rIns="27432" bIns="0">
            <a:spAutoFit/>
          </a:bodyPr>
          <a:lstStyle/>
          <a:p>
            <a:pPr>
              <a:lnSpc>
                <a:spcPct val="105000"/>
              </a:lnSpc>
              <a:spcAft>
                <a:spcPts val="0"/>
              </a:spcAft>
              <a:defRPr sz="1400" b="1">
                <a:solidFill>
                  <a:srgbClr val="008E87"/>
                </a:solidFill>
                <a:latin typeface="Aptos"/>
              </a:defRPr>
            </a:pPr>
            <a:r>
              <a:t>PROJECT GOAL</a:t>
            </a:r>
          </a:p>
        </p:txBody>
      </p:sp>
      <p:sp>
        <p:nvSpPr>
          <p:cNvPr id="10" name="TextBox 9"/>
          <p:cNvSpPr txBox="1"/>
          <p:nvPr/>
        </p:nvSpPr>
        <p:spPr>
          <a:xfrm>
            <a:off x="731520" y="1938528"/>
            <a:ext cx="10789920" cy="576072"/>
          </a:xfrm>
          <a:prstGeom prst="rect">
            <a:avLst/>
          </a:prstGeom>
          <a:noFill/>
        </p:spPr>
        <p:txBody>
          <a:bodyPr wrap="square" lIns="27432" tIns="13716" rIns="27432" bIns="0">
            <a:spAutoFit/>
          </a:bodyPr>
          <a:lstStyle/>
          <a:p>
            <a:pPr>
              <a:lnSpc>
                <a:spcPct val="105000"/>
              </a:lnSpc>
              <a:spcAft>
                <a:spcPts val="0"/>
              </a:spcAft>
              <a:defRPr sz="2100" b="1">
                <a:solidFill>
                  <a:srgbClr val="172B43"/>
                </a:solidFill>
                <a:latin typeface="Aptos"/>
              </a:defRPr>
            </a:pPr>
            <a:r>
              <a:t>Build a small task list and save it for later.</a:t>
            </a:r>
          </a:p>
        </p:txBody>
      </p:sp>
      <p:sp>
        <p:nvSpPr>
          <p:cNvPr id="11" name="Rounded Rectangle 10"/>
          <p:cNvSpPr/>
          <p:nvPr/>
        </p:nvSpPr>
        <p:spPr>
          <a:xfrm>
            <a:off x="777240" y="2871216"/>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2743200"/>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ADD  - Enter a task title (example: Read notes)</a:t>
            </a:r>
          </a:p>
        </p:txBody>
      </p:sp>
      <p:sp>
        <p:nvSpPr>
          <p:cNvPr id="13" name="Rounded Rectangle 12"/>
          <p:cNvSpPr/>
          <p:nvPr/>
        </p:nvSpPr>
        <p:spPr>
          <a:xfrm>
            <a:off x="777240" y="3392424"/>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3264408"/>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VIEW  - Show each task with a Pending / Done label</a:t>
            </a:r>
          </a:p>
        </p:txBody>
      </p:sp>
      <p:sp>
        <p:nvSpPr>
          <p:cNvPr id="15" name="Rounded Rectangle 14"/>
          <p:cNvSpPr/>
          <p:nvPr/>
        </p:nvSpPr>
        <p:spPr>
          <a:xfrm>
            <a:off x="777240" y="3913631"/>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24128" y="3785615"/>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COMPLETE  - Mark a task Done using its number</a:t>
            </a:r>
          </a:p>
        </p:txBody>
      </p:sp>
      <p:sp>
        <p:nvSpPr>
          <p:cNvPr id="17" name="Rounded Rectangle 16"/>
          <p:cNvSpPr/>
          <p:nvPr/>
        </p:nvSpPr>
        <p:spPr>
          <a:xfrm>
            <a:off x="777240" y="4434840"/>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 y="4306824"/>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DELETE  - Remove a task using its number</a:t>
            </a:r>
          </a:p>
        </p:txBody>
      </p:sp>
      <p:sp>
        <p:nvSpPr>
          <p:cNvPr id="19" name="Rounded Rectangle 18"/>
          <p:cNvSpPr/>
          <p:nvPr/>
        </p:nvSpPr>
        <p:spPr>
          <a:xfrm>
            <a:off x="777240" y="4956047"/>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4128" y="4828031"/>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SAVE  - Store changes in tasks.json and reload them</a:t>
            </a:r>
          </a:p>
        </p:txBody>
      </p:sp>
      <p:sp>
        <p:nvSpPr>
          <p:cNvPr id="21" name="Rounded Rectangle 20"/>
          <p:cNvSpPr/>
          <p:nvPr/>
        </p:nvSpPr>
        <p:spPr>
          <a:xfrm>
            <a:off x="457200" y="5623560"/>
            <a:ext cx="11247120" cy="521207"/>
          </a:xfrm>
          <a:prstGeom prst="roundRect">
            <a:avLst>
              <a:gd name="adj" fmla="val 12000"/>
            </a:avLst>
          </a:prstGeom>
          <a:solidFill>
            <a:srgbClr val="EA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4944" y="5733288"/>
            <a:ext cx="10881360" cy="274320"/>
          </a:xfrm>
          <a:prstGeom prst="rect">
            <a:avLst/>
          </a:prstGeom>
          <a:noFill/>
        </p:spPr>
        <p:txBody>
          <a:bodyPr wrap="square" lIns="27432" tIns="13716" rIns="27432" bIns="0">
            <a:spAutoFit/>
          </a:bodyPr>
          <a:lstStyle/>
          <a:p>
            <a:pPr>
              <a:lnSpc>
                <a:spcPct val="105000"/>
              </a:lnSpc>
              <a:spcAft>
                <a:spcPts val="0"/>
              </a:spcAft>
              <a:defRPr sz="1700" b="1">
                <a:solidFill>
                  <a:srgbClr val="008E87"/>
                </a:solidFill>
                <a:latin typeface="Aptos"/>
              </a:defRPr>
            </a:pPr>
            <a:r>
              <a:t>Keep it simple: no priorities, no separate IDs, no web app or SQL required.</a:t>
            </a:r>
          </a:p>
        </p:txBody>
      </p:sp>
    </p:spTree>
    <p:extLst>
      <p:ext uri="{BB962C8B-B14F-4D97-AF65-F5344CB8AC3E}">
        <p14:creationId xmlns:p14="http://schemas.microsoft.com/office/powerpoint/2010/main" val="37039145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8580" cy="6858000"/>
          </a:xfrm>
          <a:prstGeom prst="rect">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73736"/>
            <a:ext cx="10972800" cy="274320"/>
          </a:xfrm>
          <a:prstGeom prst="rect">
            <a:avLst/>
          </a:prstGeom>
          <a:noFill/>
        </p:spPr>
        <p:txBody>
          <a:bodyPr wrap="square" lIns="27432" tIns="13716" rIns="27432" bIns="0">
            <a:spAutoFit/>
          </a:bodyPr>
          <a:lstStyle/>
          <a:p>
            <a:pPr>
              <a:lnSpc>
                <a:spcPct val="105000"/>
              </a:lnSpc>
              <a:spcAft>
                <a:spcPts val="0"/>
              </a:spcAft>
              <a:defRPr sz="1300" b="1">
                <a:solidFill>
                  <a:srgbClr val="008E87"/>
                </a:solidFill>
                <a:latin typeface="Aptos"/>
              </a:defRPr>
            </a:pPr>
            <a:r>
              <a:t>UNDERSTAND THE DATA</a:t>
            </a:r>
          </a:p>
        </p:txBody>
      </p:sp>
      <p:sp>
        <p:nvSpPr>
          <p:cNvPr id="5" name="TextBox 4"/>
          <p:cNvSpPr txBox="1"/>
          <p:nvPr/>
        </p:nvSpPr>
        <p:spPr>
          <a:xfrm>
            <a:off x="438912" y="484632"/>
            <a:ext cx="11292840" cy="621792"/>
          </a:xfrm>
          <a:prstGeom prst="rect">
            <a:avLst/>
          </a:prstGeom>
          <a:noFill/>
        </p:spPr>
        <p:txBody>
          <a:bodyPr wrap="square" lIns="27432" tIns="13716" rIns="27432" bIns="0">
            <a:spAutoFit/>
          </a:bodyPr>
          <a:lstStyle/>
          <a:p>
            <a:pPr>
              <a:lnSpc>
                <a:spcPct val="105000"/>
              </a:lnSpc>
              <a:spcAft>
                <a:spcPts val="0"/>
              </a:spcAft>
              <a:defRPr sz="3000" b="0">
                <a:solidFill>
                  <a:srgbClr val="172B43"/>
                </a:solidFill>
                <a:latin typeface="Aptos"/>
              </a:defRPr>
            </a:pPr>
            <a:r>
              <a:t>Start with a List of Dictionaries</a:t>
            </a:r>
          </a:p>
        </p:txBody>
      </p:sp>
      <p:sp>
        <p:nvSpPr>
          <p:cNvPr id="6" name="Rectangle 5"/>
          <p:cNvSpPr/>
          <p:nvPr/>
        </p:nvSpPr>
        <p:spPr>
          <a:xfrm>
            <a:off x="438912" y="1179576"/>
            <a:ext cx="11247120" cy="17373"/>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9144000" cy="173736"/>
          </a:xfrm>
          <a:prstGeom prst="rect">
            <a:avLst/>
          </a:prstGeom>
          <a:noFill/>
        </p:spPr>
        <p:txBody>
          <a:bodyPr wrap="square" lIns="27432" tIns="13716" rIns="27432" bIns="0">
            <a:spAutoFit/>
          </a:bodyPr>
          <a:lstStyle/>
          <a:p>
            <a:pPr>
              <a:lnSpc>
                <a:spcPct val="105000"/>
              </a:lnSpc>
              <a:spcAft>
                <a:spcPts val="0"/>
              </a:spcAft>
              <a:defRPr sz="900" b="0">
                <a:solidFill>
                  <a:srgbClr val="536679"/>
                </a:solidFill>
                <a:latin typeface="Aptos"/>
              </a:defRPr>
            </a:pPr>
            <a:r>
              <a:t>MINI PROJECT  |  PYTHON + GITHUB</a:t>
            </a:r>
          </a:p>
        </p:txBody>
      </p:sp>
      <p:sp>
        <p:nvSpPr>
          <p:cNvPr id="8" name="Rounded Rectangle 7"/>
          <p:cNvSpPr/>
          <p:nvPr/>
        </p:nvSpPr>
        <p:spPr>
          <a:xfrm>
            <a:off x="457200" y="1399032"/>
            <a:ext cx="11247120" cy="1097280"/>
          </a:xfrm>
          <a:prstGeom prst="roundRect">
            <a:avLst>
              <a:gd name="adj" fmla="val 12000"/>
            </a:avLst>
          </a:prstGeom>
          <a:solidFill>
            <a:srgbClr val="DD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63624"/>
            <a:ext cx="10881360" cy="256032"/>
          </a:xfrm>
          <a:prstGeom prst="rect">
            <a:avLst/>
          </a:prstGeom>
          <a:noFill/>
        </p:spPr>
        <p:txBody>
          <a:bodyPr wrap="square" lIns="27432" tIns="13716" rIns="27432" bIns="0">
            <a:spAutoFit/>
          </a:bodyPr>
          <a:lstStyle/>
          <a:p>
            <a:pPr>
              <a:lnSpc>
                <a:spcPct val="105000"/>
              </a:lnSpc>
              <a:spcAft>
                <a:spcPts val="0"/>
              </a:spcAft>
              <a:defRPr sz="1400" b="1">
                <a:solidFill>
                  <a:srgbClr val="008E87"/>
                </a:solidFill>
                <a:latin typeface="Aptos"/>
              </a:defRPr>
            </a:pPr>
            <a:r>
              <a:t>HOW DATA IS STORED</a:t>
            </a:r>
          </a:p>
        </p:txBody>
      </p:sp>
      <p:sp>
        <p:nvSpPr>
          <p:cNvPr id="10" name="TextBox 9"/>
          <p:cNvSpPr txBox="1"/>
          <p:nvPr/>
        </p:nvSpPr>
        <p:spPr>
          <a:xfrm>
            <a:off x="731520" y="1938528"/>
            <a:ext cx="10789920" cy="576072"/>
          </a:xfrm>
          <a:prstGeom prst="rect">
            <a:avLst/>
          </a:prstGeom>
          <a:noFill/>
        </p:spPr>
        <p:txBody>
          <a:bodyPr wrap="square" lIns="27432" tIns="13716" rIns="27432" bIns="0">
            <a:spAutoFit/>
          </a:bodyPr>
          <a:lstStyle/>
          <a:p>
            <a:pPr>
              <a:lnSpc>
                <a:spcPct val="105000"/>
              </a:lnSpc>
              <a:spcAft>
                <a:spcPts val="0"/>
              </a:spcAft>
              <a:defRPr sz="2100" b="1">
                <a:solidFill>
                  <a:srgbClr val="172B43"/>
                </a:solidFill>
                <a:latin typeface="Aptos"/>
              </a:defRPr>
            </a:pPr>
            <a:r>
              <a:t>A list holds multiple tasks. Each dictionary stores one task.</a:t>
            </a:r>
          </a:p>
        </p:txBody>
      </p:sp>
      <p:sp>
        <p:nvSpPr>
          <p:cNvPr id="11" name="Rounded Rectangle 10"/>
          <p:cNvSpPr/>
          <p:nvPr/>
        </p:nvSpPr>
        <p:spPr>
          <a:xfrm>
            <a:off x="502920" y="2743200"/>
            <a:ext cx="5650992" cy="2148840"/>
          </a:xfrm>
          <a:prstGeom prst="roundRect">
            <a:avLst>
              <a:gd name="adj" fmla="val 12000"/>
            </a:avLst>
          </a:prstGeom>
          <a:solidFill>
            <a:srgbClr val="19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063240"/>
            <a:ext cx="5230368" cy="1645920"/>
          </a:xfrm>
          <a:prstGeom prst="rect">
            <a:avLst/>
          </a:prstGeom>
          <a:noFill/>
        </p:spPr>
        <p:txBody>
          <a:bodyPr wrap="square" lIns="27432" tIns="13716" rIns="27432" bIns="0">
            <a:spAutoFit/>
          </a:bodyPr>
          <a:lstStyle/>
          <a:p>
            <a:pPr>
              <a:lnSpc>
                <a:spcPct val="118000"/>
              </a:lnSpc>
              <a:spcAft>
                <a:spcPts val="0"/>
              </a:spcAft>
              <a:defRPr sz="1800" b="0">
                <a:solidFill>
                  <a:srgbClr val="FFFFFF"/>
                </a:solidFill>
                <a:latin typeface="Consolas"/>
              </a:defRPr>
            </a:pPr>
            <a:r>
              <a:t>tasks = [  # List of tasks</a:t>
            </a:r>
          </a:p>
          <a:p>
            <a:pPr>
              <a:lnSpc>
                <a:spcPct val="118000"/>
              </a:lnSpc>
              <a:spcAft>
                <a:spcPts val="0"/>
              </a:spcAft>
              <a:defRPr sz="1800" b="0">
                <a:solidFill>
                  <a:srgbClr val="FFFFFF"/>
                </a:solidFill>
                <a:latin typeface="Consolas"/>
              </a:defRPr>
            </a:pPr>
            <a:r>
              <a:t>    {"title": "Read", "done": False},</a:t>
            </a:r>
          </a:p>
          <a:p>
            <a:pPr>
              <a:lnSpc>
                <a:spcPct val="118000"/>
              </a:lnSpc>
              <a:spcAft>
                <a:spcPts val="0"/>
              </a:spcAft>
              <a:defRPr sz="1800" b="0">
                <a:solidFill>
                  <a:srgbClr val="FFFFFF"/>
                </a:solidFill>
                <a:latin typeface="Consolas"/>
              </a:defRPr>
            </a:pPr>
            <a:r>
              <a:t>    {"title": "Code", "done": True}</a:t>
            </a:r>
          </a:p>
          <a:p>
            <a:pPr>
              <a:lnSpc>
                <a:spcPct val="118000"/>
              </a:lnSpc>
              <a:spcAft>
                <a:spcPts val="0"/>
              </a:spcAft>
              <a:defRPr sz="1800" b="0">
                <a:solidFill>
                  <a:srgbClr val="FFFFFF"/>
                </a:solidFill>
                <a:latin typeface="Consolas"/>
              </a:defRPr>
            </a:pPr>
            <a:r>
              <a:t>]</a:t>
            </a:r>
          </a:p>
        </p:txBody>
      </p:sp>
      <p:sp>
        <p:nvSpPr>
          <p:cNvPr id="13" name="TextBox 12"/>
          <p:cNvSpPr txBox="1"/>
          <p:nvPr/>
        </p:nvSpPr>
        <p:spPr>
          <a:xfrm>
            <a:off x="6510528" y="2798064"/>
            <a:ext cx="4846320" cy="457200"/>
          </a:xfrm>
          <a:prstGeom prst="rect">
            <a:avLst/>
          </a:prstGeom>
          <a:noFill/>
        </p:spPr>
        <p:txBody>
          <a:bodyPr wrap="square" lIns="27432" tIns="13716" rIns="27432" bIns="0">
            <a:spAutoFit/>
          </a:bodyPr>
          <a:lstStyle/>
          <a:p>
            <a:pPr>
              <a:lnSpc>
                <a:spcPct val="105000"/>
              </a:lnSpc>
              <a:spcAft>
                <a:spcPts val="0"/>
              </a:spcAft>
              <a:defRPr sz="1600" b="1">
                <a:solidFill>
                  <a:srgbClr val="008E87"/>
                </a:solidFill>
                <a:latin typeface="Aptos"/>
              </a:defRPr>
            </a:pPr>
            <a:r>
              <a:t>KEY IDEAS</a:t>
            </a:r>
          </a:p>
        </p:txBody>
      </p:sp>
      <p:sp>
        <p:nvSpPr>
          <p:cNvPr id="14" name="Rounded Rectangle 13"/>
          <p:cNvSpPr/>
          <p:nvPr/>
        </p:nvSpPr>
        <p:spPr>
          <a:xfrm>
            <a:off x="6565392" y="3511296"/>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2279" y="3383280"/>
            <a:ext cx="10332720" cy="438912"/>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title: text of the task</a:t>
            </a:r>
          </a:p>
        </p:txBody>
      </p:sp>
      <p:sp>
        <p:nvSpPr>
          <p:cNvPr id="16" name="Rounded Rectangle 15"/>
          <p:cNvSpPr/>
          <p:nvPr/>
        </p:nvSpPr>
        <p:spPr>
          <a:xfrm>
            <a:off x="6565392" y="3995928"/>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12279" y="3867912"/>
            <a:ext cx="10332720" cy="438912"/>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done: False means Pending</a:t>
            </a:r>
          </a:p>
        </p:txBody>
      </p:sp>
      <p:sp>
        <p:nvSpPr>
          <p:cNvPr id="18" name="Rounded Rectangle 17"/>
          <p:cNvSpPr/>
          <p:nvPr/>
        </p:nvSpPr>
        <p:spPr>
          <a:xfrm>
            <a:off x="6565392" y="4480559"/>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12279" y="4352544"/>
            <a:ext cx="10332720" cy="438912"/>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done: True means Completed</a:t>
            </a:r>
          </a:p>
        </p:txBody>
      </p:sp>
      <p:sp>
        <p:nvSpPr>
          <p:cNvPr id="20" name="Rounded Rectangle 19"/>
          <p:cNvSpPr/>
          <p:nvPr/>
        </p:nvSpPr>
        <p:spPr>
          <a:xfrm>
            <a:off x="6565392" y="4965192"/>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12279" y="4837176"/>
            <a:ext cx="10332720" cy="438912"/>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List positions start at 0</a:t>
            </a:r>
          </a:p>
        </p:txBody>
      </p:sp>
    </p:spTree>
    <p:extLst>
      <p:ext uri="{BB962C8B-B14F-4D97-AF65-F5344CB8AC3E}">
        <p14:creationId xmlns:p14="http://schemas.microsoft.com/office/powerpoint/2010/main" val="209939508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8580" cy="6858000"/>
          </a:xfrm>
          <a:prstGeom prst="rect">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73736"/>
            <a:ext cx="10972800" cy="274320"/>
          </a:xfrm>
          <a:prstGeom prst="rect">
            <a:avLst/>
          </a:prstGeom>
          <a:noFill/>
        </p:spPr>
        <p:txBody>
          <a:bodyPr wrap="square" lIns="27432" tIns="13716" rIns="27432" bIns="0">
            <a:spAutoFit/>
          </a:bodyPr>
          <a:lstStyle/>
          <a:p>
            <a:pPr>
              <a:lnSpc>
                <a:spcPct val="105000"/>
              </a:lnSpc>
              <a:spcAft>
                <a:spcPts val="0"/>
              </a:spcAft>
              <a:defRPr sz="1300" b="1">
                <a:solidFill>
                  <a:srgbClr val="008E87"/>
                </a:solidFill>
                <a:latin typeface="Aptos"/>
              </a:defRPr>
            </a:pPr>
            <a:r>
              <a:t>STUDENT CHALLENGE</a:t>
            </a:r>
          </a:p>
        </p:txBody>
      </p:sp>
      <p:sp>
        <p:nvSpPr>
          <p:cNvPr id="5" name="TextBox 4"/>
          <p:cNvSpPr txBox="1"/>
          <p:nvPr/>
        </p:nvSpPr>
        <p:spPr>
          <a:xfrm>
            <a:off x="438912" y="484632"/>
            <a:ext cx="11292840" cy="621792"/>
          </a:xfrm>
          <a:prstGeom prst="rect">
            <a:avLst/>
          </a:prstGeom>
          <a:noFill/>
        </p:spPr>
        <p:txBody>
          <a:bodyPr wrap="square" lIns="27432" tIns="13716" rIns="27432" bIns="0">
            <a:spAutoFit/>
          </a:bodyPr>
          <a:lstStyle/>
          <a:p>
            <a:pPr>
              <a:lnSpc>
                <a:spcPct val="105000"/>
              </a:lnSpc>
              <a:spcAft>
                <a:spcPts val="0"/>
              </a:spcAft>
              <a:defRPr sz="3000" b="0">
                <a:solidFill>
                  <a:srgbClr val="172B43"/>
                </a:solidFill>
                <a:latin typeface="Aptos"/>
              </a:defRPr>
            </a:pPr>
            <a:r>
              <a:t>Build Four Simple Actions</a:t>
            </a:r>
          </a:p>
        </p:txBody>
      </p:sp>
      <p:sp>
        <p:nvSpPr>
          <p:cNvPr id="6" name="Rectangle 5"/>
          <p:cNvSpPr/>
          <p:nvPr/>
        </p:nvSpPr>
        <p:spPr>
          <a:xfrm>
            <a:off x="438912" y="1179576"/>
            <a:ext cx="11247120" cy="17373"/>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9144000" cy="173736"/>
          </a:xfrm>
          <a:prstGeom prst="rect">
            <a:avLst/>
          </a:prstGeom>
          <a:noFill/>
        </p:spPr>
        <p:txBody>
          <a:bodyPr wrap="square" lIns="27432" tIns="13716" rIns="27432" bIns="0">
            <a:spAutoFit/>
          </a:bodyPr>
          <a:lstStyle/>
          <a:p>
            <a:pPr>
              <a:lnSpc>
                <a:spcPct val="105000"/>
              </a:lnSpc>
              <a:spcAft>
                <a:spcPts val="0"/>
              </a:spcAft>
              <a:defRPr sz="900" b="0">
                <a:solidFill>
                  <a:srgbClr val="536679"/>
                </a:solidFill>
                <a:latin typeface="Aptos"/>
              </a:defRPr>
            </a:pPr>
            <a:r>
              <a:t>MINI PROJECT  |  PYTHON + GITHUB</a:t>
            </a:r>
          </a:p>
        </p:txBody>
      </p:sp>
      <p:sp>
        <p:nvSpPr>
          <p:cNvPr id="8" name="Rounded Rectangle 7"/>
          <p:cNvSpPr/>
          <p:nvPr/>
        </p:nvSpPr>
        <p:spPr>
          <a:xfrm>
            <a:off x="457200" y="1399032"/>
            <a:ext cx="11247120" cy="1097280"/>
          </a:xfrm>
          <a:prstGeom prst="roundRect">
            <a:avLst>
              <a:gd name="adj" fmla="val 12000"/>
            </a:avLst>
          </a:prstGeom>
          <a:solidFill>
            <a:srgbClr val="DD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63624"/>
            <a:ext cx="10881360" cy="256032"/>
          </a:xfrm>
          <a:prstGeom prst="rect">
            <a:avLst/>
          </a:prstGeom>
          <a:noFill/>
        </p:spPr>
        <p:txBody>
          <a:bodyPr wrap="square" lIns="27432" tIns="13716" rIns="27432" bIns="0">
            <a:spAutoFit/>
          </a:bodyPr>
          <a:lstStyle/>
          <a:p>
            <a:pPr>
              <a:lnSpc>
                <a:spcPct val="105000"/>
              </a:lnSpc>
              <a:spcAft>
                <a:spcPts val="0"/>
              </a:spcAft>
              <a:defRPr sz="1400" b="1">
                <a:solidFill>
                  <a:srgbClr val="008E87"/>
                </a:solidFill>
                <a:latin typeface="Aptos"/>
              </a:defRPr>
            </a:pPr>
            <a:r>
              <a:t>REQUIRED PROGRAM</a:t>
            </a:r>
          </a:p>
        </p:txBody>
      </p:sp>
      <p:sp>
        <p:nvSpPr>
          <p:cNvPr id="10" name="TextBox 9"/>
          <p:cNvSpPr txBox="1"/>
          <p:nvPr/>
        </p:nvSpPr>
        <p:spPr>
          <a:xfrm>
            <a:off x="731520" y="1938528"/>
            <a:ext cx="10789920" cy="576072"/>
          </a:xfrm>
          <a:prstGeom prst="rect">
            <a:avLst/>
          </a:prstGeom>
          <a:noFill/>
        </p:spPr>
        <p:txBody>
          <a:bodyPr wrap="square" lIns="27432" tIns="13716" rIns="27432" bIns="0">
            <a:spAutoFit/>
          </a:bodyPr>
          <a:lstStyle/>
          <a:p>
            <a:pPr>
              <a:lnSpc>
                <a:spcPct val="105000"/>
              </a:lnSpc>
              <a:spcAft>
                <a:spcPts val="0"/>
              </a:spcAft>
              <a:defRPr sz="2100" b="1">
                <a:solidFill>
                  <a:srgbClr val="172B43"/>
                </a:solidFill>
                <a:latin typeface="Aptos"/>
              </a:defRPr>
            </a:pPr>
            <a:r>
              <a:t>Create a menu that repeats until the user chooses Exit.</a:t>
            </a:r>
          </a:p>
        </p:txBody>
      </p:sp>
      <p:sp>
        <p:nvSpPr>
          <p:cNvPr id="11" name="Rounded Rectangle 10"/>
          <p:cNvSpPr/>
          <p:nvPr/>
        </p:nvSpPr>
        <p:spPr>
          <a:xfrm>
            <a:off x="731520" y="2852928"/>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2724912"/>
            <a:ext cx="10332720" cy="438912"/>
          </a:xfrm>
          <a:prstGeom prst="rect">
            <a:avLst/>
          </a:prstGeom>
          <a:noFill/>
        </p:spPr>
        <p:txBody>
          <a:bodyPr wrap="square" lIns="27432" tIns="13716" rIns="27432" bIns="0">
            <a:spAutoFit/>
          </a:bodyPr>
          <a:lstStyle/>
          <a:p>
            <a:pPr>
              <a:lnSpc>
                <a:spcPct val="105000"/>
              </a:lnSpc>
              <a:spcAft>
                <a:spcPts val="0"/>
              </a:spcAft>
              <a:defRPr sz="2200" b="0">
                <a:solidFill>
                  <a:srgbClr val="172B43"/>
                </a:solidFill>
                <a:latin typeface="Aptos"/>
              </a:defRPr>
            </a:pPr>
            <a:r>
              <a:t>1  Add task  - use input() and append()</a:t>
            </a:r>
          </a:p>
        </p:txBody>
      </p:sp>
      <p:sp>
        <p:nvSpPr>
          <p:cNvPr id="13" name="Rounded Rectangle 12"/>
          <p:cNvSpPr/>
          <p:nvPr/>
        </p:nvSpPr>
        <p:spPr>
          <a:xfrm>
            <a:off x="731520" y="3383280"/>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3255264"/>
            <a:ext cx="10332720" cy="438912"/>
          </a:xfrm>
          <a:prstGeom prst="rect">
            <a:avLst/>
          </a:prstGeom>
          <a:noFill/>
        </p:spPr>
        <p:txBody>
          <a:bodyPr wrap="square" lIns="27432" tIns="13716" rIns="27432" bIns="0">
            <a:spAutoFit/>
          </a:bodyPr>
          <a:lstStyle/>
          <a:p>
            <a:pPr>
              <a:lnSpc>
                <a:spcPct val="105000"/>
              </a:lnSpc>
              <a:spcAft>
                <a:spcPts val="0"/>
              </a:spcAft>
              <a:defRPr sz="2200" b="0">
                <a:solidFill>
                  <a:srgbClr val="172B43"/>
                </a:solidFill>
                <a:latin typeface="Aptos"/>
              </a:defRPr>
            </a:pPr>
            <a:r>
              <a:t>2  View tasks  - use a for loop</a:t>
            </a:r>
          </a:p>
        </p:txBody>
      </p:sp>
      <p:sp>
        <p:nvSpPr>
          <p:cNvPr id="15" name="Rounded Rectangle 14"/>
          <p:cNvSpPr/>
          <p:nvPr/>
        </p:nvSpPr>
        <p:spPr>
          <a:xfrm>
            <a:off x="731520" y="3913631"/>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8408" y="3785615"/>
            <a:ext cx="10332720" cy="438912"/>
          </a:xfrm>
          <a:prstGeom prst="rect">
            <a:avLst/>
          </a:prstGeom>
          <a:noFill/>
        </p:spPr>
        <p:txBody>
          <a:bodyPr wrap="square" lIns="27432" tIns="13716" rIns="27432" bIns="0">
            <a:spAutoFit/>
          </a:bodyPr>
          <a:lstStyle/>
          <a:p>
            <a:pPr>
              <a:lnSpc>
                <a:spcPct val="105000"/>
              </a:lnSpc>
              <a:spcAft>
                <a:spcPts val="0"/>
              </a:spcAft>
              <a:defRPr sz="2200" b="0">
                <a:solidFill>
                  <a:srgbClr val="172B43"/>
                </a:solidFill>
                <a:latin typeface="Aptos"/>
              </a:defRPr>
            </a:pPr>
            <a:r>
              <a:t>3  Complete task  - change done to True</a:t>
            </a:r>
          </a:p>
        </p:txBody>
      </p:sp>
      <p:sp>
        <p:nvSpPr>
          <p:cNvPr id="17" name="Rounded Rectangle 16"/>
          <p:cNvSpPr/>
          <p:nvPr/>
        </p:nvSpPr>
        <p:spPr>
          <a:xfrm>
            <a:off x="731520" y="4443983"/>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8" y="4315968"/>
            <a:ext cx="10332720" cy="438912"/>
          </a:xfrm>
          <a:prstGeom prst="rect">
            <a:avLst/>
          </a:prstGeom>
          <a:noFill/>
        </p:spPr>
        <p:txBody>
          <a:bodyPr wrap="square" lIns="27432" tIns="13716" rIns="27432" bIns="0">
            <a:spAutoFit/>
          </a:bodyPr>
          <a:lstStyle/>
          <a:p>
            <a:pPr>
              <a:lnSpc>
                <a:spcPct val="105000"/>
              </a:lnSpc>
              <a:spcAft>
                <a:spcPts val="0"/>
              </a:spcAft>
              <a:defRPr sz="2200" b="0">
                <a:solidFill>
                  <a:srgbClr val="172B43"/>
                </a:solidFill>
                <a:latin typeface="Aptos"/>
              </a:defRPr>
            </a:pPr>
            <a:r>
              <a:t>4  Delete task  - use pop()</a:t>
            </a:r>
          </a:p>
        </p:txBody>
      </p:sp>
      <p:sp>
        <p:nvSpPr>
          <p:cNvPr id="19" name="Rounded Rectangle 18"/>
          <p:cNvSpPr/>
          <p:nvPr/>
        </p:nvSpPr>
        <p:spPr>
          <a:xfrm>
            <a:off x="731520" y="4974336"/>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8408" y="4846320"/>
            <a:ext cx="10332720" cy="438912"/>
          </a:xfrm>
          <a:prstGeom prst="rect">
            <a:avLst/>
          </a:prstGeom>
          <a:noFill/>
        </p:spPr>
        <p:txBody>
          <a:bodyPr wrap="square" lIns="27432" tIns="13716" rIns="27432" bIns="0">
            <a:spAutoFit/>
          </a:bodyPr>
          <a:lstStyle/>
          <a:p>
            <a:pPr>
              <a:lnSpc>
                <a:spcPct val="105000"/>
              </a:lnSpc>
              <a:spcAft>
                <a:spcPts val="0"/>
              </a:spcAft>
              <a:defRPr sz="2200" b="0">
                <a:solidFill>
                  <a:srgbClr val="172B43"/>
                </a:solidFill>
                <a:latin typeface="Aptos"/>
              </a:defRPr>
            </a:pPr>
            <a:r>
              <a:t>5  Exit  - finish the program</a:t>
            </a:r>
          </a:p>
        </p:txBody>
      </p:sp>
      <p:sp>
        <p:nvSpPr>
          <p:cNvPr id="21" name="Rounded Rectangle 20"/>
          <p:cNvSpPr/>
          <p:nvPr/>
        </p:nvSpPr>
        <p:spPr>
          <a:xfrm>
            <a:off x="457200" y="5532120"/>
            <a:ext cx="11247120" cy="603504"/>
          </a:xfrm>
          <a:prstGeom prst="roundRect">
            <a:avLst>
              <a:gd name="adj" fmla="val 12000"/>
            </a:avLst>
          </a:prstGeom>
          <a:solidFill>
            <a:srgbClr val="EA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5669280"/>
            <a:ext cx="10789920" cy="329184"/>
          </a:xfrm>
          <a:prstGeom prst="rect">
            <a:avLst/>
          </a:prstGeom>
          <a:noFill/>
        </p:spPr>
        <p:txBody>
          <a:bodyPr wrap="square" lIns="27432" tIns="13716" rIns="27432" bIns="0">
            <a:spAutoFit/>
          </a:bodyPr>
          <a:lstStyle/>
          <a:p>
            <a:pPr>
              <a:lnSpc>
                <a:spcPct val="105000"/>
              </a:lnSpc>
              <a:spcAft>
                <a:spcPts val="0"/>
              </a:spcAft>
              <a:defRPr sz="1700" b="1">
                <a:solidFill>
                  <a:srgbClr val="008E87"/>
                </a:solidFill>
                <a:latin typeface="Aptos"/>
              </a:defRPr>
            </a:pPr>
            <a:r>
              <a:t>Call save_tasks() after each change; call load_tasks() when the program starts.</a:t>
            </a:r>
          </a:p>
        </p:txBody>
      </p:sp>
    </p:spTree>
    <p:extLst>
      <p:ext uri="{BB962C8B-B14F-4D97-AF65-F5344CB8AC3E}">
        <p14:creationId xmlns:p14="http://schemas.microsoft.com/office/powerpoint/2010/main" val="26746597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8580" cy="6858000"/>
          </a:xfrm>
          <a:prstGeom prst="rect">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73736"/>
            <a:ext cx="10972800" cy="274320"/>
          </a:xfrm>
          <a:prstGeom prst="rect">
            <a:avLst/>
          </a:prstGeom>
          <a:noFill/>
        </p:spPr>
        <p:txBody>
          <a:bodyPr wrap="square" lIns="27432" tIns="13716" rIns="27432" bIns="0">
            <a:spAutoFit/>
          </a:bodyPr>
          <a:lstStyle/>
          <a:p>
            <a:pPr>
              <a:lnSpc>
                <a:spcPct val="105000"/>
              </a:lnSpc>
              <a:spcAft>
                <a:spcPts val="0"/>
              </a:spcAft>
              <a:defRPr sz="1300" b="1">
                <a:solidFill>
                  <a:srgbClr val="008E87"/>
                </a:solidFill>
                <a:latin typeface="Aptos"/>
              </a:defRPr>
            </a:pPr>
            <a:r>
              <a:t>GUIDED PRACTICE</a:t>
            </a:r>
          </a:p>
        </p:txBody>
      </p:sp>
      <p:sp>
        <p:nvSpPr>
          <p:cNvPr id="5" name="TextBox 4"/>
          <p:cNvSpPr txBox="1"/>
          <p:nvPr/>
        </p:nvSpPr>
        <p:spPr>
          <a:xfrm>
            <a:off x="438912" y="484632"/>
            <a:ext cx="11292840" cy="621792"/>
          </a:xfrm>
          <a:prstGeom prst="rect">
            <a:avLst/>
          </a:prstGeom>
          <a:noFill/>
        </p:spPr>
        <p:txBody>
          <a:bodyPr wrap="square" lIns="27432" tIns="13716" rIns="27432" bIns="0">
            <a:spAutoFit/>
          </a:bodyPr>
          <a:lstStyle/>
          <a:p>
            <a:pPr>
              <a:lnSpc>
                <a:spcPct val="105000"/>
              </a:lnSpc>
              <a:spcAft>
                <a:spcPts val="0"/>
              </a:spcAft>
              <a:defRPr sz="3000" b="0">
                <a:solidFill>
                  <a:srgbClr val="172B43"/>
                </a:solidFill>
                <a:latin typeface="Aptos"/>
              </a:defRPr>
            </a:pPr>
            <a:r>
              <a:t>Try This Before the Full Project</a:t>
            </a:r>
          </a:p>
        </p:txBody>
      </p:sp>
      <p:sp>
        <p:nvSpPr>
          <p:cNvPr id="6" name="Rectangle 5"/>
          <p:cNvSpPr/>
          <p:nvPr/>
        </p:nvSpPr>
        <p:spPr>
          <a:xfrm>
            <a:off x="438912" y="1179576"/>
            <a:ext cx="11247120" cy="17373"/>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9144000" cy="173736"/>
          </a:xfrm>
          <a:prstGeom prst="rect">
            <a:avLst/>
          </a:prstGeom>
          <a:noFill/>
        </p:spPr>
        <p:txBody>
          <a:bodyPr wrap="square" lIns="27432" tIns="13716" rIns="27432" bIns="0">
            <a:spAutoFit/>
          </a:bodyPr>
          <a:lstStyle/>
          <a:p>
            <a:pPr>
              <a:lnSpc>
                <a:spcPct val="105000"/>
              </a:lnSpc>
              <a:spcAft>
                <a:spcPts val="0"/>
              </a:spcAft>
              <a:defRPr sz="900" b="0">
                <a:solidFill>
                  <a:srgbClr val="536679"/>
                </a:solidFill>
                <a:latin typeface="Aptos"/>
              </a:defRPr>
            </a:pPr>
            <a:r>
              <a:t>MINI PROJECT  |  PYTHON + GITHUB</a:t>
            </a:r>
          </a:p>
        </p:txBody>
      </p:sp>
      <p:sp>
        <p:nvSpPr>
          <p:cNvPr id="8" name="Rounded Rectangle 7"/>
          <p:cNvSpPr/>
          <p:nvPr/>
        </p:nvSpPr>
        <p:spPr>
          <a:xfrm>
            <a:off x="457200" y="1399032"/>
            <a:ext cx="11247120" cy="1097280"/>
          </a:xfrm>
          <a:prstGeom prst="roundRect">
            <a:avLst>
              <a:gd name="adj" fmla="val 12000"/>
            </a:avLst>
          </a:prstGeom>
          <a:solidFill>
            <a:srgbClr val="DD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63624"/>
            <a:ext cx="10881360" cy="256032"/>
          </a:xfrm>
          <a:prstGeom prst="rect">
            <a:avLst/>
          </a:prstGeom>
          <a:noFill/>
        </p:spPr>
        <p:txBody>
          <a:bodyPr wrap="square" lIns="27432" tIns="13716" rIns="27432" bIns="0">
            <a:spAutoFit/>
          </a:bodyPr>
          <a:lstStyle/>
          <a:p>
            <a:pPr>
              <a:lnSpc>
                <a:spcPct val="105000"/>
              </a:lnSpc>
              <a:spcAft>
                <a:spcPts val="0"/>
              </a:spcAft>
              <a:defRPr sz="1400" b="1">
                <a:solidFill>
                  <a:srgbClr val="008E87"/>
                </a:solidFill>
                <a:latin typeface="Aptos"/>
              </a:defRPr>
            </a:pPr>
            <a:r>
              <a:t>YOUR TURN</a:t>
            </a:r>
          </a:p>
        </p:txBody>
      </p:sp>
      <p:sp>
        <p:nvSpPr>
          <p:cNvPr id="10" name="TextBox 9"/>
          <p:cNvSpPr txBox="1"/>
          <p:nvPr/>
        </p:nvSpPr>
        <p:spPr>
          <a:xfrm>
            <a:off x="731520" y="1938528"/>
            <a:ext cx="10789920" cy="576072"/>
          </a:xfrm>
          <a:prstGeom prst="rect">
            <a:avLst/>
          </a:prstGeom>
          <a:noFill/>
        </p:spPr>
        <p:txBody>
          <a:bodyPr wrap="square" lIns="27432" tIns="13716" rIns="27432" bIns="0">
            <a:spAutoFit/>
          </a:bodyPr>
          <a:lstStyle/>
          <a:p>
            <a:pPr>
              <a:lnSpc>
                <a:spcPct val="105000"/>
              </a:lnSpc>
              <a:spcAft>
                <a:spcPts val="0"/>
              </a:spcAft>
              <a:defRPr sz="2100" b="1">
                <a:solidFill>
                  <a:srgbClr val="172B43"/>
                </a:solidFill>
                <a:latin typeface="Aptos"/>
              </a:defRPr>
            </a:pPr>
            <a:r>
              <a:t>Write Python to add one pending task to the list.</a:t>
            </a:r>
          </a:p>
        </p:txBody>
      </p:sp>
      <p:sp>
        <p:nvSpPr>
          <p:cNvPr id="11" name="Rounded Rectangle 10"/>
          <p:cNvSpPr/>
          <p:nvPr/>
        </p:nvSpPr>
        <p:spPr>
          <a:xfrm>
            <a:off x="512064" y="2770632"/>
            <a:ext cx="11155680" cy="1709928"/>
          </a:xfrm>
          <a:prstGeom prst="roundRect">
            <a:avLst>
              <a:gd name="adj" fmla="val 12000"/>
            </a:avLst>
          </a:prstGeom>
          <a:solidFill>
            <a:srgbClr val="19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090672"/>
            <a:ext cx="10607040" cy="1216152"/>
          </a:xfrm>
          <a:prstGeom prst="rect">
            <a:avLst/>
          </a:prstGeom>
          <a:noFill/>
        </p:spPr>
        <p:txBody>
          <a:bodyPr wrap="square" lIns="27432" tIns="13716" rIns="27432" bIns="0">
            <a:spAutoFit/>
          </a:bodyPr>
          <a:lstStyle/>
          <a:p>
            <a:pPr>
              <a:lnSpc>
                <a:spcPct val="122000"/>
              </a:lnSpc>
              <a:spcAft>
                <a:spcPts val="0"/>
              </a:spcAft>
              <a:defRPr sz="2300" b="0">
                <a:solidFill>
                  <a:srgbClr val="FFFFFF"/>
                </a:solidFill>
                <a:latin typeface="Consolas"/>
              </a:defRPr>
            </a:pPr>
            <a:r>
              <a:t>tasks = []  # Start with an empty list</a:t>
            </a:r>
          </a:p>
          <a:p>
            <a:pPr>
              <a:lnSpc>
                <a:spcPct val="122000"/>
              </a:lnSpc>
              <a:spcAft>
                <a:spcPts val="0"/>
              </a:spcAft>
              <a:defRPr sz="2300" b="0">
                <a:solidFill>
                  <a:srgbClr val="FFFFFF"/>
                </a:solidFill>
                <a:latin typeface="Consolas"/>
              </a:defRPr>
            </a:pPr>
            <a:r>
              <a:t># Add a task titled "Study Python" with done=False</a:t>
            </a:r>
          </a:p>
          <a:p>
            <a:pPr>
              <a:lnSpc>
                <a:spcPct val="122000"/>
              </a:lnSpc>
              <a:spcAft>
                <a:spcPts val="0"/>
              </a:spcAft>
              <a:defRPr sz="2300" b="0">
                <a:solidFill>
                  <a:srgbClr val="FFFFFF"/>
                </a:solidFill>
                <a:latin typeface="Consolas"/>
              </a:defRPr>
            </a:pPr>
            <a:r>
              <a:t># Display the list</a:t>
            </a:r>
          </a:p>
        </p:txBody>
      </p:sp>
      <p:sp>
        <p:nvSpPr>
          <p:cNvPr id="13" name="TextBox 12"/>
          <p:cNvSpPr txBox="1"/>
          <p:nvPr/>
        </p:nvSpPr>
        <p:spPr>
          <a:xfrm>
            <a:off x="731520" y="4846320"/>
            <a:ext cx="10515600" cy="731520"/>
          </a:xfrm>
          <a:prstGeom prst="rect">
            <a:avLst/>
          </a:prstGeom>
          <a:noFill/>
        </p:spPr>
        <p:txBody>
          <a:bodyPr wrap="square" lIns="27432" tIns="13716" rIns="27432" bIns="0">
            <a:spAutoFit/>
          </a:bodyPr>
          <a:lstStyle/>
          <a:p>
            <a:pPr>
              <a:lnSpc>
                <a:spcPct val="105000"/>
              </a:lnSpc>
              <a:spcAft>
                <a:spcPts val="0"/>
              </a:spcAft>
              <a:defRPr sz="2100" b="1">
                <a:solidFill>
                  <a:srgbClr val="008E87"/>
                </a:solidFill>
                <a:latin typeface="Aptos"/>
              </a:defRPr>
            </a:pPr>
            <a:r>
              <a:t>First let students try it themselves. Show the solution on the next slide.</a:t>
            </a:r>
          </a:p>
        </p:txBody>
      </p:sp>
    </p:spTree>
    <p:extLst>
      <p:ext uri="{BB962C8B-B14F-4D97-AF65-F5344CB8AC3E}">
        <p14:creationId xmlns:p14="http://schemas.microsoft.com/office/powerpoint/2010/main" val="251409739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8580" cy="6858000"/>
          </a:xfrm>
          <a:prstGeom prst="rect">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73736"/>
            <a:ext cx="10972800" cy="274320"/>
          </a:xfrm>
          <a:prstGeom prst="rect">
            <a:avLst/>
          </a:prstGeom>
          <a:noFill/>
        </p:spPr>
        <p:txBody>
          <a:bodyPr wrap="square" lIns="27432" tIns="13716" rIns="27432" bIns="0">
            <a:spAutoFit/>
          </a:bodyPr>
          <a:lstStyle/>
          <a:p>
            <a:pPr>
              <a:lnSpc>
                <a:spcPct val="105000"/>
              </a:lnSpc>
              <a:spcAft>
                <a:spcPts val="0"/>
              </a:spcAft>
              <a:defRPr sz="1300" b="1">
                <a:solidFill>
                  <a:srgbClr val="008E87"/>
                </a:solidFill>
                <a:latin typeface="Aptos"/>
              </a:defRPr>
            </a:pPr>
            <a:r>
              <a:t>GUIDED PRACTICE</a:t>
            </a:r>
          </a:p>
        </p:txBody>
      </p:sp>
      <p:sp>
        <p:nvSpPr>
          <p:cNvPr id="5" name="TextBox 4"/>
          <p:cNvSpPr txBox="1"/>
          <p:nvPr/>
        </p:nvSpPr>
        <p:spPr>
          <a:xfrm>
            <a:off x="438912" y="484632"/>
            <a:ext cx="11292840" cy="621792"/>
          </a:xfrm>
          <a:prstGeom prst="rect">
            <a:avLst/>
          </a:prstGeom>
          <a:noFill/>
        </p:spPr>
        <p:txBody>
          <a:bodyPr wrap="square" lIns="27432" tIns="13716" rIns="27432" bIns="0">
            <a:spAutoFit/>
          </a:bodyPr>
          <a:lstStyle/>
          <a:p>
            <a:pPr>
              <a:lnSpc>
                <a:spcPct val="105000"/>
              </a:lnSpc>
              <a:spcAft>
                <a:spcPts val="0"/>
              </a:spcAft>
              <a:defRPr sz="3000" b="0">
                <a:solidFill>
                  <a:srgbClr val="172B43"/>
                </a:solidFill>
                <a:latin typeface="Aptos"/>
              </a:defRPr>
            </a:pPr>
            <a:r>
              <a:t>Worked Answer: Add One Task</a:t>
            </a:r>
          </a:p>
        </p:txBody>
      </p:sp>
      <p:sp>
        <p:nvSpPr>
          <p:cNvPr id="6" name="Rectangle 5"/>
          <p:cNvSpPr/>
          <p:nvPr/>
        </p:nvSpPr>
        <p:spPr>
          <a:xfrm>
            <a:off x="438912" y="1179576"/>
            <a:ext cx="11247120" cy="17373"/>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9144000" cy="173736"/>
          </a:xfrm>
          <a:prstGeom prst="rect">
            <a:avLst/>
          </a:prstGeom>
          <a:noFill/>
        </p:spPr>
        <p:txBody>
          <a:bodyPr wrap="square" lIns="27432" tIns="13716" rIns="27432" bIns="0">
            <a:spAutoFit/>
          </a:bodyPr>
          <a:lstStyle/>
          <a:p>
            <a:pPr>
              <a:lnSpc>
                <a:spcPct val="105000"/>
              </a:lnSpc>
              <a:spcAft>
                <a:spcPts val="0"/>
              </a:spcAft>
              <a:defRPr sz="900" b="0">
                <a:solidFill>
                  <a:srgbClr val="536679"/>
                </a:solidFill>
                <a:latin typeface="Aptos"/>
              </a:defRPr>
            </a:pPr>
            <a:r>
              <a:t>MINI PROJECT  |  PYTHON + GITHUB</a:t>
            </a:r>
          </a:p>
        </p:txBody>
      </p:sp>
      <p:sp>
        <p:nvSpPr>
          <p:cNvPr id="8" name="Rounded Rectangle 7"/>
          <p:cNvSpPr/>
          <p:nvPr/>
        </p:nvSpPr>
        <p:spPr>
          <a:xfrm>
            <a:off x="457200" y="1399032"/>
            <a:ext cx="11247120" cy="1097280"/>
          </a:xfrm>
          <a:prstGeom prst="roundRect">
            <a:avLst>
              <a:gd name="adj" fmla="val 12000"/>
            </a:avLst>
          </a:prstGeom>
          <a:solidFill>
            <a:srgbClr val="DD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63624"/>
            <a:ext cx="10881360" cy="256032"/>
          </a:xfrm>
          <a:prstGeom prst="rect">
            <a:avLst/>
          </a:prstGeom>
          <a:noFill/>
        </p:spPr>
        <p:txBody>
          <a:bodyPr wrap="square" lIns="27432" tIns="13716" rIns="27432" bIns="0">
            <a:spAutoFit/>
          </a:bodyPr>
          <a:lstStyle/>
          <a:p>
            <a:pPr>
              <a:lnSpc>
                <a:spcPct val="105000"/>
              </a:lnSpc>
              <a:spcAft>
                <a:spcPts val="0"/>
              </a:spcAft>
              <a:defRPr sz="1400" b="1">
                <a:solidFill>
                  <a:srgbClr val="008E87"/>
                </a:solidFill>
                <a:latin typeface="Aptos"/>
              </a:defRPr>
            </a:pPr>
            <a:r>
              <a:t>SOLUTION</a:t>
            </a:r>
          </a:p>
        </p:txBody>
      </p:sp>
      <p:sp>
        <p:nvSpPr>
          <p:cNvPr id="10" name="TextBox 9"/>
          <p:cNvSpPr txBox="1"/>
          <p:nvPr/>
        </p:nvSpPr>
        <p:spPr>
          <a:xfrm>
            <a:off x="731520" y="1938528"/>
            <a:ext cx="10789920" cy="576072"/>
          </a:xfrm>
          <a:prstGeom prst="rect">
            <a:avLst/>
          </a:prstGeom>
          <a:noFill/>
        </p:spPr>
        <p:txBody>
          <a:bodyPr wrap="square" lIns="27432" tIns="13716" rIns="27432" bIns="0">
            <a:spAutoFit/>
          </a:bodyPr>
          <a:lstStyle/>
          <a:p>
            <a:pPr>
              <a:lnSpc>
                <a:spcPct val="105000"/>
              </a:lnSpc>
              <a:spcAft>
                <a:spcPts val="0"/>
              </a:spcAft>
              <a:defRPr sz="2100" b="1">
                <a:solidFill>
                  <a:srgbClr val="172B43"/>
                </a:solidFill>
                <a:latin typeface="Aptos"/>
              </a:defRPr>
            </a:pPr>
            <a:r>
              <a:t>Use a dictionary for one task, and append() to add it to the list.</a:t>
            </a:r>
          </a:p>
        </p:txBody>
      </p:sp>
      <p:sp>
        <p:nvSpPr>
          <p:cNvPr id="11" name="Rounded Rectangle 10"/>
          <p:cNvSpPr/>
          <p:nvPr/>
        </p:nvSpPr>
        <p:spPr>
          <a:xfrm>
            <a:off x="512064" y="2788920"/>
            <a:ext cx="11155680" cy="1856231"/>
          </a:xfrm>
          <a:prstGeom prst="roundRect">
            <a:avLst>
              <a:gd name="adj" fmla="val 12000"/>
            </a:avLst>
          </a:prstGeom>
          <a:solidFill>
            <a:srgbClr val="19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017520"/>
            <a:ext cx="10607040" cy="1508760"/>
          </a:xfrm>
          <a:prstGeom prst="rect">
            <a:avLst/>
          </a:prstGeom>
          <a:noFill/>
        </p:spPr>
        <p:txBody>
          <a:bodyPr wrap="square" lIns="27432" tIns="13716" rIns="27432" bIns="0">
            <a:spAutoFit/>
          </a:bodyPr>
          <a:lstStyle/>
          <a:p>
            <a:pPr>
              <a:lnSpc>
                <a:spcPct val="122000"/>
              </a:lnSpc>
              <a:spcAft>
                <a:spcPts val="0"/>
              </a:spcAft>
              <a:defRPr sz="2200" b="0">
                <a:solidFill>
                  <a:srgbClr val="FFFFFF"/>
                </a:solidFill>
                <a:latin typeface="Consolas"/>
              </a:defRPr>
            </a:pPr>
            <a:r>
              <a:t>tasks = []  # Empty list</a:t>
            </a:r>
          </a:p>
          <a:p>
            <a:pPr>
              <a:lnSpc>
                <a:spcPct val="122000"/>
              </a:lnSpc>
              <a:spcAft>
                <a:spcPts val="0"/>
              </a:spcAft>
              <a:defRPr sz="2200" b="0">
                <a:solidFill>
                  <a:srgbClr val="FFFFFF"/>
                </a:solidFill>
                <a:latin typeface="Consolas"/>
              </a:defRPr>
            </a:pPr>
            <a:r>
              <a:t>tasks.append({"title": "Study Python", "done": False})</a:t>
            </a:r>
          </a:p>
          <a:p>
            <a:pPr>
              <a:lnSpc>
                <a:spcPct val="122000"/>
              </a:lnSpc>
              <a:spcAft>
                <a:spcPts val="0"/>
              </a:spcAft>
              <a:defRPr sz="2200" b="0">
                <a:solidFill>
                  <a:srgbClr val="FFFFFF"/>
                </a:solidFill>
                <a:latin typeface="Consolas"/>
              </a:defRPr>
            </a:pPr>
            <a:r>
              <a:t>print(tasks)  # Show the updated list</a:t>
            </a:r>
          </a:p>
        </p:txBody>
      </p:sp>
      <p:sp>
        <p:nvSpPr>
          <p:cNvPr id="13" name="TextBox 12"/>
          <p:cNvSpPr txBox="1"/>
          <p:nvPr/>
        </p:nvSpPr>
        <p:spPr>
          <a:xfrm>
            <a:off x="749808" y="4956048"/>
            <a:ext cx="10515600" cy="603504"/>
          </a:xfrm>
          <a:prstGeom prst="rect">
            <a:avLst/>
          </a:prstGeom>
          <a:noFill/>
        </p:spPr>
        <p:txBody>
          <a:bodyPr wrap="square" lIns="27432" tIns="13716" rIns="27432" bIns="0">
            <a:spAutoFit/>
          </a:bodyPr>
          <a:lstStyle/>
          <a:p>
            <a:pPr>
              <a:lnSpc>
                <a:spcPct val="105000"/>
              </a:lnSpc>
              <a:spcAft>
                <a:spcPts val="0"/>
              </a:spcAft>
              <a:defRPr sz="1900" b="1">
                <a:solidFill>
                  <a:srgbClr val="008E87"/>
                </a:solidFill>
                <a:latin typeface="Aptos"/>
              </a:defRPr>
            </a:pPr>
            <a:r>
              <a:t>Output: [{"title": "Study Python", "done": False}]</a:t>
            </a:r>
          </a:p>
        </p:txBody>
      </p:sp>
    </p:spTree>
    <p:extLst>
      <p:ext uri="{BB962C8B-B14F-4D97-AF65-F5344CB8AC3E}">
        <p14:creationId xmlns:p14="http://schemas.microsoft.com/office/powerpoint/2010/main" val="386582752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8580" cy="6858000"/>
          </a:xfrm>
          <a:prstGeom prst="rect">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73736"/>
            <a:ext cx="10972800" cy="274320"/>
          </a:xfrm>
          <a:prstGeom prst="rect">
            <a:avLst/>
          </a:prstGeom>
          <a:noFill/>
        </p:spPr>
        <p:txBody>
          <a:bodyPr wrap="square" lIns="27432" tIns="13716" rIns="27432" bIns="0">
            <a:spAutoFit/>
          </a:bodyPr>
          <a:lstStyle/>
          <a:p>
            <a:pPr>
              <a:lnSpc>
                <a:spcPct val="105000"/>
              </a:lnSpc>
              <a:spcAft>
                <a:spcPts val="0"/>
              </a:spcAft>
              <a:defRPr sz="1300" b="1">
                <a:solidFill>
                  <a:srgbClr val="008E87"/>
                </a:solidFill>
                <a:latin typeface="Aptos"/>
              </a:defRPr>
            </a:pPr>
            <a:r>
              <a:t>GITHUB SUBMISSION</a:t>
            </a:r>
          </a:p>
        </p:txBody>
      </p:sp>
      <p:sp>
        <p:nvSpPr>
          <p:cNvPr id="5" name="TextBox 4"/>
          <p:cNvSpPr txBox="1"/>
          <p:nvPr/>
        </p:nvSpPr>
        <p:spPr>
          <a:xfrm>
            <a:off x="438912" y="484632"/>
            <a:ext cx="11292840" cy="621792"/>
          </a:xfrm>
          <a:prstGeom prst="rect">
            <a:avLst/>
          </a:prstGeom>
          <a:noFill/>
        </p:spPr>
        <p:txBody>
          <a:bodyPr wrap="square" lIns="27432" tIns="13716" rIns="27432" bIns="0">
            <a:spAutoFit/>
          </a:bodyPr>
          <a:lstStyle/>
          <a:p>
            <a:pPr>
              <a:lnSpc>
                <a:spcPct val="105000"/>
              </a:lnSpc>
              <a:spcAft>
                <a:spcPts val="0"/>
              </a:spcAft>
              <a:defRPr sz="3000" b="0">
                <a:solidFill>
                  <a:srgbClr val="172B43"/>
                </a:solidFill>
                <a:latin typeface="Aptos"/>
              </a:defRPr>
            </a:pPr>
            <a:r>
              <a:t>Upload Files and Commit Your Work</a:t>
            </a:r>
          </a:p>
        </p:txBody>
      </p:sp>
      <p:sp>
        <p:nvSpPr>
          <p:cNvPr id="6" name="Rectangle 5"/>
          <p:cNvSpPr/>
          <p:nvPr/>
        </p:nvSpPr>
        <p:spPr>
          <a:xfrm>
            <a:off x="438912" y="1179576"/>
            <a:ext cx="11247120" cy="17373"/>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9144000" cy="173736"/>
          </a:xfrm>
          <a:prstGeom prst="rect">
            <a:avLst/>
          </a:prstGeom>
          <a:noFill/>
        </p:spPr>
        <p:txBody>
          <a:bodyPr wrap="square" lIns="27432" tIns="13716" rIns="27432" bIns="0">
            <a:spAutoFit/>
          </a:bodyPr>
          <a:lstStyle/>
          <a:p>
            <a:pPr>
              <a:lnSpc>
                <a:spcPct val="105000"/>
              </a:lnSpc>
              <a:spcAft>
                <a:spcPts val="0"/>
              </a:spcAft>
              <a:defRPr sz="900" b="0">
                <a:solidFill>
                  <a:srgbClr val="536679"/>
                </a:solidFill>
                <a:latin typeface="Aptos"/>
              </a:defRPr>
            </a:pPr>
            <a:r>
              <a:t>MINI PROJECT  |  PYTHON + GITHUB</a:t>
            </a:r>
          </a:p>
        </p:txBody>
      </p:sp>
      <p:sp>
        <p:nvSpPr>
          <p:cNvPr id="8" name="Rounded Rectangle 7"/>
          <p:cNvSpPr/>
          <p:nvPr/>
        </p:nvSpPr>
        <p:spPr>
          <a:xfrm>
            <a:off x="457200" y="1399032"/>
            <a:ext cx="11247120" cy="1097280"/>
          </a:xfrm>
          <a:prstGeom prst="roundRect">
            <a:avLst>
              <a:gd name="adj" fmla="val 12000"/>
            </a:avLst>
          </a:prstGeom>
          <a:solidFill>
            <a:srgbClr val="DD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63624"/>
            <a:ext cx="10881360" cy="256032"/>
          </a:xfrm>
          <a:prstGeom prst="rect">
            <a:avLst/>
          </a:prstGeom>
          <a:noFill/>
        </p:spPr>
        <p:txBody>
          <a:bodyPr wrap="square" lIns="27432" tIns="13716" rIns="27432" bIns="0">
            <a:spAutoFit/>
          </a:bodyPr>
          <a:lstStyle/>
          <a:p>
            <a:pPr>
              <a:lnSpc>
                <a:spcPct val="105000"/>
              </a:lnSpc>
              <a:spcAft>
                <a:spcPts val="0"/>
              </a:spcAft>
              <a:defRPr sz="1400" b="1">
                <a:solidFill>
                  <a:srgbClr val="008E87"/>
                </a:solidFill>
                <a:latin typeface="Aptos"/>
              </a:defRPr>
            </a:pPr>
            <a:r>
              <a:t>REQUIRED SUBMISSION</a:t>
            </a:r>
          </a:p>
        </p:txBody>
      </p:sp>
      <p:sp>
        <p:nvSpPr>
          <p:cNvPr id="10" name="TextBox 9"/>
          <p:cNvSpPr txBox="1"/>
          <p:nvPr/>
        </p:nvSpPr>
        <p:spPr>
          <a:xfrm>
            <a:off x="731520" y="1938528"/>
            <a:ext cx="10789920" cy="576072"/>
          </a:xfrm>
          <a:prstGeom prst="rect">
            <a:avLst/>
          </a:prstGeom>
          <a:noFill/>
        </p:spPr>
        <p:txBody>
          <a:bodyPr wrap="square" lIns="27432" tIns="13716" rIns="27432" bIns="0">
            <a:spAutoFit/>
          </a:bodyPr>
          <a:lstStyle/>
          <a:p>
            <a:pPr>
              <a:lnSpc>
                <a:spcPct val="105000"/>
              </a:lnSpc>
              <a:spcAft>
                <a:spcPts val="0"/>
              </a:spcAft>
              <a:defRPr sz="2100" b="1">
                <a:solidFill>
                  <a:srgbClr val="172B43"/>
                </a:solidFill>
                <a:latin typeface="Aptos"/>
              </a:defRPr>
            </a:pPr>
            <a:r>
              <a:t>Use GitHub in your browser. Terminal commands are optional.</a:t>
            </a:r>
          </a:p>
        </p:txBody>
      </p:sp>
      <p:sp>
        <p:nvSpPr>
          <p:cNvPr id="11" name="Rounded Rectangle 10"/>
          <p:cNvSpPr/>
          <p:nvPr/>
        </p:nvSpPr>
        <p:spPr>
          <a:xfrm>
            <a:off x="749808" y="2788920"/>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6695" y="2660904"/>
            <a:ext cx="10332720" cy="438912"/>
          </a:xfrm>
          <a:prstGeom prst="rect">
            <a:avLst/>
          </a:prstGeom>
          <a:noFill/>
        </p:spPr>
        <p:txBody>
          <a:bodyPr wrap="square" lIns="27432" tIns="13716" rIns="27432" bIns="0">
            <a:spAutoFit/>
          </a:bodyPr>
          <a:lstStyle/>
          <a:p>
            <a:pPr>
              <a:lnSpc>
                <a:spcPct val="105000"/>
              </a:lnSpc>
              <a:spcAft>
                <a:spcPts val="0"/>
              </a:spcAft>
              <a:defRPr sz="1900" b="0">
                <a:solidFill>
                  <a:srgbClr val="172B43"/>
                </a:solidFill>
                <a:latin typeface="Aptos"/>
              </a:defRPr>
            </a:pPr>
            <a:r>
              <a:t>Create a GitHub repository named mini-task-tracker.</a:t>
            </a:r>
          </a:p>
        </p:txBody>
      </p:sp>
      <p:sp>
        <p:nvSpPr>
          <p:cNvPr id="13" name="Rounded Rectangle 12"/>
          <p:cNvSpPr/>
          <p:nvPr/>
        </p:nvSpPr>
        <p:spPr>
          <a:xfrm>
            <a:off x="749808" y="3264408"/>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6695" y="3136392"/>
            <a:ext cx="10332720" cy="438912"/>
          </a:xfrm>
          <a:prstGeom prst="rect">
            <a:avLst/>
          </a:prstGeom>
          <a:noFill/>
        </p:spPr>
        <p:txBody>
          <a:bodyPr wrap="square" lIns="27432" tIns="13716" rIns="27432" bIns="0">
            <a:spAutoFit/>
          </a:bodyPr>
          <a:lstStyle/>
          <a:p>
            <a:pPr>
              <a:lnSpc>
                <a:spcPct val="105000"/>
              </a:lnSpc>
              <a:spcAft>
                <a:spcPts val="0"/>
              </a:spcAft>
              <a:defRPr sz="1900" b="0">
                <a:solidFill>
                  <a:srgbClr val="172B43"/>
                </a:solidFill>
                <a:latin typeface="Aptos"/>
              </a:defRPr>
            </a:pPr>
            <a:r>
              <a:t>Add a README describing the project.</a:t>
            </a:r>
          </a:p>
        </p:txBody>
      </p:sp>
      <p:sp>
        <p:nvSpPr>
          <p:cNvPr id="15" name="Rounded Rectangle 14"/>
          <p:cNvSpPr/>
          <p:nvPr/>
        </p:nvSpPr>
        <p:spPr>
          <a:xfrm>
            <a:off x="749808" y="3739896"/>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6695" y="3611880"/>
            <a:ext cx="10332720" cy="438912"/>
          </a:xfrm>
          <a:prstGeom prst="rect">
            <a:avLst/>
          </a:prstGeom>
          <a:noFill/>
        </p:spPr>
        <p:txBody>
          <a:bodyPr wrap="square" lIns="27432" tIns="13716" rIns="27432" bIns="0">
            <a:spAutoFit/>
          </a:bodyPr>
          <a:lstStyle/>
          <a:p>
            <a:pPr>
              <a:lnSpc>
                <a:spcPct val="105000"/>
              </a:lnSpc>
              <a:spcAft>
                <a:spcPts val="0"/>
              </a:spcAft>
              <a:defRPr sz="1900" b="0">
                <a:solidFill>
                  <a:srgbClr val="172B43"/>
                </a:solidFill>
                <a:latin typeface="Aptos"/>
              </a:defRPr>
            </a:pPr>
            <a:r>
              <a:t>Upload mini_task_tracker.py using Add file &gt; Upload files.</a:t>
            </a:r>
          </a:p>
        </p:txBody>
      </p:sp>
      <p:sp>
        <p:nvSpPr>
          <p:cNvPr id="17" name="Rounded Rectangle 16"/>
          <p:cNvSpPr/>
          <p:nvPr/>
        </p:nvSpPr>
        <p:spPr>
          <a:xfrm>
            <a:off x="749808" y="4215384"/>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96695" y="4087368"/>
            <a:ext cx="10332720" cy="438912"/>
          </a:xfrm>
          <a:prstGeom prst="rect">
            <a:avLst/>
          </a:prstGeom>
          <a:noFill/>
        </p:spPr>
        <p:txBody>
          <a:bodyPr wrap="square" lIns="27432" tIns="13716" rIns="27432" bIns="0">
            <a:spAutoFit/>
          </a:bodyPr>
          <a:lstStyle/>
          <a:p>
            <a:pPr>
              <a:lnSpc>
                <a:spcPct val="105000"/>
              </a:lnSpc>
              <a:spcAft>
                <a:spcPts val="0"/>
              </a:spcAft>
              <a:defRPr sz="1900" b="0">
                <a:solidFill>
                  <a:srgbClr val="172B43"/>
                </a:solidFill>
                <a:latin typeface="Aptos"/>
              </a:defRPr>
            </a:pPr>
            <a:r>
              <a:t>Write commit message: Add task tracker program.</a:t>
            </a:r>
          </a:p>
        </p:txBody>
      </p:sp>
      <p:sp>
        <p:nvSpPr>
          <p:cNvPr id="19" name="Rounded Rectangle 18"/>
          <p:cNvSpPr/>
          <p:nvPr/>
        </p:nvSpPr>
        <p:spPr>
          <a:xfrm>
            <a:off x="749808" y="4690872"/>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6695" y="4562856"/>
            <a:ext cx="10332720" cy="438912"/>
          </a:xfrm>
          <a:prstGeom prst="rect">
            <a:avLst/>
          </a:prstGeom>
          <a:noFill/>
        </p:spPr>
        <p:txBody>
          <a:bodyPr wrap="square" lIns="27432" tIns="13716" rIns="27432" bIns="0">
            <a:spAutoFit/>
          </a:bodyPr>
          <a:lstStyle/>
          <a:p>
            <a:pPr>
              <a:lnSpc>
                <a:spcPct val="105000"/>
              </a:lnSpc>
              <a:spcAft>
                <a:spcPts val="0"/>
              </a:spcAft>
              <a:defRPr sz="1900" b="0">
                <a:solidFill>
                  <a:srgbClr val="172B43"/>
                </a:solidFill>
                <a:latin typeface="Aptos"/>
              </a:defRPr>
            </a:pPr>
            <a:r>
              <a:t>Improve your README, then Commit changes again.</a:t>
            </a:r>
          </a:p>
        </p:txBody>
      </p:sp>
      <p:sp>
        <p:nvSpPr>
          <p:cNvPr id="21" name="Rounded Rectangle 20"/>
          <p:cNvSpPr/>
          <p:nvPr/>
        </p:nvSpPr>
        <p:spPr>
          <a:xfrm>
            <a:off x="749808" y="5166359"/>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96695" y="5038344"/>
            <a:ext cx="10332720" cy="438912"/>
          </a:xfrm>
          <a:prstGeom prst="rect">
            <a:avLst/>
          </a:prstGeom>
          <a:noFill/>
        </p:spPr>
        <p:txBody>
          <a:bodyPr wrap="square" lIns="27432" tIns="13716" rIns="27432" bIns="0">
            <a:spAutoFit/>
          </a:bodyPr>
          <a:lstStyle/>
          <a:p>
            <a:pPr>
              <a:lnSpc>
                <a:spcPct val="105000"/>
              </a:lnSpc>
              <a:spcAft>
                <a:spcPts val="0"/>
              </a:spcAft>
              <a:defRPr sz="1900" b="0">
                <a:solidFill>
                  <a:srgbClr val="172B43"/>
                </a:solidFill>
                <a:latin typeface="Aptos"/>
              </a:defRPr>
            </a:pPr>
            <a:r>
              <a:t>Submit the GitHub repository link to the teacher.</a:t>
            </a:r>
          </a:p>
        </p:txBody>
      </p:sp>
      <p:sp>
        <p:nvSpPr>
          <p:cNvPr id="23" name="Rounded Rectangle 22"/>
          <p:cNvSpPr/>
          <p:nvPr/>
        </p:nvSpPr>
        <p:spPr>
          <a:xfrm>
            <a:off x="457200" y="5669280"/>
            <a:ext cx="11247120" cy="466344"/>
          </a:xfrm>
          <a:prstGeom prst="roundRect">
            <a:avLst>
              <a:gd name="adj" fmla="val 12000"/>
            </a:avLst>
          </a:prstGeom>
          <a:solidFill>
            <a:srgbClr val="EA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4944" y="5769864"/>
            <a:ext cx="10789920" cy="274320"/>
          </a:xfrm>
          <a:prstGeom prst="rect">
            <a:avLst/>
          </a:prstGeom>
          <a:noFill/>
        </p:spPr>
        <p:txBody>
          <a:bodyPr wrap="square" lIns="27432" tIns="13716" rIns="27432" bIns="0">
            <a:spAutoFit/>
          </a:bodyPr>
          <a:lstStyle/>
          <a:p>
            <a:pPr>
              <a:lnSpc>
                <a:spcPct val="105000"/>
              </a:lnSpc>
              <a:spcAft>
                <a:spcPts val="0"/>
              </a:spcAft>
              <a:defRPr sz="1500" b="1">
                <a:solidFill>
                  <a:srgbClr val="008E87"/>
                </a:solidFill>
                <a:latin typeface="Aptos"/>
              </a:defRPr>
            </a:pPr>
            <a:r>
              <a:t>Expected: source code + README + at least 2 meaningful commits. Do not upload private data.</a:t>
            </a:r>
          </a:p>
        </p:txBody>
      </p:sp>
    </p:spTree>
    <p:extLst>
      <p:ext uri="{BB962C8B-B14F-4D97-AF65-F5344CB8AC3E}">
        <p14:creationId xmlns:p14="http://schemas.microsoft.com/office/powerpoint/2010/main" val="205373444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8580" cy="6858000"/>
          </a:xfrm>
          <a:prstGeom prst="rect">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73736"/>
            <a:ext cx="10972800" cy="274320"/>
          </a:xfrm>
          <a:prstGeom prst="rect">
            <a:avLst/>
          </a:prstGeom>
          <a:noFill/>
        </p:spPr>
        <p:txBody>
          <a:bodyPr wrap="square" lIns="27432" tIns="13716" rIns="27432" bIns="0">
            <a:spAutoFit/>
          </a:bodyPr>
          <a:lstStyle/>
          <a:p>
            <a:pPr>
              <a:lnSpc>
                <a:spcPct val="105000"/>
              </a:lnSpc>
              <a:spcAft>
                <a:spcPts val="0"/>
              </a:spcAft>
              <a:defRPr sz="1300" b="1">
                <a:solidFill>
                  <a:srgbClr val="008E87"/>
                </a:solidFill>
                <a:latin typeface="Aptos"/>
              </a:defRPr>
            </a:pPr>
            <a:r>
              <a:t>TEACHER ONLY</a:t>
            </a:r>
          </a:p>
        </p:txBody>
      </p:sp>
      <p:sp>
        <p:nvSpPr>
          <p:cNvPr id="5" name="TextBox 4"/>
          <p:cNvSpPr txBox="1"/>
          <p:nvPr/>
        </p:nvSpPr>
        <p:spPr>
          <a:xfrm>
            <a:off x="438912" y="484632"/>
            <a:ext cx="11292840" cy="621792"/>
          </a:xfrm>
          <a:prstGeom prst="rect">
            <a:avLst/>
          </a:prstGeom>
          <a:noFill/>
        </p:spPr>
        <p:txBody>
          <a:bodyPr wrap="square" lIns="27432" tIns="13716" rIns="27432" bIns="0">
            <a:spAutoFit/>
          </a:bodyPr>
          <a:lstStyle/>
          <a:p>
            <a:pPr>
              <a:lnSpc>
                <a:spcPct val="105000"/>
              </a:lnSpc>
              <a:spcAft>
                <a:spcPts val="0"/>
              </a:spcAft>
              <a:defRPr sz="3000" b="0">
                <a:solidFill>
                  <a:srgbClr val="172B43"/>
                </a:solidFill>
                <a:latin typeface="Aptos"/>
              </a:defRPr>
            </a:pPr>
            <a:r>
              <a:t>Assessment Rubric — 100 Marks</a:t>
            </a:r>
          </a:p>
        </p:txBody>
      </p:sp>
      <p:sp>
        <p:nvSpPr>
          <p:cNvPr id="6" name="Rectangle 5"/>
          <p:cNvSpPr/>
          <p:nvPr/>
        </p:nvSpPr>
        <p:spPr>
          <a:xfrm>
            <a:off x="438912" y="1179576"/>
            <a:ext cx="11247120" cy="17373"/>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9144000" cy="173736"/>
          </a:xfrm>
          <a:prstGeom prst="rect">
            <a:avLst/>
          </a:prstGeom>
          <a:noFill/>
        </p:spPr>
        <p:txBody>
          <a:bodyPr wrap="square" lIns="27432" tIns="13716" rIns="27432" bIns="0">
            <a:spAutoFit/>
          </a:bodyPr>
          <a:lstStyle/>
          <a:p>
            <a:pPr>
              <a:lnSpc>
                <a:spcPct val="105000"/>
              </a:lnSpc>
              <a:spcAft>
                <a:spcPts val="0"/>
              </a:spcAft>
              <a:defRPr sz="900" b="0">
                <a:solidFill>
                  <a:srgbClr val="536679"/>
                </a:solidFill>
                <a:latin typeface="Aptos"/>
              </a:defRPr>
            </a:pPr>
            <a:r>
              <a:t>MINI PROJECT  |  PYTHON + GITHUB</a:t>
            </a:r>
          </a:p>
        </p:txBody>
      </p:sp>
      <p:sp>
        <p:nvSpPr>
          <p:cNvPr id="8" name="Rounded Rectangle 7"/>
          <p:cNvSpPr/>
          <p:nvPr/>
        </p:nvSpPr>
        <p:spPr>
          <a:xfrm>
            <a:off x="457200" y="1399032"/>
            <a:ext cx="11247120" cy="1024128"/>
          </a:xfrm>
          <a:prstGeom prst="roundRect">
            <a:avLst>
              <a:gd name="adj" fmla="val 12000"/>
            </a:avLst>
          </a:prstGeom>
          <a:solidFill>
            <a:srgbClr val="DD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63624"/>
            <a:ext cx="10881360" cy="256032"/>
          </a:xfrm>
          <a:prstGeom prst="rect">
            <a:avLst/>
          </a:prstGeom>
          <a:noFill/>
        </p:spPr>
        <p:txBody>
          <a:bodyPr wrap="square" lIns="27432" tIns="13716" rIns="27432" bIns="0">
            <a:spAutoFit/>
          </a:bodyPr>
          <a:lstStyle/>
          <a:p>
            <a:pPr>
              <a:lnSpc>
                <a:spcPct val="105000"/>
              </a:lnSpc>
              <a:spcAft>
                <a:spcPts val="0"/>
              </a:spcAft>
              <a:defRPr sz="1400" b="1">
                <a:solidFill>
                  <a:srgbClr val="008E87"/>
                </a:solidFill>
                <a:latin typeface="Aptos"/>
              </a:defRPr>
            </a:pPr>
            <a:r>
              <a:t>ASSESSMENT</a:t>
            </a:r>
          </a:p>
        </p:txBody>
      </p:sp>
      <p:sp>
        <p:nvSpPr>
          <p:cNvPr id="10" name="TextBox 9"/>
          <p:cNvSpPr txBox="1"/>
          <p:nvPr/>
        </p:nvSpPr>
        <p:spPr>
          <a:xfrm>
            <a:off x="731520" y="1938528"/>
            <a:ext cx="10789920" cy="502920"/>
          </a:xfrm>
          <a:prstGeom prst="rect">
            <a:avLst/>
          </a:prstGeom>
          <a:noFill/>
        </p:spPr>
        <p:txBody>
          <a:bodyPr wrap="square" lIns="27432" tIns="13716" rIns="27432" bIns="0">
            <a:spAutoFit/>
          </a:bodyPr>
          <a:lstStyle/>
          <a:p>
            <a:pPr>
              <a:lnSpc>
                <a:spcPct val="105000"/>
              </a:lnSpc>
              <a:spcAft>
                <a:spcPts val="0"/>
              </a:spcAft>
              <a:defRPr sz="2100" b="1">
                <a:solidFill>
                  <a:srgbClr val="172B43"/>
                </a:solidFill>
                <a:latin typeface="Aptos"/>
              </a:defRPr>
            </a:pPr>
            <a:r>
              <a:t>Award marks for working skills, not just copying finished code.</a:t>
            </a:r>
          </a:p>
        </p:txBody>
      </p:sp>
      <p:sp>
        <p:nvSpPr>
          <p:cNvPr id="11" name="Rounded Rectangle 10"/>
          <p:cNvSpPr/>
          <p:nvPr/>
        </p:nvSpPr>
        <p:spPr>
          <a:xfrm>
            <a:off x="630936" y="2542032"/>
            <a:ext cx="10835640" cy="438912"/>
          </a:xfrm>
          <a:prstGeom prst="roundRect">
            <a:avLst>
              <a:gd name="adj" fmla="val 12000"/>
            </a:avLst>
          </a:prstGeom>
          <a:solidFill>
            <a:srgbClr val="EA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2624327"/>
            <a:ext cx="9829800" cy="320040"/>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Add and view tasks</a:t>
            </a:r>
          </a:p>
        </p:txBody>
      </p:sp>
      <p:sp>
        <p:nvSpPr>
          <p:cNvPr id="13" name="TextBox 12"/>
          <p:cNvSpPr txBox="1"/>
          <p:nvPr/>
        </p:nvSpPr>
        <p:spPr>
          <a:xfrm>
            <a:off x="10643616" y="2615184"/>
            <a:ext cx="704088" cy="301752"/>
          </a:xfrm>
          <a:prstGeom prst="rect">
            <a:avLst/>
          </a:prstGeom>
          <a:noFill/>
        </p:spPr>
        <p:txBody>
          <a:bodyPr wrap="square" lIns="27432" tIns="13716" rIns="27432" bIns="0">
            <a:spAutoFit/>
          </a:bodyPr>
          <a:lstStyle/>
          <a:p>
            <a:pPr algn="r">
              <a:lnSpc>
                <a:spcPct val="105000"/>
              </a:lnSpc>
              <a:spcAft>
                <a:spcPts val="0"/>
              </a:spcAft>
              <a:defRPr sz="1900" b="1">
                <a:solidFill>
                  <a:srgbClr val="008E87"/>
                </a:solidFill>
                <a:latin typeface="Aptos"/>
              </a:defRPr>
            </a:pPr>
            <a:r>
              <a:t>20</a:t>
            </a:r>
          </a:p>
        </p:txBody>
      </p:sp>
      <p:sp>
        <p:nvSpPr>
          <p:cNvPr id="14" name="TextBox 13"/>
          <p:cNvSpPr txBox="1"/>
          <p:nvPr/>
        </p:nvSpPr>
        <p:spPr>
          <a:xfrm>
            <a:off x="932688" y="3099815"/>
            <a:ext cx="9829800" cy="320040"/>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Complete and delete tasks</a:t>
            </a:r>
          </a:p>
        </p:txBody>
      </p:sp>
      <p:sp>
        <p:nvSpPr>
          <p:cNvPr id="15" name="TextBox 14"/>
          <p:cNvSpPr txBox="1"/>
          <p:nvPr/>
        </p:nvSpPr>
        <p:spPr>
          <a:xfrm>
            <a:off x="10643616" y="3090672"/>
            <a:ext cx="704088" cy="301752"/>
          </a:xfrm>
          <a:prstGeom prst="rect">
            <a:avLst/>
          </a:prstGeom>
          <a:noFill/>
        </p:spPr>
        <p:txBody>
          <a:bodyPr wrap="square" lIns="27432" tIns="13716" rIns="27432" bIns="0">
            <a:spAutoFit/>
          </a:bodyPr>
          <a:lstStyle/>
          <a:p>
            <a:pPr algn="r">
              <a:lnSpc>
                <a:spcPct val="105000"/>
              </a:lnSpc>
              <a:spcAft>
                <a:spcPts val="0"/>
              </a:spcAft>
              <a:defRPr sz="1900" b="1">
                <a:solidFill>
                  <a:srgbClr val="008E87"/>
                </a:solidFill>
                <a:latin typeface="Aptos"/>
              </a:defRPr>
            </a:pPr>
            <a:r>
              <a:t>20</a:t>
            </a:r>
          </a:p>
        </p:txBody>
      </p:sp>
      <p:sp>
        <p:nvSpPr>
          <p:cNvPr id="16" name="Rounded Rectangle 15"/>
          <p:cNvSpPr/>
          <p:nvPr/>
        </p:nvSpPr>
        <p:spPr>
          <a:xfrm>
            <a:off x="630936" y="3493008"/>
            <a:ext cx="10835640" cy="438912"/>
          </a:xfrm>
          <a:prstGeom prst="roundRect">
            <a:avLst>
              <a:gd name="adj" fmla="val 12000"/>
            </a:avLst>
          </a:prstGeom>
          <a:solidFill>
            <a:srgbClr val="EA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575303"/>
            <a:ext cx="9829800" cy="320040"/>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JSON save and reload</a:t>
            </a:r>
          </a:p>
        </p:txBody>
      </p:sp>
      <p:sp>
        <p:nvSpPr>
          <p:cNvPr id="18" name="TextBox 17"/>
          <p:cNvSpPr txBox="1"/>
          <p:nvPr/>
        </p:nvSpPr>
        <p:spPr>
          <a:xfrm>
            <a:off x="10643616" y="3566160"/>
            <a:ext cx="704088" cy="301752"/>
          </a:xfrm>
          <a:prstGeom prst="rect">
            <a:avLst/>
          </a:prstGeom>
          <a:noFill/>
        </p:spPr>
        <p:txBody>
          <a:bodyPr wrap="square" lIns="27432" tIns="13716" rIns="27432" bIns="0">
            <a:spAutoFit/>
          </a:bodyPr>
          <a:lstStyle/>
          <a:p>
            <a:pPr algn="r">
              <a:lnSpc>
                <a:spcPct val="105000"/>
              </a:lnSpc>
              <a:spcAft>
                <a:spcPts val="0"/>
              </a:spcAft>
              <a:defRPr sz="1900" b="1">
                <a:solidFill>
                  <a:srgbClr val="008E87"/>
                </a:solidFill>
                <a:latin typeface="Aptos"/>
              </a:defRPr>
            </a:pPr>
            <a:r>
              <a:t>20</a:t>
            </a:r>
          </a:p>
        </p:txBody>
      </p:sp>
      <p:sp>
        <p:nvSpPr>
          <p:cNvPr id="19" name="TextBox 18"/>
          <p:cNvSpPr txBox="1"/>
          <p:nvPr/>
        </p:nvSpPr>
        <p:spPr>
          <a:xfrm>
            <a:off x="932688" y="4050791"/>
            <a:ext cx="9829800" cy="320040"/>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Functions and readable Python code</a:t>
            </a:r>
          </a:p>
        </p:txBody>
      </p:sp>
      <p:sp>
        <p:nvSpPr>
          <p:cNvPr id="20" name="TextBox 19"/>
          <p:cNvSpPr txBox="1"/>
          <p:nvPr/>
        </p:nvSpPr>
        <p:spPr>
          <a:xfrm>
            <a:off x="10643616" y="4041647"/>
            <a:ext cx="704088" cy="301752"/>
          </a:xfrm>
          <a:prstGeom prst="rect">
            <a:avLst/>
          </a:prstGeom>
          <a:noFill/>
        </p:spPr>
        <p:txBody>
          <a:bodyPr wrap="square" lIns="27432" tIns="13716" rIns="27432" bIns="0">
            <a:spAutoFit/>
          </a:bodyPr>
          <a:lstStyle/>
          <a:p>
            <a:pPr algn="r">
              <a:lnSpc>
                <a:spcPct val="105000"/>
              </a:lnSpc>
              <a:spcAft>
                <a:spcPts val="0"/>
              </a:spcAft>
              <a:defRPr sz="1900" b="1">
                <a:solidFill>
                  <a:srgbClr val="008E87"/>
                </a:solidFill>
                <a:latin typeface="Aptos"/>
              </a:defRPr>
            </a:pPr>
            <a:r>
              <a:t>15</a:t>
            </a:r>
          </a:p>
        </p:txBody>
      </p:sp>
      <p:sp>
        <p:nvSpPr>
          <p:cNvPr id="21" name="Rounded Rectangle 20"/>
          <p:cNvSpPr/>
          <p:nvPr/>
        </p:nvSpPr>
        <p:spPr>
          <a:xfrm>
            <a:off x="630936" y="4443984"/>
            <a:ext cx="10835640" cy="438912"/>
          </a:xfrm>
          <a:prstGeom prst="roundRect">
            <a:avLst>
              <a:gd name="adj" fmla="val 12000"/>
            </a:avLst>
          </a:prstGeom>
          <a:solidFill>
            <a:srgbClr val="EA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 y="4526280"/>
            <a:ext cx="9829800" cy="320040"/>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Basic input/error handling</a:t>
            </a:r>
          </a:p>
        </p:txBody>
      </p:sp>
      <p:sp>
        <p:nvSpPr>
          <p:cNvPr id="23" name="TextBox 22"/>
          <p:cNvSpPr txBox="1"/>
          <p:nvPr/>
        </p:nvSpPr>
        <p:spPr>
          <a:xfrm>
            <a:off x="10643616" y="4517136"/>
            <a:ext cx="704088" cy="301752"/>
          </a:xfrm>
          <a:prstGeom prst="rect">
            <a:avLst/>
          </a:prstGeom>
          <a:noFill/>
        </p:spPr>
        <p:txBody>
          <a:bodyPr wrap="square" lIns="27432" tIns="13716" rIns="27432" bIns="0">
            <a:spAutoFit/>
          </a:bodyPr>
          <a:lstStyle/>
          <a:p>
            <a:pPr algn="r">
              <a:lnSpc>
                <a:spcPct val="105000"/>
              </a:lnSpc>
              <a:spcAft>
                <a:spcPts val="0"/>
              </a:spcAft>
              <a:defRPr sz="1900" b="1">
                <a:solidFill>
                  <a:srgbClr val="008E87"/>
                </a:solidFill>
                <a:latin typeface="Aptos"/>
              </a:defRPr>
            </a:pPr>
            <a:r>
              <a:t>10</a:t>
            </a:r>
          </a:p>
        </p:txBody>
      </p:sp>
      <p:sp>
        <p:nvSpPr>
          <p:cNvPr id="24" name="TextBox 23"/>
          <p:cNvSpPr txBox="1"/>
          <p:nvPr/>
        </p:nvSpPr>
        <p:spPr>
          <a:xfrm>
            <a:off x="932688" y="5001768"/>
            <a:ext cx="9829800" cy="320040"/>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GitHub repository, README and commits</a:t>
            </a:r>
          </a:p>
        </p:txBody>
      </p:sp>
      <p:sp>
        <p:nvSpPr>
          <p:cNvPr id="25" name="TextBox 24"/>
          <p:cNvSpPr txBox="1"/>
          <p:nvPr/>
        </p:nvSpPr>
        <p:spPr>
          <a:xfrm>
            <a:off x="10643616" y="4992624"/>
            <a:ext cx="704088" cy="301752"/>
          </a:xfrm>
          <a:prstGeom prst="rect">
            <a:avLst/>
          </a:prstGeom>
          <a:noFill/>
        </p:spPr>
        <p:txBody>
          <a:bodyPr wrap="square" lIns="27432" tIns="13716" rIns="27432" bIns="0">
            <a:spAutoFit/>
          </a:bodyPr>
          <a:lstStyle/>
          <a:p>
            <a:pPr algn="r">
              <a:lnSpc>
                <a:spcPct val="105000"/>
              </a:lnSpc>
              <a:spcAft>
                <a:spcPts val="0"/>
              </a:spcAft>
              <a:defRPr sz="1900" b="1">
                <a:solidFill>
                  <a:srgbClr val="008E87"/>
                </a:solidFill>
                <a:latin typeface="Aptos"/>
              </a:defRPr>
            </a:pPr>
            <a:r>
              <a:t>10</a:t>
            </a:r>
          </a:p>
        </p:txBody>
      </p:sp>
      <p:sp>
        <p:nvSpPr>
          <p:cNvPr id="26" name="Rounded Rectangle 25"/>
          <p:cNvSpPr/>
          <p:nvPr/>
        </p:nvSpPr>
        <p:spPr>
          <a:xfrm>
            <a:off x="630936" y="5394960"/>
            <a:ext cx="10835640" cy="438912"/>
          </a:xfrm>
          <a:prstGeom prst="roundRect">
            <a:avLst>
              <a:gd name="adj" fmla="val 12000"/>
            </a:avLst>
          </a:prstGeom>
          <a:solidFill>
            <a:srgbClr val="EA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2688" y="5477256"/>
            <a:ext cx="9829800" cy="320040"/>
          </a:xfrm>
          <a:prstGeom prst="rect">
            <a:avLst/>
          </a:prstGeom>
          <a:noFill/>
        </p:spPr>
        <p:txBody>
          <a:bodyPr wrap="square" lIns="27432" tIns="13716" rIns="27432" bIns="0">
            <a:spAutoFit/>
          </a:bodyPr>
          <a:lstStyle/>
          <a:p>
            <a:pPr>
              <a:lnSpc>
                <a:spcPct val="105000"/>
              </a:lnSpc>
              <a:spcAft>
                <a:spcPts val="0"/>
              </a:spcAft>
              <a:defRPr sz="1800" b="0">
                <a:solidFill>
                  <a:srgbClr val="172B43"/>
                </a:solidFill>
                <a:latin typeface="Aptos"/>
              </a:defRPr>
            </a:pPr>
            <a:r>
              <a:t>Demonstration and explanation</a:t>
            </a:r>
          </a:p>
        </p:txBody>
      </p:sp>
      <p:sp>
        <p:nvSpPr>
          <p:cNvPr id="28" name="TextBox 27"/>
          <p:cNvSpPr txBox="1"/>
          <p:nvPr/>
        </p:nvSpPr>
        <p:spPr>
          <a:xfrm>
            <a:off x="10643616" y="5468112"/>
            <a:ext cx="704088" cy="301752"/>
          </a:xfrm>
          <a:prstGeom prst="rect">
            <a:avLst/>
          </a:prstGeom>
          <a:noFill/>
        </p:spPr>
        <p:txBody>
          <a:bodyPr wrap="square" lIns="27432" tIns="13716" rIns="27432" bIns="0">
            <a:spAutoFit/>
          </a:bodyPr>
          <a:lstStyle/>
          <a:p>
            <a:pPr algn="r">
              <a:lnSpc>
                <a:spcPct val="105000"/>
              </a:lnSpc>
              <a:spcAft>
                <a:spcPts val="0"/>
              </a:spcAft>
              <a:defRPr sz="1900" b="1">
                <a:solidFill>
                  <a:srgbClr val="008E87"/>
                </a:solidFill>
                <a:latin typeface="Aptos"/>
              </a:defRPr>
            </a:pPr>
            <a:r>
              <a:t>5</a:t>
            </a:r>
          </a:p>
        </p:txBody>
      </p:sp>
    </p:spTree>
    <p:extLst>
      <p:ext uri="{BB962C8B-B14F-4D97-AF65-F5344CB8AC3E}">
        <p14:creationId xmlns:p14="http://schemas.microsoft.com/office/powerpoint/2010/main" val="345343734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8580" cy="6858000"/>
          </a:xfrm>
          <a:prstGeom prst="rect">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73736"/>
            <a:ext cx="10972800" cy="274320"/>
          </a:xfrm>
          <a:prstGeom prst="rect">
            <a:avLst/>
          </a:prstGeom>
          <a:noFill/>
        </p:spPr>
        <p:txBody>
          <a:bodyPr wrap="square" lIns="27432" tIns="13716" rIns="27432" bIns="0">
            <a:spAutoFit/>
          </a:bodyPr>
          <a:lstStyle/>
          <a:p>
            <a:pPr>
              <a:lnSpc>
                <a:spcPct val="105000"/>
              </a:lnSpc>
              <a:spcAft>
                <a:spcPts val="0"/>
              </a:spcAft>
              <a:defRPr sz="1300" b="1">
                <a:solidFill>
                  <a:srgbClr val="008E87"/>
                </a:solidFill>
                <a:latin typeface="Aptos"/>
              </a:defRPr>
            </a:pPr>
            <a:r>
              <a:t>TEACHER ONLY</a:t>
            </a:r>
          </a:p>
        </p:txBody>
      </p:sp>
      <p:sp>
        <p:nvSpPr>
          <p:cNvPr id="5" name="TextBox 4"/>
          <p:cNvSpPr txBox="1"/>
          <p:nvPr/>
        </p:nvSpPr>
        <p:spPr>
          <a:xfrm>
            <a:off x="438912" y="484632"/>
            <a:ext cx="11292840" cy="621792"/>
          </a:xfrm>
          <a:prstGeom prst="rect">
            <a:avLst/>
          </a:prstGeom>
          <a:noFill/>
        </p:spPr>
        <p:txBody>
          <a:bodyPr wrap="square" lIns="27432" tIns="13716" rIns="27432" bIns="0">
            <a:spAutoFit/>
          </a:bodyPr>
          <a:lstStyle/>
          <a:p>
            <a:pPr>
              <a:lnSpc>
                <a:spcPct val="105000"/>
              </a:lnSpc>
              <a:spcAft>
                <a:spcPts val="0"/>
              </a:spcAft>
              <a:defRPr sz="3000" b="0">
                <a:solidFill>
                  <a:srgbClr val="172B43"/>
                </a:solidFill>
                <a:latin typeface="Aptos"/>
              </a:defRPr>
            </a:pPr>
            <a:r>
              <a:t>Live Demonstration Checklist</a:t>
            </a:r>
          </a:p>
        </p:txBody>
      </p:sp>
      <p:sp>
        <p:nvSpPr>
          <p:cNvPr id="6" name="Rectangle 5"/>
          <p:cNvSpPr/>
          <p:nvPr/>
        </p:nvSpPr>
        <p:spPr>
          <a:xfrm>
            <a:off x="438912" y="1179576"/>
            <a:ext cx="11247120" cy="17373"/>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9144000" cy="173736"/>
          </a:xfrm>
          <a:prstGeom prst="rect">
            <a:avLst/>
          </a:prstGeom>
          <a:noFill/>
        </p:spPr>
        <p:txBody>
          <a:bodyPr wrap="square" lIns="27432" tIns="13716" rIns="27432" bIns="0">
            <a:spAutoFit/>
          </a:bodyPr>
          <a:lstStyle/>
          <a:p>
            <a:pPr>
              <a:lnSpc>
                <a:spcPct val="105000"/>
              </a:lnSpc>
              <a:spcAft>
                <a:spcPts val="0"/>
              </a:spcAft>
              <a:defRPr sz="900" b="0">
                <a:solidFill>
                  <a:srgbClr val="536679"/>
                </a:solidFill>
                <a:latin typeface="Aptos"/>
              </a:defRPr>
            </a:pPr>
            <a:r>
              <a:t>MINI PROJECT  |  PYTHON + GITHUB</a:t>
            </a:r>
          </a:p>
        </p:txBody>
      </p:sp>
      <p:sp>
        <p:nvSpPr>
          <p:cNvPr id="8" name="Rounded Rectangle 7"/>
          <p:cNvSpPr/>
          <p:nvPr/>
        </p:nvSpPr>
        <p:spPr>
          <a:xfrm>
            <a:off x="457200" y="1399032"/>
            <a:ext cx="11247120" cy="1097280"/>
          </a:xfrm>
          <a:prstGeom prst="roundRect">
            <a:avLst>
              <a:gd name="adj" fmla="val 12000"/>
            </a:avLst>
          </a:prstGeom>
          <a:solidFill>
            <a:srgbClr val="DD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63624"/>
            <a:ext cx="10881360" cy="256032"/>
          </a:xfrm>
          <a:prstGeom prst="rect">
            <a:avLst/>
          </a:prstGeom>
          <a:noFill/>
        </p:spPr>
        <p:txBody>
          <a:bodyPr wrap="square" lIns="27432" tIns="13716" rIns="27432" bIns="0">
            <a:spAutoFit/>
          </a:bodyPr>
          <a:lstStyle/>
          <a:p>
            <a:pPr>
              <a:lnSpc>
                <a:spcPct val="105000"/>
              </a:lnSpc>
              <a:spcAft>
                <a:spcPts val="0"/>
              </a:spcAft>
              <a:defRPr sz="1400" b="1">
                <a:solidFill>
                  <a:srgbClr val="008E87"/>
                </a:solidFill>
                <a:latin typeface="Aptos"/>
              </a:defRPr>
            </a:pPr>
            <a:r>
              <a:t>ASK EACH STUDENT TO SHOW</a:t>
            </a:r>
          </a:p>
        </p:txBody>
      </p:sp>
      <p:sp>
        <p:nvSpPr>
          <p:cNvPr id="10" name="TextBox 9"/>
          <p:cNvSpPr txBox="1"/>
          <p:nvPr/>
        </p:nvSpPr>
        <p:spPr>
          <a:xfrm>
            <a:off x="731520" y="1938528"/>
            <a:ext cx="10789920" cy="576072"/>
          </a:xfrm>
          <a:prstGeom prst="rect">
            <a:avLst/>
          </a:prstGeom>
          <a:noFill/>
        </p:spPr>
        <p:txBody>
          <a:bodyPr wrap="square" lIns="27432" tIns="13716" rIns="27432" bIns="0">
            <a:spAutoFit/>
          </a:bodyPr>
          <a:lstStyle/>
          <a:p>
            <a:pPr>
              <a:lnSpc>
                <a:spcPct val="105000"/>
              </a:lnSpc>
              <a:spcAft>
                <a:spcPts val="0"/>
              </a:spcAft>
              <a:defRPr sz="2100" b="1">
                <a:solidFill>
                  <a:srgbClr val="172B43"/>
                </a:solidFill>
                <a:latin typeface="Aptos"/>
              </a:defRPr>
            </a:pPr>
            <a:r>
              <a:t>Check the task tracker and GitHub submission together.</a:t>
            </a:r>
          </a:p>
        </p:txBody>
      </p:sp>
      <p:sp>
        <p:nvSpPr>
          <p:cNvPr id="11" name="Rounded Rectangle 10"/>
          <p:cNvSpPr/>
          <p:nvPr/>
        </p:nvSpPr>
        <p:spPr>
          <a:xfrm>
            <a:off x="749808" y="2871216"/>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6695" y="2743200"/>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Add two tasks; view both.</a:t>
            </a:r>
          </a:p>
        </p:txBody>
      </p:sp>
      <p:sp>
        <p:nvSpPr>
          <p:cNvPr id="13" name="Rounded Rectangle 12"/>
          <p:cNvSpPr/>
          <p:nvPr/>
        </p:nvSpPr>
        <p:spPr>
          <a:xfrm>
            <a:off x="749808" y="3410712"/>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6695" y="3282696"/>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Complete the first task, then delete the second.</a:t>
            </a:r>
          </a:p>
        </p:txBody>
      </p:sp>
      <p:sp>
        <p:nvSpPr>
          <p:cNvPr id="15" name="Rounded Rectangle 14"/>
          <p:cNvSpPr/>
          <p:nvPr/>
        </p:nvSpPr>
        <p:spPr>
          <a:xfrm>
            <a:off x="749808" y="3950207"/>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6695" y="3822191"/>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Rerun in the same Colab runtime; verify JSON reloads.</a:t>
            </a:r>
          </a:p>
        </p:txBody>
      </p:sp>
      <p:sp>
        <p:nvSpPr>
          <p:cNvPr id="17" name="Rounded Rectangle 16"/>
          <p:cNvSpPr/>
          <p:nvPr/>
        </p:nvSpPr>
        <p:spPr>
          <a:xfrm>
            <a:off x="749808" y="4489703"/>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96695" y="4361688"/>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Try a blank task name and an invalid task number.</a:t>
            </a:r>
          </a:p>
        </p:txBody>
      </p:sp>
      <p:sp>
        <p:nvSpPr>
          <p:cNvPr id="19" name="Rounded Rectangle 18"/>
          <p:cNvSpPr/>
          <p:nvPr/>
        </p:nvSpPr>
        <p:spPr>
          <a:xfrm>
            <a:off x="749808" y="5029199"/>
            <a:ext cx="82296" cy="82296"/>
          </a:xfrm>
          <a:prstGeom prst="roundRect">
            <a:avLst>
              <a:gd name="adj" fmla="val 12000"/>
            </a:avLst>
          </a:prstGeom>
          <a:solidFill>
            <a:srgbClr val="008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6695" y="4901183"/>
            <a:ext cx="10332720" cy="438912"/>
          </a:xfrm>
          <a:prstGeom prst="rect">
            <a:avLst/>
          </a:prstGeom>
          <a:noFill/>
        </p:spPr>
        <p:txBody>
          <a:bodyPr wrap="square" lIns="27432" tIns="13716" rIns="27432" bIns="0">
            <a:spAutoFit/>
          </a:bodyPr>
          <a:lstStyle/>
          <a:p>
            <a:pPr>
              <a:lnSpc>
                <a:spcPct val="105000"/>
              </a:lnSpc>
              <a:spcAft>
                <a:spcPts val="0"/>
              </a:spcAft>
              <a:defRPr sz="2100" b="0">
                <a:solidFill>
                  <a:srgbClr val="172B43"/>
                </a:solidFill>
                <a:latin typeface="Aptos"/>
              </a:defRPr>
            </a:pPr>
            <a:r>
              <a:t>Open the GitHub repository: Python file, README and commits.</a:t>
            </a:r>
          </a:p>
        </p:txBody>
      </p:sp>
      <p:sp>
        <p:nvSpPr>
          <p:cNvPr id="21" name="Rounded Rectangle 20"/>
          <p:cNvSpPr/>
          <p:nvPr/>
        </p:nvSpPr>
        <p:spPr>
          <a:xfrm>
            <a:off x="457200" y="5660136"/>
            <a:ext cx="11247120" cy="502920"/>
          </a:xfrm>
          <a:prstGeom prst="roundRect">
            <a:avLst>
              <a:gd name="adj" fmla="val 12000"/>
            </a:avLst>
          </a:prstGeom>
          <a:solidFill>
            <a:srgbClr val="EA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5779008"/>
            <a:ext cx="10881360" cy="274320"/>
          </a:xfrm>
          <a:prstGeom prst="rect">
            <a:avLst/>
          </a:prstGeom>
          <a:noFill/>
        </p:spPr>
        <p:txBody>
          <a:bodyPr wrap="square" lIns="27432" tIns="13716" rIns="27432" bIns="0">
            <a:spAutoFit/>
          </a:bodyPr>
          <a:lstStyle/>
          <a:p>
            <a:pPr>
              <a:lnSpc>
                <a:spcPct val="105000"/>
              </a:lnSpc>
              <a:spcAft>
                <a:spcPts val="0"/>
              </a:spcAft>
              <a:defRPr sz="1600" b="1">
                <a:solidFill>
                  <a:srgbClr val="008E87"/>
                </a:solidFill>
                <a:latin typeface="Aptos"/>
              </a:defRPr>
            </a:pPr>
            <a:r>
              <a:t>Colab reminder: runtime files may disappear after a reset; back up tasks.json if needed.</a:t>
            </a:r>
          </a:p>
        </p:txBody>
      </p:sp>
    </p:spTree>
    <p:extLst>
      <p:ext uri="{BB962C8B-B14F-4D97-AF65-F5344CB8AC3E}">
        <p14:creationId xmlns:p14="http://schemas.microsoft.com/office/powerpoint/2010/main" val="113190600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6F9FB"/>
        </a:solidFill>
        <a:effectLst/>
      </p:bgPr>
    </p:bg>
    <p:spTree>
      <p:nvGrpSpPr>
        <p:cNvPr id="1" name=""/>
        <p:cNvGrpSpPr/>
        <p:nvPr/>
      </p:nvGrpSpPr>
      <p:grpSpPr>
        <a:xfrm>
          <a:off x="0" y="0"/>
          <a:ext cx="0" cy="0"/>
          <a:chOff x="0" y="0"/>
          <a:chExt cx="0" cy="0"/>
        </a:xfrm>
      </p:grpSpPr>
      <p:sp>
        <p:nvSpPr>
          <p:cNvPr id="1760" name="Shape 0"/>
          <p:cNvSpPr/>
          <p:nvPr/>
        </p:nvSpPr>
        <p:spPr>
          <a:xfrm>
            <a:off x="0" y="0"/>
            <a:ext cx="12191400" cy="82080"/>
          </a:xfrm>
          <a:prstGeom prst="rect">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FFFFFF"/>
              </a:solidFill>
              <a:effectLst/>
              <a:uFillTx/>
              <a:latin typeface="Arial"/>
            </a:endParaRPr>
          </a:p>
        </p:txBody>
      </p:sp>
      <p:sp>
        <p:nvSpPr>
          <p:cNvPr id="1761" name="Text 1"/>
          <p:cNvSpPr/>
          <p:nvPr/>
        </p:nvSpPr>
        <p:spPr>
          <a:xfrm>
            <a:off x="438840" y="237600"/>
            <a:ext cx="82292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spc="201">
                <a:solidFill>
                  <a:srgbClr val="008D87"/>
                </a:solidFill>
                <a:effectLst/>
                <a:uFillTx/>
                <a:latin typeface="Aptos"/>
                <a:ea typeface="Aptos"/>
              </a:rPr>
              <a:t>MINI PROJECT</a:t>
            </a:r>
            <a:endParaRPr lang="en-US" sz="1250" b="0" u="none" strike="noStrike">
              <a:solidFill>
                <a:srgbClr val="000000"/>
              </a:solidFill>
              <a:effectLst/>
              <a:uFillTx/>
              <a:latin typeface="Arial"/>
            </a:endParaRPr>
          </a:p>
        </p:txBody>
      </p:sp>
      <p:sp>
        <p:nvSpPr>
          <p:cNvPr id="1762" name="Text 2"/>
          <p:cNvSpPr/>
          <p:nvPr/>
        </p:nvSpPr>
        <p:spPr>
          <a:xfrm>
            <a:off x="438840" y="594360"/>
            <a:ext cx="112467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52B42"/>
                </a:solidFill>
                <a:effectLst/>
                <a:uFillTx/>
                <a:latin typeface="Aptos"/>
                <a:ea typeface="Aptos"/>
              </a:rPr>
              <a:t>Day 2 recap: what should you remember?</a:t>
            </a:r>
            <a:endParaRPr lang="en-US" sz="3400" b="0" u="none" strike="noStrike">
              <a:solidFill>
                <a:srgbClr val="000000"/>
              </a:solidFill>
              <a:effectLst/>
              <a:uFillTx/>
              <a:latin typeface="Arial"/>
            </a:endParaRPr>
          </a:p>
        </p:txBody>
      </p:sp>
      <p:sp>
        <p:nvSpPr>
          <p:cNvPr id="1763" name="Shape 3"/>
          <p:cNvSpPr/>
          <p:nvPr/>
        </p:nvSpPr>
        <p:spPr>
          <a:xfrm>
            <a:off x="438840" y="1334880"/>
            <a:ext cx="11292480" cy="18000"/>
          </a:xfrm>
          <a:prstGeom prst="rect">
            <a:avLst/>
          </a:prstGeom>
          <a:solidFill>
            <a:srgbClr val="D9E4EA"/>
          </a:solidFill>
          <a:ln w="12700">
            <a:solidFill>
              <a:srgbClr val="D9E4EA">
                <a:alpha val="0"/>
              </a:srgbClr>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endParaRPr lang="en-US" sz="1800" b="0" u="none" strike="noStrike">
              <a:solidFill>
                <a:srgbClr val="000000"/>
              </a:solidFill>
              <a:effectLst/>
              <a:uFillTx/>
              <a:latin typeface="Arial"/>
            </a:endParaRPr>
          </a:p>
        </p:txBody>
      </p:sp>
      <p:sp>
        <p:nvSpPr>
          <p:cNvPr id="1764" name="Text 4"/>
          <p:cNvSpPr/>
          <p:nvPr/>
        </p:nvSpPr>
        <p:spPr>
          <a:xfrm>
            <a:off x="457200" y="6556320"/>
            <a:ext cx="8229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000" b="0" u="none" strike="noStrike">
                <a:solidFill>
                  <a:srgbClr val="536579"/>
                </a:solidFill>
                <a:effectLst/>
                <a:uFillTx/>
                <a:latin typeface="Aptos"/>
                <a:ea typeface="Aptos"/>
              </a:rPr>
              <a:t>CONCEPT FIRST</a:t>
            </a:r>
            <a:endParaRPr lang="en-US" sz="1000" b="0" u="none" strike="noStrike">
              <a:solidFill>
                <a:srgbClr val="000000"/>
              </a:solidFill>
              <a:effectLst/>
              <a:uFillTx/>
              <a:latin typeface="Arial"/>
            </a:endParaRPr>
          </a:p>
        </p:txBody>
      </p:sp>
      <p:sp>
        <p:nvSpPr>
          <p:cNvPr id="1765" name="Text 5"/>
          <p:cNvSpPr/>
          <p:nvPr/>
        </p:nvSpPr>
        <p:spPr>
          <a:xfrm>
            <a:off x="11018520" y="650124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0" u="none" strike="noStrike">
                <a:solidFill>
                  <a:srgbClr val="536579"/>
                </a:solidFill>
                <a:effectLst/>
                <a:uFillTx/>
                <a:latin typeface="Aptos"/>
                <a:ea typeface="Aptos"/>
              </a:rPr>
              <a:t>112</a:t>
            </a:r>
            <a:endParaRPr lang="en-US" sz="1000" b="0" u="none" strike="noStrike">
              <a:solidFill>
                <a:srgbClr val="000000"/>
              </a:solidFill>
              <a:effectLst/>
              <a:uFillTx/>
              <a:latin typeface="Arial"/>
            </a:endParaRPr>
          </a:p>
        </p:txBody>
      </p:sp>
      <p:sp>
        <p:nvSpPr>
          <p:cNvPr id="1766" name="Shape 6"/>
          <p:cNvSpPr/>
          <p:nvPr/>
        </p:nvSpPr>
        <p:spPr>
          <a:xfrm>
            <a:off x="475560" y="1618560"/>
            <a:ext cx="11228400" cy="1179360"/>
          </a:xfrm>
          <a:prstGeom prst="roundRect">
            <a:avLst>
              <a:gd name="adj" fmla="val 12403"/>
            </a:avLst>
          </a:prstGeom>
          <a:solidFill>
            <a:srgbClr val="DCF6EF"/>
          </a:solidFill>
          <a:ln w="12700">
            <a:solidFill>
              <a:srgbClr val="B0DF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67" name="Text 7"/>
          <p:cNvSpPr/>
          <p:nvPr/>
        </p:nvSpPr>
        <p:spPr>
          <a:xfrm>
            <a:off x="758880" y="177408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11">
                <a:solidFill>
                  <a:srgbClr val="008D87"/>
                </a:solidFill>
                <a:effectLst/>
                <a:uFillTx/>
                <a:latin typeface="Aptos"/>
                <a:ea typeface="Aptos"/>
              </a:rPr>
              <a:t>DEFINITION / MAIN IDEA</a:t>
            </a:r>
            <a:endParaRPr lang="en-US" sz="1400" b="0" u="none" strike="noStrike">
              <a:solidFill>
                <a:srgbClr val="000000"/>
              </a:solidFill>
              <a:effectLst/>
              <a:uFillTx/>
              <a:latin typeface="Arial"/>
            </a:endParaRPr>
          </a:p>
        </p:txBody>
      </p:sp>
      <p:sp>
        <p:nvSpPr>
          <p:cNvPr id="1768" name="Text 8"/>
          <p:cNvSpPr/>
          <p:nvPr/>
        </p:nvSpPr>
        <p:spPr>
          <a:xfrm>
            <a:off x="749880" y="2148840"/>
            <a:ext cx="10652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50" b="1" u="none" strike="noStrike">
                <a:solidFill>
                  <a:srgbClr val="152B42"/>
                </a:solidFill>
                <a:effectLst/>
                <a:uFillTx/>
                <a:latin typeface="Aptos"/>
                <a:ea typeface="Aptos"/>
              </a:rPr>
              <a:t>Understand the idea first; more practice will build confidence.</a:t>
            </a:r>
            <a:endParaRPr lang="en-US" sz="2250" b="0" u="none" strike="noStrike">
              <a:solidFill>
                <a:srgbClr val="000000"/>
              </a:solidFill>
              <a:effectLst/>
              <a:uFillTx/>
              <a:latin typeface="Arial"/>
            </a:endParaRPr>
          </a:p>
        </p:txBody>
      </p:sp>
      <p:sp>
        <p:nvSpPr>
          <p:cNvPr id="1769" name="Shape 9"/>
          <p:cNvSpPr/>
          <p:nvPr/>
        </p:nvSpPr>
        <p:spPr>
          <a:xfrm>
            <a:off x="768240" y="32004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770" name="Text 10"/>
          <p:cNvSpPr/>
          <p:nvPr/>
        </p:nvSpPr>
        <p:spPr>
          <a:xfrm>
            <a:off x="996840" y="30816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Files save data; exceptions handle known errors</a:t>
            </a:r>
            <a:endParaRPr lang="en-US" sz="2100" b="0" u="none" strike="noStrike">
              <a:solidFill>
                <a:srgbClr val="000000"/>
              </a:solidFill>
              <a:effectLst/>
              <a:uFillTx/>
              <a:latin typeface="Arial"/>
            </a:endParaRPr>
          </a:p>
        </p:txBody>
      </p:sp>
      <p:sp>
        <p:nvSpPr>
          <p:cNvPr id="1771" name="Shape 11"/>
          <p:cNvSpPr/>
          <p:nvPr/>
        </p:nvSpPr>
        <p:spPr>
          <a:xfrm>
            <a:off x="768240" y="39409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772" name="Text 12"/>
          <p:cNvSpPr/>
          <p:nvPr/>
        </p:nvSpPr>
        <p:spPr>
          <a:xfrm>
            <a:off x="996840" y="38221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OOP organizes related data and actions</a:t>
            </a:r>
            <a:endParaRPr lang="en-US" sz="2100" b="0" u="none" strike="noStrike">
              <a:solidFill>
                <a:srgbClr val="000000"/>
              </a:solidFill>
              <a:effectLst/>
              <a:uFillTx/>
              <a:latin typeface="Arial"/>
            </a:endParaRPr>
          </a:p>
        </p:txBody>
      </p:sp>
      <p:sp>
        <p:nvSpPr>
          <p:cNvPr id="1773" name="Shape 13"/>
          <p:cNvSpPr/>
          <p:nvPr/>
        </p:nvSpPr>
        <p:spPr>
          <a:xfrm>
            <a:off x="768240" y="468180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774" name="Text 14"/>
          <p:cNvSpPr/>
          <p:nvPr/>
        </p:nvSpPr>
        <p:spPr>
          <a:xfrm>
            <a:off x="996840" y="456300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Git tracks versions; APIs exchange information</a:t>
            </a:r>
            <a:endParaRPr lang="en-US" sz="2100" b="0" u="none" strike="noStrike">
              <a:solidFill>
                <a:srgbClr val="000000"/>
              </a:solidFill>
              <a:effectLst/>
              <a:uFillTx/>
              <a:latin typeface="Arial"/>
            </a:endParaRPr>
          </a:p>
        </p:txBody>
      </p:sp>
      <p:sp>
        <p:nvSpPr>
          <p:cNvPr id="1775" name="Shape 15"/>
          <p:cNvSpPr/>
          <p:nvPr/>
        </p:nvSpPr>
        <p:spPr>
          <a:xfrm>
            <a:off x="768240" y="5422320"/>
            <a:ext cx="100080" cy="100080"/>
          </a:xfrm>
          <a:prstGeom prst="ellipse">
            <a:avLst/>
          </a:prstGeom>
          <a:solidFill>
            <a:srgbClr val="008D87"/>
          </a:solidFill>
          <a:ln w="12700">
            <a:solidFill>
              <a:srgbClr val="008D87">
                <a:alpha val="0"/>
              </a:srgbClr>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776" name="Text 16"/>
          <p:cNvSpPr/>
          <p:nvPr/>
        </p:nvSpPr>
        <p:spPr>
          <a:xfrm>
            <a:off x="996840" y="5303520"/>
            <a:ext cx="1005804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152B42"/>
                </a:solidFill>
                <a:effectLst/>
                <a:uFillTx/>
                <a:latin typeface="Aptos"/>
                <a:ea typeface="Aptos"/>
              </a:rPr>
              <a:t>CRUD becomes SQL; tests check expected results</a:t>
            </a:r>
            <a:endParaRPr lang="en-US" sz="21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534</TotalTime>
  <Words>11736</Words>
  <Application>Microsoft Office PowerPoint</Application>
  <PresentationFormat>Widescreen</PresentationFormat>
  <Paragraphs>1942</Paragraphs>
  <Slides>124</Slides>
  <Notes>116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124</vt:i4>
      </vt:variant>
    </vt:vector>
  </HeadingPairs>
  <TitlesOfParts>
    <vt:vector size="133" baseType="lpstr">
      <vt:lpstr>Aptos</vt:lpstr>
      <vt:lpstr>Arial</vt:lpstr>
      <vt:lpstr>Consolas</vt:lpstr>
      <vt:lpstr>DejaVu Sans</vt:lpstr>
      <vt:lpstr>DejaVu Sans Mono</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Foundations Day 2 - Learn, Try, Check</dc:title>
  <dc:subject>Week 1 Day 2 - Beginner Friendly</dc:subject>
  <dc:creator>AI Engineering Training</dc:creator>
  <dc:description/>
  <cp:lastModifiedBy>au84b</cp:lastModifiedBy>
  <cp:revision>9</cp:revision>
  <dcterms:created xsi:type="dcterms:W3CDTF">2026-10-24T16:51:03Z</dcterms:created>
  <dcterms:modified xsi:type="dcterms:W3CDTF">2026-10-25T02:41:50Z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112</vt:r8>
  </property>
  <property fmtid="{D5CDD505-2E9C-101B-9397-08002B2CF9AE}" pid="3" name="PresentationFormat">
    <vt:lpwstr>On-screen Show (16:9)</vt:lpwstr>
  </property>
  <property fmtid="{D5CDD505-2E9C-101B-9397-08002B2CF9AE}" pid="4" name="Slides">
    <vt:r8>112</vt:r8>
  </property>
</Properties>
</file>