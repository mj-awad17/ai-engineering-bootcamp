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57"/>
  </p:notesMasterIdLst>
  <p:sldIdLst>
    <p:sldId id="412" r:id="rId3"/>
    <p:sldId id="411" r:id="rId4"/>
    <p:sldId id="261" r:id="rId5"/>
    <p:sldId id="409" r:id="rId6"/>
    <p:sldId id="410" r:id="rId7"/>
    <p:sldId id="256"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413" r:id="rId93"/>
    <p:sldId id="346" r:id="rId94"/>
    <p:sldId id="347" r:id="rId95"/>
    <p:sldId id="348" r:id="rId96"/>
    <p:sldId id="349" r:id="rId97"/>
    <p:sldId id="350" r:id="rId98"/>
    <p:sldId id="351" r:id="rId99"/>
    <p:sldId id="352" r:id="rId100"/>
    <p:sldId id="353" r:id="rId101"/>
    <p:sldId id="354" r:id="rId102"/>
    <p:sldId id="355" r:id="rId103"/>
    <p:sldId id="407"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8" r:id="rId152"/>
    <p:sldId id="403" r:id="rId153"/>
    <p:sldId id="404" r:id="rId154"/>
    <p:sldId id="405" r:id="rId155"/>
    <p:sldId id="406" r:id="rId15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5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viewProps" Target="viewProp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theme" Target="theme/theme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272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625389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By the end of the full program, you should be able to:
Write, understand, test, and debug Python code.
Work with data and create introductory machine learning / generative AI applications.
Build and deploy an end-to-end AI project and develop a portfolio.
Prepare for AI-901 using the dedicated certification module.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Start with student experience: apps that recommend, classify or answer questions. No cloud demo today.
AI Engineering means building useful software that uses data and artificial intelligence.
A software engineer writes programs that solve problems.
An AI engineer combines software, data, models, and responsible design.
Our first step is Python: a language used throughout the course.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72973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a:t>
            </a:r>
            <a:r>
              <a:rPr lang="en-US"/>
              <a:t>
</a:t>
            </a:r>
            <a:r>
              <a:rPr lang="en-US" smtClean="0"/>
              <a:t>SATURDAY </a:t>
            </a:r>
            <a:r>
              <a:rPr lang="en-US" dirty="0"/>
              <a:t>| AI ENGINEERING FOUNDATION  •  CONCEPT → SYNTAX → EXAMPLE → PRACTICE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Each topic follows the same teaching sequence.
1  CONCEPT: What does it mean? Why do we use it?
2  SYNTAX: What does Python expect us to write?
3  EXAMPLE: Run a short program and understand its output.
4  PRACTISE: Try a small change or solve a problem yourself.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Python is a general-purpose programming language known for readable syntax.
Code instructions run in sequence, from top to bottom.
It is useful for automation, data analysis, AI, and software projects.
You can start with a five-line program and gradually build more.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Write on board: name → greeting → screen; price × quantity → total.
A program is a set of instructions a computer follows.
INPUT: data a user or program provides.
PROCESS: calculation, decision, or another operation.
OUTPUT: the result shown or saved.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We need Python installed and a place to write code.
Install Python 3 from python.org (or use your classroom Python environment).
Open VS Code, IDLE, or another simple Python editor.
Create and save a file named hello.py.
Run it with python hello.py (or python3 hello.py where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print() displays a message on the screen.
Python runs these two lines in order.
Code:
print("Hello, World!")
print("I am learning Python.")
Expected output:
Hello, World!
I am learning Python.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Transition: recap the previous section in one sentence, then introduce the new concept. 
We will start with text, numbers, and simple user interaction.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Output means information a program displays or produces.
</a:t>
            </a:r>
            <a:r>
              <a:rPr lang="en-US"/>
              <a:t>On </a:t>
            </a:r>
            <a:r>
              <a:rPr lang="en-US" smtClean="0"/>
              <a:t>SATURDAY, </a:t>
            </a:r>
            <a:r>
              <a:rPr lang="en-US" dirty="0"/>
              <a:t>our main output function is print().
Text output usually goes inside quotation marks.
Numbers and calculations can be printed directly.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Function name: print
Parentheses contain what should be displayed.
Code:
print("Welcome to Python!")
print( "Good morning" )
Expected output:
Welcome to Python!
Good morning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Both single and double quotes can create strings.
Match the opening and closing quotation mark.
Code:
print("Hello")
print('Hello')
print("It </a:t>
            </a:r>
            <a:r>
              <a:rPr lang="en-US"/>
              <a:t>is </a:t>
            </a:r>
            <a:r>
              <a:rPr lang="en-US" smtClean="0"/>
              <a:t>SATURDAY")</a:t>
            </a:r>
            <a:r>
              <a:rPr lang="en-US" dirty="0"/>
              <a:t>
Expected output:
Hello
Hello
It </a:t>
            </a:r>
            <a:r>
              <a:rPr lang="en-US"/>
              <a:t>is </a:t>
            </a:r>
            <a:r>
              <a:rPr lang="en-US" smtClean="0"/>
              <a:t>SATURDAY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Numbers do not need quotes.
Python evaluates calculations before displaying results.
Code:
print(25)
print(10 + 5)
print(8 * 4)
Expected output:
25
15
32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Separate items with commas.
print() automatically inserts spaces between items.
Code:
print("Name:", "Aman")
print("Age:", 18)
print("Total:", 10 + 20)
Expected output:
Name: Aman
Age: 18
Total: 30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Without running Python, what will be printed?
print("Python", 3)
print(6 + 4)
print("6 + 4")
Hint: Is the expression written inside quotes?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print("Python", 3)
print(6 + 4)
print("6 + 4")
Expected output:
Python 3
10
6 + 4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variable is a name that refers to a stored value.
Think of it as a label attached to data.
Use the assignment operator = to give a variable a value.
You can use the variable name again instead of rewriting the value.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Left side = variable name; right side = value.
Code:
name = "Aman"
age = 18
marks = 95.5
print(name)
print(age)
print(marks)
Expected output:
Aman
18
95.5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Variables can be combined with strings in print().
Code:
name = "Aman"
age = 18
print("My name is", name)
print("I am", age, "years old")
Expected output:
My name is Aman
I am 18 years old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The second assignment replaces the earlier stored value.
Code:
score = 10
print(score)
score = 20
print(score)
Expected output:
10
20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good variable name clearly describes its purpose.
Allowed: letters, digits, and underscore (_).
Cannot start with a digit or contain spaces.
Names are case-sensitive: age and Age are different.
Avoid reserved keywords such as if or for.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Use snake_case for readable Python names.
Lines beginning # are comments and will not run.
Code:
student_name = "Ali"
studentAge = 19
total_marks = 100
# Invalid examples:
# 2name = "Ali"
# student name = "Ali"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data type describes the kind of value a variable holds.
str: text, e.g. "Ali"
int: whole number, e.g. 18
float: decimal number, e.g. 95.5
bool: True or False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type() tells us the type of a value.
Code:
name = "Ali"
age = 19
percentage = 88.5
is_present = True
print(type(name))
print(type(age))
Expected output:
&lt;class 'str'&gt;
&lt;class 'int'&gt;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Compare the table entries and invite students to provide one real-world example for each. 
Types help Python decide which operations are valid.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Create variables for your name, age, GPA, and whether you are enrolled. Print all four values.
Hint: Use str, int, float and bool values.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student_name = "Sara"
age = 20
gpa = 3.6
is_enrolled = True
print(student_name, age)
print(gpa, is_enrolled)
Expected output:
Sara 20
3.6 True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Input means information given to a program while it is running.
Python uses input() to ask the user for a value.
Text inside input() becomes the prompt shown to the user.
The result can be stored in a variable.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Try typing: Aarav
The same program works with any name.
Code:
name = input("Enter your name: ")
print("Hello,", name)
Expected output:
Enter your name: Aarav
Hello, Aarav</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In Python, input() returns a string even if the user enters digits.
Example: entering 18 produces the text "18".
You cannot add the number 1 directly to the string "18".
Convert the text first when calculations are needed.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int() converts numeric text into an integer.
float() converts numeric text into a decimal number.
Code:
age = int(input("Enter age: "))
price = float(input("Enter price: "))
print(age + 1)
print(price * 2)
Expected output:
Enter age: 18
Enter price: 10.5
19
21.0</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comment is a note for a human reader; Python ignores it when executing code.
Use # to begin a one-line comment.
Explain WHY the code exists or what a block accomplishes.
You can also temporarily comment out a line.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Comments make programs easier to read.
Do not comment every obvious line.
Code:
# Ask for the learner
name = input("Your name: ")
# Give a personal greeting
print("Welcome,", name)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Make a character profile with first name, last name, age, height and a Boolean value. Ask the user for a nickname and print the profile.
Hint: Inspired by the Tony Stark exercise in the supplied notes.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first = "Tony"
last = "Stark"
age = 53
height = 1.85
is_hero = True
nickname = input("Hero name: ")
print(first, last, nickname)
print(age, height, is_hero)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Transition: recap the previous section in one sentence, then introduce the new concept. 
Understand how Python handles user input and text.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Type conversion changes a value from one data type to another.
int() → integer; float() → decimal number.
str() → text; bool() → Boolean value.
The original text must represent a valid number to convert.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Not every string can be converted to a number.
int("hello") would raise ValueError.
Code:
number = 20
print(float(number))
print(str(number))
print(bool(number))
print(int("18"))
Expected output:
20.0
20
True
18</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Adding strings joins text.
Adding integers performs arithmetic.
Convert user input before numeric calculations.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Choose clear names such as total (not sum).
Code:
first = int(input("First number: "))
second = int(input("Second number: "))
total = first + second
print("Sum:", total)
Expected output:
First number: 15
Second number: 10
Sum: 25</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Ask for the prices of three products. Show the total cost and average price.
Hint: Use float(input(...)); average = total / 3.</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p1 = float(input("Price 1: "))
p2 = float(input("Price 2: "))
p3 = float(input("Price 3: "))
total = p1 + p2 + p3
print("Total:", total)
print("Average:", total / 3)</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string (str) is a sequence of characters used to represent text.
Examples: a name, city, sentence or message.
String methods help us search, transform or replace text.
Strings are immutable: methods return new strings.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upper() creates uppercase text.
lower() creates lowercase text.
The original name stays unchanged.
Code:
name = "Tony Stark"
print(name.upper())
print(name.lower())
print(name)
Expected output:
TONY STARK
tony stark
Tony Stark</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Positions begin at 0.
When not found, find() returns -1.
Code:
name = "Tony Stark"
print(name.find("ark"))
print(name.find("T"))
print(name.find("X"))
Expected output:
7
0
-1</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replace(old, new) returns a new string.
Code:
name = "Tony Stark"
new_name = name.replace("Tony", "Iron")
print(new_name)
print(name)
Expected output:
Iron Stark
Tony Stark</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Immutable means you cannot change characters in place.
You CAN create a new string with upper(), lower() or replace().
Assign the returned value if you want to keep the change.
Many beginner bugs come from forgetting the assignment.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Code:
city = "lahore"
city = city.upper()
print(city)
word = "cat"
word = word.replace("c", "b")
print(word)
Expected output:
LAHORE
bat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Keywords are reserved words with special meanings in Python.
Examples: if, else, for, while, in, True, False, and, or, not.
Do not use reserved words as variable names.
The in operator checks whether a value is present.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in returns True or False.
Text checks are case-sensitive.
Code:
name = "Tony Stark"
print("Stark" in name)
print("stark" in name)
print("ark" in name)
Expected output:
True
False
True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Ask for a superhero name. Print whether the name begins with S or s.
Hint: Use name.lower().startswith("s").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name = input("Superhero name: ")
starts_with_s = name.lower().startswith("s")
print(starts_with_s)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Transition: recap the previous section in one sentence, then introduce the new concept. 
Use expressions and conditions to control a program.</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An operator is a symbol or keyword that performs an operation on values.
Arithmetic: perform calculations.
Comparison: compare two values.
Logical: combine True/False conditions.
Assignment: store or update a value.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Compare the table entries and invite students to provide one real-world example for each.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Compare the table entries and invite students to provide one real-world example for each.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Explain the difference between / and //.
Code:
print(5 + 3)
print(5 / 2)
print(5 // 2)
print(5 % 2)
print(2 ** 3)
Expected output:
8
2.5
2
1
8</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Assignment operators store or update values in a variable.
= assigns a value.
+= adds to the existing value.
-=, *=, /= and other shortcuts modify the current value.
Read x += 1 as: increase x by one.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Code:
score = 10
score += 5
print(score)
score -= 2
print(score)
score *= 2
print(score)
Expected output:
15
13
26</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Operator precedence decides which part of an expression is evaluated first.
Parentheses can force a particular order.
Powers happen before multiplication/division.
Multiplication/division happen before addition/subtraction.
Use parentheses when an expression could be confusing.</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Multiplication before addition.
Powers associate from right to left.
Code:
print(2 + 3 * 5)
print((2 + 3) * 5)
print(2 ** 3 ** 2)
Expected output:
17
25
512</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Comparison operators evaluate a question and produce True or False.
== means equal to; != means not equal to.
&gt; and &lt; compare size.
&gt;= and &lt;= include equality.
Remember: = assigns; == compares.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Every comparison returns a Boolean result.
Code:
age = 18
print(age &gt;= 18)
print(age == 20)
print(age != 20)
print(5 &lt; 10)
Expected output:
True
False
True
True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Logical operators combine or reverse Boolean conditions.
and: both conditions must be True.
or: at least one condition must be True.
not: reverses a Boolean value.
Use them when an action depends on multiple rules.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Code:
age = 20
has_id = True
print(age &gt;= 18 and has_id)
print(age &lt; 18 or has_id)
print(not has_id)
Expected output:
True
True
False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Predict each result, then test your answers:
print(10 &gt; 5 and 3 &gt; 7)
print(10 &gt; 5 or 3 &gt; 7)
print(not (3 == 3))
Hint: Evaluate each comparison first.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print(10 &gt; 5 and 3 &gt; 7)
print(10 &gt; 5 or 3 &gt; 7)
print(not (3 == 3))
Expected output:
False
True
False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conditional statement chooses which code should run based on a condition.
if runs its indented block when the condition is True.
else provides an alternative when the condition is False.
elif checks another condition if earlier tests fail.</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A colon (:) starts the if block.
Four spaces indent the statements inside the block.
Code:
age = 20
if age &gt;= 18:
    print("Adult")
print("Program finished")
Expected output:
Adult
Program finished</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Indentation means placing spaces before a code line to show its block.
Python uses indentation to group code.
Use four spaces consistently.
The lines aligned under if belong to that condition.
A line outside the block runs independently.</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Code:
marks = 70
if marks &gt;= 50:
    print("Pass")
else:
    print("Try again")
Expected output:
Pass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Python checks conditions top to bottom.
Only the first matching branch runs.
Code:
marks = 82
if marks &gt;= 90:
    print("A")
elif marks &gt;= 70:
    print("B")
else:
    print("C")
Expected output:
B</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You can also write 18 &lt;= age &lt;= 90.
Code:
age = 25
if age &gt;= 18 and age &lt;= 90:
    print("Allowed")
else:
    print("Not allowed")
Expected output:
Allowed</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Ask the user to enter marks. Print "Pass" if marks are 50 or higher; otherwise print "Fail".
Hint: Convert input using int() and write if/else.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marks = int(input("Enter marks: "))
if marks &gt;= 50:
    print("Pass")
else:
    print("Fail")</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We will build a calculator using concepts already learned.
Take two numbers as input.
Ask which operator the user wants (+, -, *, /).
Use if / elif / else to choose the calculation.
Display the answer; avoid division by zero.</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First check that numeric input is converted.
Code:
a = float(input("First number: "))
b = float(input("Second number: "))
op = input("Choose +, -, *, /: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Combine this block with the input slide to run it.
For any unsupported operator, add an else block.
Code:
if op == "+":
    print(a + b)
elif op == "-":
    print(a - b)
elif op == "*":
    print(a * b)
elif op == "/" and b != 0:
    print(a / b)</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Show that else handles any unsupported operator or division by zero. Let students try 10, 2 and *. Answer: 20.0.
Complete runnable example.
Use input → decision → output.
Code:
a = float(input("First number: "))
b = float(input("Second number: "))
op = input("Choose +, -, *, /: ")
if op == "+":
    print(a + b)
elif op == "-":
    print(a - b)
elif op == "*":
    print(a * b)
elif op == "/" and b != 0:
    print(a / b)
else:
    print("Invalid operation or zero divisor")
Expected output:
First number: 10
Second number: 2
Choose +, -, *, /: *
20.0</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Extend your calculator to support remainder (%) and power (**). Also test what happens when the user enters 0 as the divisor.
Hint: Challenge follows the supplied PDF calculator exercise.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Transition: recap the previous section in one sentence, then introduce the new concept. 
Repeat instructions instead of writing the same line many times.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loop runs the same block of code more than once.
Useful for lists of items, number patterns, and repeated questions.
for loops iterate through a sequence.
while loops repeat while a condition stays True.</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range() represents a sequence of integers, commonly used with for loops.
range(stop) starts at 0 and stops before stop.
range(start, stop) starts at start.
range(start, stop, step) changes the step.
The stop value is excluded.</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list() makes the values visible for learning.
Code:
print(list(range(5)))
print(list(range(1, 6)))
print(list(range(2, 11, 2)))
Expected output:
[0, 1, 2, 3, 4]
[1, 2, 3, 4, 5]
[2, 4, 6, 8, 10]</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while loop repeats as long as its condition evaluates to True.
Check the condition before each repetition.
Update a variable so the loop can eventually stop.
Without an update, an infinite loop may occur.</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Trace count after each repetition.
Code:
count = 1
while count &lt;= 5:
    print(count)
    count += 1
Expected output:
1
2
3
4
5</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Multiplying a string repeats it.
Code:
level = 1
while level &lt;= 5:
    print("*" * level)
    level += 1
Expected output:
*
**
***
****
*****</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Extend your calculator to support remainder (%) and power (**). Also test what happens when the user enters 0 as the divisor.
Hint: Challenge follows the supplied PDF calculator exercise.</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7642444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for loop visits each item in a sequence one after another.
Works with ranges, strings, lists and other iterable values.
for value in sequence: introduces the block.
You do not normally update the loop variable manually.</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This does the same visible work as the while example.
Code:
for number in range(1, 6):
    print(number)
Expected output:
1
2
3
4
5</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range() step of 2 skips odd numbers.
Code:
for number in range(2, 11, 2):
    print(number)
Expected output:
2
4
6
8
10</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Use for when iterating over a list or range.
Use while for repeated input or a condition-driven loop.
Either can sometimes solve the same task.</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These statements change normal loop flow.
break immediately stops the loop.
continue skips the remaining code in the current iteration.
Both are useful when searching or filtering.</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Code:
for number in range(1, 10):
    if number == 5:
        break
    print(number)
Expected output:
1
2
3
4</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Code:
for number in range(1, 8):
    if number == 4:
        continue
    print(number)
Expected output:
1
2
3
5
6
7</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A. Print odd numbers from 1 to 20.
B. Print the multiplication table of 7.
C. Print 1 to 10 but skip 5.
Hint: Try range(start, stop, step) first; use continue for C.</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for n in range(1, 21, 2):
    print(n)
for i in range(1, 11):
    print(7, "x", i, "=", 7 * i)</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for n in range(1, 11):
    if n == 5:
        continue
    print(n)</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for n in range(1, 11):
    if n == 5:
        continue
    print(n)</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42562562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Transition: recap the previous section in one sentence, then introduce the new concept. 
Choose the right way to store more than one value.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collection holds several related values in one place.
List: ordered, changeable items.
Tuple: ordered, unchangeable items.
Set: unique items.
Dictionary: key-value pairs.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list is an ordered, mutable collection written with square brackets [].
Good for student names, grades, and products.
Items can have different types.
You can add, change, remove, and loop over items.</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Index 0 means the first item.
Index -1 means the last item.
Code:
marks = [98, 97, 95, 93]
print(marks)
print(len(marks))
print(marks[0])
print(marks[-1])
Expected output:
[98, 97, 95, 93]
4
98
93</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An index identifies one item; a slice selects a range of items.
Positive indexing starts at 0.
Negative indexing counts backward from the end.
list[start:stop] includes start but excludes stop.</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The stop index does not appear in the slice.
Code:
marks = [98, 97, 95, 93, 90]
print(marks[0:3])
print(marks[-2:])
Expected output:
[98, 97, 95]
[93, 90]</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append() adds at the end.
insert(index, item) adds at a position.
Code:
subjects = ["Math", "English"]
subjects.append("Physics")
subjects.insert(1, "Chemistry")
print(subjects)
Expected output:
['Math', 'Chemistry', 'English', 'Physics']</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Mutable means changeable.
clear() removes all items.
Code:
marks = [80, 85, 90]
marks[0] = 95
print(marks)
marks.clear()
print(marks)
Expected output:
[95, 85, 90]
[]</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Create a list of three student names. Add another name, change the first name, and print each name using a loop.
Hint: append(), list[0] = ..., for name in names</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names = ["Ali", "Sara", "Aman"]
names.append("Noor")
names[0] = "Hamza"
for name in names:
    print(name)</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tuple is an ordered, immutable collection usually written in parentheses ().
Use when a group of values should not change.
You can access tuple items by index.
count() counts repetitions and index() finds a position.</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An item cannot be reassigned inside a tuple.
Code:
marks = (98, 95, 93, 95, 95)
print(marks[0])
print(marks.count(95))
print(marks.index(93))
Expected output:
98
3
2</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set is a collection that keeps only unique values.
Set items do not have a guaranteed display order.
You cannot access elements by index.
Use add() to insert a new value.
An empty set is created with set(), not {}.</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Count is reliable; order of printed set items is not.
Code:
rolls = [101, 102, 101, 103]
unique_rolls = set(rolls)
print(len(unique_rolls))
unique_rolls.add(104)
print(len(unique_rolls))
Expected output:
3
4</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dictionary stores information as key: value pairs.
Keys identify values (e.g. subject → marks).
Keys must be unique.
Access a value by writing dictionary[key].
Pairs can be added or updated.</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A dictionary is ideal when each item has a meaningful name.
Code:
marks = {"Math": 95, "Physics": 97}
print(marks["Physics"])
marks["English"] = 90
marks["Physics"] = 99
print(marks["Physics"])
Expected output:
97
99</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Each iteration supplies a key.
Code:
marks = {"Math": 95, "English": 90}
for subject in marks:
    print(subject, marks[subject])
Expected output:
Math 95
English 90</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Compare the table entries and invite students to provide one real-world example for each. </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A. Remove duplicate student roll numbers.
B. Store the marks of three subjects in a dictionary.
C. Print the marks for one subject.
Hint: Use set(), a dictionary literal, and dictionary["key"].</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rolls = [1, 2, 1, 3, 2]
print(len(set(rolls)))
marks = {"Math": 90, "CS": 95, "English": 85}
print(marks["CS"])
Expected output:
3
95</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Beginner-friendly alternative to the longer employee search example in the source PDF.
Create a small dictionary where each employee ID maps to a name. Ask for an ID and display the name, or say "Not found".
Hint: Use a dictionary and the in operator.</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The source PDF exercise uses a list of tuples; this adaptation uses a dictionary for easier first-day teaching.
A dictionary maps a key to a value.
Use in before looking up a key.
Code:
employees = {101: "Ali", 102: "Sara", 103: "Hamza"}
search_id = int(input("Enter employee ID: "))
if search_id in employees:
    print("Employee:", employees[search_id])
else:
    print("Not found")
Expected output:
Enter employee ID: 102
Employee: Sara</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Transition: recap the previous section in one sentence, then introduce the new concept. 
Turn repeated code into small, reusable tasks.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function is a named, reusable block of code that performs a task.
Write the instructions once, call them whenever needed.
Functions reduce repetition and make code easier to understand.
Create a function with def; execute it by calling its name.</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Functions give repeated tasks a clear name.
A function can receive values and return a result.</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def begins the function definition.
Indent the body.
Calling the function executes its code.
Code:
def greet():
    print("Welcome to Python!")
greet()
greet()
Expected output:
Welcome to Python!
Welcome to Python!</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parameter is a variable in the function definition; an argument is the value passed when calling it.
Parameters make functions flexible.
The same function can be used with different arguments.
A function can have one, many, or no parameters.</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name is the parameter.
"Ali" and "Sara" are arguments.
Code:
def greet(name):
    print("Hello,", name)
greet("Ali")
greet("Sara")
Expected output:
Hello, Ali
Hello, Sara</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The function receives two values.
Code:
def add_numbers(a, b):
    print(a + b)
add_numbers(10, 20)
add_numbers(3, 4)
Expected output:
30
7</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print() displays a result; return sends a result back to the caller.
Use print() when you only want to show something.
Use return when you want to save or reuse a calculated value.
A return statement ends that function call.</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The caller receives 30 as the return value.
Code:
def add_numbers(a, b):
    return a + b
total = add_numbers(10, 20)
print("Total:", total)
Expected output:
Total: 30</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The 18% rate is a classroom example, not tax advice.
Code:
def add_gst(price):
    return price + (0.18 * price)
print(add_gst(100))
print(add_gst(200))
Expected output:
118.0
236.0</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Built-in functions are ready to use without importing a module.
print() / input() display and receive text.
len() counts items; type() checks a type.
int(), float(), str() convert values.
max(), min(), sum() work with numbers.</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Useful for lists and many beginner programs.
Code:
nums = [1, 2, 3, 4, 5]
print(len(nums))
print(max(nums))
print(min(nums))
print(sum(nums))
Expected output:
5
5
1
15</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module is a Python file containing functions and other reusable code.
Import a module to use its functionality.
The math module provides mathematical operations.
Call imported functions with module.function() when importing a whole module.</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sqrt() is square root; ceil() rounds up; floor() rounds down.
Code:
import math
print(math.sqrt(16))
print(math.ceil(4.2))
print(math.floor(4.8))
Expected output:
4.0
5
4</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When imported by name, no math. prefix is needed.
Code:
from math import sqrt, log2
print(sqrt(25))
print(log2(8))
Expected output:
5.0
3.0</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These are the other math module examples discussed on PDF page 31. Do not print the full dir(math) list in the first demo; show membership instead.
pow(2, 3) calculates 2 to the power 3.
math.pi is a value, not a function.
dir(math) lists available module names.
Code:
import math
print(math.pow(2, 3))
print(round(math.pi, 2))
print("sqrt" in dir(math))
Expected output:
8.0
3.14
True</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A. Write check_odd_even(number).
B. Write average_marks(scores) to return the mean.
C. Call both functions with sample values.
Hint: Odd/even uses %. Average uses sum() / len().</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def check_odd_even(number):
    if number % 2 == 0:
        return "Even"
    return "Odd"
print(check_odd_even(7))
Expected output:
Odd</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Walk through the solution, highlighting the reason for each line. Let students compare their own attempts. 
Code:
def average_marks(scores):
    if len(scores) == 0:
        return 0
    return sum(scores) / len(scores)
print(average_marks([80, 90, 100]))
Expected output:
90.0</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Source PDF, Practice Exercise 6: count vowels. Pause and ask learners to trace p-y-t-h-o-n.
A function can loop over a string.
Return the count to use it again.
Code:
def count_vowels(text):
    count = 0
    for letter in text.lower():
        if letter in "aeiou":
            count += 1
    return count
print(count_vowels("Python Course"))
Expected output:
4</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Source PDF, Practice Exercise 6: prime number. Advanced learners can discuss a faster loop, but this simple version is best </a:t>
            </a:r>
            <a:r>
              <a:rPr lang="en-US"/>
              <a:t>for </a:t>
            </a:r>
            <a:r>
              <a:rPr lang="en-US" smtClean="0"/>
              <a:t>SATURDAY.</a:t>
            </a:r>
            <a:r>
              <a:rPr lang="en-US" dirty="0"/>
              <a:t>
A prime number is greater than 1 and has no factors except 1 and itself.
Test possible divisors with a loop.
Code:
def is_prime(number):
    if number &lt;= 1:
        return False
    for i in range(2, number):
        if number % i == 0:
            return False
    return True
print(is_prime(7))
print(is_prime(10))
Expected output:
True
False</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A fun project that combines input, conditions, loops and a module.
The computer secretly chooses a number.
The player guesses it.
The program says Too high, Too low, or Correct.
The loop stops after a correct guess.</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randint(1, 10) chooses an integer from 1 to 10.
Do not print secret in the finished game.
Code:
import random
secret = random.randint(1, 10)
print("Guess a number from 1 to 10")</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Run this after the setup slide.
Shows a while loop, if/elif/else, and break.
Code:
while True:
    guess = int(input("Your guess: "))
    if guess == secret:
        print("Correct!")
        break
    elif guess &gt; secret:
        print("Too high")
    else:
        print("Too low")</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Give learners thinking time and ask for a solution before showing the next worked-answer slide. 
1. Count how many guesses the player makes.
2. Ask if the player wants to try again.
3. Change the range from 1–10 to 1–20.
Hint: Starter task: add attempts = 0 before the loop and attempts += 1 inside.</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Read the code line by line, predict the output, then run it in Python. Ask students to change one value and observe the result. 
Run this after the setup slide.
Shows a while loop, if/elif/else, and break.
Code:
while True:
    guess = int(input("Your guess: "))
    if guess == secret:
        print("Correct!")
        break
    elif guess &gt; secret:
        print("Too high")
    else:
        print("Too low")</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554158493"/>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Today we learned how to write and understand small Python programs.
Display output, store variables, read user input, and convert data types.
Work with text, operators, and if/elif/else decisions.
Repeat tasks with for and while loops.
Use collections and functions to organise code.</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Before leaving, answer these questions:
Why does input() return text, and when should you use int()?
What is the difference between a list and a tuple?
When would you choose a while loop over a for loop?
What is the difference between print() and return()?</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Explain the definition in everyday language before showing an example. Ask learners to restate the idea and contrast it with the previous topic. 
This presentation paraphrases explanations rather than claiming to reproduce the full spoken video.
Based on the supplied </a:t>
            </a:r>
            <a:r>
              <a:rPr lang="en-US"/>
              <a:t>34-page </a:t>
            </a:r>
            <a:r>
              <a:rPr lang="en-US" smtClean="0"/>
              <a:t>PYTHON BASICS </a:t>
            </a:r>
            <a:r>
              <a:rPr lang="en-US" dirty="0"/>
              <a:t>notes and the shared Apna College beginner course.
The PDF provides the six-part topic order and core practice exercises.
YouTube reference: https://www.youtube.com/watch?v=q3AuP01daL4
Supplementary teaching explanations and short exercises were written for this class.
Course orientation uses the supplied 250-hour AI Engineering outline and Microsoft AI-901 information.</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teaching cue: 
Next step: practise these fundamentals before OOP and software engineering.</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49028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96308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2351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70980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82784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5266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3682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37006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98646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2680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2193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04715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5BCAD085-E8A6-8845-BD4E-CB4CCA059FC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10/24/2026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6857471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236"/>
            <a:ext cx="12191695" cy="6858000"/>
          </a:xfrm>
          <a:prstGeom prst="rect">
            <a:avLst/>
          </a:prstGeom>
          <a:solidFill>
            <a:srgbClr val="071025"/>
          </a:solidFill>
          <a:ln w="12700">
            <a:solidFill>
              <a:srgbClr val="071025">
                <a:alpha val="0"/>
              </a:srgbClr>
            </a:solidFill>
            <a:prstDash val="solid"/>
          </a:ln>
        </p:spPr>
      </p:sp>
      <p:sp>
        <p:nvSpPr>
          <p:cNvPr id="3" name="Shape 1"/>
          <p:cNvSpPr/>
          <p:nvPr/>
        </p:nvSpPr>
        <p:spPr>
          <a:xfrm>
            <a:off x="7040880" y="0"/>
            <a:ext cx="5148072" cy="6858000"/>
          </a:xfrm>
          <a:prstGeom prst="ellipse">
            <a:avLst/>
          </a:prstGeom>
          <a:solidFill>
            <a:srgbClr val="172A52">
              <a:alpha val="57000"/>
            </a:srgbClr>
          </a:solidFill>
          <a:ln w="12700">
            <a:solidFill>
              <a:srgbClr val="172A52">
                <a:alpha val="0"/>
              </a:srgbClr>
            </a:solidFill>
            <a:prstDash val="solid"/>
          </a:ln>
        </p:spPr>
      </p:sp>
      <p:sp>
        <p:nvSpPr>
          <p:cNvPr id="4" name="Shape 2"/>
          <p:cNvSpPr/>
          <p:nvPr/>
        </p:nvSpPr>
        <p:spPr>
          <a:xfrm>
            <a:off x="7452360" y="0"/>
            <a:ext cx="4736592" cy="5943600"/>
          </a:xfrm>
          <a:prstGeom prst="ellipse">
            <a:avLst/>
          </a:prstGeom>
          <a:solidFill>
            <a:srgbClr val="254977">
              <a:alpha val="25000"/>
            </a:srgbClr>
          </a:solidFill>
          <a:ln w="12700">
            <a:solidFill>
              <a:srgbClr val="254977">
                <a:alpha val="0"/>
              </a:srgbClr>
            </a:solidFill>
            <a:prstDash val="solid"/>
          </a:ln>
        </p:spPr>
      </p:sp>
      <p:sp>
        <p:nvSpPr>
          <p:cNvPr id="5" name="Shape 3"/>
          <p:cNvSpPr/>
          <p:nvPr/>
        </p:nvSpPr>
        <p:spPr>
          <a:xfrm>
            <a:off x="9738360" y="4114800"/>
            <a:ext cx="2450592" cy="2743200"/>
          </a:xfrm>
          <a:prstGeom prst="ellipse">
            <a:avLst/>
          </a:prstGeom>
          <a:solidFill>
            <a:srgbClr val="27305F">
              <a:alpha val="45000"/>
            </a:srgbClr>
          </a:solidFill>
          <a:ln w="12700">
            <a:solidFill>
              <a:srgbClr val="27305F">
                <a:alpha val="0"/>
              </a:srgbClr>
            </a:solidFill>
            <a:prstDash val="solid"/>
          </a:ln>
        </p:spPr>
      </p:sp>
      <p:sp>
        <p:nvSpPr>
          <p:cNvPr id="6" name="Shape 4"/>
          <p:cNvSpPr/>
          <p:nvPr/>
        </p:nvSpPr>
        <p:spPr>
          <a:xfrm>
            <a:off x="804672" y="566928"/>
            <a:ext cx="393192" cy="393192"/>
          </a:xfrm>
          <a:prstGeom prst="roundRect">
            <a:avLst>
              <a:gd name="adj" fmla="val 16279"/>
            </a:avLst>
          </a:prstGeom>
          <a:solidFill>
            <a:srgbClr val="60E9F8"/>
          </a:solidFill>
          <a:ln w="12700">
            <a:solidFill>
              <a:srgbClr val="60E9F8">
                <a:alpha val="0"/>
              </a:srgbClr>
            </a:solidFill>
            <a:prstDash val="solid"/>
          </a:ln>
        </p:spPr>
      </p:sp>
      <p:sp>
        <p:nvSpPr>
          <p:cNvPr id="7" name="Text 5"/>
          <p:cNvSpPr/>
          <p:nvPr/>
        </p:nvSpPr>
        <p:spPr>
          <a:xfrm>
            <a:off x="882396" y="597103"/>
            <a:ext cx="219456" cy="182880"/>
          </a:xfrm>
          <a:prstGeom prst="rect">
            <a:avLst/>
          </a:prstGeom>
          <a:noFill/>
          <a:ln/>
        </p:spPr>
        <p:txBody>
          <a:bodyPr wrap="square" lIns="0" tIns="0" rIns="0" bIns="0" rtlCol="0" anchor="ctr"/>
          <a:lstStyle/>
          <a:p>
            <a:pPr marL="0" indent="0">
              <a:buNone/>
            </a:pPr>
            <a:r>
              <a:rPr lang="en-US" sz="1600" b="1" dirty="0">
                <a:solidFill>
                  <a:srgbClr val="071025"/>
                </a:solidFill>
                <a:latin typeface="Inter" pitchFamily="34" charset="0"/>
                <a:ea typeface="Inter" pitchFamily="34" charset="-122"/>
                <a:cs typeface="Inter" pitchFamily="34" charset="-120"/>
              </a:rPr>
              <a:t>&gt;</a:t>
            </a:r>
            <a:endParaRPr lang="en-US" sz="1600" dirty="0"/>
          </a:p>
        </p:txBody>
      </p:sp>
      <p:sp>
        <p:nvSpPr>
          <p:cNvPr id="8" name="Text 6"/>
          <p:cNvSpPr/>
          <p:nvPr/>
        </p:nvSpPr>
        <p:spPr>
          <a:xfrm>
            <a:off x="1325880" y="621792"/>
            <a:ext cx="3291840" cy="201168"/>
          </a:xfrm>
          <a:prstGeom prst="rect">
            <a:avLst/>
          </a:prstGeom>
          <a:noFill/>
          <a:ln/>
        </p:spPr>
        <p:txBody>
          <a:bodyPr wrap="square" lIns="0" tIns="0" rIns="0" bIns="0" rtlCol="0" anchor="ctr"/>
          <a:lstStyle/>
          <a:p>
            <a:pPr marL="0" indent="0">
              <a:buNone/>
            </a:pPr>
            <a:r>
              <a:rPr lang="en-US" sz="1230" b="1" kern="0" spc="225" dirty="0">
                <a:solidFill>
                  <a:srgbClr val="D7E8F5"/>
                </a:solidFill>
                <a:latin typeface="Inter" pitchFamily="34" charset="0"/>
                <a:ea typeface="Inter" pitchFamily="34" charset="-122"/>
                <a:cs typeface="Inter" pitchFamily="34" charset="-120"/>
              </a:rPr>
              <a:t>NEXT-GEN LEARNING</a:t>
            </a:r>
            <a:endParaRPr lang="en-US" sz="1230" dirty="0"/>
          </a:p>
        </p:txBody>
      </p:sp>
      <p:sp>
        <p:nvSpPr>
          <p:cNvPr id="9" name="Shape 7"/>
          <p:cNvSpPr/>
          <p:nvPr/>
        </p:nvSpPr>
        <p:spPr>
          <a:xfrm>
            <a:off x="804672" y="1097280"/>
            <a:ext cx="1042416" cy="0"/>
          </a:xfrm>
          <a:prstGeom prst="line">
            <a:avLst/>
          </a:prstGeom>
          <a:noFill/>
          <a:ln w="27940">
            <a:solidFill>
              <a:srgbClr val="60E9F8"/>
            </a:solidFill>
            <a:prstDash val="solid"/>
          </a:ln>
        </p:spPr>
      </p:sp>
      <p:sp>
        <p:nvSpPr>
          <p:cNvPr id="10" name="Shape 8"/>
          <p:cNvSpPr/>
          <p:nvPr/>
        </p:nvSpPr>
        <p:spPr>
          <a:xfrm>
            <a:off x="1929384" y="1097280"/>
            <a:ext cx="2304288" cy="0"/>
          </a:xfrm>
          <a:prstGeom prst="line">
            <a:avLst/>
          </a:prstGeom>
          <a:noFill/>
          <a:ln w="10160">
            <a:solidFill>
              <a:srgbClr val="36516E">
                <a:alpha val="80000"/>
              </a:srgbClr>
            </a:solidFill>
            <a:prstDash val="solid"/>
          </a:ln>
        </p:spPr>
      </p:sp>
      <p:sp>
        <p:nvSpPr>
          <p:cNvPr id="11" name="Text 9"/>
          <p:cNvSpPr/>
          <p:nvPr/>
        </p:nvSpPr>
        <p:spPr>
          <a:xfrm>
            <a:off x="786384" y="1472184"/>
            <a:ext cx="5943600" cy="356616"/>
          </a:xfrm>
          <a:prstGeom prst="rect">
            <a:avLst/>
          </a:prstGeom>
          <a:noFill/>
          <a:ln/>
        </p:spPr>
        <p:txBody>
          <a:bodyPr wrap="square" lIns="0" tIns="0" rIns="0" bIns="0" rtlCol="0" anchor="ctr"/>
          <a:lstStyle/>
          <a:p>
            <a:pPr marL="0" indent="0">
              <a:buNone/>
            </a:pPr>
            <a:r>
              <a:rPr lang="en-US" sz="2150" b="1" kern="0" spc="460" dirty="0">
                <a:solidFill>
                  <a:srgbClr val="60E9F8"/>
                </a:solidFill>
                <a:latin typeface="Inter" pitchFamily="34" charset="0"/>
                <a:ea typeface="Inter" pitchFamily="34" charset="-122"/>
                <a:cs typeface="Inter" pitchFamily="34" charset="-120"/>
              </a:rPr>
              <a:t>WELCOME TO</a:t>
            </a:r>
            <a:endParaRPr lang="en-US" sz="2150" dirty="0"/>
          </a:p>
        </p:txBody>
      </p:sp>
      <p:sp>
        <p:nvSpPr>
          <p:cNvPr id="12" name="Text 10"/>
          <p:cNvSpPr/>
          <p:nvPr/>
        </p:nvSpPr>
        <p:spPr>
          <a:xfrm>
            <a:off x="740664" y="1965960"/>
            <a:ext cx="6784848" cy="713232"/>
          </a:xfrm>
          <a:prstGeom prst="rect">
            <a:avLst/>
          </a:prstGeom>
          <a:noFill/>
          <a:ln/>
        </p:spPr>
        <p:txBody>
          <a:bodyPr wrap="square" lIns="0" tIns="0" rIns="0" bIns="0" rtlCol="0" anchor="ctr">
            <a:normAutofit lnSpcReduction="10000"/>
          </a:bodyPr>
          <a:lstStyle/>
          <a:p>
            <a:pPr marL="0" indent="0">
              <a:buNone/>
            </a:pPr>
            <a:r>
              <a:rPr lang="en-US" sz="5020" b="1" kern="0" spc="-60" dirty="0">
                <a:solidFill>
                  <a:srgbClr val="F8FBFF"/>
                </a:solidFill>
                <a:latin typeface="Inter" pitchFamily="34" charset="0"/>
                <a:ea typeface="Inter" pitchFamily="34" charset="-122"/>
                <a:cs typeface="Inter" pitchFamily="34" charset="-120"/>
              </a:rPr>
              <a:t>AI ENGINEERING</a:t>
            </a:r>
            <a:endParaRPr lang="en-US" sz="5020" dirty="0"/>
          </a:p>
        </p:txBody>
      </p:sp>
      <p:sp>
        <p:nvSpPr>
          <p:cNvPr id="13" name="Text 11"/>
          <p:cNvSpPr/>
          <p:nvPr/>
        </p:nvSpPr>
        <p:spPr>
          <a:xfrm>
            <a:off x="749808" y="2697480"/>
            <a:ext cx="6720840" cy="987552"/>
          </a:xfrm>
          <a:prstGeom prst="rect">
            <a:avLst/>
          </a:prstGeom>
          <a:noFill/>
          <a:ln/>
        </p:spPr>
        <p:txBody>
          <a:bodyPr wrap="square" lIns="0" tIns="0" rIns="0" bIns="0" rtlCol="0" anchor="ctr">
            <a:normAutofit lnSpcReduction="10000"/>
          </a:bodyPr>
          <a:lstStyle/>
          <a:p>
            <a:pPr marL="0" indent="0">
              <a:buNone/>
            </a:pPr>
            <a:r>
              <a:rPr lang="en-US" sz="6600" b="1" kern="0" spc="-45" dirty="0">
                <a:solidFill>
                  <a:srgbClr val="60E9F8"/>
                </a:solidFill>
                <a:latin typeface="Inter" pitchFamily="34" charset="0"/>
                <a:ea typeface="Inter" pitchFamily="34" charset="-122"/>
                <a:cs typeface="Inter" pitchFamily="34" charset="-120"/>
              </a:rPr>
              <a:t>BOOTCAMP</a:t>
            </a:r>
            <a:endParaRPr lang="en-US" sz="6600" dirty="0"/>
          </a:p>
        </p:txBody>
      </p:sp>
      <p:sp>
        <p:nvSpPr>
          <p:cNvPr id="14" name="Shape 12"/>
          <p:cNvSpPr/>
          <p:nvPr/>
        </p:nvSpPr>
        <p:spPr>
          <a:xfrm>
            <a:off x="822960" y="3941064"/>
            <a:ext cx="594360" cy="0"/>
          </a:xfrm>
          <a:prstGeom prst="line">
            <a:avLst/>
          </a:prstGeom>
          <a:noFill/>
          <a:ln w="41910">
            <a:solidFill>
              <a:srgbClr val="48A9FF"/>
            </a:solidFill>
            <a:prstDash val="solid"/>
          </a:ln>
        </p:spPr>
      </p:sp>
      <p:sp>
        <p:nvSpPr>
          <p:cNvPr id="15" name="Shape 13"/>
          <p:cNvSpPr/>
          <p:nvPr/>
        </p:nvSpPr>
        <p:spPr>
          <a:xfrm>
            <a:off x="1517904" y="3941064"/>
            <a:ext cx="594360" cy="0"/>
          </a:xfrm>
          <a:prstGeom prst="line">
            <a:avLst/>
          </a:prstGeom>
          <a:noFill/>
          <a:ln w="41910">
            <a:solidFill>
              <a:srgbClr val="766AEE"/>
            </a:solidFill>
            <a:prstDash val="solid"/>
          </a:ln>
        </p:spPr>
      </p:sp>
      <p:sp>
        <p:nvSpPr>
          <p:cNvPr id="16" name="Text 14"/>
          <p:cNvSpPr/>
          <p:nvPr/>
        </p:nvSpPr>
        <p:spPr>
          <a:xfrm>
            <a:off x="813816" y="4242816"/>
            <a:ext cx="5852160" cy="438912"/>
          </a:xfrm>
          <a:prstGeom prst="rect">
            <a:avLst/>
          </a:prstGeom>
          <a:noFill/>
          <a:ln/>
        </p:spPr>
        <p:txBody>
          <a:bodyPr wrap="square" lIns="0" tIns="0" rIns="0" bIns="0" rtlCol="0" anchor="ctr"/>
          <a:lstStyle/>
          <a:p>
            <a:pPr marL="0" indent="0">
              <a:buNone/>
            </a:pPr>
            <a:r>
              <a:rPr lang="en-US" sz="2300" dirty="0">
                <a:solidFill>
                  <a:srgbClr val="C9D9E9"/>
                </a:solidFill>
                <a:latin typeface="Inter" pitchFamily="34" charset="0"/>
                <a:ea typeface="Inter" pitchFamily="34" charset="-122"/>
                <a:cs typeface="Inter" pitchFamily="34" charset="-120"/>
              </a:rPr>
              <a:t>Learn. Build. Innovate.</a:t>
            </a:r>
            <a:endParaRPr lang="en-US" sz="2300" dirty="0"/>
          </a:p>
        </p:txBody>
      </p:sp>
      <p:sp>
        <p:nvSpPr>
          <p:cNvPr id="17" name="Shape 15"/>
          <p:cNvSpPr/>
          <p:nvPr/>
        </p:nvSpPr>
        <p:spPr>
          <a:xfrm>
            <a:off x="786384" y="5111496"/>
            <a:ext cx="5440680" cy="1005840"/>
          </a:xfrm>
          <a:prstGeom prst="roundRect">
            <a:avLst>
              <a:gd name="adj" fmla="val 10909"/>
            </a:avLst>
          </a:prstGeom>
          <a:solidFill>
            <a:srgbClr val="152B4B">
              <a:alpha val="84000"/>
            </a:srgbClr>
          </a:solidFill>
          <a:ln w="12065">
            <a:solidFill>
              <a:srgbClr val="315778">
                <a:alpha val="70000"/>
              </a:srgbClr>
            </a:solidFill>
            <a:prstDash val="solid"/>
          </a:ln>
        </p:spPr>
      </p:sp>
      <p:sp>
        <p:nvSpPr>
          <p:cNvPr id="18" name="Shape 16"/>
          <p:cNvSpPr/>
          <p:nvPr/>
        </p:nvSpPr>
        <p:spPr>
          <a:xfrm>
            <a:off x="1051560" y="5285232"/>
            <a:ext cx="0" cy="621792"/>
          </a:xfrm>
          <a:prstGeom prst="line">
            <a:avLst/>
          </a:prstGeom>
          <a:noFill/>
          <a:ln w="45720">
            <a:solidFill>
              <a:srgbClr val="60E9F8"/>
            </a:solidFill>
            <a:prstDash val="solid"/>
          </a:ln>
        </p:spPr>
      </p:sp>
      <p:sp>
        <p:nvSpPr>
          <p:cNvPr id="19" name="Text 17"/>
          <p:cNvSpPr/>
          <p:nvPr/>
        </p:nvSpPr>
        <p:spPr>
          <a:xfrm>
            <a:off x="1280160" y="5266944"/>
            <a:ext cx="2926080" cy="210312"/>
          </a:xfrm>
          <a:prstGeom prst="rect">
            <a:avLst/>
          </a:prstGeom>
          <a:noFill/>
          <a:ln/>
        </p:spPr>
        <p:txBody>
          <a:bodyPr wrap="square" lIns="0" tIns="0" rIns="0" bIns="0" rtlCol="0" anchor="ctr"/>
          <a:lstStyle/>
          <a:p>
            <a:pPr marL="0" indent="0">
              <a:buNone/>
            </a:pPr>
            <a:r>
              <a:rPr lang="en-US" sz="1170" b="1" kern="0" spc="220" dirty="0">
                <a:solidFill>
                  <a:srgbClr val="60E9F8"/>
                </a:solidFill>
                <a:latin typeface="Inter" pitchFamily="34" charset="0"/>
                <a:ea typeface="Inter" pitchFamily="34" charset="-122"/>
                <a:cs typeface="Inter" pitchFamily="34" charset="-120"/>
              </a:rPr>
              <a:t>YOUR TRAINER</a:t>
            </a:r>
            <a:endParaRPr lang="en-US" sz="1170" dirty="0"/>
          </a:p>
        </p:txBody>
      </p:sp>
      <p:sp>
        <p:nvSpPr>
          <p:cNvPr id="20" name="Text 18"/>
          <p:cNvSpPr/>
          <p:nvPr/>
        </p:nvSpPr>
        <p:spPr>
          <a:xfrm>
            <a:off x="1271016" y="5522976"/>
            <a:ext cx="4389120" cy="384048"/>
          </a:xfrm>
          <a:prstGeom prst="rect">
            <a:avLst/>
          </a:prstGeom>
          <a:noFill/>
          <a:ln/>
        </p:spPr>
        <p:txBody>
          <a:bodyPr wrap="square" lIns="0" tIns="0" rIns="0" bIns="0" rtlCol="0" anchor="ctr"/>
          <a:lstStyle/>
          <a:p>
            <a:pPr marL="0" indent="0">
              <a:buNone/>
            </a:pPr>
            <a:r>
              <a:rPr lang="en-US" sz="2520" b="1" dirty="0">
                <a:solidFill>
                  <a:srgbClr val="F8FBFF"/>
                </a:solidFill>
                <a:latin typeface="Inter" pitchFamily="34" charset="0"/>
                <a:ea typeface="Inter" pitchFamily="34" charset="-122"/>
                <a:cs typeface="Inter" pitchFamily="34" charset="-120"/>
              </a:rPr>
              <a:t>Zubair Mehmood</a:t>
            </a:r>
            <a:endParaRPr lang="en-US" sz="2520" dirty="0"/>
          </a:p>
        </p:txBody>
      </p:sp>
      <p:sp>
        <p:nvSpPr>
          <p:cNvPr id="21" name="Shape 19"/>
          <p:cNvSpPr/>
          <p:nvPr/>
        </p:nvSpPr>
        <p:spPr>
          <a:xfrm>
            <a:off x="7095744" y="932688"/>
            <a:ext cx="4663440" cy="4663440"/>
          </a:xfrm>
          <a:prstGeom prst="ellipse">
            <a:avLst/>
          </a:prstGeom>
          <a:solidFill>
            <a:srgbClr val="071025">
              <a:alpha val="0"/>
            </a:srgbClr>
          </a:solidFill>
          <a:ln w="11430">
            <a:solidFill>
              <a:srgbClr val="3669A1">
                <a:alpha val="22000"/>
              </a:srgbClr>
            </a:solidFill>
            <a:prstDash val="solid"/>
          </a:ln>
        </p:spPr>
      </p:sp>
      <p:sp>
        <p:nvSpPr>
          <p:cNvPr id="22" name="Shape 20"/>
          <p:cNvSpPr/>
          <p:nvPr/>
        </p:nvSpPr>
        <p:spPr>
          <a:xfrm>
            <a:off x="7470648" y="1307592"/>
            <a:ext cx="3913632" cy="3913632"/>
          </a:xfrm>
          <a:prstGeom prst="ellipse">
            <a:avLst/>
          </a:prstGeom>
          <a:solidFill>
            <a:srgbClr val="071025">
              <a:alpha val="0"/>
            </a:srgbClr>
          </a:solidFill>
          <a:ln w="12700">
            <a:solidFill>
              <a:srgbClr val="4E87BC">
                <a:alpha val="31000"/>
              </a:srgbClr>
            </a:solidFill>
            <a:prstDash val="solid"/>
          </a:ln>
        </p:spPr>
      </p:sp>
      <p:sp>
        <p:nvSpPr>
          <p:cNvPr id="23" name="Shape 21"/>
          <p:cNvSpPr/>
          <p:nvPr/>
        </p:nvSpPr>
        <p:spPr>
          <a:xfrm>
            <a:off x="7818120" y="1655064"/>
            <a:ext cx="3218688" cy="3218688"/>
          </a:xfrm>
          <a:prstGeom prst="ellipse">
            <a:avLst/>
          </a:prstGeom>
          <a:solidFill>
            <a:srgbClr val="071025">
              <a:alpha val="0"/>
            </a:srgbClr>
          </a:solidFill>
          <a:ln w="16510">
            <a:solidFill>
              <a:srgbClr val="63B8DC">
                <a:alpha val="40000"/>
              </a:srgbClr>
            </a:solidFill>
            <a:prstDash val="solid"/>
          </a:ln>
        </p:spPr>
      </p:sp>
      <p:sp>
        <p:nvSpPr>
          <p:cNvPr id="24" name="Shape 22"/>
          <p:cNvSpPr/>
          <p:nvPr/>
        </p:nvSpPr>
        <p:spPr>
          <a:xfrm>
            <a:off x="8092440" y="1929384"/>
            <a:ext cx="2670048" cy="2670048"/>
          </a:xfrm>
          <a:prstGeom prst="ellipse">
            <a:avLst/>
          </a:prstGeom>
          <a:solidFill>
            <a:srgbClr val="071025">
              <a:alpha val="0"/>
            </a:srgbClr>
          </a:solidFill>
          <a:ln w="29210">
            <a:solidFill>
              <a:srgbClr val="60E9F8">
                <a:alpha val="82000"/>
              </a:srgbClr>
            </a:solidFill>
            <a:prstDash val="solid"/>
          </a:ln>
        </p:spPr>
      </p:sp>
      <p:sp>
        <p:nvSpPr>
          <p:cNvPr id="25" name="Shape 23"/>
          <p:cNvSpPr/>
          <p:nvPr/>
        </p:nvSpPr>
        <p:spPr>
          <a:xfrm>
            <a:off x="7242048" y="987552"/>
            <a:ext cx="905256" cy="0"/>
          </a:xfrm>
          <a:prstGeom prst="line">
            <a:avLst/>
          </a:prstGeom>
          <a:noFill/>
          <a:ln w="15240">
            <a:solidFill>
              <a:srgbClr val="5086BA">
                <a:alpha val="45000"/>
              </a:srgbClr>
            </a:solidFill>
            <a:prstDash val="solid"/>
          </a:ln>
        </p:spPr>
      </p:sp>
      <p:sp>
        <p:nvSpPr>
          <p:cNvPr id="26" name="Shape 24"/>
          <p:cNvSpPr/>
          <p:nvPr/>
        </p:nvSpPr>
        <p:spPr>
          <a:xfrm>
            <a:off x="8147304" y="987552"/>
            <a:ext cx="512064" cy="475488"/>
          </a:xfrm>
          <a:prstGeom prst="line">
            <a:avLst/>
          </a:prstGeom>
          <a:noFill/>
          <a:ln w="15240">
            <a:solidFill>
              <a:srgbClr val="5086BA">
                <a:alpha val="45000"/>
              </a:srgbClr>
            </a:solidFill>
            <a:prstDash val="solid"/>
          </a:ln>
        </p:spPr>
      </p:sp>
      <p:sp>
        <p:nvSpPr>
          <p:cNvPr id="27" name="Shape 25"/>
          <p:cNvSpPr/>
          <p:nvPr/>
        </p:nvSpPr>
        <p:spPr>
          <a:xfrm>
            <a:off x="8659368" y="1463040"/>
            <a:ext cx="557784" cy="0"/>
          </a:xfrm>
          <a:prstGeom prst="line">
            <a:avLst/>
          </a:prstGeom>
          <a:noFill/>
          <a:ln w="15240">
            <a:solidFill>
              <a:srgbClr val="5086BA">
                <a:alpha val="45000"/>
              </a:srgbClr>
            </a:solidFill>
            <a:prstDash val="solid"/>
          </a:ln>
        </p:spPr>
      </p:sp>
      <p:sp>
        <p:nvSpPr>
          <p:cNvPr id="28" name="Shape 26"/>
          <p:cNvSpPr/>
          <p:nvPr/>
        </p:nvSpPr>
        <p:spPr>
          <a:xfrm>
            <a:off x="10405872" y="1527048"/>
            <a:ext cx="969264" cy="0"/>
          </a:xfrm>
          <a:prstGeom prst="line">
            <a:avLst/>
          </a:prstGeom>
          <a:noFill/>
          <a:ln w="15240">
            <a:solidFill>
              <a:srgbClr val="5086BA">
                <a:alpha val="45000"/>
              </a:srgbClr>
            </a:solidFill>
            <a:prstDash val="solid"/>
          </a:ln>
        </p:spPr>
      </p:sp>
      <p:sp>
        <p:nvSpPr>
          <p:cNvPr id="29" name="Shape 27"/>
          <p:cNvSpPr/>
          <p:nvPr/>
        </p:nvSpPr>
        <p:spPr>
          <a:xfrm>
            <a:off x="11375136" y="1078992"/>
            <a:ext cx="539496" cy="0"/>
          </a:xfrm>
          <a:prstGeom prst="line">
            <a:avLst/>
          </a:prstGeom>
          <a:noFill/>
          <a:ln w="15240">
            <a:solidFill>
              <a:srgbClr val="5086BA">
                <a:alpha val="45000"/>
              </a:srgbClr>
            </a:solidFill>
            <a:prstDash val="solid"/>
          </a:ln>
        </p:spPr>
      </p:sp>
      <p:sp>
        <p:nvSpPr>
          <p:cNvPr id="30" name="Shape 28"/>
          <p:cNvSpPr/>
          <p:nvPr/>
        </p:nvSpPr>
        <p:spPr>
          <a:xfrm>
            <a:off x="10625328" y="4818888"/>
            <a:ext cx="749808" cy="512064"/>
          </a:xfrm>
          <a:prstGeom prst="line">
            <a:avLst/>
          </a:prstGeom>
          <a:noFill/>
          <a:ln w="15240">
            <a:solidFill>
              <a:srgbClr val="5086BA">
                <a:alpha val="45000"/>
              </a:srgbClr>
            </a:solidFill>
            <a:prstDash val="solid"/>
          </a:ln>
        </p:spPr>
      </p:sp>
      <p:sp>
        <p:nvSpPr>
          <p:cNvPr id="31" name="Shape 29"/>
          <p:cNvSpPr/>
          <p:nvPr/>
        </p:nvSpPr>
        <p:spPr>
          <a:xfrm>
            <a:off x="11375136" y="5330952"/>
            <a:ext cx="594360" cy="0"/>
          </a:xfrm>
          <a:prstGeom prst="line">
            <a:avLst/>
          </a:prstGeom>
          <a:noFill/>
          <a:ln w="15240">
            <a:solidFill>
              <a:srgbClr val="5086BA">
                <a:alpha val="45000"/>
              </a:srgbClr>
            </a:solidFill>
            <a:prstDash val="solid"/>
          </a:ln>
        </p:spPr>
      </p:sp>
      <p:sp>
        <p:nvSpPr>
          <p:cNvPr id="32" name="Shape 30"/>
          <p:cNvSpPr/>
          <p:nvPr/>
        </p:nvSpPr>
        <p:spPr>
          <a:xfrm>
            <a:off x="7406640" y="5285232"/>
            <a:ext cx="713232" cy="0"/>
          </a:xfrm>
          <a:prstGeom prst="line">
            <a:avLst/>
          </a:prstGeom>
          <a:noFill/>
          <a:ln w="15240">
            <a:solidFill>
              <a:srgbClr val="5086BA">
                <a:alpha val="45000"/>
              </a:srgbClr>
            </a:solidFill>
            <a:prstDash val="solid"/>
          </a:ln>
        </p:spPr>
      </p:sp>
      <p:sp>
        <p:nvSpPr>
          <p:cNvPr id="33" name="Shape 31"/>
          <p:cNvSpPr/>
          <p:nvPr/>
        </p:nvSpPr>
        <p:spPr>
          <a:xfrm>
            <a:off x="8119872" y="4791456"/>
            <a:ext cx="356616" cy="0"/>
          </a:xfrm>
          <a:prstGeom prst="line">
            <a:avLst/>
          </a:prstGeom>
          <a:noFill/>
          <a:ln w="15240">
            <a:solidFill>
              <a:srgbClr val="5086BA">
                <a:alpha val="45000"/>
              </a:srgbClr>
            </a:solidFill>
            <a:prstDash val="solid"/>
          </a:ln>
        </p:spPr>
      </p:sp>
      <p:sp>
        <p:nvSpPr>
          <p:cNvPr id="34" name="Shape 32"/>
          <p:cNvSpPr/>
          <p:nvPr/>
        </p:nvSpPr>
        <p:spPr>
          <a:xfrm>
            <a:off x="11393424" y="2880360"/>
            <a:ext cx="676656" cy="0"/>
          </a:xfrm>
          <a:prstGeom prst="line">
            <a:avLst/>
          </a:prstGeom>
          <a:noFill/>
          <a:ln w="15240">
            <a:solidFill>
              <a:srgbClr val="5086BA">
                <a:alpha val="45000"/>
              </a:srgbClr>
            </a:solidFill>
            <a:prstDash val="solid"/>
          </a:ln>
        </p:spPr>
      </p:sp>
      <p:sp>
        <p:nvSpPr>
          <p:cNvPr id="35" name="Shape 33"/>
          <p:cNvSpPr/>
          <p:nvPr/>
        </p:nvSpPr>
        <p:spPr>
          <a:xfrm>
            <a:off x="6821424" y="3136392"/>
            <a:ext cx="804672" cy="0"/>
          </a:xfrm>
          <a:prstGeom prst="line">
            <a:avLst/>
          </a:prstGeom>
          <a:noFill/>
          <a:ln w="15240">
            <a:solidFill>
              <a:srgbClr val="5086BA">
                <a:alpha val="45000"/>
              </a:srgbClr>
            </a:solidFill>
            <a:prstDash val="solid"/>
          </a:ln>
        </p:spPr>
      </p:sp>
      <p:sp>
        <p:nvSpPr>
          <p:cNvPr id="36" name="Shape 34"/>
          <p:cNvSpPr/>
          <p:nvPr/>
        </p:nvSpPr>
        <p:spPr>
          <a:xfrm>
            <a:off x="7589520" y="2139696"/>
            <a:ext cx="411480" cy="0"/>
          </a:xfrm>
          <a:prstGeom prst="line">
            <a:avLst/>
          </a:prstGeom>
          <a:noFill/>
          <a:ln w="10795">
            <a:solidFill>
              <a:srgbClr val="4B98D9">
                <a:alpha val="35000"/>
              </a:srgbClr>
            </a:solidFill>
            <a:prstDash val="solid"/>
          </a:ln>
        </p:spPr>
      </p:sp>
      <p:sp>
        <p:nvSpPr>
          <p:cNvPr id="37" name="Shape 35"/>
          <p:cNvSpPr/>
          <p:nvPr/>
        </p:nvSpPr>
        <p:spPr>
          <a:xfrm>
            <a:off x="8001000" y="1435608"/>
            <a:ext cx="640080" cy="0"/>
          </a:xfrm>
          <a:prstGeom prst="line">
            <a:avLst/>
          </a:prstGeom>
          <a:noFill/>
          <a:ln w="10795">
            <a:solidFill>
              <a:srgbClr val="4B98D9">
                <a:alpha val="35000"/>
              </a:srgbClr>
            </a:solidFill>
            <a:prstDash val="solid"/>
          </a:ln>
        </p:spPr>
      </p:sp>
      <p:sp>
        <p:nvSpPr>
          <p:cNvPr id="38" name="Shape 36"/>
          <p:cNvSpPr/>
          <p:nvPr/>
        </p:nvSpPr>
        <p:spPr>
          <a:xfrm>
            <a:off x="8641080" y="1124712"/>
            <a:ext cx="758952" cy="0"/>
          </a:xfrm>
          <a:prstGeom prst="line">
            <a:avLst/>
          </a:prstGeom>
          <a:noFill/>
          <a:ln w="10795">
            <a:solidFill>
              <a:srgbClr val="4B98D9">
                <a:alpha val="35000"/>
              </a:srgbClr>
            </a:solidFill>
            <a:prstDash val="solid"/>
          </a:ln>
        </p:spPr>
      </p:sp>
      <p:sp>
        <p:nvSpPr>
          <p:cNvPr id="39" name="Shape 37"/>
          <p:cNvSpPr/>
          <p:nvPr/>
        </p:nvSpPr>
        <p:spPr>
          <a:xfrm>
            <a:off x="9400032" y="914400"/>
            <a:ext cx="886968" cy="329184"/>
          </a:xfrm>
          <a:prstGeom prst="line">
            <a:avLst/>
          </a:prstGeom>
          <a:noFill/>
          <a:ln w="10795">
            <a:solidFill>
              <a:srgbClr val="4B98D9">
                <a:alpha val="35000"/>
              </a:srgbClr>
            </a:solidFill>
            <a:prstDash val="solid"/>
          </a:ln>
        </p:spPr>
      </p:sp>
      <p:sp>
        <p:nvSpPr>
          <p:cNvPr id="40" name="Shape 38"/>
          <p:cNvSpPr/>
          <p:nvPr/>
        </p:nvSpPr>
        <p:spPr>
          <a:xfrm>
            <a:off x="10287000" y="1243584"/>
            <a:ext cx="731520" cy="640080"/>
          </a:xfrm>
          <a:prstGeom prst="line">
            <a:avLst/>
          </a:prstGeom>
          <a:noFill/>
          <a:ln w="10795">
            <a:solidFill>
              <a:srgbClr val="4B98D9">
                <a:alpha val="35000"/>
              </a:srgbClr>
            </a:solidFill>
            <a:prstDash val="solid"/>
          </a:ln>
        </p:spPr>
      </p:sp>
      <p:sp>
        <p:nvSpPr>
          <p:cNvPr id="41" name="Shape 39"/>
          <p:cNvSpPr/>
          <p:nvPr/>
        </p:nvSpPr>
        <p:spPr>
          <a:xfrm>
            <a:off x="11018520" y="1883664"/>
            <a:ext cx="365760" cy="786384"/>
          </a:xfrm>
          <a:prstGeom prst="line">
            <a:avLst/>
          </a:prstGeom>
          <a:noFill/>
          <a:ln w="10795">
            <a:solidFill>
              <a:srgbClr val="4B98D9">
                <a:alpha val="35000"/>
              </a:srgbClr>
            </a:solidFill>
            <a:prstDash val="solid"/>
          </a:ln>
        </p:spPr>
      </p:sp>
      <p:sp>
        <p:nvSpPr>
          <p:cNvPr id="42" name="Shape 40"/>
          <p:cNvSpPr/>
          <p:nvPr/>
        </p:nvSpPr>
        <p:spPr>
          <a:xfrm>
            <a:off x="11384280" y="2670048"/>
            <a:ext cx="155448" cy="841248"/>
          </a:xfrm>
          <a:prstGeom prst="line">
            <a:avLst/>
          </a:prstGeom>
          <a:noFill/>
          <a:ln w="10795">
            <a:solidFill>
              <a:srgbClr val="4B98D9">
                <a:alpha val="35000"/>
              </a:srgbClr>
            </a:solidFill>
            <a:prstDash val="solid"/>
          </a:ln>
        </p:spPr>
      </p:sp>
      <p:sp>
        <p:nvSpPr>
          <p:cNvPr id="43" name="Shape 41"/>
          <p:cNvSpPr/>
          <p:nvPr/>
        </p:nvSpPr>
        <p:spPr>
          <a:xfrm>
            <a:off x="11539728" y="3511296"/>
            <a:ext cx="0" cy="813816"/>
          </a:xfrm>
          <a:prstGeom prst="line">
            <a:avLst/>
          </a:prstGeom>
          <a:noFill/>
          <a:ln w="10795">
            <a:solidFill>
              <a:srgbClr val="4B98D9">
                <a:alpha val="35000"/>
              </a:srgbClr>
            </a:solidFill>
            <a:prstDash val="solid"/>
          </a:ln>
        </p:spPr>
      </p:sp>
      <p:sp>
        <p:nvSpPr>
          <p:cNvPr id="44" name="Shape 42"/>
          <p:cNvSpPr/>
          <p:nvPr/>
        </p:nvSpPr>
        <p:spPr>
          <a:xfrm>
            <a:off x="11146536" y="4325112"/>
            <a:ext cx="0" cy="694944"/>
          </a:xfrm>
          <a:prstGeom prst="line">
            <a:avLst/>
          </a:prstGeom>
          <a:noFill/>
          <a:ln w="10795">
            <a:solidFill>
              <a:srgbClr val="4B98D9">
                <a:alpha val="35000"/>
              </a:srgbClr>
            </a:solidFill>
            <a:prstDash val="solid"/>
          </a:ln>
        </p:spPr>
      </p:sp>
      <p:sp>
        <p:nvSpPr>
          <p:cNvPr id="45" name="Shape 43"/>
          <p:cNvSpPr/>
          <p:nvPr/>
        </p:nvSpPr>
        <p:spPr>
          <a:xfrm>
            <a:off x="10451592" y="5020056"/>
            <a:ext cx="0" cy="393192"/>
          </a:xfrm>
          <a:prstGeom prst="line">
            <a:avLst/>
          </a:prstGeom>
          <a:noFill/>
          <a:ln w="10795">
            <a:solidFill>
              <a:srgbClr val="4B98D9">
                <a:alpha val="35000"/>
              </a:srgbClr>
            </a:solidFill>
            <a:prstDash val="solid"/>
          </a:ln>
        </p:spPr>
      </p:sp>
      <p:sp>
        <p:nvSpPr>
          <p:cNvPr id="46" name="Shape 44"/>
          <p:cNvSpPr/>
          <p:nvPr/>
        </p:nvSpPr>
        <p:spPr>
          <a:xfrm>
            <a:off x="9564624" y="5413248"/>
            <a:ext cx="0" cy="0"/>
          </a:xfrm>
          <a:prstGeom prst="line">
            <a:avLst/>
          </a:prstGeom>
          <a:noFill/>
          <a:ln w="10795">
            <a:solidFill>
              <a:srgbClr val="4B98D9">
                <a:alpha val="35000"/>
              </a:srgbClr>
            </a:solidFill>
            <a:prstDash val="solid"/>
          </a:ln>
        </p:spPr>
      </p:sp>
      <p:sp>
        <p:nvSpPr>
          <p:cNvPr id="47" name="Shape 45"/>
          <p:cNvSpPr/>
          <p:nvPr/>
        </p:nvSpPr>
        <p:spPr>
          <a:xfrm>
            <a:off x="8641080" y="5148072"/>
            <a:ext cx="0" cy="0"/>
          </a:xfrm>
          <a:prstGeom prst="line">
            <a:avLst/>
          </a:prstGeom>
          <a:noFill/>
          <a:ln w="10795">
            <a:solidFill>
              <a:srgbClr val="4B98D9">
                <a:alpha val="35000"/>
              </a:srgbClr>
            </a:solidFill>
            <a:prstDash val="solid"/>
          </a:ln>
        </p:spPr>
      </p:sp>
      <p:sp>
        <p:nvSpPr>
          <p:cNvPr id="48" name="Shape 46"/>
          <p:cNvSpPr/>
          <p:nvPr/>
        </p:nvSpPr>
        <p:spPr>
          <a:xfrm>
            <a:off x="7946136" y="4654296"/>
            <a:ext cx="0" cy="0"/>
          </a:xfrm>
          <a:prstGeom prst="line">
            <a:avLst/>
          </a:prstGeom>
          <a:noFill/>
          <a:ln w="10795">
            <a:solidFill>
              <a:srgbClr val="4B98D9">
                <a:alpha val="35000"/>
              </a:srgbClr>
            </a:solidFill>
            <a:prstDash val="solid"/>
          </a:ln>
        </p:spPr>
      </p:sp>
      <p:sp>
        <p:nvSpPr>
          <p:cNvPr id="49" name="Shape 47"/>
          <p:cNvSpPr/>
          <p:nvPr/>
        </p:nvSpPr>
        <p:spPr>
          <a:xfrm>
            <a:off x="7498080" y="3877056"/>
            <a:ext cx="0" cy="0"/>
          </a:xfrm>
          <a:prstGeom prst="line">
            <a:avLst/>
          </a:prstGeom>
          <a:noFill/>
          <a:ln w="10795">
            <a:solidFill>
              <a:srgbClr val="4B98D9">
                <a:alpha val="35000"/>
              </a:srgbClr>
            </a:solidFill>
            <a:prstDash val="solid"/>
          </a:ln>
        </p:spPr>
      </p:sp>
      <p:sp>
        <p:nvSpPr>
          <p:cNvPr id="50" name="Shape 48"/>
          <p:cNvSpPr/>
          <p:nvPr/>
        </p:nvSpPr>
        <p:spPr>
          <a:xfrm>
            <a:off x="7360920" y="3008376"/>
            <a:ext cx="228600" cy="0"/>
          </a:xfrm>
          <a:prstGeom prst="line">
            <a:avLst/>
          </a:prstGeom>
          <a:noFill/>
          <a:ln w="10795">
            <a:solidFill>
              <a:srgbClr val="4B98D9">
                <a:alpha val="35000"/>
              </a:srgbClr>
            </a:solidFill>
            <a:prstDash val="solid"/>
          </a:ln>
        </p:spPr>
      </p:sp>
      <p:sp>
        <p:nvSpPr>
          <p:cNvPr id="51" name="Shape 49"/>
          <p:cNvSpPr/>
          <p:nvPr/>
        </p:nvSpPr>
        <p:spPr>
          <a:xfrm>
            <a:off x="7589520" y="2139696"/>
            <a:ext cx="0" cy="1737360"/>
          </a:xfrm>
          <a:prstGeom prst="line">
            <a:avLst/>
          </a:prstGeom>
          <a:noFill/>
          <a:ln w="10795">
            <a:solidFill>
              <a:srgbClr val="4B98D9">
                <a:alpha val="35000"/>
              </a:srgbClr>
            </a:solidFill>
            <a:prstDash val="solid"/>
          </a:ln>
        </p:spPr>
      </p:sp>
      <p:sp>
        <p:nvSpPr>
          <p:cNvPr id="52" name="Shape 50"/>
          <p:cNvSpPr/>
          <p:nvPr/>
        </p:nvSpPr>
        <p:spPr>
          <a:xfrm>
            <a:off x="8641080" y="1124712"/>
            <a:ext cx="1645920" cy="118872"/>
          </a:xfrm>
          <a:prstGeom prst="line">
            <a:avLst/>
          </a:prstGeom>
          <a:noFill/>
          <a:ln w="10795">
            <a:solidFill>
              <a:srgbClr val="4B98D9">
                <a:alpha val="35000"/>
              </a:srgbClr>
            </a:solidFill>
            <a:prstDash val="solid"/>
          </a:ln>
        </p:spPr>
      </p:sp>
      <p:sp>
        <p:nvSpPr>
          <p:cNvPr id="53" name="Shape 51"/>
          <p:cNvSpPr/>
          <p:nvPr/>
        </p:nvSpPr>
        <p:spPr>
          <a:xfrm>
            <a:off x="11018520" y="1883664"/>
            <a:ext cx="521208" cy="1627632"/>
          </a:xfrm>
          <a:prstGeom prst="line">
            <a:avLst/>
          </a:prstGeom>
          <a:noFill/>
          <a:ln w="10795">
            <a:solidFill>
              <a:srgbClr val="4B98D9">
                <a:alpha val="35000"/>
              </a:srgbClr>
            </a:solidFill>
            <a:prstDash val="solid"/>
          </a:ln>
        </p:spPr>
      </p:sp>
      <p:sp>
        <p:nvSpPr>
          <p:cNvPr id="54" name="Shape 52"/>
          <p:cNvSpPr/>
          <p:nvPr/>
        </p:nvSpPr>
        <p:spPr>
          <a:xfrm>
            <a:off x="11146536" y="4325112"/>
            <a:ext cx="0" cy="1088136"/>
          </a:xfrm>
          <a:prstGeom prst="line">
            <a:avLst/>
          </a:prstGeom>
          <a:noFill/>
          <a:ln w="10795">
            <a:solidFill>
              <a:srgbClr val="4B98D9">
                <a:alpha val="35000"/>
              </a:srgbClr>
            </a:solidFill>
            <a:prstDash val="solid"/>
          </a:ln>
        </p:spPr>
      </p:sp>
      <p:sp>
        <p:nvSpPr>
          <p:cNvPr id="55" name="Shape 53"/>
          <p:cNvSpPr/>
          <p:nvPr/>
        </p:nvSpPr>
        <p:spPr>
          <a:xfrm>
            <a:off x="8641080" y="5148072"/>
            <a:ext cx="0" cy="0"/>
          </a:xfrm>
          <a:prstGeom prst="line">
            <a:avLst/>
          </a:prstGeom>
          <a:noFill/>
          <a:ln w="10795">
            <a:solidFill>
              <a:srgbClr val="4B98D9">
                <a:alpha val="35000"/>
              </a:srgbClr>
            </a:solidFill>
            <a:prstDash val="solid"/>
          </a:ln>
        </p:spPr>
      </p:sp>
      <p:sp>
        <p:nvSpPr>
          <p:cNvPr id="56" name="Shape 54"/>
          <p:cNvSpPr/>
          <p:nvPr/>
        </p:nvSpPr>
        <p:spPr>
          <a:xfrm>
            <a:off x="7534656" y="2084832"/>
            <a:ext cx="109728" cy="109728"/>
          </a:xfrm>
          <a:prstGeom prst="ellipse">
            <a:avLst/>
          </a:prstGeom>
          <a:solidFill>
            <a:srgbClr val="60E9F8"/>
          </a:solidFill>
          <a:ln w="12700">
            <a:solidFill>
              <a:srgbClr val="60E9F8">
                <a:alpha val="0"/>
              </a:srgbClr>
            </a:solidFill>
            <a:prstDash val="solid"/>
          </a:ln>
        </p:spPr>
      </p:sp>
      <p:sp>
        <p:nvSpPr>
          <p:cNvPr id="57" name="Shape 55"/>
          <p:cNvSpPr/>
          <p:nvPr/>
        </p:nvSpPr>
        <p:spPr>
          <a:xfrm>
            <a:off x="7967167" y="1401775"/>
            <a:ext cx="67666" cy="67666"/>
          </a:xfrm>
          <a:prstGeom prst="ellipse">
            <a:avLst/>
          </a:prstGeom>
          <a:solidFill>
            <a:srgbClr val="48A9FF">
              <a:alpha val="76000"/>
            </a:srgbClr>
          </a:solidFill>
          <a:ln w="12700">
            <a:solidFill>
              <a:srgbClr val="60E9F8">
                <a:alpha val="0"/>
              </a:srgbClr>
            </a:solidFill>
            <a:prstDash val="solid"/>
          </a:ln>
        </p:spPr>
      </p:sp>
      <p:sp>
        <p:nvSpPr>
          <p:cNvPr id="58" name="Shape 56"/>
          <p:cNvSpPr/>
          <p:nvPr/>
        </p:nvSpPr>
        <p:spPr>
          <a:xfrm>
            <a:off x="8607247" y="1090879"/>
            <a:ext cx="67666" cy="67666"/>
          </a:xfrm>
          <a:prstGeom prst="ellipse">
            <a:avLst/>
          </a:prstGeom>
          <a:solidFill>
            <a:srgbClr val="48A9FF">
              <a:alpha val="76000"/>
            </a:srgbClr>
          </a:solidFill>
          <a:ln w="12700">
            <a:solidFill>
              <a:srgbClr val="60E9F8">
                <a:alpha val="0"/>
              </a:srgbClr>
            </a:solidFill>
            <a:prstDash val="solid"/>
          </a:ln>
        </p:spPr>
      </p:sp>
      <p:sp>
        <p:nvSpPr>
          <p:cNvPr id="59" name="Shape 57"/>
          <p:cNvSpPr/>
          <p:nvPr/>
        </p:nvSpPr>
        <p:spPr>
          <a:xfrm>
            <a:off x="9366199" y="880567"/>
            <a:ext cx="67666" cy="67666"/>
          </a:xfrm>
          <a:prstGeom prst="ellipse">
            <a:avLst/>
          </a:prstGeom>
          <a:solidFill>
            <a:srgbClr val="60E9F8">
              <a:alpha val="76000"/>
            </a:srgbClr>
          </a:solidFill>
          <a:ln w="12700">
            <a:solidFill>
              <a:srgbClr val="60E9F8">
                <a:alpha val="0"/>
              </a:srgbClr>
            </a:solidFill>
            <a:prstDash val="solid"/>
          </a:ln>
        </p:spPr>
      </p:sp>
      <p:sp>
        <p:nvSpPr>
          <p:cNvPr id="60" name="Shape 58"/>
          <p:cNvSpPr/>
          <p:nvPr/>
        </p:nvSpPr>
        <p:spPr>
          <a:xfrm>
            <a:off x="10232136" y="1188720"/>
            <a:ext cx="109728" cy="109728"/>
          </a:xfrm>
          <a:prstGeom prst="ellipse">
            <a:avLst/>
          </a:prstGeom>
          <a:solidFill>
            <a:srgbClr val="48A9FF">
              <a:alpha val="76000"/>
            </a:srgbClr>
          </a:solidFill>
          <a:ln w="12700">
            <a:solidFill>
              <a:srgbClr val="60E9F8">
                <a:alpha val="0"/>
              </a:srgbClr>
            </a:solidFill>
            <a:prstDash val="solid"/>
          </a:ln>
        </p:spPr>
      </p:sp>
      <p:sp>
        <p:nvSpPr>
          <p:cNvPr id="61" name="Shape 59"/>
          <p:cNvSpPr/>
          <p:nvPr/>
        </p:nvSpPr>
        <p:spPr>
          <a:xfrm>
            <a:off x="10984687" y="1849831"/>
            <a:ext cx="67666" cy="67666"/>
          </a:xfrm>
          <a:prstGeom prst="ellipse">
            <a:avLst/>
          </a:prstGeom>
          <a:solidFill>
            <a:srgbClr val="48A9FF"/>
          </a:solidFill>
          <a:ln w="12700">
            <a:solidFill>
              <a:srgbClr val="60E9F8">
                <a:alpha val="0"/>
              </a:srgbClr>
            </a:solidFill>
            <a:prstDash val="solid"/>
          </a:ln>
        </p:spPr>
      </p:sp>
      <p:sp>
        <p:nvSpPr>
          <p:cNvPr id="62" name="Shape 60"/>
          <p:cNvSpPr/>
          <p:nvPr/>
        </p:nvSpPr>
        <p:spPr>
          <a:xfrm>
            <a:off x="11350447" y="2636215"/>
            <a:ext cx="67666" cy="67666"/>
          </a:xfrm>
          <a:prstGeom prst="ellipse">
            <a:avLst/>
          </a:prstGeom>
          <a:solidFill>
            <a:srgbClr val="60E9F8">
              <a:alpha val="76000"/>
            </a:srgbClr>
          </a:solidFill>
          <a:ln w="12700">
            <a:solidFill>
              <a:srgbClr val="60E9F8">
                <a:alpha val="0"/>
              </a:srgbClr>
            </a:solidFill>
            <a:prstDash val="solid"/>
          </a:ln>
        </p:spPr>
      </p:sp>
      <p:sp>
        <p:nvSpPr>
          <p:cNvPr id="63" name="Shape 61"/>
          <p:cNvSpPr/>
          <p:nvPr/>
        </p:nvSpPr>
        <p:spPr>
          <a:xfrm>
            <a:off x="11505895" y="3477463"/>
            <a:ext cx="67666" cy="67666"/>
          </a:xfrm>
          <a:prstGeom prst="ellipse">
            <a:avLst/>
          </a:prstGeom>
          <a:solidFill>
            <a:srgbClr val="48A9FF">
              <a:alpha val="76000"/>
            </a:srgbClr>
          </a:solidFill>
          <a:ln w="12700">
            <a:solidFill>
              <a:srgbClr val="60E9F8">
                <a:alpha val="0"/>
              </a:srgbClr>
            </a:solidFill>
            <a:prstDash val="solid"/>
          </a:ln>
        </p:spPr>
      </p:sp>
      <p:sp>
        <p:nvSpPr>
          <p:cNvPr id="64" name="Shape 62"/>
          <p:cNvSpPr/>
          <p:nvPr/>
        </p:nvSpPr>
        <p:spPr>
          <a:xfrm>
            <a:off x="11091672" y="4270248"/>
            <a:ext cx="109728" cy="109728"/>
          </a:xfrm>
          <a:prstGeom prst="ellipse">
            <a:avLst/>
          </a:prstGeom>
          <a:solidFill>
            <a:srgbClr val="48A9FF">
              <a:alpha val="76000"/>
            </a:srgbClr>
          </a:solidFill>
          <a:ln w="12700">
            <a:solidFill>
              <a:srgbClr val="60E9F8">
                <a:alpha val="0"/>
              </a:srgbClr>
            </a:solidFill>
            <a:prstDash val="solid"/>
          </a:ln>
        </p:spPr>
      </p:sp>
      <p:sp>
        <p:nvSpPr>
          <p:cNvPr id="65" name="Shape 63"/>
          <p:cNvSpPr/>
          <p:nvPr/>
        </p:nvSpPr>
        <p:spPr>
          <a:xfrm>
            <a:off x="10417759" y="4986223"/>
            <a:ext cx="67666" cy="67666"/>
          </a:xfrm>
          <a:prstGeom prst="ellipse">
            <a:avLst/>
          </a:prstGeom>
          <a:solidFill>
            <a:srgbClr val="60E9F8">
              <a:alpha val="76000"/>
            </a:srgbClr>
          </a:solidFill>
          <a:ln w="12700">
            <a:solidFill>
              <a:srgbClr val="60E9F8">
                <a:alpha val="0"/>
              </a:srgbClr>
            </a:solidFill>
            <a:prstDash val="solid"/>
          </a:ln>
        </p:spPr>
      </p:sp>
      <p:sp>
        <p:nvSpPr>
          <p:cNvPr id="66" name="Shape 64"/>
          <p:cNvSpPr/>
          <p:nvPr/>
        </p:nvSpPr>
        <p:spPr>
          <a:xfrm>
            <a:off x="9530791" y="5379415"/>
            <a:ext cx="67666" cy="67666"/>
          </a:xfrm>
          <a:prstGeom prst="ellipse">
            <a:avLst/>
          </a:prstGeom>
          <a:solidFill>
            <a:srgbClr val="48A9FF"/>
          </a:solidFill>
          <a:ln w="12700">
            <a:solidFill>
              <a:srgbClr val="60E9F8">
                <a:alpha val="0"/>
              </a:srgbClr>
            </a:solidFill>
            <a:prstDash val="solid"/>
          </a:ln>
        </p:spPr>
      </p:sp>
      <p:sp>
        <p:nvSpPr>
          <p:cNvPr id="67" name="Shape 65"/>
          <p:cNvSpPr/>
          <p:nvPr/>
        </p:nvSpPr>
        <p:spPr>
          <a:xfrm>
            <a:off x="8607247" y="5114239"/>
            <a:ext cx="67666" cy="67666"/>
          </a:xfrm>
          <a:prstGeom prst="ellipse">
            <a:avLst/>
          </a:prstGeom>
          <a:solidFill>
            <a:srgbClr val="48A9FF">
              <a:alpha val="76000"/>
            </a:srgbClr>
          </a:solidFill>
          <a:ln w="12700">
            <a:solidFill>
              <a:srgbClr val="60E9F8">
                <a:alpha val="0"/>
              </a:srgbClr>
            </a:solidFill>
            <a:prstDash val="solid"/>
          </a:ln>
        </p:spPr>
      </p:sp>
      <p:sp>
        <p:nvSpPr>
          <p:cNvPr id="68" name="Shape 66"/>
          <p:cNvSpPr/>
          <p:nvPr/>
        </p:nvSpPr>
        <p:spPr>
          <a:xfrm>
            <a:off x="7891272" y="4599432"/>
            <a:ext cx="109728" cy="109728"/>
          </a:xfrm>
          <a:prstGeom prst="ellipse">
            <a:avLst/>
          </a:prstGeom>
          <a:solidFill>
            <a:srgbClr val="60E9F8">
              <a:alpha val="76000"/>
            </a:srgbClr>
          </a:solidFill>
          <a:ln w="12700">
            <a:solidFill>
              <a:srgbClr val="60E9F8">
                <a:alpha val="0"/>
              </a:srgbClr>
            </a:solidFill>
            <a:prstDash val="solid"/>
          </a:ln>
        </p:spPr>
      </p:sp>
      <p:sp>
        <p:nvSpPr>
          <p:cNvPr id="69" name="Shape 67"/>
          <p:cNvSpPr/>
          <p:nvPr/>
        </p:nvSpPr>
        <p:spPr>
          <a:xfrm>
            <a:off x="7464247" y="3843223"/>
            <a:ext cx="67666" cy="67666"/>
          </a:xfrm>
          <a:prstGeom prst="ellipse">
            <a:avLst/>
          </a:prstGeom>
          <a:solidFill>
            <a:srgbClr val="48A9FF">
              <a:alpha val="76000"/>
            </a:srgbClr>
          </a:solidFill>
          <a:ln w="12700">
            <a:solidFill>
              <a:srgbClr val="60E9F8">
                <a:alpha val="0"/>
              </a:srgbClr>
            </a:solidFill>
            <a:prstDash val="solid"/>
          </a:ln>
        </p:spPr>
      </p:sp>
      <p:sp>
        <p:nvSpPr>
          <p:cNvPr id="70" name="Shape 68"/>
          <p:cNvSpPr/>
          <p:nvPr/>
        </p:nvSpPr>
        <p:spPr>
          <a:xfrm>
            <a:off x="7327087" y="2974543"/>
            <a:ext cx="67666" cy="67666"/>
          </a:xfrm>
          <a:prstGeom prst="ellipse">
            <a:avLst/>
          </a:prstGeom>
          <a:solidFill>
            <a:srgbClr val="48A9FF">
              <a:alpha val="76000"/>
            </a:srgbClr>
          </a:solidFill>
          <a:ln w="12700">
            <a:solidFill>
              <a:srgbClr val="60E9F8">
                <a:alpha val="0"/>
              </a:srgbClr>
            </a:solidFill>
            <a:prstDash val="solid"/>
          </a:ln>
        </p:spPr>
      </p:sp>
      <p:sp>
        <p:nvSpPr>
          <p:cNvPr id="71" name="Shape 69"/>
          <p:cNvSpPr/>
          <p:nvPr/>
        </p:nvSpPr>
        <p:spPr>
          <a:xfrm>
            <a:off x="8348472" y="2185416"/>
            <a:ext cx="2157984" cy="2157984"/>
          </a:xfrm>
          <a:prstGeom prst="ellipse">
            <a:avLst/>
          </a:prstGeom>
          <a:solidFill>
            <a:srgbClr val="173867">
              <a:alpha val="96000"/>
            </a:srgbClr>
          </a:solidFill>
          <a:ln w="13970">
            <a:solidFill>
              <a:srgbClr val="6EDFF0">
                <a:alpha val="45000"/>
              </a:srgbClr>
            </a:solidFill>
            <a:prstDash val="solid"/>
          </a:ln>
        </p:spPr>
      </p:sp>
      <p:sp>
        <p:nvSpPr>
          <p:cNvPr id="72" name="Shape 70"/>
          <p:cNvSpPr/>
          <p:nvPr/>
        </p:nvSpPr>
        <p:spPr>
          <a:xfrm>
            <a:off x="8549640" y="2386584"/>
            <a:ext cx="1755648" cy="1755648"/>
          </a:xfrm>
          <a:prstGeom prst="ellipse">
            <a:avLst/>
          </a:prstGeom>
          <a:solidFill>
            <a:srgbClr val="214E7A">
              <a:alpha val="76000"/>
            </a:srgbClr>
          </a:solidFill>
          <a:ln w="6350">
            <a:solidFill>
              <a:srgbClr val="66CFF2">
                <a:alpha val="18000"/>
              </a:srgbClr>
            </a:solidFill>
            <a:prstDash val="solid"/>
          </a:ln>
        </p:spPr>
      </p:sp>
      <p:sp>
        <p:nvSpPr>
          <p:cNvPr id="73" name="Text 71"/>
          <p:cNvSpPr/>
          <p:nvPr/>
        </p:nvSpPr>
        <p:spPr>
          <a:xfrm>
            <a:off x="8796528" y="2834640"/>
            <a:ext cx="1261872" cy="859536"/>
          </a:xfrm>
          <a:prstGeom prst="rect">
            <a:avLst/>
          </a:prstGeom>
          <a:noFill/>
          <a:ln/>
        </p:spPr>
        <p:txBody>
          <a:bodyPr wrap="square" lIns="0" tIns="0" rIns="0" bIns="0" rtlCol="0" anchor="ctr"/>
          <a:lstStyle/>
          <a:p>
            <a:pPr marL="0" indent="0" algn="ctr">
              <a:buNone/>
            </a:pPr>
            <a:r>
              <a:rPr lang="en-US" sz="5600" b="1" kern="0" spc="-120" dirty="0">
                <a:solidFill>
                  <a:srgbClr val="F8FBFF"/>
                </a:solidFill>
                <a:latin typeface="Inter" pitchFamily="34" charset="0"/>
                <a:ea typeface="Inter" pitchFamily="34" charset="-122"/>
                <a:cs typeface="Inter" pitchFamily="34" charset="-120"/>
              </a:rPr>
              <a:t>AI</a:t>
            </a:r>
            <a:endParaRPr lang="en-US" sz="5600" dirty="0"/>
          </a:p>
        </p:txBody>
      </p:sp>
      <p:sp>
        <p:nvSpPr>
          <p:cNvPr id="74" name="Text 72"/>
          <p:cNvSpPr/>
          <p:nvPr/>
        </p:nvSpPr>
        <p:spPr>
          <a:xfrm>
            <a:off x="7415784" y="1883664"/>
            <a:ext cx="347472" cy="164592"/>
          </a:xfrm>
          <a:prstGeom prst="rect">
            <a:avLst/>
          </a:prstGeom>
          <a:noFill/>
          <a:ln/>
        </p:spPr>
        <p:txBody>
          <a:bodyPr wrap="square" lIns="0" tIns="0" rIns="0" bIns="0" rtlCol="0" anchor="ctr"/>
          <a:lstStyle/>
          <a:p>
            <a:pPr marL="0" indent="0">
              <a:buNone/>
            </a:pPr>
            <a:r>
              <a:rPr lang="en-US" sz="1030" dirty="0">
                <a:solidFill>
                  <a:srgbClr val="73BFE3">
                    <a:alpha val="64000"/>
                  </a:srgbClr>
                </a:solidFill>
                <a:latin typeface="Inter" pitchFamily="34" charset="0"/>
                <a:ea typeface="Inter" pitchFamily="34" charset="-122"/>
                <a:cs typeface="Inter" pitchFamily="34" charset="-120"/>
              </a:rPr>
              <a:t>01</a:t>
            </a:r>
            <a:endParaRPr lang="en-US" sz="1030" dirty="0"/>
          </a:p>
        </p:txBody>
      </p:sp>
      <p:sp>
        <p:nvSpPr>
          <p:cNvPr id="75" name="Text 73"/>
          <p:cNvSpPr/>
          <p:nvPr/>
        </p:nvSpPr>
        <p:spPr>
          <a:xfrm>
            <a:off x="10890504" y="4553712"/>
            <a:ext cx="347472" cy="164592"/>
          </a:xfrm>
          <a:prstGeom prst="rect">
            <a:avLst/>
          </a:prstGeom>
          <a:noFill/>
          <a:ln/>
        </p:spPr>
        <p:txBody>
          <a:bodyPr wrap="square" lIns="0" tIns="0" rIns="0" bIns="0" rtlCol="0" anchor="ctr"/>
          <a:lstStyle/>
          <a:p>
            <a:pPr marL="0" indent="0">
              <a:buNone/>
            </a:pPr>
            <a:r>
              <a:rPr lang="en-US" sz="1030" dirty="0">
                <a:solidFill>
                  <a:srgbClr val="73BFE3"/>
                </a:solidFill>
                <a:latin typeface="Inter" pitchFamily="34" charset="0"/>
                <a:ea typeface="Inter" pitchFamily="34" charset="-122"/>
                <a:cs typeface="Inter" pitchFamily="34" charset="-120"/>
              </a:rPr>
              <a:t>10</a:t>
            </a:r>
            <a:endParaRPr lang="en-US" sz="1030" dirty="0"/>
          </a:p>
        </p:txBody>
      </p:sp>
      <p:sp>
        <p:nvSpPr>
          <p:cNvPr id="76" name="Text 74"/>
          <p:cNvSpPr/>
          <p:nvPr/>
        </p:nvSpPr>
        <p:spPr>
          <a:xfrm>
            <a:off x="11384280" y="2176272"/>
            <a:ext cx="411480" cy="201168"/>
          </a:xfrm>
          <a:prstGeom prst="rect">
            <a:avLst/>
          </a:prstGeom>
          <a:noFill/>
          <a:ln/>
        </p:spPr>
        <p:txBody>
          <a:bodyPr wrap="square" lIns="0" tIns="0" rIns="0" bIns="0" rtlCol="0" anchor="ctr"/>
          <a:lstStyle/>
          <a:p>
            <a:pPr marL="0" indent="0">
              <a:buNone/>
            </a:pPr>
            <a:r>
              <a:rPr lang="en-US" sz="1430" dirty="0">
                <a:solidFill>
                  <a:srgbClr val="77C7E9"/>
                </a:solidFill>
                <a:latin typeface="Inter" pitchFamily="34" charset="0"/>
                <a:ea typeface="Inter" pitchFamily="34" charset="-122"/>
                <a:cs typeface="Inter" pitchFamily="34" charset="-120"/>
              </a:rPr>
              <a:t>{ }</a:t>
            </a:r>
            <a:endParaRPr lang="en-US" sz="1430" dirty="0"/>
          </a:p>
        </p:txBody>
      </p:sp>
      <p:sp>
        <p:nvSpPr>
          <p:cNvPr id="77" name="Shape 75"/>
          <p:cNvSpPr/>
          <p:nvPr/>
        </p:nvSpPr>
        <p:spPr>
          <a:xfrm>
            <a:off x="804672" y="6483096"/>
            <a:ext cx="10543032" cy="0"/>
          </a:xfrm>
          <a:prstGeom prst="line">
            <a:avLst/>
          </a:prstGeom>
          <a:noFill/>
          <a:ln w="9525">
            <a:solidFill>
              <a:srgbClr val="294360">
                <a:alpha val="82000"/>
              </a:srgbClr>
            </a:solidFill>
            <a:prstDash val="solid"/>
          </a:ln>
        </p:spPr>
      </p:sp>
      <p:sp>
        <p:nvSpPr>
          <p:cNvPr id="78" name="Text 76"/>
          <p:cNvSpPr/>
          <p:nvPr/>
        </p:nvSpPr>
        <p:spPr>
          <a:xfrm>
            <a:off x="822960" y="6583680"/>
            <a:ext cx="4114800" cy="137160"/>
          </a:xfrm>
          <a:prstGeom prst="rect">
            <a:avLst/>
          </a:prstGeom>
          <a:noFill/>
          <a:ln/>
        </p:spPr>
        <p:txBody>
          <a:bodyPr wrap="square" lIns="0" tIns="0" rIns="0" bIns="0" rtlCol="0" anchor="ctr"/>
          <a:lstStyle/>
          <a:p>
            <a:pPr marL="0" indent="0">
              <a:buNone/>
            </a:pPr>
            <a:r>
              <a:rPr lang="en-US" sz="800" kern="0" spc="180" dirty="0">
                <a:solidFill>
                  <a:srgbClr val="7595AF"/>
                </a:solidFill>
                <a:latin typeface="Inter" pitchFamily="34" charset="0"/>
                <a:ea typeface="Inter" pitchFamily="34" charset="-122"/>
                <a:cs typeface="Inter" pitchFamily="34" charset="-120"/>
              </a:rPr>
              <a:t>AI ENGINEERING  •  BOOTCAMP</a:t>
            </a:r>
            <a:endParaRPr lang="en-US" sz="800" dirty="0"/>
          </a:p>
        </p:txBody>
      </p:sp>
    </p:spTree>
    <p:extLst>
      <p:ext uri="{BB962C8B-B14F-4D97-AF65-F5344CB8AC3E}">
        <p14:creationId xmlns:p14="http://schemas.microsoft.com/office/powerpoint/2010/main" val="41338955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 cy="6858000"/>
          </a:xfrm>
          <a:prstGeom prst="rect">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265176"/>
            <a:ext cx="6949440" cy="246888"/>
          </a:xfrm>
          <a:prstGeom prst="rect">
            <a:avLst/>
          </a:prstGeom>
          <a:noFill/>
        </p:spPr>
        <p:txBody>
          <a:bodyPr wrap="square" lIns="0" tIns="0" rIns="0" bIns="0">
            <a:noAutofit/>
          </a:bodyPr>
          <a:lstStyle/>
          <a:p>
            <a:r>
              <a:rPr sz="1100" b="1">
                <a:solidFill>
                  <a:srgbClr val="008E82"/>
                </a:solidFill>
                <a:latin typeface="Aptos"/>
              </a:rPr>
              <a:t>AI ENGINEERING  /  PROGRAM ROADMAP</a:t>
            </a:r>
          </a:p>
        </p:txBody>
      </p:sp>
      <p:sp>
        <p:nvSpPr>
          <p:cNvPr id="5" name="TextBox 4"/>
          <p:cNvSpPr txBox="1"/>
          <p:nvPr/>
        </p:nvSpPr>
        <p:spPr>
          <a:xfrm>
            <a:off x="475488" y="640080"/>
            <a:ext cx="9144000" cy="530352"/>
          </a:xfrm>
          <a:prstGeom prst="rect">
            <a:avLst/>
          </a:prstGeom>
          <a:noFill/>
        </p:spPr>
        <p:txBody>
          <a:bodyPr wrap="square" lIns="0" tIns="0" rIns="0" bIns="0">
            <a:noAutofit/>
          </a:bodyPr>
          <a:lstStyle/>
          <a:p>
            <a:r>
              <a:rPr sz="3100" b="1" dirty="0">
                <a:solidFill>
                  <a:srgbClr val="152B41"/>
                </a:solidFill>
                <a:latin typeface="Aptos"/>
              </a:rPr>
              <a:t>Course Overview</a:t>
            </a:r>
          </a:p>
        </p:txBody>
      </p:sp>
      <p:sp>
        <p:nvSpPr>
          <p:cNvPr id="6" name="TextBox 5"/>
          <p:cNvSpPr txBox="1"/>
          <p:nvPr/>
        </p:nvSpPr>
        <p:spPr>
          <a:xfrm>
            <a:off x="475488" y="1225296"/>
            <a:ext cx="10789920" cy="347472"/>
          </a:xfrm>
          <a:prstGeom prst="rect">
            <a:avLst/>
          </a:prstGeom>
          <a:noFill/>
        </p:spPr>
        <p:txBody>
          <a:bodyPr wrap="square" lIns="0" tIns="0" rIns="0" bIns="0">
            <a:noAutofit/>
          </a:bodyPr>
          <a:lstStyle/>
          <a:p>
            <a:r>
              <a:rPr sz="1570" b="0">
                <a:solidFill>
                  <a:srgbClr val="394C5D"/>
                </a:solidFill>
                <a:latin typeface="Aptos"/>
              </a:rPr>
              <a:t>250-hour programme  •  From Python foundations to building and deploying AI applications</a:t>
            </a:r>
          </a:p>
        </p:txBody>
      </p:sp>
      <p:sp>
        <p:nvSpPr>
          <p:cNvPr id="7" name="Rectangle 6"/>
          <p:cNvSpPr/>
          <p:nvPr/>
        </p:nvSpPr>
        <p:spPr>
          <a:xfrm>
            <a:off x="475488" y="1719072"/>
            <a:ext cx="11228832" cy="25603"/>
          </a:xfrm>
          <a:prstGeom prst="rect">
            <a:avLst/>
          </a:prstGeom>
          <a:solidFill>
            <a:srgbClr val="DA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75488" y="1965960"/>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85216" y="2121408"/>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iamond 9"/>
          <p:cNvSpPr/>
          <p:nvPr/>
        </p:nvSpPr>
        <p:spPr>
          <a:xfrm>
            <a:off x="763524" y="2286000"/>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2112264"/>
            <a:ext cx="4572000" cy="329184"/>
          </a:xfrm>
          <a:prstGeom prst="rect">
            <a:avLst/>
          </a:prstGeom>
          <a:noFill/>
        </p:spPr>
        <p:txBody>
          <a:bodyPr wrap="square" lIns="0" tIns="0" rIns="0" bIns="0">
            <a:noAutofit/>
          </a:bodyPr>
          <a:lstStyle/>
          <a:p>
            <a:r>
              <a:rPr sz="1720" b="1" dirty="0">
                <a:solidFill>
                  <a:srgbClr val="152B41"/>
                </a:solidFill>
                <a:latin typeface="Aptos"/>
              </a:rPr>
              <a:t>Python &amp; Software Engineering</a:t>
            </a:r>
          </a:p>
        </p:txBody>
      </p:sp>
      <p:sp>
        <p:nvSpPr>
          <p:cNvPr id="12" name="TextBox 11"/>
          <p:cNvSpPr txBox="1"/>
          <p:nvPr/>
        </p:nvSpPr>
        <p:spPr>
          <a:xfrm>
            <a:off x="1280160" y="2514600"/>
            <a:ext cx="4599431" cy="246888"/>
          </a:xfrm>
          <a:prstGeom prst="rect">
            <a:avLst/>
          </a:prstGeom>
          <a:noFill/>
        </p:spPr>
        <p:txBody>
          <a:bodyPr wrap="square" lIns="0" tIns="0" rIns="0" bIns="0">
            <a:noAutofit/>
          </a:bodyPr>
          <a:lstStyle/>
          <a:p>
            <a:r>
              <a:rPr sz="1250" b="0">
                <a:solidFill>
                  <a:srgbClr val="394C5D"/>
                </a:solidFill>
                <a:latin typeface="Aptos"/>
              </a:rPr>
              <a:t>Python, OOP, Git/GitHub, APIs, SQL and testing</a:t>
            </a:r>
          </a:p>
        </p:txBody>
      </p:sp>
      <p:sp>
        <p:nvSpPr>
          <p:cNvPr id="13" name="Rounded Rectangle 12"/>
          <p:cNvSpPr/>
          <p:nvPr/>
        </p:nvSpPr>
        <p:spPr>
          <a:xfrm>
            <a:off x="475488" y="3081528"/>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85216" y="3236976"/>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iamond 14"/>
          <p:cNvSpPr/>
          <p:nvPr/>
        </p:nvSpPr>
        <p:spPr>
          <a:xfrm>
            <a:off x="763524" y="3401568"/>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0160" y="3227832"/>
            <a:ext cx="4572000" cy="329184"/>
          </a:xfrm>
          <a:prstGeom prst="rect">
            <a:avLst/>
          </a:prstGeom>
          <a:noFill/>
        </p:spPr>
        <p:txBody>
          <a:bodyPr wrap="square" lIns="0" tIns="0" rIns="0" bIns="0">
            <a:noAutofit/>
          </a:bodyPr>
          <a:lstStyle/>
          <a:p>
            <a:r>
              <a:rPr sz="1720" b="1" dirty="0">
                <a:solidFill>
                  <a:srgbClr val="152B41"/>
                </a:solidFill>
                <a:latin typeface="Aptos"/>
              </a:rPr>
              <a:t>Data Analysis &amp; Engineering</a:t>
            </a:r>
          </a:p>
        </p:txBody>
      </p:sp>
      <p:sp>
        <p:nvSpPr>
          <p:cNvPr id="17" name="TextBox 16"/>
          <p:cNvSpPr txBox="1"/>
          <p:nvPr/>
        </p:nvSpPr>
        <p:spPr>
          <a:xfrm>
            <a:off x="1280160" y="3630168"/>
            <a:ext cx="4599431" cy="246888"/>
          </a:xfrm>
          <a:prstGeom prst="rect">
            <a:avLst/>
          </a:prstGeom>
          <a:noFill/>
        </p:spPr>
        <p:txBody>
          <a:bodyPr wrap="square" lIns="0" tIns="0" rIns="0" bIns="0">
            <a:noAutofit/>
          </a:bodyPr>
          <a:lstStyle/>
          <a:p>
            <a:r>
              <a:rPr sz="1250" b="0">
                <a:solidFill>
                  <a:srgbClr val="394C5D"/>
                </a:solidFill>
                <a:latin typeface="Aptos"/>
              </a:rPr>
              <a:t>NumPy, Pandas, data cleaning and pipelines</a:t>
            </a:r>
          </a:p>
        </p:txBody>
      </p:sp>
      <p:sp>
        <p:nvSpPr>
          <p:cNvPr id="18" name="Rounded Rectangle 17"/>
          <p:cNvSpPr/>
          <p:nvPr/>
        </p:nvSpPr>
        <p:spPr>
          <a:xfrm>
            <a:off x="475488" y="4197096"/>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85216" y="4352544"/>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amond 19"/>
          <p:cNvSpPr/>
          <p:nvPr/>
        </p:nvSpPr>
        <p:spPr>
          <a:xfrm>
            <a:off x="763524" y="4517136"/>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4343400"/>
            <a:ext cx="4572000" cy="329184"/>
          </a:xfrm>
          <a:prstGeom prst="rect">
            <a:avLst/>
          </a:prstGeom>
          <a:noFill/>
        </p:spPr>
        <p:txBody>
          <a:bodyPr wrap="square" lIns="0" tIns="0" rIns="0" bIns="0">
            <a:noAutofit/>
          </a:bodyPr>
          <a:lstStyle/>
          <a:p>
            <a:r>
              <a:rPr sz="1720" b="1" dirty="0">
                <a:solidFill>
                  <a:srgbClr val="152B41"/>
                </a:solidFill>
                <a:latin typeface="Aptos"/>
              </a:rPr>
              <a:t>Machine Learning</a:t>
            </a:r>
          </a:p>
        </p:txBody>
      </p:sp>
      <p:sp>
        <p:nvSpPr>
          <p:cNvPr id="22" name="TextBox 21"/>
          <p:cNvSpPr txBox="1"/>
          <p:nvPr/>
        </p:nvSpPr>
        <p:spPr>
          <a:xfrm>
            <a:off x="1280160" y="4745736"/>
            <a:ext cx="4599431" cy="246888"/>
          </a:xfrm>
          <a:prstGeom prst="rect">
            <a:avLst/>
          </a:prstGeom>
          <a:noFill/>
        </p:spPr>
        <p:txBody>
          <a:bodyPr wrap="square" lIns="0" tIns="0" rIns="0" bIns="0">
            <a:noAutofit/>
          </a:bodyPr>
          <a:lstStyle/>
          <a:p>
            <a:r>
              <a:rPr sz="1250" b="0">
                <a:solidFill>
                  <a:srgbClr val="394C5D"/>
                </a:solidFill>
                <a:latin typeface="Aptos"/>
              </a:rPr>
              <a:t>Regression, classification, clustering and evaluation</a:t>
            </a:r>
          </a:p>
        </p:txBody>
      </p:sp>
      <p:sp>
        <p:nvSpPr>
          <p:cNvPr id="23" name="Rounded Rectangle 22"/>
          <p:cNvSpPr/>
          <p:nvPr/>
        </p:nvSpPr>
        <p:spPr>
          <a:xfrm>
            <a:off x="475488" y="5312664"/>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85216" y="5468112"/>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iamond 24"/>
          <p:cNvSpPr/>
          <p:nvPr/>
        </p:nvSpPr>
        <p:spPr>
          <a:xfrm>
            <a:off x="763524" y="5632703"/>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80160" y="5458968"/>
            <a:ext cx="4572000" cy="329184"/>
          </a:xfrm>
          <a:prstGeom prst="rect">
            <a:avLst/>
          </a:prstGeom>
          <a:noFill/>
        </p:spPr>
        <p:txBody>
          <a:bodyPr wrap="square" lIns="0" tIns="0" rIns="0" bIns="0">
            <a:noAutofit/>
          </a:bodyPr>
          <a:lstStyle/>
          <a:p>
            <a:r>
              <a:rPr sz="1720" b="1" dirty="0">
                <a:solidFill>
                  <a:srgbClr val="152B41"/>
                </a:solidFill>
                <a:latin typeface="Aptos"/>
              </a:rPr>
              <a:t>Deep Learning</a:t>
            </a:r>
          </a:p>
        </p:txBody>
      </p:sp>
      <p:sp>
        <p:nvSpPr>
          <p:cNvPr id="27" name="TextBox 26"/>
          <p:cNvSpPr txBox="1"/>
          <p:nvPr/>
        </p:nvSpPr>
        <p:spPr>
          <a:xfrm>
            <a:off x="1280160" y="5861303"/>
            <a:ext cx="4599431" cy="246888"/>
          </a:xfrm>
          <a:prstGeom prst="rect">
            <a:avLst/>
          </a:prstGeom>
          <a:noFill/>
        </p:spPr>
        <p:txBody>
          <a:bodyPr wrap="square" lIns="0" tIns="0" rIns="0" bIns="0">
            <a:noAutofit/>
          </a:bodyPr>
          <a:lstStyle/>
          <a:p>
            <a:r>
              <a:rPr sz="1250" b="0">
                <a:solidFill>
                  <a:srgbClr val="394C5D"/>
                </a:solidFill>
                <a:latin typeface="Aptos"/>
              </a:rPr>
              <a:t>Neural networks, PyTorch, CNNs and transformers</a:t>
            </a:r>
          </a:p>
        </p:txBody>
      </p:sp>
      <p:sp>
        <p:nvSpPr>
          <p:cNvPr id="28" name="Rounded Rectangle 27"/>
          <p:cNvSpPr/>
          <p:nvPr/>
        </p:nvSpPr>
        <p:spPr>
          <a:xfrm>
            <a:off x="6172200" y="1965960"/>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281928" y="2121408"/>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Diamond 29"/>
          <p:cNvSpPr/>
          <p:nvPr/>
        </p:nvSpPr>
        <p:spPr>
          <a:xfrm>
            <a:off x="6460236" y="2286000"/>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76872" y="2112264"/>
            <a:ext cx="4572000" cy="329184"/>
          </a:xfrm>
          <a:prstGeom prst="rect">
            <a:avLst/>
          </a:prstGeom>
          <a:noFill/>
        </p:spPr>
        <p:txBody>
          <a:bodyPr wrap="square" lIns="0" tIns="0" rIns="0" bIns="0">
            <a:noAutofit/>
          </a:bodyPr>
          <a:lstStyle/>
          <a:p>
            <a:r>
              <a:rPr sz="1720" b="1" dirty="0">
                <a:solidFill>
                  <a:srgbClr val="152B41"/>
                </a:solidFill>
                <a:latin typeface="Aptos"/>
              </a:rPr>
              <a:t>Azure AI Fundamentals (</a:t>
            </a:r>
            <a:r>
              <a:rPr sz="1720" b="1" dirty="0" smtClean="0">
                <a:solidFill>
                  <a:srgbClr val="152B41"/>
                </a:solidFill>
                <a:latin typeface="Aptos"/>
              </a:rPr>
              <a:t>AI-</a:t>
            </a:r>
            <a:r>
              <a:rPr lang="en-US" sz="1720" b="1" dirty="0" smtClean="0">
                <a:solidFill>
                  <a:srgbClr val="152B41"/>
                </a:solidFill>
                <a:latin typeface="Aptos"/>
              </a:rPr>
              <a:t>103</a:t>
            </a:r>
            <a:r>
              <a:rPr sz="1720" b="1" dirty="0" smtClean="0">
                <a:solidFill>
                  <a:srgbClr val="152B41"/>
                </a:solidFill>
                <a:latin typeface="Aptos"/>
              </a:rPr>
              <a:t>)</a:t>
            </a:r>
            <a:endParaRPr sz="1720" b="1" dirty="0">
              <a:solidFill>
                <a:srgbClr val="152B41"/>
              </a:solidFill>
              <a:latin typeface="Aptos"/>
            </a:endParaRPr>
          </a:p>
        </p:txBody>
      </p:sp>
      <p:sp>
        <p:nvSpPr>
          <p:cNvPr id="32" name="TextBox 31"/>
          <p:cNvSpPr txBox="1"/>
          <p:nvPr/>
        </p:nvSpPr>
        <p:spPr>
          <a:xfrm>
            <a:off x="6976872" y="2514600"/>
            <a:ext cx="4599431" cy="246888"/>
          </a:xfrm>
          <a:prstGeom prst="rect">
            <a:avLst/>
          </a:prstGeom>
          <a:noFill/>
        </p:spPr>
        <p:txBody>
          <a:bodyPr wrap="square" lIns="0" tIns="0" rIns="0" bIns="0">
            <a:noAutofit/>
          </a:bodyPr>
          <a:lstStyle/>
          <a:p>
            <a:r>
              <a:rPr sz="1250" b="0">
                <a:solidFill>
                  <a:srgbClr val="394C5D"/>
                </a:solidFill>
                <a:latin typeface="Aptos"/>
              </a:rPr>
              <a:t>AI concepts, responsible AI, Foundry and exam prep</a:t>
            </a:r>
          </a:p>
        </p:txBody>
      </p:sp>
      <p:sp>
        <p:nvSpPr>
          <p:cNvPr id="33" name="Rounded Rectangle 32"/>
          <p:cNvSpPr/>
          <p:nvPr/>
        </p:nvSpPr>
        <p:spPr>
          <a:xfrm>
            <a:off x="6172200" y="3081528"/>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281928" y="3236976"/>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iamond 34"/>
          <p:cNvSpPr/>
          <p:nvPr/>
        </p:nvSpPr>
        <p:spPr>
          <a:xfrm>
            <a:off x="6460236" y="3401568"/>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76872" y="3227832"/>
            <a:ext cx="4572000" cy="329184"/>
          </a:xfrm>
          <a:prstGeom prst="rect">
            <a:avLst/>
          </a:prstGeom>
          <a:noFill/>
        </p:spPr>
        <p:txBody>
          <a:bodyPr wrap="square" lIns="0" tIns="0" rIns="0" bIns="0">
            <a:noAutofit/>
          </a:bodyPr>
          <a:lstStyle/>
          <a:p>
            <a:r>
              <a:rPr sz="1720" b="1" dirty="0">
                <a:solidFill>
                  <a:srgbClr val="152B41"/>
                </a:solidFill>
                <a:latin typeface="Aptos"/>
              </a:rPr>
              <a:t>Generative AI, RAG &amp; Agents</a:t>
            </a:r>
          </a:p>
        </p:txBody>
      </p:sp>
      <p:sp>
        <p:nvSpPr>
          <p:cNvPr id="37" name="TextBox 36"/>
          <p:cNvSpPr txBox="1"/>
          <p:nvPr/>
        </p:nvSpPr>
        <p:spPr>
          <a:xfrm>
            <a:off x="6976872" y="3630168"/>
            <a:ext cx="4599431" cy="246888"/>
          </a:xfrm>
          <a:prstGeom prst="rect">
            <a:avLst/>
          </a:prstGeom>
          <a:noFill/>
        </p:spPr>
        <p:txBody>
          <a:bodyPr wrap="square" lIns="0" tIns="0" rIns="0" bIns="0">
            <a:noAutofit/>
          </a:bodyPr>
          <a:lstStyle/>
          <a:p>
            <a:r>
              <a:rPr sz="1250" b="0">
                <a:solidFill>
                  <a:srgbClr val="394C5D"/>
                </a:solidFill>
                <a:latin typeface="Aptos"/>
              </a:rPr>
              <a:t>LLMs, prompting, retrieval, embeddings and AI agents</a:t>
            </a:r>
          </a:p>
        </p:txBody>
      </p:sp>
      <p:sp>
        <p:nvSpPr>
          <p:cNvPr id="38" name="Rounded Rectangle 37"/>
          <p:cNvSpPr/>
          <p:nvPr/>
        </p:nvSpPr>
        <p:spPr>
          <a:xfrm>
            <a:off x="6172200" y="4197096"/>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281928" y="4352544"/>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Diamond 39"/>
          <p:cNvSpPr/>
          <p:nvPr/>
        </p:nvSpPr>
        <p:spPr>
          <a:xfrm>
            <a:off x="6460236" y="4517136"/>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976872" y="4343400"/>
            <a:ext cx="4572000" cy="329184"/>
          </a:xfrm>
          <a:prstGeom prst="rect">
            <a:avLst/>
          </a:prstGeom>
          <a:noFill/>
        </p:spPr>
        <p:txBody>
          <a:bodyPr wrap="square" lIns="0" tIns="0" rIns="0" bIns="0">
            <a:noAutofit/>
          </a:bodyPr>
          <a:lstStyle/>
          <a:p>
            <a:r>
              <a:rPr sz="1720" b="1" dirty="0">
                <a:solidFill>
                  <a:srgbClr val="152B41"/>
                </a:solidFill>
                <a:latin typeface="Aptos"/>
              </a:rPr>
              <a:t>AI Backend, </a:t>
            </a:r>
            <a:r>
              <a:rPr sz="1720" b="1" dirty="0" err="1">
                <a:solidFill>
                  <a:srgbClr val="152B41"/>
                </a:solidFill>
                <a:latin typeface="Aptos"/>
              </a:rPr>
              <a:t>MLOps</a:t>
            </a:r>
            <a:r>
              <a:rPr sz="1720" b="1" dirty="0">
                <a:solidFill>
                  <a:srgbClr val="152B41"/>
                </a:solidFill>
                <a:latin typeface="Aptos"/>
              </a:rPr>
              <a:t> &amp; Azure</a:t>
            </a:r>
          </a:p>
        </p:txBody>
      </p:sp>
      <p:sp>
        <p:nvSpPr>
          <p:cNvPr id="42" name="TextBox 41"/>
          <p:cNvSpPr txBox="1"/>
          <p:nvPr/>
        </p:nvSpPr>
        <p:spPr>
          <a:xfrm>
            <a:off x="6976872" y="4745736"/>
            <a:ext cx="4599431" cy="246888"/>
          </a:xfrm>
          <a:prstGeom prst="rect">
            <a:avLst/>
          </a:prstGeom>
          <a:noFill/>
        </p:spPr>
        <p:txBody>
          <a:bodyPr wrap="square" lIns="0" tIns="0" rIns="0" bIns="0">
            <a:noAutofit/>
          </a:bodyPr>
          <a:lstStyle/>
          <a:p>
            <a:r>
              <a:rPr sz="1250" b="0">
                <a:solidFill>
                  <a:srgbClr val="394C5D"/>
                </a:solidFill>
                <a:latin typeface="Aptos"/>
              </a:rPr>
              <a:t>FastAPI, monitoring, CI/CD and cloud deployment</a:t>
            </a:r>
          </a:p>
        </p:txBody>
      </p:sp>
      <p:sp>
        <p:nvSpPr>
          <p:cNvPr id="43" name="Rounded Rectangle 42"/>
          <p:cNvSpPr/>
          <p:nvPr/>
        </p:nvSpPr>
        <p:spPr>
          <a:xfrm>
            <a:off x="6172200" y="5312664"/>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281928" y="5468112"/>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iamond 44"/>
          <p:cNvSpPr/>
          <p:nvPr/>
        </p:nvSpPr>
        <p:spPr>
          <a:xfrm>
            <a:off x="6460236" y="5632703"/>
            <a:ext cx="182880" cy="182880"/>
          </a:xfrm>
          <a:prstGeom prst="diamond">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76872" y="5458968"/>
            <a:ext cx="4572000" cy="329184"/>
          </a:xfrm>
          <a:prstGeom prst="rect">
            <a:avLst/>
          </a:prstGeom>
          <a:noFill/>
        </p:spPr>
        <p:txBody>
          <a:bodyPr wrap="square" lIns="0" tIns="0" rIns="0" bIns="0">
            <a:noAutofit/>
          </a:bodyPr>
          <a:lstStyle/>
          <a:p>
            <a:r>
              <a:rPr sz="1720" b="1" dirty="0">
                <a:solidFill>
                  <a:srgbClr val="152B41"/>
                </a:solidFill>
                <a:latin typeface="Aptos"/>
              </a:rPr>
              <a:t>Capstone &amp; Career Readiness</a:t>
            </a:r>
          </a:p>
        </p:txBody>
      </p:sp>
      <p:sp>
        <p:nvSpPr>
          <p:cNvPr id="47" name="TextBox 46"/>
          <p:cNvSpPr txBox="1"/>
          <p:nvPr/>
        </p:nvSpPr>
        <p:spPr>
          <a:xfrm>
            <a:off x="6976872" y="5861303"/>
            <a:ext cx="4599431" cy="246888"/>
          </a:xfrm>
          <a:prstGeom prst="rect">
            <a:avLst/>
          </a:prstGeom>
          <a:noFill/>
        </p:spPr>
        <p:txBody>
          <a:bodyPr wrap="square" lIns="0" tIns="0" rIns="0" bIns="0">
            <a:noAutofit/>
          </a:bodyPr>
          <a:lstStyle/>
          <a:p>
            <a:r>
              <a:rPr sz="1250" b="0">
                <a:solidFill>
                  <a:srgbClr val="394C5D"/>
                </a:solidFill>
                <a:latin typeface="Aptos"/>
              </a:rPr>
              <a:t>Industry project, GitHub portfolio and interviews</a:t>
            </a:r>
          </a:p>
        </p:txBody>
      </p:sp>
      <p:sp>
        <p:nvSpPr>
          <p:cNvPr id="48" name="Rectangle 47"/>
          <p:cNvSpPr/>
          <p:nvPr/>
        </p:nvSpPr>
        <p:spPr>
          <a:xfrm>
            <a:off x="475488" y="6519672"/>
            <a:ext cx="11228832" cy="12801"/>
          </a:xfrm>
          <a:prstGeom prst="rect">
            <a:avLst/>
          </a:prstGeom>
          <a:solidFill>
            <a:srgbClr val="DA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5488" y="6565392"/>
            <a:ext cx="10972800" cy="182880"/>
          </a:xfrm>
          <a:prstGeom prst="rect">
            <a:avLst/>
          </a:prstGeom>
          <a:noFill/>
        </p:spPr>
        <p:txBody>
          <a:bodyPr wrap="square" lIns="0" tIns="0" rIns="0" bIns="0">
            <a:noAutofit/>
          </a:bodyPr>
          <a:lstStyle/>
          <a:p>
            <a:r>
              <a:rPr sz="1000" b="0">
                <a:solidFill>
                  <a:srgbClr val="5B6E80"/>
                </a:solidFill>
                <a:latin typeface="Aptos"/>
              </a:rPr>
              <a:t>LEARN THE FOUNDATIONS  •  BUILD REAL PROJECTS  •  PREPARE FOR AI ENGINEERING CAREERS</a:t>
            </a:r>
          </a:p>
        </p:txBody>
      </p:sp>
    </p:spTree>
    <p:extLst>
      <p:ext uri="{BB962C8B-B14F-4D97-AF65-F5344CB8AC3E}">
        <p14:creationId xmlns:p14="http://schemas.microsoft.com/office/powerpoint/2010/main" val="11022807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COURSE ORIENTATION</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will you be able to do?</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By the end of the full program, you should be able to:</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Write, understand, test, and debug Python code.</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786384"/>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Work with data and create introductory machine learning / generative AI applications.</a:t>
            </a:r>
            <a:endParaRPr lang="en-US" sz="2250" dirty="0"/>
          </a:p>
        </p:txBody>
      </p:sp>
      <p:sp>
        <p:nvSpPr>
          <p:cNvPr id="15" name="Shape 13"/>
          <p:cNvSpPr/>
          <p:nvPr/>
        </p:nvSpPr>
        <p:spPr>
          <a:xfrm>
            <a:off x="713232" y="5010912"/>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89204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Build and deploy an end-to-end AI project and develop a portfolio.</a:t>
            </a:r>
            <a:endParaRPr lang="en-US" sz="2250" dirty="0"/>
          </a:p>
        </p:txBody>
      </p:sp>
      <p:sp>
        <p:nvSpPr>
          <p:cNvPr id="17" name="Shape 15"/>
          <p:cNvSpPr/>
          <p:nvPr/>
        </p:nvSpPr>
        <p:spPr>
          <a:xfrm>
            <a:off x="713232" y="5769864"/>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65099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Prepare for AI-901 using the dedicated certification module.</a:t>
            </a:r>
            <a:endParaRPr lang="en-US" sz="22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COURSE ORIENTATION</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AI Engineering?</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AI Engineering means building useful software that uses data and artificial intelligence.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 software engineer writes programs that solve problems.</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An AI engineer combines software, data, models, and responsible design.</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Our first step is Python: a language used throughout the course.</a:t>
            </a:r>
            <a:endParaRPr lang="en-US" sz="2250" dirty="0"/>
          </a:p>
        </p:txBody>
      </p:sp>
    </p:spTree>
    <p:extLst>
      <p:ext uri="{BB962C8B-B14F-4D97-AF65-F5344CB8AC3E}">
        <p14:creationId xmlns:p14="http://schemas.microsoft.com/office/powerpoint/2010/main" val="17563984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0"/>
            <a:ext cx="77724" cy="6858000"/>
          </a:xfrm>
          <a:prstGeom prst="rect">
            <a:avLst/>
          </a:prstGeom>
          <a:solidFill>
            <a:srgbClr val="008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75488" y="265176"/>
            <a:ext cx="5120640" cy="246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8E82"/>
                </a:solidFill>
                <a:effectLst/>
                <a:uLnTx/>
                <a:uFillTx/>
                <a:latin typeface="Aptos"/>
                <a:ea typeface="+mn-ea"/>
                <a:cs typeface="+mn-cs"/>
              </a:rPr>
              <a:t>AI ENGINEERING  /  WEEK 01  /  </a:t>
            </a:r>
            <a:r>
              <a:rPr kumimoji="0" lang="en-GB" sz="1100" b="1" i="0" u="none" strike="noStrike" kern="1200" cap="none" spc="0" normalizeH="0" baseline="0" noProof="0" dirty="0" smtClean="0">
                <a:ln>
                  <a:noFill/>
                </a:ln>
                <a:solidFill>
                  <a:srgbClr val="008E82"/>
                </a:solidFill>
                <a:effectLst/>
                <a:uLnTx/>
                <a:uFillTx/>
                <a:latin typeface="Aptos"/>
                <a:ea typeface="+mn-ea"/>
                <a:cs typeface="+mn-cs"/>
              </a:rPr>
              <a:t>SATURDAY</a:t>
            </a:r>
            <a:endParaRPr kumimoji="0" sz="1100" b="1" i="0" u="none" strike="noStrike" kern="1200" cap="none" spc="0" normalizeH="0" baseline="0" noProof="0" dirty="0">
              <a:ln>
                <a:noFill/>
              </a:ln>
              <a:solidFill>
                <a:srgbClr val="008E82"/>
              </a:solidFill>
              <a:effectLst/>
              <a:uLnTx/>
              <a:uFillTx/>
              <a:latin typeface="Aptos"/>
              <a:ea typeface="+mn-ea"/>
              <a:cs typeface="+mn-cs"/>
            </a:endParaRPr>
          </a:p>
        </p:txBody>
      </p:sp>
      <p:sp>
        <p:nvSpPr>
          <p:cNvPr id="5" name="TextBox 4"/>
          <p:cNvSpPr txBox="1"/>
          <p:nvPr/>
        </p:nvSpPr>
        <p:spPr>
          <a:xfrm>
            <a:off x="475488" y="640080"/>
            <a:ext cx="6492240" cy="53035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100" b="1" i="0" u="none" strike="noStrike" kern="1200" cap="none" spc="0" normalizeH="0" baseline="0" noProof="0">
                <a:ln>
                  <a:noFill/>
                </a:ln>
                <a:solidFill>
                  <a:srgbClr val="152B41"/>
                </a:solidFill>
                <a:effectLst/>
                <a:uLnTx/>
                <a:uFillTx/>
                <a:latin typeface="Aptos"/>
                <a:ea typeface="+mn-ea"/>
                <a:cs typeface="+mn-cs"/>
              </a:rPr>
              <a:t>Today's Agenda</a:t>
            </a:r>
          </a:p>
        </p:txBody>
      </p:sp>
      <p:sp>
        <p:nvSpPr>
          <p:cNvPr id="6" name="TextBox 5"/>
          <p:cNvSpPr txBox="1"/>
          <p:nvPr/>
        </p:nvSpPr>
        <p:spPr>
          <a:xfrm>
            <a:off x="475488" y="1225296"/>
            <a:ext cx="9144000" cy="34747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394C5D"/>
                </a:solidFill>
                <a:effectLst/>
                <a:uLnTx/>
                <a:uFillTx/>
                <a:latin typeface="Aptos"/>
                <a:ea typeface="+mn-ea"/>
                <a:cs typeface="+mn-cs"/>
              </a:rPr>
              <a:t>Python Programming Fundamentals  •  Learn the concept → See an example → Practise</a:t>
            </a:r>
          </a:p>
        </p:txBody>
      </p:sp>
      <p:sp>
        <p:nvSpPr>
          <p:cNvPr id="7" name="Rectangle 6"/>
          <p:cNvSpPr/>
          <p:nvPr/>
        </p:nvSpPr>
        <p:spPr>
          <a:xfrm>
            <a:off x="475488" y="1719072"/>
            <a:ext cx="11228832" cy="25603"/>
          </a:xfrm>
          <a:prstGeom prst="rect">
            <a:avLst/>
          </a:prstGeom>
          <a:solidFill>
            <a:srgbClr val="DA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ounded Rectangle 7"/>
          <p:cNvSpPr/>
          <p:nvPr/>
        </p:nvSpPr>
        <p:spPr>
          <a:xfrm>
            <a:off x="475488" y="1965960"/>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ounded Rectangle 8"/>
          <p:cNvSpPr/>
          <p:nvPr/>
        </p:nvSpPr>
        <p:spPr>
          <a:xfrm>
            <a:off x="585216" y="2121408"/>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76656" y="2258568"/>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01</a:t>
            </a:r>
          </a:p>
        </p:txBody>
      </p:sp>
      <p:sp>
        <p:nvSpPr>
          <p:cNvPr id="11" name="TextBox 10"/>
          <p:cNvSpPr txBox="1"/>
          <p:nvPr/>
        </p:nvSpPr>
        <p:spPr>
          <a:xfrm>
            <a:off x="1280160" y="2112264"/>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Course Orientation &amp; Azure AI</a:t>
            </a:r>
          </a:p>
        </p:txBody>
      </p:sp>
      <p:sp>
        <p:nvSpPr>
          <p:cNvPr id="12" name="TextBox 11"/>
          <p:cNvSpPr txBox="1"/>
          <p:nvPr/>
        </p:nvSpPr>
        <p:spPr>
          <a:xfrm>
            <a:off x="1280160" y="2505456"/>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394C5D"/>
                </a:solidFill>
                <a:effectLst/>
                <a:uLnTx/>
                <a:uFillTx/>
                <a:latin typeface="Aptos"/>
                <a:ea typeface="+mn-ea"/>
                <a:cs typeface="+mn-cs"/>
              </a:rPr>
              <a:t>AI Engineering roadmap and AI-901 goal</a:t>
            </a:r>
          </a:p>
        </p:txBody>
      </p:sp>
      <p:sp>
        <p:nvSpPr>
          <p:cNvPr id="13" name="Rounded Rectangle 12"/>
          <p:cNvSpPr/>
          <p:nvPr/>
        </p:nvSpPr>
        <p:spPr>
          <a:xfrm>
            <a:off x="475488" y="3081528"/>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ounded Rectangle 13"/>
          <p:cNvSpPr/>
          <p:nvPr/>
        </p:nvSpPr>
        <p:spPr>
          <a:xfrm>
            <a:off x="585216" y="3236976"/>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676656" y="3374136"/>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02</a:t>
            </a:r>
          </a:p>
        </p:txBody>
      </p:sp>
      <p:sp>
        <p:nvSpPr>
          <p:cNvPr id="16" name="TextBox 15"/>
          <p:cNvSpPr txBox="1"/>
          <p:nvPr/>
        </p:nvSpPr>
        <p:spPr>
          <a:xfrm>
            <a:off x="1280160" y="3227832"/>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Introduction to Python</a:t>
            </a:r>
          </a:p>
        </p:txBody>
      </p:sp>
      <p:sp>
        <p:nvSpPr>
          <p:cNvPr id="17" name="TextBox 16"/>
          <p:cNvSpPr txBox="1"/>
          <p:nvPr/>
        </p:nvSpPr>
        <p:spPr>
          <a:xfrm>
            <a:off x="1280160" y="3621024"/>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394C5D"/>
                </a:solidFill>
                <a:effectLst/>
                <a:uLnTx/>
                <a:uFillTx/>
                <a:latin typeface="Aptos"/>
                <a:ea typeface="+mn-ea"/>
                <a:cs typeface="+mn-cs"/>
              </a:rPr>
              <a:t>Programming basics, syntax and print()</a:t>
            </a:r>
          </a:p>
        </p:txBody>
      </p:sp>
      <p:sp>
        <p:nvSpPr>
          <p:cNvPr id="18" name="Rounded Rectangle 17"/>
          <p:cNvSpPr/>
          <p:nvPr/>
        </p:nvSpPr>
        <p:spPr>
          <a:xfrm>
            <a:off x="475488" y="4197096"/>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ounded Rectangle 18"/>
          <p:cNvSpPr/>
          <p:nvPr/>
        </p:nvSpPr>
        <p:spPr>
          <a:xfrm>
            <a:off x="585216" y="4352544"/>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76656" y="4489704"/>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03</a:t>
            </a:r>
          </a:p>
        </p:txBody>
      </p:sp>
      <p:sp>
        <p:nvSpPr>
          <p:cNvPr id="21" name="TextBox 20"/>
          <p:cNvSpPr txBox="1"/>
          <p:nvPr/>
        </p:nvSpPr>
        <p:spPr>
          <a:xfrm>
            <a:off x="1280160" y="4343400"/>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Variables, Data Types &amp; Input</a:t>
            </a:r>
          </a:p>
        </p:txBody>
      </p:sp>
      <p:sp>
        <p:nvSpPr>
          <p:cNvPr id="22" name="TextBox 21"/>
          <p:cNvSpPr txBox="1"/>
          <p:nvPr/>
        </p:nvSpPr>
        <p:spPr>
          <a:xfrm>
            <a:off x="1280160" y="4736592"/>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394C5D"/>
                </a:solidFill>
                <a:effectLst/>
                <a:uLnTx/>
                <a:uFillTx/>
                <a:latin typeface="Aptos"/>
                <a:ea typeface="+mn-ea"/>
                <a:cs typeface="+mn-cs"/>
              </a:rPr>
              <a:t>Variables, input(), comments and type casting</a:t>
            </a:r>
          </a:p>
        </p:txBody>
      </p:sp>
      <p:sp>
        <p:nvSpPr>
          <p:cNvPr id="23" name="Rounded Rectangle 22"/>
          <p:cNvSpPr/>
          <p:nvPr/>
        </p:nvSpPr>
        <p:spPr>
          <a:xfrm>
            <a:off x="475488" y="5312664"/>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ounded Rectangle 23"/>
          <p:cNvSpPr/>
          <p:nvPr/>
        </p:nvSpPr>
        <p:spPr>
          <a:xfrm>
            <a:off x="585216" y="5468112"/>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676656" y="5605272"/>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04</a:t>
            </a:r>
          </a:p>
        </p:txBody>
      </p:sp>
      <p:sp>
        <p:nvSpPr>
          <p:cNvPr id="26" name="TextBox 25"/>
          <p:cNvSpPr txBox="1"/>
          <p:nvPr/>
        </p:nvSpPr>
        <p:spPr>
          <a:xfrm>
            <a:off x="1280160" y="5458968"/>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Strings &amp; Operators</a:t>
            </a:r>
          </a:p>
        </p:txBody>
      </p:sp>
      <p:sp>
        <p:nvSpPr>
          <p:cNvPr id="27" name="TextBox 26"/>
          <p:cNvSpPr txBox="1"/>
          <p:nvPr/>
        </p:nvSpPr>
        <p:spPr>
          <a:xfrm>
            <a:off x="1280160" y="5852159"/>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394C5D"/>
                </a:solidFill>
                <a:effectLst/>
                <a:uLnTx/>
                <a:uFillTx/>
                <a:latin typeface="Aptos"/>
                <a:ea typeface="+mn-ea"/>
                <a:cs typeface="+mn-cs"/>
              </a:rPr>
              <a:t>String methods, arithmetic and comparisons</a:t>
            </a:r>
          </a:p>
        </p:txBody>
      </p:sp>
      <p:sp>
        <p:nvSpPr>
          <p:cNvPr id="28" name="Rounded Rectangle 27"/>
          <p:cNvSpPr/>
          <p:nvPr/>
        </p:nvSpPr>
        <p:spPr>
          <a:xfrm>
            <a:off x="6172200" y="1965960"/>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ounded Rectangle 28"/>
          <p:cNvSpPr/>
          <p:nvPr/>
        </p:nvSpPr>
        <p:spPr>
          <a:xfrm>
            <a:off x="6281928" y="2121408"/>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6373368" y="2258568"/>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05</a:t>
            </a:r>
          </a:p>
        </p:txBody>
      </p:sp>
      <p:sp>
        <p:nvSpPr>
          <p:cNvPr id="31" name="TextBox 30"/>
          <p:cNvSpPr txBox="1"/>
          <p:nvPr/>
        </p:nvSpPr>
        <p:spPr>
          <a:xfrm>
            <a:off x="6976872" y="2112264"/>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Conditional Statements</a:t>
            </a:r>
          </a:p>
        </p:txBody>
      </p:sp>
      <p:sp>
        <p:nvSpPr>
          <p:cNvPr id="32" name="TextBox 31"/>
          <p:cNvSpPr txBox="1"/>
          <p:nvPr/>
        </p:nvSpPr>
        <p:spPr>
          <a:xfrm>
            <a:off x="6976872" y="2505456"/>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394C5D"/>
                </a:solidFill>
                <a:effectLst/>
                <a:uLnTx/>
                <a:uFillTx/>
                <a:latin typeface="Aptos"/>
                <a:ea typeface="+mn-ea"/>
                <a:cs typeface="+mn-cs"/>
              </a:rPr>
              <a:t>if, elif, else and a basic calculator</a:t>
            </a:r>
          </a:p>
        </p:txBody>
      </p:sp>
      <p:sp>
        <p:nvSpPr>
          <p:cNvPr id="33" name="Rounded Rectangle 32"/>
          <p:cNvSpPr/>
          <p:nvPr/>
        </p:nvSpPr>
        <p:spPr>
          <a:xfrm>
            <a:off x="6172200" y="3081528"/>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Rounded Rectangle 33"/>
          <p:cNvSpPr/>
          <p:nvPr/>
        </p:nvSpPr>
        <p:spPr>
          <a:xfrm>
            <a:off x="6281928" y="3236976"/>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4"/>
          <p:cNvSpPr txBox="1"/>
          <p:nvPr/>
        </p:nvSpPr>
        <p:spPr>
          <a:xfrm>
            <a:off x="6373368" y="3374136"/>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06</a:t>
            </a:r>
          </a:p>
        </p:txBody>
      </p:sp>
      <p:sp>
        <p:nvSpPr>
          <p:cNvPr id="36" name="TextBox 35"/>
          <p:cNvSpPr txBox="1"/>
          <p:nvPr/>
        </p:nvSpPr>
        <p:spPr>
          <a:xfrm>
            <a:off x="6976872" y="3227832"/>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Loops &amp; Repetition</a:t>
            </a:r>
          </a:p>
        </p:txBody>
      </p:sp>
      <p:sp>
        <p:nvSpPr>
          <p:cNvPr id="37" name="TextBox 36"/>
          <p:cNvSpPr txBox="1"/>
          <p:nvPr/>
        </p:nvSpPr>
        <p:spPr>
          <a:xfrm>
            <a:off x="6976872" y="3621024"/>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dirty="0">
                <a:ln>
                  <a:noFill/>
                </a:ln>
                <a:solidFill>
                  <a:srgbClr val="394C5D"/>
                </a:solidFill>
                <a:effectLst/>
                <a:uLnTx/>
                <a:uFillTx/>
                <a:latin typeface="Aptos"/>
                <a:ea typeface="+mn-ea"/>
                <a:cs typeface="+mn-cs"/>
              </a:rPr>
              <a:t>for, while, range(), break and continue</a:t>
            </a:r>
          </a:p>
        </p:txBody>
      </p:sp>
      <p:sp>
        <p:nvSpPr>
          <p:cNvPr id="38" name="Rounded Rectangle 37"/>
          <p:cNvSpPr/>
          <p:nvPr/>
        </p:nvSpPr>
        <p:spPr>
          <a:xfrm>
            <a:off x="6172200" y="4197096"/>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ounded Rectangle 38"/>
          <p:cNvSpPr/>
          <p:nvPr/>
        </p:nvSpPr>
        <p:spPr>
          <a:xfrm>
            <a:off x="6281928" y="4352544"/>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TextBox 39"/>
          <p:cNvSpPr txBox="1"/>
          <p:nvPr/>
        </p:nvSpPr>
        <p:spPr>
          <a:xfrm>
            <a:off x="6373368" y="4489704"/>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07</a:t>
            </a:r>
          </a:p>
        </p:txBody>
      </p:sp>
      <p:sp>
        <p:nvSpPr>
          <p:cNvPr id="41" name="TextBox 40"/>
          <p:cNvSpPr txBox="1"/>
          <p:nvPr/>
        </p:nvSpPr>
        <p:spPr>
          <a:xfrm>
            <a:off x="6976872" y="4343400"/>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Python </a:t>
            </a:r>
            <a:r>
              <a:rPr lang="en-US" b="1" dirty="0" smtClean="0">
                <a:solidFill>
                  <a:srgbClr val="152B41"/>
                </a:solidFill>
                <a:latin typeface="Aptos"/>
              </a:rPr>
              <a:t>Data Structure (commonly used)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srgbClr val="152B41"/>
              </a:solidFill>
              <a:effectLst/>
              <a:uLnTx/>
              <a:uFillTx/>
              <a:latin typeface="Aptos"/>
              <a:ea typeface="+mn-ea"/>
              <a:cs typeface="+mn-cs"/>
            </a:endParaRPr>
          </a:p>
        </p:txBody>
      </p:sp>
      <p:sp>
        <p:nvSpPr>
          <p:cNvPr id="42" name="TextBox 41"/>
          <p:cNvSpPr txBox="1"/>
          <p:nvPr/>
        </p:nvSpPr>
        <p:spPr>
          <a:xfrm>
            <a:off x="6976872" y="4736592"/>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394C5D"/>
                </a:solidFill>
                <a:effectLst/>
                <a:uLnTx/>
                <a:uFillTx/>
                <a:latin typeface="Aptos"/>
                <a:ea typeface="+mn-ea"/>
                <a:cs typeface="+mn-cs"/>
              </a:rPr>
              <a:t>Lists, tuples, sets and dictionaries</a:t>
            </a:r>
          </a:p>
        </p:txBody>
      </p:sp>
      <p:sp>
        <p:nvSpPr>
          <p:cNvPr id="43" name="Rounded Rectangle 42"/>
          <p:cNvSpPr/>
          <p:nvPr/>
        </p:nvSpPr>
        <p:spPr>
          <a:xfrm>
            <a:off x="6172200" y="5312664"/>
            <a:ext cx="5532120" cy="969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ounded Rectangle 43"/>
          <p:cNvSpPr/>
          <p:nvPr/>
        </p:nvSpPr>
        <p:spPr>
          <a:xfrm>
            <a:off x="6281928" y="5468112"/>
            <a:ext cx="530352" cy="530352"/>
          </a:xfrm>
          <a:prstGeom prst="roundRect">
            <a:avLst>
              <a:gd name="adj" fmla="val 12000"/>
            </a:avLst>
          </a:prstGeom>
          <a:solidFill>
            <a:srgbClr val="E4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TextBox 44"/>
          <p:cNvSpPr txBox="1"/>
          <p:nvPr/>
        </p:nvSpPr>
        <p:spPr>
          <a:xfrm>
            <a:off x="6373368" y="5605272"/>
            <a:ext cx="365760" cy="274320"/>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8E82"/>
                </a:solidFill>
                <a:effectLst/>
                <a:uLnTx/>
                <a:uFillTx/>
                <a:latin typeface="Aptos"/>
                <a:ea typeface="+mn-ea"/>
                <a:cs typeface="+mn-cs"/>
              </a:rPr>
              <a:t>08</a:t>
            </a:r>
          </a:p>
        </p:txBody>
      </p:sp>
      <p:sp>
        <p:nvSpPr>
          <p:cNvPr id="46" name="TextBox 45"/>
          <p:cNvSpPr txBox="1"/>
          <p:nvPr/>
        </p:nvSpPr>
        <p:spPr>
          <a:xfrm>
            <a:off x="6976872" y="5458968"/>
            <a:ext cx="4581144" cy="32918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52B41"/>
                </a:solidFill>
                <a:effectLst/>
                <a:uLnTx/>
                <a:uFillTx/>
                <a:latin typeface="Aptos"/>
                <a:ea typeface="+mn-ea"/>
                <a:cs typeface="+mn-cs"/>
              </a:rPr>
              <a:t>Functions &amp; Guided Practice</a:t>
            </a:r>
          </a:p>
        </p:txBody>
      </p:sp>
      <p:sp>
        <p:nvSpPr>
          <p:cNvPr id="47" name="TextBox 46"/>
          <p:cNvSpPr txBox="1"/>
          <p:nvPr/>
        </p:nvSpPr>
        <p:spPr>
          <a:xfrm>
            <a:off x="6976872" y="5852159"/>
            <a:ext cx="4599431" cy="2560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dirty="0">
                <a:ln>
                  <a:noFill/>
                </a:ln>
                <a:solidFill>
                  <a:srgbClr val="394C5D"/>
                </a:solidFill>
                <a:effectLst/>
                <a:uLnTx/>
                <a:uFillTx/>
                <a:latin typeface="Aptos"/>
                <a:ea typeface="+mn-ea"/>
                <a:cs typeface="+mn-cs"/>
              </a:rPr>
              <a:t>Parameters, return, built-ins and math module</a:t>
            </a:r>
          </a:p>
        </p:txBody>
      </p:sp>
      <p:sp>
        <p:nvSpPr>
          <p:cNvPr id="48" name="Rectangle 47"/>
          <p:cNvSpPr/>
          <p:nvPr/>
        </p:nvSpPr>
        <p:spPr>
          <a:xfrm>
            <a:off x="475488" y="6519672"/>
            <a:ext cx="11228832" cy="12801"/>
          </a:xfrm>
          <a:prstGeom prst="rect">
            <a:avLst/>
          </a:prstGeom>
          <a:solidFill>
            <a:srgbClr val="DA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TextBox 48"/>
          <p:cNvSpPr txBox="1"/>
          <p:nvPr/>
        </p:nvSpPr>
        <p:spPr>
          <a:xfrm>
            <a:off x="475488" y="6565392"/>
            <a:ext cx="9144000" cy="182880"/>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smtClean="0">
                <a:ln>
                  <a:noFill/>
                </a:ln>
                <a:solidFill>
                  <a:srgbClr val="5B6E80"/>
                </a:solidFill>
                <a:effectLst/>
                <a:uLnTx/>
                <a:uFillTx/>
                <a:latin typeface="Aptos"/>
                <a:ea typeface="+mn-ea"/>
                <a:cs typeface="+mn-cs"/>
              </a:rPr>
              <a:t>SATURDAY</a:t>
            </a:r>
            <a:r>
              <a:rPr kumimoji="0" sz="1000" b="0" i="0" u="none" strike="noStrike" kern="1200" cap="none" spc="0" normalizeH="0" baseline="0" noProof="0" dirty="0" smtClean="0">
                <a:ln>
                  <a:noFill/>
                </a:ln>
                <a:solidFill>
                  <a:srgbClr val="5B6E80"/>
                </a:solidFill>
                <a:effectLst/>
                <a:uLnTx/>
                <a:uFillTx/>
                <a:latin typeface="Aptos"/>
                <a:ea typeface="+mn-ea"/>
                <a:cs typeface="+mn-cs"/>
              </a:rPr>
              <a:t>  </a:t>
            </a:r>
            <a:r>
              <a:rPr kumimoji="0" sz="1000" b="0" i="0" u="none" strike="noStrike" kern="1200" cap="none" spc="0" normalizeH="0" baseline="0" noProof="0" dirty="0">
                <a:ln>
                  <a:noFill/>
                </a:ln>
                <a:solidFill>
                  <a:srgbClr val="5B6E80"/>
                </a:solidFill>
                <a:effectLst/>
                <a:uLnTx/>
                <a:uFillTx/>
                <a:latin typeface="Aptos"/>
                <a:ea typeface="+mn-ea"/>
                <a:cs typeface="+mn-cs"/>
              </a:rPr>
              <a:t>•  FOUNDATIONS FIRST, HANDS-ON PRACTICE THROUGHOUT</a:t>
            </a:r>
          </a:p>
        </p:txBody>
      </p:sp>
    </p:spTree>
    <p:extLst>
      <p:ext uri="{BB962C8B-B14F-4D97-AF65-F5344CB8AC3E}">
        <p14:creationId xmlns:p14="http://schemas.microsoft.com/office/powerpoint/2010/main" val="1007248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B5F1D6"/>
          </a:solidFill>
          <a:ln w="12700">
            <a:solidFill>
              <a:srgbClr val="B5F1D6">
                <a:alpha val="0"/>
              </a:srgbClr>
            </a:solidFill>
            <a:prstDash val="solid"/>
          </a:ln>
        </p:spPr>
      </p:sp>
      <p:sp>
        <p:nvSpPr>
          <p:cNvPr id="3" name="Shape 1"/>
          <p:cNvSpPr/>
          <p:nvPr/>
        </p:nvSpPr>
        <p:spPr>
          <a:xfrm>
            <a:off x="749808" y="950976"/>
            <a:ext cx="2103120" cy="429768"/>
          </a:xfrm>
          <a:prstGeom prst="roundRect">
            <a:avLst>
              <a:gd name="adj" fmla="val 34043"/>
            </a:avLst>
          </a:prstGeom>
          <a:solidFill>
            <a:srgbClr val="008C80"/>
          </a:solidFill>
          <a:ln w="12700">
            <a:solidFill>
              <a:srgbClr val="008C80">
                <a:alpha val="0"/>
              </a:srgbClr>
            </a:solidFill>
            <a:prstDash val="solid"/>
          </a:ln>
        </p:spPr>
      </p:sp>
      <p:sp>
        <p:nvSpPr>
          <p:cNvPr id="4" name="Text 2"/>
          <p:cNvSpPr/>
          <p:nvPr/>
        </p:nvSpPr>
        <p:spPr>
          <a:xfrm>
            <a:off x="905256" y="1051560"/>
            <a:ext cx="1773936" cy="210312"/>
          </a:xfrm>
          <a:prstGeom prst="rect">
            <a:avLst/>
          </a:prstGeom>
          <a:noFill/>
          <a:ln/>
        </p:spPr>
        <p:txBody>
          <a:bodyPr wrap="square" lIns="0" tIns="0" rIns="0" bIns="0" rtlCol="0" anchor="ctr">
            <a:normAutofit/>
          </a:bodyPr>
          <a:lstStyle/>
          <a:p>
            <a:pPr marL="0" indent="0" algn="ctr">
              <a:buNone/>
            </a:pPr>
            <a:r>
              <a:rPr lang="en-US" sz="1200" b="1" dirty="0" smtClean="0">
                <a:solidFill>
                  <a:srgbClr val="FFFFFF"/>
                </a:solidFill>
                <a:latin typeface="Aptos" pitchFamily="34" charset="0"/>
                <a:ea typeface="Aptos" pitchFamily="34" charset="-122"/>
                <a:cs typeface="Aptos" pitchFamily="34" charset="-120"/>
              </a:rPr>
              <a:t>SATURDAY </a:t>
            </a:r>
            <a:r>
              <a:rPr lang="en-US" sz="1200" b="1" dirty="0">
                <a:solidFill>
                  <a:srgbClr val="FFFFFF"/>
                </a:solidFill>
                <a:latin typeface="Aptos" pitchFamily="34" charset="0"/>
                <a:ea typeface="Aptos" pitchFamily="34" charset="-122"/>
                <a:cs typeface="Aptos" pitchFamily="34" charset="-120"/>
              </a:rPr>
              <a:t>· WEEK 01</a:t>
            </a:r>
            <a:endParaRPr lang="en-US" sz="1200" dirty="0"/>
          </a:p>
        </p:txBody>
      </p:sp>
      <p:sp>
        <p:nvSpPr>
          <p:cNvPr id="5" name="Text 3"/>
          <p:cNvSpPr/>
          <p:nvPr/>
        </p:nvSpPr>
        <p:spPr>
          <a:xfrm>
            <a:off x="749808" y="1847088"/>
            <a:ext cx="10698480" cy="2121408"/>
          </a:xfrm>
          <a:prstGeom prst="rect">
            <a:avLst/>
          </a:prstGeom>
          <a:noFill/>
          <a:ln/>
        </p:spPr>
        <p:txBody>
          <a:bodyPr wrap="square" lIns="0" tIns="0" rIns="0" bIns="0" rtlCol="0" anchor="t">
            <a:normAutofit/>
          </a:bodyPr>
          <a:lstStyle/>
          <a:p>
            <a:pPr marL="0" indent="0" algn="l">
              <a:buNone/>
            </a:pPr>
            <a:r>
              <a:rPr lang="en-US" sz="5000" b="1" dirty="0" smtClean="0">
                <a:solidFill>
                  <a:srgbClr val="FFFFFF"/>
                </a:solidFill>
                <a:latin typeface="Aptos" pitchFamily="34" charset="0"/>
                <a:ea typeface="Aptos" pitchFamily="34" charset="-122"/>
                <a:cs typeface="Aptos" pitchFamily="34" charset="-120"/>
              </a:rPr>
              <a:t>PYTHON PROGRAMMING</a:t>
            </a:r>
          </a:p>
        </p:txBody>
      </p:sp>
      <p:sp>
        <p:nvSpPr>
          <p:cNvPr id="6" name="Shape 4"/>
          <p:cNvSpPr/>
          <p:nvPr/>
        </p:nvSpPr>
        <p:spPr>
          <a:xfrm>
            <a:off x="777240" y="4636008"/>
            <a:ext cx="10607040" cy="22860"/>
          </a:xfrm>
          <a:prstGeom prst="rect">
            <a:avLst/>
          </a:prstGeom>
          <a:solidFill>
            <a:srgbClr val="3E6570"/>
          </a:solidFill>
          <a:ln w="12700">
            <a:solidFill>
              <a:srgbClr val="3E6570">
                <a:alpha val="0"/>
              </a:srgbClr>
            </a:solidFill>
            <a:prstDash val="solid"/>
          </a:ln>
        </p:spPr>
      </p:sp>
      <p:sp>
        <p:nvSpPr>
          <p:cNvPr id="7" name="Text 5"/>
          <p:cNvSpPr/>
          <p:nvPr/>
        </p:nvSpPr>
        <p:spPr>
          <a:xfrm>
            <a:off x="777240" y="4837176"/>
            <a:ext cx="10012680" cy="603504"/>
          </a:xfrm>
          <a:prstGeom prst="rect">
            <a:avLst/>
          </a:prstGeom>
          <a:noFill/>
          <a:ln/>
        </p:spPr>
        <p:txBody>
          <a:bodyPr wrap="square" lIns="0" tIns="0" rIns="0" bIns="0" rtlCol="0" anchor="ctr">
            <a:normAutofit lnSpcReduction="10000"/>
          </a:bodyPr>
          <a:lstStyle/>
          <a:p>
            <a:pPr marL="0" indent="0" algn="l">
              <a:buNone/>
            </a:pPr>
            <a:r>
              <a:rPr lang="en-US" sz="2080" dirty="0" smtClean="0">
                <a:solidFill>
                  <a:srgbClr val="C6E2E0"/>
                </a:solidFill>
                <a:latin typeface="Aptos" pitchFamily="34" charset="0"/>
                <a:ea typeface="Aptos" pitchFamily="34" charset="-122"/>
                <a:cs typeface="Aptos" pitchFamily="34" charset="-120"/>
              </a:rPr>
              <a:t>SATURDAY </a:t>
            </a:r>
            <a:r>
              <a:rPr lang="en-US" sz="2080" dirty="0">
                <a:solidFill>
                  <a:srgbClr val="C6E2E0"/>
                </a:solidFill>
                <a:latin typeface="Aptos" pitchFamily="34" charset="0"/>
                <a:ea typeface="Aptos" pitchFamily="34" charset="-122"/>
                <a:cs typeface="Aptos" pitchFamily="34" charset="-120"/>
              </a:rPr>
              <a:t>| AI ENGINEERING FOUNDATION  •  CONCEPT → SYNTAX → EXAMPLE → PRACTICE</a:t>
            </a:r>
            <a:endParaRPr lang="en-US" sz="2080" dirty="0"/>
          </a:p>
        </p:txBody>
      </p:sp>
      <p:sp>
        <p:nvSpPr>
          <p:cNvPr id="8" name="Text 6"/>
          <p:cNvSpPr/>
          <p:nvPr/>
        </p:nvSpPr>
        <p:spPr>
          <a:xfrm>
            <a:off x="777240" y="6144768"/>
            <a:ext cx="10607040" cy="274320"/>
          </a:xfrm>
          <a:prstGeom prst="rect">
            <a:avLst/>
          </a:prstGeom>
          <a:noFill/>
          <a:ln/>
        </p:spPr>
        <p:txBody>
          <a:bodyPr wrap="square" lIns="0" tIns="0" rIns="0" bIns="0" rtlCol="0" anchor="ctr">
            <a:normAutofit/>
          </a:bodyPr>
          <a:lstStyle/>
          <a:p>
            <a:pPr marL="0" indent="0" algn="l">
              <a:buNone/>
            </a:pPr>
            <a:r>
              <a:rPr lang="en-US" sz="1300" dirty="0" smtClean="0">
                <a:solidFill>
                  <a:srgbClr val="8FAEBD"/>
                </a:solidFill>
                <a:latin typeface="Aptos" pitchFamily="34" charset="0"/>
                <a:ea typeface="Aptos" pitchFamily="34" charset="-122"/>
                <a:cs typeface="Aptos" pitchFamily="34" charset="-120"/>
              </a:rPr>
              <a:t>Prepared By : </a:t>
            </a:r>
            <a:r>
              <a:rPr lang="en-US" sz="1300" dirty="0" err="1" smtClean="0">
                <a:solidFill>
                  <a:srgbClr val="8FAEBD"/>
                </a:solidFill>
                <a:latin typeface="Aptos" pitchFamily="34" charset="0"/>
                <a:ea typeface="Aptos" pitchFamily="34" charset="-122"/>
                <a:cs typeface="Aptos" pitchFamily="34" charset="-120"/>
              </a:rPr>
              <a:t>Zubair</a:t>
            </a:r>
            <a:r>
              <a:rPr lang="en-US" sz="1300" dirty="0" smtClean="0">
                <a:solidFill>
                  <a:srgbClr val="8FAEBD"/>
                </a:solidFill>
                <a:latin typeface="Aptos" pitchFamily="34" charset="0"/>
                <a:ea typeface="Aptos" pitchFamily="34" charset="-122"/>
                <a:cs typeface="Aptos" pitchFamily="34" charset="-120"/>
              </a:rPr>
              <a:t> </a:t>
            </a:r>
            <a:r>
              <a:rPr lang="en-US" sz="1300" dirty="0" err="1" smtClean="0">
                <a:solidFill>
                  <a:srgbClr val="8FAEBD"/>
                </a:solidFill>
                <a:latin typeface="Aptos" pitchFamily="34" charset="0"/>
                <a:ea typeface="Aptos" pitchFamily="34" charset="-122"/>
                <a:cs typeface="Aptos" pitchFamily="34" charset="-120"/>
              </a:rPr>
              <a:t>Mehmood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COURSE ORIENTATION</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How </a:t>
            </a:r>
            <a:r>
              <a:rPr lang="en-US" sz="3100" b="1" dirty="0" smtClean="0">
                <a:solidFill>
                  <a:srgbClr val="14283E"/>
                </a:solidFill>
                <a:latin typeface="Aptos" pitchFamily="34" charset="0"/>
                <a:ea typeface="Aptos" pitchFamily="34" charset="-122"/>
                <a:cs typeface="Aptos" pitchFamily="34" charset="-120"/>
              </a:rPr>
              <a:t>SATURDAY </a:t>
            </a:r>
            <a:r>
              <a:rPr lang="en-US" sz="3100" b="1" dirty="0">
                <a:solidFill>
                  <a:srgbClr val="14283E"/>
                </a:solidFill>
                <a:latin typeface="Aptos" pitchFamily="34" charset="0"/>
                <a:ea typeface="Aptos" pitchFamily="34" charset="-122"/>
                <a:cs typeface="Aptos" pitchFamily="34" charset="-120"/>
              </a:rPr>
              <a:t>Works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Each topic follows the same teaching sequence.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1  CONCEPT: What does it mean? Why do we use it?</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2  SYNTAX: What does Python expect us to write?</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3  EXAMPLE: Run a short program and understand its output.</a:t>
            </a:r>
            <a:endParaRPr lang="en-US" sz="2250" dirty="0"/>
          </a:p>
        </p:txBody>
      </p:sp>
      <p:sp>
        <p:nvSpPr>
          <p:cNvPr id="17" name="Shape 15"/>
          <p:cNvSpPr/>
          <p:nvPr/>
        </p:nvSpPr>
        <p:spPr>
          <a:xfrm>
            <a:off x="713232" y="5568696"/>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449824"/>
            <a:ext cx="10543032" cy="585216"/>
          </a:xfrm>
          <a:prstGeom prst="rect">
            <a:avLst/>
          </a:prstGeom>
          <a:noFill/>
          <a:ln/>
        </p:spPr>
        <p:txBody>
          <a:bodyPr wrap="square" lIns="0" tIns="0" rIns="0" bIns="0" rtlCol="0" anchor="ctr">
            <a:normAutofit/>
          </a:bodyPr>
          <a:lstStyle/>
          <a:p>
            <a:pPr marL="0" indent="0" algn="l">
              <a:buNone/>
            </a:pPr>
            <a:r>
              <a:rPr lang="en-US" sz="2250" dirty="0" smtClean="0">
                <a:solidFill>
                  <a:srgbClr val="253449"/>
                </a:solidFill>
                <a:latin typeface="Aptos" pitchFamily="34" charset="0"/>
                <a:ea typeface="Aptos" pitchFamily="34" charset="-122"/>
                <a:cs typeface="Aptos" pitchFamily="34" charset="-120"/>
              </a:rPr>
              <a:t>4  PRACTICE</a:t>
            </a:r>
            <a:r>
              <a:rPr lang="en-US" sz="2250" dirty="0">
                <a:solidFill>
                  <a:srgbClr val="253449"/>
                </a:solidFill>
                <a:latin typeface="Aptos" pitchFamily="34" charset="0"/>
                <a:ea typeface="Aptos" pitchFamily="34" charset="-122"/>
                <a:cs typeface="Aptos" pitchFamily="34" charset="-120"/>
              </a:rPr>
              <a:t>: Try a small change or solve a problem yourself.</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Why learn Python first?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Python is a general-purpose programming language known for readable syntax.</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Code instructions run in sequence, from top to bottom.</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It is useful for automation, data analysis, AI, and software projects.</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 start with a five-line program and gradually build more.</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program?</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program is a set of instructions a computer follows</a:t>
            </a:r>
            <a:r>
              <a:rPr lang="en-US" sz="2300" b="1" dirty="0" smtClean="0">
                <a:solidFill>
                  <a:srgbClr val="14283E"/>
                </a:solidFill>
                <a:latin typeface="Aptos" pitchFamily="34" charset="0"/>
                <a:ea typeface="Aptos" pitchFamily="34" charset="-122"/>
                <a:cs typeface="Aptos" pitchFamily="34" charset="-120"/>
              </a:rPr>
              <a:t>. It helps computer to understand what to do and how to do it.</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INPUT: data a user or program provides.</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PROCESS: calculation, decision, or another operation.</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OUTPUT: the result shown or saved.</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Prepare Your Python Workspace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We need Python installed and a place to write code.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Install Python 3 from python.org (or use your classroom Python environment).</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Open VS Code, IDLE, or another simple Python editor.</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Create and save a file named hello.py.</a:t>
            </a:r>
            <a:endParaRPr lang="en-US" sz="2250" dirty="0"/>
          </a:p>
        </p:txBody>
      </p:sp>
      <p:sp>
        <p:nvSpPr>
          <p:cNvPr id="17" name="Shape 15"/>
          <p:cNvSpPr/>
          <p:nvPr/>
        </p:nvSpPr>
        <p:spPr>
          <a:xfrm>
            <a:off x="713232" y="5367528"/>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24865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Run it with python hello.py (or python3 hello.py where needed).</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Your First Python Program</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print("Hello, World!")</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print("I am learning Python.")</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Hello, World!</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I am learning Python.</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print() displays a message on the screen.</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9923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Python runs these two lines in order.</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FFBC56"/>
          </a:solidFill>
          <a:ln w="12700">
            <a:solidFill>
              <a:srgbClr val="FFBC56">
                <a:alpha val="0"/>
              </a:srgbClr>
            </a:solidFill>
            <a:prstDash val="solid"/>
          </a:ln>
        </p:spPr>
      </p:sp>
      <p:sp>
        <p:nvSpPr>
          <p:cNvPr id="3" name="Text 1"/>
          <p:cNvSpPr/>
          <p:nvPr/>
        </p:nvSpPr>
        <p:spPr>
          <a:xfrm>
            <a:off x="950976" y="1133856"/>
            <a:ext cx="8595360" cy="448056"/>
          </a:xfrm>
          <a:prstGeom prst="rect">
            <a:avLst/>
          </a:prstGeom>
          <a:noFill/>
          <a:ln/>
        </p:spPr>
        <p:txBody>
          <a:bodyPr wrap="square" lIns="0" tIns="0" rIns="0" bIns="0" rtlCol="0" anchor="ctr">
            <a:normAutofit/>
          </a:bodyPr>
          <a:lstStyle/>
          <a:p>
            <a:pPr marL="0" indent="0" algn="l">
              <a:buNone/>
            </a:pPr>
            <a:r>
              <a:rPr lang="en-US" sz="1900" b="1" kern="0" spc="200" dirty="0">
                <a:solidFill>
                  <a:srgbClr val="FFBC56"/>
                </a:solidFill>
                <a:latin typeface="Aptos" pitchFamily="34" charset="0"/>
                <a:ea typeface="Aptos" pitchFamily="34" charset="-122"/>
                <a:cs typeface="Aptos" pitchFamily="34" charset="-120"/>
              </a:rPr>
              <a:t>PYTHON PART 1</a:t>
            </a:r>
            <a:endParaRPr lang="en-US" sz="1900" dirty="0"/>
          </a:p>
        </p:txBody>
      </p:sp>
      <p:sp>
        <p:nvSpPr>
          <p:cNvPr id="4" name="Text 2"/>
          <p:cNvSpPr/>
          <p:nvPr/>
        </p:nvSpPr>
        <p:spPr>
          <a:xfrm>
            <a:off x="950976" y="2002536"/>
            <a:ext cx="10195560" cy="1554480"/>
          </a:xfrm>
          <a:prstGeom prst="rect">
            <a:avLst/>
          </a:prstGeom>
          <a:noFill/>
          <a:ln/>
        </p:spPr>
        <p:txBody>
          <a:bodyPr wrap="square" lIns="0" tIns="0" rIns="0" bIns="0" rtlCol="0" anchor="t">
            <a:normAutofit/>
          </a:bodyPr>
          <a:lstStyle/>
          <a:p>
            <a:pPr marL="0" indent="0" algn="l">
              <a:buNone/>
            </a:pPr>
            <a:r>
              <a:rPr lang="en-US" sz="4500" b="1" dirty="0">
                <a:solidFill>
                  <a:srgbClr val="FFFFFF"/>
                </a:solidFill>
                <a:latin typeface="Aptos" pitchFamily="34" charset="0"/>
                <a:ea typeface="Aptos" pitchFamily="34" charset="-122"/>
                <a:cs typeface="Aptos" pitchFamily="34" charset="-120"/>
              </a:rPr>
              <a:t>Output, Variables, Input &amp; Comments</a:t>
            </a:r>
            <a:endParaRPr lang="en-US" sz="4500" dirty="0"/>
          </a:p>
        </p:txBody>
      </p:sp>
      <p:sp>
        <p:nvSpPr>
          <p:cNvPr id="5" name="Shape 3"/>
          <p:cNvSpPr/>
          <p:nvPr/>
        </p:nvSpPr>
        <p:spPr>
          <a:xfrm>
            <a:off x="960120" y="4187952"/>
            <a:ext cx="7863840" cy="27432"/>
          </a:xfrm>
          <a:prstGeom prst="rect">
            <a:avLst/>
          </a:prstGeom>
          <a:solidFill>
            <a:srgbClr val="416273"/>
          </a:solidFill>
          <a:ln w="12700">
            <a:solidFill>
              <a:srgbClr val="416273">
                <a:alpha val="0"/>
              </a:srgbClr>
            </a:solidFill>
            <a:prstDash val="solid"/>
          </a:ln>
        </p:spPr>
      </p:sp>
      <p:sp>
        <p:nvSpPr>
          <p:cNvPr id="6" name="Text 4"/>
          <p:cNvSpPr/>
          <p:nvPr/>
        </p:nvSpPr>
        <p:spPr>
          <a:xfrm>
            <a:off x="950976" y="4517136"/>
            <a:ext cx="9875520" cy="1005840"/>
          </a:xfrm>
          <a:prstGeom prst="rect">
            <a:avLst/>
          </a:prstGeom>
          <a:noFill/>
          <a:ln/>
        </p:spPr>
        <p:txBody>
          <a:bodyPr wrap="square" lIns="0" tIns="0" rIns="0" bIns="0" rtlCol="0" anchor="ctr">
            <a:normAutofit/>
          </a:bodyPr>
          <a:lstStyle/>
          <a:p>
            <a:pPr marL="0" indent="0" algn="l">
              <a:buNone/>
            </a:pPr>
            <a:r>
              <a:rPr lang="en-US" sz="2300" dirty="0">
                <a:solidFill>
                  <a:srgbClr val="CFE4ED"/>
                </a:solidFill>
                <a:latin typeface="Aptos" pitchFamily="34" charset="0"/>
                <a:ea typeface="Aptos" pitchFamily="34" charset="-122"/>
                <a:cs typeface="Aptos" pitchFamily="34" charset="-120"/>
              </a:rPr>
              <a:t>We will start with text, numbers, and simple user interaction.</a:t>
            </a:r>
            <a:endParaRPr lang="en-US" sz="2300" dirty="0"/>
          </a:p>
        </p:txBody>
      </p:sp>
      <p:sp>
        <p:nvSpPr>
          <p:cNvPr id="7" name="Text 5"/>
          <p:cNvSpPr/>
          <p:nvPr/>
        </p:nvSpPr>
        <p:spPr>
          <a:xfrm>
            <a:off x="10698480" y="6053328"/>
            <a:ext cx="640080" cy="256032"/>
          </a:xfrm>
          <a:prstGeom prst="rect">
            <a:avLst/>
          </a:prstGeom>
          <a:noFill/>
          <a:ln/>
        </p:spPr>
        <p:txBody>
          <a:bodyPr wrap="square" lIns="0" tIns="0" rIns="0" bIns="0" rtlCol="0" anchor="ctr">
            <a:normAutofit/>
          </a:bodyPr>
          <a:lstStyle/>
          <a:p>
            <a:pPr marL="0" indent="0" algn="l">
              <a:buNone/>
            </a:pPr>
            <a:r>
              <a:rPr lang="en-US" sz="1400" dirty="0">
                <a:solidFill>
                  <a:srgbClr val="86A9BB"/>
                </a:solidFill>
                <a:latin typeface="Aptos" pitchFamily="34" charset="0"/>
                <a:ea typeface="Aptos" pitchFamily="34" charset="-122"/>
                <a:cs typeface="Aptos" pitchFamily="34" charset="-120"/>
              </a:rPr>
              <a:t>012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Output?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Output means information a program displays or produces.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On </a:t>
            </a:r>
            <a:r>
              <a:rPr lang="en-US" sz="2250" dirty="0" smtClean="0">
                <a:solidFill>
                  <a:srgbClr val="253449"/>
                </a:solidFill>
                <a:latin typeface="Aptos" pitchFamily="34" charset="0"/>
                <a:ea typeface="Aptos" pitchFamily="34" charset="-122"/>
                <a:cs typeface="Aptos" pitchFamily="34" charset="-120"/>
              </a:rPr>
              <a:t>SATURDAY, </a:t>
            </a:r>
            <a:r>
              <a:rPr lang="en-US" sz="2250" dirty="0">
                <a:solidFill>
                  <a:srgbClr val="253449"/>
                </a:solidFill>
                <a:latin typeface="Aptos" pitchFamily="34" charset="0"/>
                <a:ea typeface="Aptos" pitchFamily="34" charset="-122"/>
                <a:cs typeface="Aptos" pitchFamily="34" charset="-120"/>
              </a:rPr>
              <a:t>our main output function is print().</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Text output usually goes inside quotation marks.</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Numbers and calculations can be printed directly.</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print() — Display Text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print("Welcome to Python!")</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 "Good morning" )</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Welcome to Python!</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Good morning</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585216"/>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Function name: print</a:t>
            </a:r>
            <a:endParaRPr lang="en-US" sz="1750" dirty="0"/>
          </a:p>
        </p:txBody>
      </p:sp>
      <p:sp>
        <p:nvSpPr>
          <p:cNvPr id="18" name="Shape 16"/>
          <p:cNvSpPr/>
          <p:nvPr/>
        </p:nvSpPr>
        <p:spPr>
          <a:xfrm>
            <a:off x="8330184" y="2834640"/>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715768"/>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Parentheses contain what should be displayed.</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Single Quotes vs Double Quotes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15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print("Hello")</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print('Hello')</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print("It is </a:t>
            </a:r>
            <a:r>
              <a:rPr lang="en-US" sz="2150" dirty="0" smtClean="0">
                <a:solidFill>
                  <a:srgbClr val="F0F7FB"/>
                </a:solidFill>
                <a:latin typeface="Consolas" pitchFamily="34" charset="0"/>
                <a:ea typeface="Consolas" pitchFamily="34" charset="-122"/>
                <a:cs typeface="Consolas" pitchFamily="34" charset="-120"/>
              </a:rPr>
              <a:t>SATURDAY")</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Hello</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Hello</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It is </a:t>
            </a:r>
            <a:r>
              <a:rPr lang="en-US" sz="1900" dirty="0" smtClean="0">
                <a:solidFill>
                  <a:srgbClr val="253449"/>
                </a:solidFill>
                <a:latin typeface="Consolas" pitchFamily="34" charset="0"/>
                <a:ea typeface="Consolas" pitchFamily="34" charset="-122"/>
                <a:cs typeface="Consolas" pitchFamily="34" charset="-120"/>
              </a:rPr>
              <a:t>SATURDAY</a:t>
            </a:r>
            <a:endParaRPr lang="en-US" sz="1900" dirty="0"/>
          </a:p>
        </p:txBody>
      </p:sp>
      <p:sp>
        <p:nvSpPr>
          <p:cNvPr id="14" name="Shape 12"/>
          <p:cNvSpPr/>
          <p:nvPr/>
        </p:nvSpPr>
        <p:spPr>
          <a:xfrm>
            <a:off x="8183880" y="1633913"/>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Both single and double quotes can create strings.</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58784" y="2771649"/>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Match the opening and closing quotation mark.</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Printing Numbers &amp; Calculations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print(25)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print(10 + 5)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print(8 * 4)</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25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32</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Numbers do not need quotes.</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Python evaluates calculations before displaying results.</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Printing Several Values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 "Aman")</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18)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print("Total:", 10 + 20)</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Name: Aman</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Age: 18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Total: 30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Separate items with commas.</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print() automatically inserts spaces between items.</a:t>
            </a:r>
            <a:endParaRPr lang="en-US" sz="17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Quick Check — Predict the Output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18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Without running Python, what will be printed?</a:t>
            </a:r>
            <a:endParaRPr lang="en-US" sz="2600" dirty="0"/>
          </a:p>
          <a:p>
            <a:pPr marL="0" indent="0" algn="l">
              <a:buNone/>
            </a:pP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print("Python", 3)</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print(6 + 4)</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print("6 + 4")</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Is the expression written inside quotes?</a:t>
            </a:r>
            <a:endParaRPr lang="en-US" sz="1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Quick Check — Answer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19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print("Python", 3)</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print(6 + 4)</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print("6 + 4")</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Python 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6 + 4</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Variable?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20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variable is a name that refers to a stored value.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Think of it as a label attached to data.</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the assignment operator = to give a variable a value.</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 use the variable name again instead of rewriting the value.</a:t>
            </a:r>
            <a:endParaRPr lang="en-US" sz="22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Create Variables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a:t>
            </a:r>
            <a:r>
              <a:rPr lang="en-US" sz="2150" dirty="0" smtClean="0">
                <a:solidFill>
                  <a:srgbClr val="F0F7FB"/>
                </a:solidFill>
                <a:latin typeface="Consolas" pitchFamily="34" charset="0"/>
                <a:ea typeface="Consolas" pitchFamily="34" charset="-122"/>
                <a:cs typeface="Consolas" pitchFamily="34" charset="-120"/>
              </a:rPr>
              <a:t>Ali"</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18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95.5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smtClean="0">
                <a:solidFill>
                  <a:srgbClr val="253449"/>
                </a:solidFill>
                <a:latin typeface="Consolas" pitchFamily="34" charset="0"/>
                <a:ea typeface="Consolas" pitchFamily="34" charset="-122"/>
                <a:cs typeface="Consolas" pitchFamily="34" charset="-120"/>
              </a:rPr>
              <a:t>Ali</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95.5</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Left side = variable name; right side = value.</a:t>
            </a:r>
            <a:endParaRPr lang="en-US" sz="175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Use Variables in Sentences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"Aman"</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18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print("My name is", 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print("I am", age, "years old")</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My name is Aman</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I am 18 years old</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Variables can be combined with strings in print().</a:t>
            </a:r>
            <a:endParaRPr lang="en-US" sz="175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Variables Can Change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23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score = 10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print(score)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score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print(score)</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The second assignment replaces the earlier stored value.</a:t>
            </a:r>
            <a:endParaRPr lang="en-US" sz="175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Variable Naming Rules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24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good variable name clearly describes its purpose.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Allowed: letters, digits, and underscore (_).</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Cannot start with a digit or contain spaces.</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Names are case-sensitive: age and Age are different.</a:t>
            </a:r>
            <a:endParaRPr lang="en-US" sz="2250" dirty="0"/>
          </a:p>
        </p:txBody>
      </p:sp>
      <p:sp>
        <p:nvSpPr>
          <p:cNvPr id="17" name="Shape 15"/>
          <p:cNvSpPr/>
          <p:nvPr/>
        </p:nvSpPr>
        <p:spPr>
          <a:xfrm>
            <a:off x="713232" y="5568696"/>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449824"/>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Avoid reserved keywords such as if or for.</a:t>
            </a:r>
            <a:endParaRPr lang="en-US" sz="225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Good &amp; Invalid Variable Names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25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student_name = "Ali"</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studentAge = 19</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total_marks = 100</a:t>
            </a:r>
            <a:endParaRPr lang="en-US" sz="1950" dirty="0"/>
          </a:p>
          <a:p>
            <a:pPr marL="0" indent="0" algn="l">
              <a:lnSpc>
                <a:spcPct val="108000"/>
              </a:lnSpc>
              <a:buNone/>
            </a:pP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Invalid examples:</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2name = "Ali"</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student name = "Ali"</a:t>
            </a:r>
            <a:endParaRPr lang="en-US" sz="19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Use snake_case for readable Python names.</a:t>
            </a:r>
            <a:endParaRPr lang="en-US" sz="1750" dirty="0"/>
          </a:p>
        </p:txBody>
      </p:sp>
      <p:sp>
        <p:nvSpPr>
          <p:cNvPr id="15" name="Shape 13"/>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8531352" y="299923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Lines beginning # are comments and will not run.</a:t>
            </a:r>
            <a:endParaRPr lang="en-US" sz="175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Data Type?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26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data type describes the kind of value a variable holds.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str: text, e.g. "Ali"</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int: whole number, e.g. 18</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float: decimal number, e.g. 95.5</a:t>
            </a:r>
            <a:endParaRPr lang="en-US" sz="2250" dirty="0"/>
          </a:p>
        </p:txBody>
      </p:sp>
      <p:sp>
        <p:nvSpPr>
          <p:cNvPr id="17" name="Shape 15"/>
          <p:cNvSpPr/>
          <p:nvPr/>
        </p:nvSpPr>
        <p:spPr>
          <a:xfrm>
            <a:off x="713232" y="4965192"/>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48463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bool: True or False</a:t>
            </a:r>
            <a:endParaRPr lang="en-US" sz="225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Four Basic Data Types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"Ali"</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19</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percentage = 88.5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is_present = True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print(type(name))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print(type(age))</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&lt;class 'str'&gt;</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&lt;class 'int'&gt;</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type() tells us the type of a value.</a:t>
            </a:r>
            <a:endParaRPr lang="en-US" sz="175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Choose the Correct Data Type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28  /  151</a:t>
            </a:r>
            <a:endParaRPr lang="en-US" sz="1000" dirty="0"/>
          </a:p>
        </p:txBody>
      </p:sp>
      <p:sp>
        <p:nvSpPr>
          <p:cNvPr id="8" name="Text 6"/>
          <p:cNvSpPr/>
          <p:nvPr/>
        </p:nvSpPr>
        <p:spPr>
          <a:xfrm>
            <a:off x="521208" y="1389888"/>
            <a:ext cx="10972800" cy="457200"/>
          </a:xfrm>
          <a:prstGeom prst="rect">
            <a:avLst/>
          </a:prstGeom>
          <a:noFill/>
          <a:ln/>
        </p:spPr>
        <p:txBody>
          <a:bodyPr wrap="square" lIns="0" tIns="0" rIns="0" bIns="0" rtlCol="0" anchor="ctr">
            <a:normAutofit/>
          </a:bodyPr>
          <a:lstStyle/>
          <a:p>
            <a:pPr marL="0" indent="0" algn="l">
              <a:buNone/>
            </a:pPr>
            <a:r>
              <a:rPr lang="en-US" sz="1950" dirty="0">
                <a:solidFill>
                  <a:srgbClr val="597083"/>
                </a:solidFill>
                <a:latin typeface="Aptos" pitchFamily="34" charset="0"/>
                <a:ea typeface="Aptos" pitchFamily="34" charset="-122"/>
                <a:cs typeface="Aptos" pitchFamily="34" charset="-120"/>
              </a:rPr>
              <a:t>Types help Python decide which operations are valid.</a:t>
            </a:r>
            <a:endParaRPr lang="en-US" sz="1950" dirty="0"/>
          </a:p>
        </p:txBody>
      </p:sp>
      <p:sp>
        <p:nvSpPr>
          <p:cNvPr id="9" name="Shape 7"/>
          <p:cNvSpPr/>
          <p:nvPr/>
        </p:nvSpPr>
        <p:spPr>
          <a:xfrm>
            <a:off x="630936" y="1965960"/>
            <a:ext cx="2848356" cy="813816"/>
          </a:xfrm>
          <a:prstGeom prst="roundRect">
            <a:avLst>
              <a:gd name="adj" fmla="val 17978"/>
            </a:avLst>
          </a:prstGeom>
          <a:solidFill>
            <a:srgbClr val="14283E"/>
          </a:solidFill>
          <a:ln w="12700">
            <a:solidFill>
              <a:srgbClr val="14283E">
                <a:alpha val="0"/>
              </a:srgbClr>
            </a:solidFill>
            <a:prstDash val="solid"/>
          </a:ln>
        </p:spPr>
      </p:sp>
      <p:sp>
        <p:nvSpPr>
          <p:cNvPr id="10" name="Text 8"/>
          <p:cNvSpPr/>
          <p:nvPr/>
        </p:nvSpPr>
        <p:spPr>
          <a:xfrm>
            <a:off x="786384" y="2075688"/>
            <a:ext cx="259689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Value</a:t>
            </a:r>
            <a:endParaRPr lang="en-US" sz="2000" dirty="0"/>
          </a:p>
        </p:txBody>
      </p:sp>
      <p:sp>
        <p:nvSpPr>
          <p:cNvPr id="11" name="Shape 9"/>
          <p:cNvSpPr/>
          <p:nvPr/>
        </p:nvSpPr>
        <p:spPr>
          <a:xfrm>
            <a:off x="3511296" y="1965960"/>
            <a:ext cx="3351276" cy="813816"/>
          </a:xfrm>
          <a:prstGeom prst="roundRect">
            <a:avLst>
              <a:gd name="adj" fmla="val 17978"/>
            </a:avLst>
          </a:prstGeom>
          <a:solidFill>
            <a:srgbClr val="14283E"/>
          </a:solidFill>
          <a:ln w="12700">
            <a:solidFill>
              <a:srgbClr val="14283E">
                <a:alpha val="0"/>
              </a:srgbClr>
            </a:solidFill>
            <a:prstDash val="solid"/>
          </a:ln>
        </p:spPr>
      </p:sp>
      <p:sp>
        <p:nvSpPr>
          <p:cNvPr id="12" name="Text 10"/>
          <p:cNvSpPr/>
          <p:nvPr/>
        </p:nvSpPr>
        <p:spPr>
          <a:xfrm>
            <a:off x="3666744" y="2075688"/>
            <a:ext cx="309981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Python type</a:t>
            </a:r>
            <a:endParaRPr lang="en-US" sz="2000" dirty="0"/>
          </a:p>
        </p:txBody>
      </p:sp>
      <p:sp>
        <p:nvSpPr>
          <p:cNvPr id="13" name="Shape 11"/>
          <p:cNvSpPr/>
          <p:nvPr/>
        </p:nvSpPr>
        <p:spPr>
          <a:xfrm>
            <a:off x="6894576" y="1965960"/>
            <a:ext cx="4814316" cy="813816"/>
          </a:xfrm>
          <a:prstGeom prst="roundRect">
            <a:avLst>
              <a:gd name="adj" fmla="val 17978"/>
            </a:avLst>
          </a:prstGeom>
          <a:solidFill>
            <a:srgbClr val="14283E"/>
          </a:solidFill>
          <a:ln w="12700">
            <a:solidFill>
              <a:srgbClr val="14283E">
                <a:alpha val="0"/>
              </a:srgbClr>
            </a:solidFill>
            <a:prstDash val="solid"/>
          </a:ln>
        </p:spPr>
      </p:sp>
      <p:sp>
        <p:nvSpPr>
          <p:cNvPr id="14" name="Text 12"/>
          <p:cNvSpPr/>
          <p:nvPr/>
        </p:nvSpPr>
        <p:spPr>
          <a:xfrm>
            <a:off x="7050024" y="2075688"/>
            <a:ext cx="456285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Reason</a:t>
            </a:r>
            <a:endParaRPr lang="en-US" sz="2000" dirty="0"/>
          </a:p>
        </p:txBody>
      </p:sp>
      <p:sp>
        <p:nvSpPr>
          <p:cNvPr id="15" name="Shape 13"/>
          <p:cNvSpPr/>
          <p:nvPr/>
        </p:nvSpPr>
        <p:spPr>
          <a:xfrm>
            <a:off x="630936" y="2779776"/>
            <a:ext cx="2848356" cy="813816"/>
          </a:xfrm>
          <a:prstGeom prst="roundRect">
            <a:avLst>
              <a:gd name="adj" fmla="val 17978"/>
            </a:avLst>
          </a:prstGeom>
          <a:solidFill>
            <a:srgbClr val="EDF2F6"/>
          </a:solidFill>
          <a:ln w="12700">
            <a:solidFill>
              <a:srgbClr val="EDF2F6">
                <a:alpha val="0"/>
              </a:srgbClr>
            </a:solidFill>
            <a:prstDash val="solid"/>
          </a:ln>
        </p:spPr>
      </p:sp>
      <p:sp>
        <p:nvSpPr>
          <p:cNvPr id="16" name="Text 14"/>
          <p:cNvSpPr/>
          <p:nvPr/>
        </p:nvSpPr>
        <p:spPr>
          <a:xfrm>
            <a:off x="768096" y="2898648"/>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"Sara"</a:t>
            </a:r>
            <a:endParaRPr lang="en-US" sz="2000" dirty="0"/>
          </a:p>
        </p:txBody>
      </p:sp>
      <p:sp>
        <p:nvSpPr>
          <p:cNvPr id="17" name="Shape 15"/>
          <p:cNvSpPr/>
          <p:nvPr/>
        </p:nvSpPr>
        <p:spPr>
          <a:xfrm>
            <a:off x="3511296" y="2779776"/>
            <a:ext cx="3351276" cy="813816"/>
          </a:xfrm>
          <a:prstGeom prst="roundRect">
            <a:avLst>
              <a:gd name="adj" fmla="val 17978"/>
            </a:avLst>
          </a:prstGeom>
          <a:solidFill>
            <a:srgbClr val="EDF2F6"/>
          </a:solidFill>
          <a:ln w="12700">
            <a:solidFill>
              <a:srgbClr val="EDF2F6">
                <a:alpha val="0"/>
              </a:srgbClr>
            </a:solidFill>
            <a:prstDash val="solid"/>
          </a:ln>
        </p:spPr>
      </p:sp>
      <p:sp>
        <p:nvSpPr>
          <p:cNvPr id="18" name="Text 16"/>
          <p:cNvSpPr/>
          <p:nvPr/>
        </p:nvSpPr>
        <p:spPr>
          <a:xfrm>
            <a:off x="3648456" y="2898648"/>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str</a:t>
            </a:r>
            <a:endParaRPr lang="en-US" sz="2000" dirty="0"/>
          </a:p>
        </p:txBody>
      </p:sp>
      <p:sp>
        <p:nvSpPr>
          <p:cNvPr id="19" name="Shape 17"/>
          <p:cNvSpPr/>
          <p:nvPr/>
        </p:nvSpPr>
        <p:spPr>
          <a:xfrm>
            <a:off x="6894576" y="2779776"/>
            <a:ext cx="4814316" cy="813816"/>
          </a:xfrm>
          <a:prstGeom prst="roundRect">
            <a:avLst>
              <a:gd name="adj" fmla="val 17978"/>
            </a:avLst>
          </a:prstGeom>
          <a:solidFill>
            <a:srgbClr val="EDF2F6"/>
          </a:solidFill>
          <a:ln w="12700">
            <a:solidFill>
              <a:srgbClr val="EDF2F6">
                <a:alpha val="0"/>
              </a:srgbClr>
            </a:solidFill>
            <a:prstDash val="solid"/>
          </a:ln>
        </p:spPr>
      </p:sp>
      <p:sp>
        <p:nvSpPr>
          <p:cNvPr id="20" name="Text 18"/>
          <p:cNvSpPr/>
          <p:nvPr/>
        </p:nvSpPr>
        <p:spPr>
          <a:xfrm>
            <a:off x="7031736" y="2898648"/>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Text</a:t>
            </a:r>
            <a:endParaRPr lang="en-US" sz="2000" dirty="0"/>
          </a:p>
        </p:txBody>
      </p:sp>
      <p:sp>
        <p:nvSpPr>
          <p:cNvPr id="21" name="Shape 19"/>
          <p:cNvSpPr/>
          <p:nvPr/>
        </p:nvSpPr>
        <p:spPr>
          <a:xfrm>
            <a:off x="630936" y="3593592"/>
            <a:ext cx="2848356" cy="813816"/>
          </a:xfrm>
          <a:prstGeom prst="roundRect">
            <a:avLst>
              <a:gd name="adj" fmla="val 17978"/>
            </a:avLst>
          </a:prstGeom>
          <a:solidFill>
            <a:srgbClr val="FFFFFF"/>
          </a:solidFill>
          <a:ln w="12700">
            <a:solidFill>
              <a:srgbClr val="FFFFFF">
                <a:alpha val="0"/>
              </a:srgbClr>
            </a:solidFill>
            <a:prstDash val="solid"/>
          </a:ln>
        </p:spPr>
      </p:sp>
      <p:sp>
        <p:nvSpPr>
          <p:cNvPr id="22" name="Text 20"/>
          <p:cNvSpPr/>
          <p:nvPr/>
        </p:nvSpPr>
        <p:spPr>
          <a:xfrm>
            <a:off x="768096" y="3712464"/>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25</a:t>
            </a:r>
            <a:endParaRPr lang="en-US" sz="2000" dirty="0"/>
          </a:p>
        </p:txBody>
      </p:sp>
      <p:sp>
        <p:nvSpPr>
          <p:cNvPr id="23" name="Shape 21"/>
          <p:cNvSpPr/>
          <p:nvPr/>
        </p:nvSpPr>
        <p:spPr>
          <a:xfrm>
            <a:off x="3511296" y="3593592"/>
            <a:ext cx="3351276" cy="813816"/>
          </a:xfrm>
          <a:prstGeom prst="roundRect">
            <a:avLst>
              <a:gd name="adj" fmla="val 17978"/>
            </a:avLst>
          </a:prstGeom>
          <a:solidFill>
            <a:srgbClr val="FFFFFF"/>
          </a:solidFill>
          <a:ln w="12700">
            <a:solidFill>
              <a:srgbClr val="FFFFFF">
                <a:alpha val="0"/>
              </a:srgbClr>
            </a:solidFill>
            <a:prstDash val="solid"/>
          </a:ln>
        </p:spPr>
      </p:sp>
      <p:sp>
        <p:nvSpPr>
          <p:cNvPr id="24" name="Text 22"/>
          <p:cNvSpPr/>
          <p:nvPr/>
        </p:nvSpPr>
        <p:spPr>
          <a:xfrm>
            <a:off x="3648456" y="3712464"/>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int</a:t>
            </a:r>
            <a:endParaRPr lang="en-US" sz="2000" dirty="0"/>
          </a:p>
        </p:txBody>
      </p:sp>
      <p:sp>
        <p:nvSpPr>
          <p:cNvPr id="25" name="Shape 23"/>
          <p:cNvSpPr/>
          <p:nvPr/>
        </p:nvSpPr>
        <p:spPr>
          <a:xfrm>
            <a:off x="6894576" y="3593592"/>
            <a:ext cx="4814316" cy="813816"/>
          </a:xfrm>
          <a:prstGeom prst="roundRect">
            <a:avLst>
              <a:gd name="adj" fmla="val 17978"/>
            </a:avLst>
          </a:prstGeom>
          <a:solidFill>
            <a:srgbClr val="FFFFFF"/>
          </a:solidFill>
          <a:ln w="12700">
            <a:solidFill>
              <a:srgbClr val="FFFFFF">
                <a:alpha val="0"/>
              </a:srgbClr>
            </a:solidFill>
            <a:prstDash val="solid"/>
          </a:ln>
        </p:spPr>
      </p:sp>
      <p:sp>
        <p:nvSpPr>
          <p:cNvPr id="26" name="Text 24"/>
          <p:cNvSpPr/>
          <p:nvPr/>
        </p:nvSpPr>
        <p:spPr>
          <a:xfrm>
            <a:off x="7031736" y="3712464"/>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Whole number</a:t>
            </a:r>
            <a:endParaRPr lang="en-US" sz="2000" dirty="0"/>
          </a:p>
        </p:txBody>
      </p:sp>
      <p:sp>
        <p:nvSpPr>
          <p:cNvPr id="27" name="Shape 25"/>
          <p:cNvSpPr/>
          <p:nvPr/>
        </p:nvSpPr>
        <p:spPr>
          <a:xfrm>
            <a:off x="630936" y="4407408"/>
            <a:ext cx="2848356" cy="813816"/>
          </a:xfrm>
          <a:prstGeom prst="roundRect">
            <a:avLst>
              <a:gd name="adj" fmla="val 17978"/>
            </a:avLst>
          </a:prstGeom>
          <a:solidFill>
            <a:srgbClr val="EDF2F6"/>
          </a:solidFill>
          <a:ln w="12700">
            <a:solidFill>
              <a:srgbClr val="EDF2F6">
                <a:alpha val="0"/>
              </a:srgbClr>
            </a:solidFill>
            <a:prstDash val="solid"/>
          </a:ln>
        </p:spPr>
      </p:sp>
      <p:sp>
        <p:nvSpPr>
          <p:cNvPr id="28" name="Text 26"/>
          <p:cNvSpPr/>
          <p:nvPr/>
        </p:nvSpPr>
        <p:spPr>
          <a:xfrm>
            <a:off x="768096" y="4526280"/>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25.0</a:t>
            </a:r>
            <a:endParaRPr lang="en-US" sz="2000" dirty="0"/>
          </a:p>
        </p:txBody>
      </p:sp>
      <p:sp>
        <p:nvSpPr>
          <p:cNvPr id="29" name="Shape 27"/>
          <p:cNvSpPr/>
          <p:nvPr/>
        </p:nvSpPr>
        <p:spPr>
          <a:xfrm>
            <a:off x="3511296" y="4407408"/>
            <a:ext cx="3351276" cy="813816"/>
          </a:xfrm>
          <a:prstGeom prst="roundRect">
            <a:avLst>
              <a:gd name="adj" fmla="val 17978"/>
            </a:avLst>
          </a:prstGeom>
          <a:solidFill>
            <a:srgbClr val="EDF2F6"/>
          </a:solidFill>
          <a:ln w="12700">
            <a:solidFill>
              <a:srgbClr val="EDF2F6">
                <a:alpha val="0"/>
              </a:srgbClr>
            </a:solidFill>
            <a:prstDash val="solid"/>
          </a:ln>
        </p:spPr>
      </p:sp>
      <p:sp>
        <p:nvSpPr>
          <p:cNvPr id="30" name="Text 28"/>
          <p:cNvSpPr/>
          <p:nvPr/>
        </p:nvSpPr>
        <p:spPr>
          <a:xfrm>
            <a:off x="3648456" y="4526280"/>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float</a:t>
            </a:r>
            <a:endParaRPr lang="en-US" sz="2000" dirty="0"/>
          </a:p>
        </p:txBody>
      </p:sp>
      <p:sp>
        <p:nvSpPr>
          <p:cNvPr id="31" name="Shape 29"/>
          <p:cNvSpPr/>
          <p:nvPr/>
        </p:nvSpPr>
        <p:spPr>
          <a:xfrm>
            <a:off x="6894576" y="4407408"/>
            <a:ext cx="4814316" cy="813816"/>
          </a:xfrm>
          <a:prstGeom prst="roundRect">
            <a:avLst>
              <a:gd name="adj" fmla="val 17978"/>
            </a:avLst>
          </a:prstGeom>
          <a:solidFill>
            <a:srgbClr val="EDF2F6"/>
          </a:solidFill>
          <a:ln w="12700">
            <a:solidFill>
              <a:srgbClr val="EDF2F6">
                <a:alpha val="0"/>
              </a:srgbClr>
            </a:solidFill>
            <a:prstDash val="solid"/>
          </a:ln>
        </p:spPr>
      </p:sp>
      <p:sp>
        <p:nvSpPr>
          <p:cNvPr id="32" name="Text 30"/>
          <p:cNvSpPr/>
          <p:nvPr/>
        </p:nvSpPr>
        <p:spPr>
          <a:xfrm>
            <a:off x="7031736" y="4526280"/>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Decimal</a:t>
            </a:r>
            <a:endParaRPr lang="en-US" sz="2000" dirty="0"/>
          </a:p>
        </p:txBody>
      </p:sp>
      <p:sp>
        <p:nvSpPr>
          <p:cNvPr id="33" name="Shape 31"/>
          <p:cNvSpPr/>
          <p:nvPr/>
        </p:nvSpPr>
        <p:spPr>
          <a:xfrm>
            <a:off x="630936" y="5221224"/>
            <a:ext cx="2848356" cy="813816"/>
          </a:xfrm>
          <a:prstGeom prst="roundRect">
            <a:avLst>
              <a:gd name="adj" fmla="val 17978"/>
            </a:avLst>
          </a:prstGeom>
          <a:solidFill>
            <a:srgbClr val="FFFFFF"/>
          </a:solidFill>
          <a:ln w="12700">
            <a:solidFill>
              <a:srgbClr val="FFFFFF">
                <a:alpha val="0"/>
              </a:srgbClr>
            </a:solidFill>
            <a:prstDash val="solid"/>
          </a:ln>
        </p:spPr>
      </p:sp>
      <p:sp>
        <p:nvSpPr>
          <p:cNvPr id="34" name="Text 32"/>
          <p:cNvSpPr/>
          <p:nvPr/>
        </p:nvSpPr>
        <p:spPr>
          <a:xfrm>
            <a:off x="768096" y="5340096"/>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False</a:t>
            </a:r>
            <a:endParaRPr lang="en-US" sz="2000" dirty="0"/>
          </a:p>
        </p:txBody>
      </p:sp>
      <p:sp>
        <p:nvSpPr>
          <p:cNvPr id="35" name="Shape 33"/>
          <p:cNvSpPr/>
          <p:nvPr/>
        </p:nvSpPr>
        <p:spPr>
          <a:xfrm>
            <a:off x="3511296" y="5221224"/>
            <a:ext cx="3351276" cy="813816"/>
          </a:xfrm>
          <a:prstGeom prst="roundRect">
            <a:avLst>
              <a:gd name="adj" fmla="val 17978"/>
            </a:avLst>
          </a:prstGeom>
          <a:solidFill>
            <a:srgbClr val="FFFFFF"/>
          </a:solidFill>
          <a:ln w="12700">
            <a:solidFill>
              <a:srgbClr val="FFFFFF">
                <a:alpha val="0"/>
              </a:srgbClr>
            </a:solidFill>
            <a:prstDash val="solid"/>
          </a:ln>
        </p:spPr>
      </p:sp>
      <p:sp>
        <p:nvSpPr>
          <p:cNvPr id="36" name="Text 34"/>
          <p:cNvSpPr/>
          <p:nvPr/>
        </p:nvSpPr>
        <p:spPr>
          <a:xfrm>
            <a:off x="3648456" y="5340096"/>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bool</a:t>
            </a:r>
            <a:endParaRPr lang="en-US" sz="2000" dirty="0"/>
          </a:p>
        </p:txBody>
      </p:sp>
      <p:sp>
        <p:nvSpPr>
          <p:cNvPr id="37" name="Shape 35"/>
          <p:cNvSpPr/>
          <p:nvPr/>
        </p:nvSpPr>
        <p:spPr>
          <a:xfrm>
            <a:off x="6894576" y="5221224"/>
            <a:ext cx="4814316" cy="813816"/>
          </a:xfrm>
          <a:prstGeom prst="roundRect">
            <a:avLst>
              <a:gd name="adj" fmla="val 17978"/>
            </a:avLst>
          </a:prstGeom>
          <a:solidFill>
            <a:srgbClr val="FFFFFF"/>
          </a:solidFill>
          <a:ln w="12700">
            <a:solidFill>
              <a:srgbClr val="FFFFFF">
                <a:alpha val="0"/>
              </a:srgbClr>
            </a:solidFill>
            <a:prstDash val="solid"/>
          </a:ln>
        </p:spPr>
      </p:sp>
      <p:sp>
        <p:nvSpPr>
          <p:cNvPr id="38" name="Text 36"/>
          <p:cNvSpPr/>
          <p:nvPr/>
        </p:nvSpPr>
        <p:spPr>
          <a:xfrm>
            <a:off x="7031736" y="5340096"/>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True or False</a:t>
            </a:r>
            <a:endParaRPr lang="en-US" sz="20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1A — Student Profile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29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Create variables for your name, age, GPA, and whether you are enrolled. Print all four values.</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Use str, int, float and bool values.</a:t>
            </a:r>
            <a:endParaRPr lang="en-US" sz="1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1A — One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student_name = "Sara"</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gpa = 3.6</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is_enrolled = True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print(student_name, age)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print(gpa, is_enrolled)</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Sara 20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3.6 True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Input?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31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Input means information given to a program while it is running.</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Python uses input() to ask the user for a value.</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Text inside input() becomes the prompt shown to the user.</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result can be stored in a variable.</a:t>
            </a:r>
            <a:endParaRPr lang="en-US" sz="22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input() — Ask a Question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input("Enter your name: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print("Hello,", name)</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Enter your name: Aarav</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Hello, Aarav</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585216"/>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Try typing: Aarav</a:t>
            </a:r>
            <a:endParaRPr lang="en-US" sz="1750" dirty="0"/>
          </a:p>
        </p:txBody>
      </p:sp>
      <p:sp>
        <p:nvSpPr>
          <p:cNvPr id="18" name="Shape 16"/>
          <p:cNvSpPr/>
          <p:nvPr/>
        </p:nvSpPr>
        <p:spPr>
          <a:xfrm>
            <a:off x="8330184" y="2834640"/>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715768"/>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The same program works with any name.</a:t>
            </a:r>
            <a:endParaRPr lang="en-US" sz="175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Important: input() Returns Text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In Python, input() returns a string even if the user enters digits.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Example: entering 18 produces the text "18".</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cannot add the number 1 directly to the string "18".</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Convert the text first when calculations are needed.</a:t>
            </a:r>
            <a:endParaRPr lang="en-US" sz="225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Numeric Input — int() and float()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int(input("Enter age: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price = float(input("Enter price: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+ 1)</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print(price * 2)</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Enter age: 18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Enter price: 10.5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19</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21.0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int() converts numeric text into an integer.</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9923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float() converts numeric text into a decimal number.</a:t>
            </a:r>
            <a:endParaRPr lang="en-US" sz="175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Comment?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comment is a note for a human reader; Python ignores it when executing code.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 to begin a one-line comment.</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Explain WHY the code exists or what a block accomplishes.</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 also temporarily comment out a line.</a:t>
            </a:r>
            <a:endParaRPr lang="en-US" sz="225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Write Helpful Comments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Ask for the learner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input("Your name: ")</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Give a personal greeting</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print("Welcome,", name)</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Comments make programs easier to read.</a:t>
            </a:r>
            <a:endParaRPr lang="en-US" sz="1750" dirty="0"/>
          </a:p>
        </p:txBody>
      </p:sp>
      <p:sp>
        <p:nvSpPr>
          <p:cNvPr id="15" name="Shape 13"/>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8531352" y="299923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Do not comment every obvious line.</a:t>
            </a:r>
            <a:endParaRPr lang="en-US" sz="175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1B — Character Profile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37  /  151</a:t>
            </a:r>
            <a:endParaRPr lang="en-US" sz="1000" dirty="0"/>
          </a:p>
        </p:txBody>
      </p:sp>
      <p:sp>
        <p:nvSpPr>
          <p:cNvPr id="8" name="Shape 6"/>
          <p:cNvSpPr/>
          <p:nvPr/>
        </p:nvSpPr>
        <p:spPr>
          <a:xfrm>
            <a:off x="502920" y="1490472"/>
            <a:ext cx="11274552" cy="4535424"/>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Make a character profile with first name, last name, age, height and a Boolean value. Ask the user for a nickname and print the profile.</a:t>
            </a:r>
            <a:endParaRPr lang="en-US" sz="2600" dirty="0"/>
          </a:p>
        </p:txBody>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endParaRPr lang="en-US" sz="1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1B — One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38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first = "Tony"</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last = "Stark"</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age = 53</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height = 1.85</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is_hero = True</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nickname = input("Hero name: ")</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print(first, last, nickname)</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print(age, height, is_hero)</a:t>
            </a:r>
            <a:endParaRPr lang="en-US" sz="19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FFBC56"/>
          </a:solidFill>
          <a:ln w="12700">
            <a:solidFill>
              <a:srgbClr val="FFBC56">
                <a:alpha val="0"/>
              </a:srgbClr>
            </a:solidFill>
            <a:prstDash val="solid"/>
          </a:ln>
        </p:spPr>
      </p:sp>
      <p:sp>
        <p:nvSpPr>
          <p:cNvPr id="3" name="Text 1"/>
          <p:cNvSpPr/>
          <p:nvPr/>
        </p:nvSpPr>
        <p:spPr>
          <a:xfrm>
            <a:off x="950976" y="1133856"/>
            <a:ext cx="8595360" cy="448056"/>
          </a:xfrm>
          <a:prstGeom prst="rect">
            <a:avLst/>
          </a:prstGeom>
          <a:noFill/>
          <a:ln/>
        </p:spPr>
        <p:txBody>
          <a:bodyPr wrap="square" lIns="0" tIns="0" rIns="0" bIns="0" rtlCol="0" anchor="ctr">
            <a:normAutofit/>
          </a:bodyPr>
          <a:lstStyle/>
          <a:p>
            <a:pPr marL="0" indent="0" algn="l">
              <a:buNone/>
            </a:pPr>
            <a:r>
              <a:rPr lang="en-US" sz="1900" b="1" kern="0" spc="200" dirty="0">
                <a:solidFill>
                  <a:srgbClr val="FFBC56"/>
                </a:solidFill>
                <a:latin typeface="Aptos" pitchFamily="34" charset="0"/>
                <a:ea typeface="Aptos" pitchFamily="34" charset="-122"/>
                <a:cs typeface="Aptos" pitchFamily="34" charset="-120"/>
              </a:rPr>
              <a:t>PYTHON PART 2</a:t>
            </a:r>
            <a:endParaRPr lang="en-US" sz="1900" dirty="0"/>
          </a:p>
        </p:txBody>
      </p:sp>
      <p:sp>
        <p:nvSpPr>
          <p:cNvPr id="4" name="Text 2"/>
          <p:cNvSpPr/>
          <p:nvPr/>
        </p:nvSpPr>
        <p:spPr>
          <a:xfrm>
            <a:off x="950976" y="2002536"/>
            <a:ext cx="10195560" cy="1554480"/>
          </a:xfrm>
          <a:prstGeom prst="rect">
            <a:avLst/>
          </a:prstGeom>
          <a:noFill/>
          <a:ln/>
        </p:spPr>
        <p:txBody>
          <a:bodyPr wrap="square" lIns="0" tIns="0" rIns="0" bIns="0" rtlCol="0" anchor="t">
            <a:normAutofit/>
          </a:bodyPr>
          <a:lstStyle/>
          <a:p>
            <a:pPr marL="0" indent="0" algn="l">
              <a:buNone/>
            </a:pPr>
            <a:r>
              <a:rPr lang="en-US" sz="4500" b="1" dirty="0">
                <a:solidFill>
                  <a:srgbClr val="FFFFFF"/>
                </a:solidFill>
                <a:latin typeface="Aptos" pitchFamily="34" charset="0"/>
                <a:ea typeface="Aptos" pitchFamily="34" charset="-122"/>
                <a:cs typeface="Aptos" pitchFamily="34" charset="-120"/>
              </a:rPr>
              <a:t>Type Conversion, Strings &amp; Keywords</a:t>
            </a:r>
            <a:endParaRPr lang="en-US" sz="4500" dirty="0"/>
          </a:p>
        </p:txBody>
      </p:sp>
      <p:sp>
        <p:nvSpPr>
          <p:cNvPr id="5" name="Shape 3"/>
          <p:cNvSpPr/>
          <p:nvPr/>
        </p:nvSpPr>
        <p:spPr>
          <a:xfrm>
            <a:off x="960120" y="4187952"/>
            <a:ext cx="7863840" cy="27432"/>
          </a:xfrm>
          <a:prstGeom prst="rect">
            <a:avLst/>
          </a:prstGeom>
          <a:solidFill>
            <a:srgbClr val="416273"/>
          </a:solidFill>
          <a:ln w="12700">
            <a:solidFill>
              <a:srgbClr val="416273">
                <a:alpha val="0"/>
              </a:srgbClr>
            </a:solidFill>
            <a:prstDash val="solid"/>
          </a:ln>
        </p:spPr>
      </p:sp>
      <p:sp>
        <p:nvSpPr>
          <p:cNvPr id="6" name="Text 4"/>
          <p:cNvSpPr/>
          <p:nvPr/>
        </p:nvSpPr>
        <p:spPr>
          <a:xfrm>
            <a:off x="950976" y="4517136"/>
            <a:ext cx="9875520" cy="1005840"/>
          </a:xfrm>
          <a:prstGeom prst="rect">
            <a:avLst/>
          </a:prstGeom>
          <a:noFill/>
          <a:ln/>
        </p:spPr>
        <p:txBody>
          <a:bodyPr wrap="square" lIns="0" tIns="0" rIns="0" bIns="0" rtlCol="0" anchor="ctr">
            <a:normAutofit/>
          </a:bodyPr>
          <a:lstStyle/>
          <a:p>
            <a:pPr marL="0" indent="0" algn="l">
              <a:buNone/>
            </a:pPr>
            <a:r>
              <a:rPr lang="en-US" sz="2300" dirty="0">
                <a:solidFill>
                  <a:srgbClr val="CFE4ED"/>
                </a:solidFill>
                <a:latin typeface="Aptos" pitchFamily="34" charset="0"/>
                <a:ea typeface="Aptos" pitchFamily="34" charset="-122"/>
                <a:cs typeface="Aptos" pitchFamily="34" charset="-120"/>
              </a:rPr>
              <a:t>Understand how Python handles user input and text.</a:t>
            </a:r>
            <a:endParaRPr lang="en-US" sz="2300" dirty="0"/>
          </a:p>
        </p:txBody>
      </p:sp>
      <p:sp>
        <p:nvSpPr>
          <p:cNvPr id="7" name="Text 5"/>
          <p:cNvSpPr/>
          <p:nvPr/>
        </p:nvSpPr>
        <p:spPr>
          <a:xfrm>
            <a:off x="10698480" y="6053328"/>
            <a:ext cx="640080" cy="256032"/>
          </a:xfrm>
          <a:prstGeom prst="rect">
            <a:avLst/>
          </a:prstGeom>
          <a:noFill/>
          <a:ln/>
        </p:spPr>
        <p:txBody>
          <a:bodyPr wrap="square" lIns="0" tIns="0" rIns="0" bIns="0" rtlCol="0" anchor="ctr">
            <a:normAutofit/>
          </a:bodyPr>
          <a:lstStyle/>
          <a:p>
            <a:pPr marL="0" indent="0" algn="l">
              <a:buNone/>
            </a:pPr>
            <a:r>
              <a:rPr lang="en-US" sz="1400" dirty="0">
                <a:solidFill>
                  <a:srgbClr val="86A9BB"/>
                </a:solidFill>
                <a:latin typeface="Aptos" pitchFamily="34" charset="0"/>
                <a:ea typeface="Aptos" pitchFamily="34" charset="-122"/>
                <a:cs typeface="Aptos" pitchFamily="34" charset="-120"/>
              </a:rPr>
              <a:t>039</a:t>
            </a:r>
            <a:endParaRPr lang="en-US" sz="1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Type Conversion?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40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Type conversion changes a value from one data type to another.</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int() → integer; </a:t>
            </a:r>
            <a:r>
              <a:rPr lang="en-US" sz="2250" dirty="0" smtClean="0">
                <a:solidFill>
                  <a:srgbClr val="253449"/>
                </a:solidFill>
                <a:latin typeface="Aptos" pitchFamily="34" charset="0"/>
                <a:ea typeface="Aptos" pitchFamily="34" charset="-122"/>
                <a:cs typeface="Aptos" pitchFamily="34" charset="-120"/>
              </a:rPr>
              <a:t>	float</a:t>
            </a:r>
            <a:r>
              <a:rPr lang="en-US" sz="2250" dirty="0">
                <a:solidFill>
                  <a:srgbClr val="253449"/>
                </a:solidFill>
                <a:latin typeface="Aptos" pitchFamily="34" charset="0"/>
                <a:ea typeface="Aptos" pitchFamily="34" charset="-122"/>
                <a:cs typeface="Aptos" pitchFamily="34" charset="-120"/>
              </a:rPr>
              <a:t>() → decimal number.</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str() → text; </a:t>
            </a:r>
            <a:r>
              <a:rPr lang="en-US" sz="2250" dirty="0" smtClean="0">
                <a:solidFill>
                  <a:srgbClr val="253449"/>
                </a:solidFill>
                <a:latin typeface="Aptos" pitchFamily="34" charset="0"/>
                <a:ea typeface="Aptos" pitchFamily="34" charset="-122"/>
                <a:cs typeface="Aptos" pitchFamily="34" charset="-120"/>
              </a:rPr>
              <a:t>		bool</a:t>
            </a:r>
            <a:r>
              <a:rPr lang="en-US" sz="2250" dirty="0">
                <a:solidFill>
                  <a:srgbClr val="253449"/>
                </a:solidFill>
                <a:latin typeface="Aptos" pitchFamily="34" charset="0"/>
                <a:ea typeface="Aptos" pitchFamily="34" charset="-122"/>
                <a:cs typeface="Aptos" pitchFamily="34" charset="-120"/>
              </a:rPr>
              <a:t>() → Boolean value.</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original text must represent a valid number to convert.</a:t>
            </a:r>
            <a:endParaRPr lang="en-US" sz="225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Convert from One Type to Another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number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print(float(number))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print(str(number))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print(bool(number))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print(int("18"))</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20.0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18</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13064" y="17993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Not every string can be converted to a number.</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13064" y="2741168"/>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int("hello") would raise ValueError.</a:t>
            </a:r>
            <a:endParaRPr lang="en-US" sz="175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Text Addition vs Number Addition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42  /  151</a:t>
            </a:r>
            <a:endParaRPr lang="en-US" sz="1000" dirty="0"/>
          </a:p>
        </p:txBody>
      </p:sp>
      <p:sp>
        <p:nvSpPr>
          <p:cNvPr id="8" name="Shape 6"/>
          <p:cNvSpPr/>
          <p:nvPr/>
        </p:nvSpPr>
        <p:spPr>
          <a:xfrm>
            <a:off x="539496" y="1581912"/>
            <a:ext cx="5321808" cy="3172968"/>
          </a:xfrm>
          <a:prstGeom prst="roundRect">
            <a:avLst>
              <a:gd name="adj" fmla="val 4611"/>
            </a:avLst>
          </a:prstGeom>
          <a:solidFill>
            <a:srgbClr val="EDF2F6"/>
          </a:solidFill>
          <a:ln w="12700">
            <a:solidFill>
              <a:srgbClr val="EDF2F6">
                <a:alpha val="0"/>
              </a:srgbClr>
            </a:solidFill>
            <a:prstDash val="solid"/>
          </a:ln>
        </p:spPr>
      </p:sp>
      <p:sp>
        <p:nvSpPr>
          <p:cNvPr id="9" name="Shape 7"/>
          <p:cNvSpPr/>
          <p:nvPr/>
        </p:nvSpPr>
        <p:spPr>
          <a:xfrm>
            <a:off x="6071616" y="1581912"/>
            <a:ext cx="5550408" cy="3172968"/>
          </a:xfrm>
          <a:prstGeom prst="roundRect">
            <a:avLst>
              <a:gd name="adj" fmla="val 4611"/>
            </a:avLst>
          </a:prstGeom>
          <a:solidFill>
            <a:srgbClr val="DDF7EE"/>
          </a:solidFill>
          <a:ln w="12700">
            <a:solidFill>
              <a:srgbClr val="DDF7EE">
                <a:alpha val="0"/>
              </a:srgbClr>
            </a:solidFill>
            <a:prstDash val="solid"/>
          </a:ln>
        </p:spPr>
      </p:sp>
      <p:sp>
        <p:nvSpPr>
          <p:cNvPr id="10" name="Text 8"/>
          <p:cNvSpPr/>
          <p:nvPr/>
        </p:nvSpPr>
        <p:spPr>
          <a:xfrm>
            <a:off x="841248" y="1801368"/>
            <a:ext cx="4114800" cy="219456"/>
          </a:xfrm>
          <a:prstGeom prst="rect">
            <a:avLst/>
          </a:prstGeom>
          <a:noFill/>
          <a:ln/>
        </p:spPr>
        <p:txBody>
          <a:bodyPr wrap="square" lIns="0" tIns="0" rIns="0" bIns="0" rtlCol="0" anchor="ctr">
            <a:normAutofit/>
          </a:bodyPr>
          <a:lstStyle/>
          <a:p>
            <a:pPr marL="0" indent="0" algn="l">
              <a:buNone/>
            </a:pPr>
            <a:r>
              <a:rPr lang="en-US" sz="1400" b="1" dirty="0">
                <a:solidFill>
                  <a:srgbClr val="597083"/>
                </a:solidFill>
                <a:latin typeface="Aptos" pitchFamily="34" charset="0"/>
                <a:ea typeface="Aptos" pitchFamily="34" charset="-122"/>
                <a:cs typeface="Aptos" pitchFamily="34" charset="-120"/>
              </a:rPr>
              <a:t>OPTION A</a:t>
            </a:r>
            <a:endParaRPr lang="en-US" sz="1400" dirty="0"/>
          </a:p>
        </p:txBody>
      </p:sp>
      <p:sp>
        <p:nvSpPr>
          <p:cNvPr id="11" name="Text 9"/>
          <p:cNvSpPr/>
          <p:nvPr/>
        </p:nvSpPr>
        <p:spPr>
          <a:xfrm>
            <a:off x="6336792" y="1801368"/>
            <a:ext cx="4114800" cy="219456"/>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OPTION B</a:t>
            </a:r>
            <a:endParaRPr lang="en-US" sz="1400" dirty="0"/>
          </a:p>
        </p:txBody>
      </p:sp>
      <p:sp>
        <p:nvSpPr>
          <p:cNvPr id="12" name="Text 10"/>
          <p:cNvSpPr/>
          <p:nvPr/>
        </p:nvSpPr>
        <p:spPr>
          <a:xfrm>
            <a:off x="841248" y="2350008"/>
            <a:ext cx="4718304" cy="1956816"/>
          </a:xfrm>
          <a:prstGeom prst="rect">
            <a:avLst/>
          </a:prstGeom>
          <a:noFill/>
          <a:ln/>
        </p:spPr>
        <p:txBody>
          <a:bodyPr wrap="square" lIns="0" tIns="0" rIns="0" bIns="0" rtlCol="0" anchor="ctr">
            <a:normAutofit/>
          </a:bodyPr>
          <a:lstStyle/>
          <a:p>
            <a:pPr marL="0" indent="0" algn="l">
              <a:buNone/>
            </a:pPr>
            <a:r>
              <a:rPr lang="en-US" sz="2600" b="1" dirty="0">
                <a:solidFill>
                  <a:srgbClr val="14283E"/>
                </a:solidFill>
                <a:latin typeface="Aptos" pitchFamily="34" charset="0"/>
                <a:ea typeface="Aptos" pitchFamily="34" charset="-122"/>
                <a:cs typeface="Aptos" pitchFamily="34" charset="-120"/>
              </a:rPr>
              <a:t>"10" + "20"  →  "1020"</a:t>
            </a:r>
            <a:endParaRPr lang="en-US" sz="2600" dirty="0"/>
          </a:p>
        </p:txBody>
      </p:sp>
      <p:sp>
        <p:nvSpPr>
          <p:cNvPr id="13" name="Text 11"/>
          <p:cNvSpPr/>
          <p:nvPr/>
        </p:nvSpPr>
        <p:spPr>
          <a:xfrm>
            <a:off x="6364224" y="2350008"/>
            <a:ext cx="4727448" cy="1956816"/>
          </a:xfrm>
          <a:prstGeom prst="rect">
            <a:avLst/>
          </a:prstGeom>
          <a:noFill/>
          <a:ln/>
        </p:spPr>
        <p:txBody>
          <a:bodyPr wrap="square" lIns="0" tIns="0" rIns="0" bIns="0" rtlCol="0" anchor="ctr">
            <a:normAutofit/>
          </a:bodyPr>
          <a:lstStyle/>
          <a:p>
            <a:pPr marL="0" indent="0" algn="l">
              <a:buNone/>
            </a:pPr>
            <a:r>
              <a:rPr lang="en-US" sz="2600" b="1" dirty="0">
                <a:solidFill>
                  <a:srgbClr val="14283E"/>
                </a:solidFill>
                <a:latin typeface="Aptos" pitchFamily="34" charset="0"/>
                <a:ea typeface="Aptos" pitchFamily="34" charset="-122"/>
                <a:cs typeface="Aptos" pitchFamily="34" charset="-120"/>
              </a:rPr>
              <a:t>10 + 20  →  30</a:t>
            </a:r>
            <a:endParaRPr lang="en-US" sz="2600" dirty="0"/>
          </a:p>
        </p:txBody>
      </p:sp>
      <p:sp>
        <p:nvSpPr>
          <p:cNvPr id="14" name="Shape 12"/>
          <p:cNvSpPr/>
          <p:nvPr/>
        </p:nvSpPr>
        <p:spPr>
          <a:xfrm>
            <a:off x="740664" y="5120640"/>
            <a:ext cx="77724" cy="77724"/>
          </a:xfrm>
          <a:prstGeom prst="roundRect">
            <a:avLst>
              <a:gd name="adj" fmla="val 47059"/>
            </a:avLst>
          </a:prstGeom>
          <a:solidFill>
            <a:srgbClr val="008C80"/>
          </a:solidFill>
          <a:ln w="12700">
            <a:solidFill>
              <a:srgbClr val="008C80">
                <a:alpha val="0"/>
              </a:srgbClr>
            </a:solidFill>
            <a:prstDash val="solid"/>
          </a:ln>
        </p:spPr>
      </p:sp>
      <p:sp>
        <p:nvSpPr>
          <p:cNvPr id="15" name="Text 13"/>
          <p:cNvSpPr/>
          <p:nvPr/>
        </p:nvSpPr>
        <p:spPr>
          <a:xfrm>
            <a:off x="941832" y="5001768"/>
            <a:ext cx="10497312" cy="38404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Adding strings joins text.</a:t>
            </a:r>
            <a:endParaRPr lang="en-US" sz="1800" dirty="0"/>
          </a:p>
        </p:txBody>
      </p:sp>
      <p:sp>
        <p:nvSpPr>
          <p:cNvPr id="16" name="Shape 14"/>
          <p:cNvSpPr/>
          <p:nvPr/>
        </p:nvSpPr>
        <p:spPr>
          <a:xfrm>
            <a:off x="740664" y="5559552"/>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941832" y="5440680"/>
            <a:ext cx="10497312" cy="38404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Adding integers performs arithmetic.</a:t>
            </a:r>
            <a:endParaRPr lang="en-US" sz="1800" dirty="0"/>
          </a:p>
        </p:txBody>
      </p:sp>
      <p:sp>
        <p:nvSpPr>
          <p:cNvPr id="18" name="Shape 16"/>
          <p:cNvSpPr/>
          <p:nvPr/>
        </p:nvSpPr>
        <p:spPr>
          <a:xfrm>
            <a:off x="740664" y="599846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941832" y="5879592"/>
            <a:ext cx="10497312" cy="585216"/>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Convert user input before numeric calculations.</a:t>
            </a:r>
            <a:endParaRPr lang="en-US" sz="18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Program — Sum of Two Numbers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43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first = int(input("First number: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second = int(input("Second number: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total = first + second</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print("Sum:", total)</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First number: 15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Second number: 10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Sum: 25</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Choose clear names such as total (not sum).</a:t>
            </a:r>
            <a:endParaRPr lang="en-US" sz="175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2A — Total &amp; Average Bill</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44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Ask for the prices of three products. Show the total cost and average price.</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Use float(input(...)); average = total / 3.</a:t>
            </a:r>
            <a:endParaRPr lang="en-US" sz="18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2A —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45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p1 = float(input("Price 1: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p2 = float(input("Price 2: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p3 = float(input("Price 3: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total = p1 + p2 + p3</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print("Total:", total)</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print("Average:", total / 3)</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String?</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46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string (str) is a sequence of characters used to represent text.</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Examples: a name, city, sentence or message.</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String methods help us search, transform or replace text.</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Strings are immutable: methods return new strings.</a:t>
            </a:r>
            <a:endParaRPr lang="en-US" sz="225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String Methods — upper() and lower()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"Tony Stark"</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print(name.upper())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print(name.lower())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TONY STARK</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tony stark</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Tony Stark</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upper() creates uppercase text.</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lower() creates lowercase text.</a:t>
            </a:r>
            <a:endParaRPr lang="en-US" sz="175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String Method — find()</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"Tony Stark"</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print(name.find("ark"))</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print(name.find("T"))</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print(name.find("X"))</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7</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585216"/>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Positions begin at 0.</a:t>
            </a:r>
            <a:endParaRPr lang="en-US" sz="1750" dirty="0"/>
          </a:p>
        </p:txBody>
      </p:sp>
      <p:sp>
        <p:nvSpPr>
          <p:cNvPr id="18" name="Shape 16"/>
          <p:cNvSpPr/>
          <p:nvPr/>
        </p:nvSpPr>
        <p:spPr>
          <a:xfrm>
            <a:off x="8330184" y="2834640"/>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715768"/>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When not found, find() returns -1.</a:t>
            </a:r>
            <a:endParaRPr lang="en-US" sz="175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String Method — replace()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49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txBody>
          <a:bodyPr/>
          <a:lstStyle/>
          <a:p>
            <a:r>
              <a:rPr lang="en-US" dirty="0" smtClean="0"/>
              <a:t>    </a:t>
            </a:r>
            <a:endParaRPr lang="en-GB" dirty="0"/>
          </a:p>
        </p:txBody>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"Tony Stark"</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new_name = name.replace("Tony", "Iron")</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print(new_name)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print(name)</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Iron Stark</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Tony Stark</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replace(old, new) returns a new string.</a:t>
            </a:r>
            <a:endParaRPr lang="en-US" sz="1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Why Strings are Immutable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50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Immutable means you cannot change characters in place.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 create a new string with upper(), lower() or replace().</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Assign the returned value if you want to keep the change.</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Many beginner bugs come from forgetting the assignment.</a:t>
            </a:r>
            <a:endParaRPr lang="en-US" sz="2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Keep the Updated String</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city = "lahore"</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city = city.upper()</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print(city)</a:t>
            </a:r>
            <a:endParaRPr lang="en-US" sz="1950" dirty="0"/>
          </a:p>
          <a:p>
            <a:pPr marL="0" indent="0" algn="l">
              <a:lnSpc>
                <a:spcPct val="108000"/>
              </a:lnSpc>
              <a:buNone/>
            </a:pP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word = "cat"</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word = word.replace("c", "b")</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print(word)</a:t>
            </a:r>
            <a:endParaRPr lang="en-US" sz="19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LAHORE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bat</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Keywords and the in Operator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52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Keywords are reserved words with special meanings in Python.</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Examples: if, else, for, while, in, True, False, and, or, not.</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Do not use reserved words as variable names.</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in operator checks whether a value is present.</a:t>
            </a:r>
            <a:endParaRPr lang="en-US" sz="22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Check Text with in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53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"Tony Stark"</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print("Stark" in 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print("stark" in 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print("ark" in name)</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False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 returns True or False.</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Text checks are case-sensitive.</a:t>
            </a:r>
            <a:endParaRPr lang="en-US" sz="1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2B — Name Checker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54  /  151</a:t>
            </a:r>
            <a:endParaRPr lang="en-US" sz="1000" dirty="0"/>
          </a:p>
        </p:txBody>
      </p:sp>
      <p:sp>
        <p:nvSpPr>
          <p:cNvPr id="8" name="Shape 6"/>
          <p:cNvSpPr/>
          <p:nvPr/>
        </p:nvSpPr>
        <p:spPr>
          <a:xfrm>
            <a:off x="502920" y="1481236"/>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Ask for a superhero name. Print whether the name begins with S or s.</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Use name.lower().startswith("s").</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2B —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55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name = input("Superhero name: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starts_with_s = name.lower().startswith("s")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print(starts_with_s)</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FFBC56"/>
          </a:solidFill>
          <a:ln w="12700">
            <a:solidFill>
              <a:srgbClr val="FFBC56">
                <a:alpha val="0"/>
              </a:srgbClr>
            </a:solidFill>
            <a:prstDash val="solid"/>
          </a:ln>
        </p:spPr>
      </p:sp>
      <p:sp>
        <p:nvSpPr>
          <p:cNvPr id="3" name="Text 1"/>
          <p:cNvSpPr/>
          <p:nvPr/>
        </p:nvSpPr>
        <p:spPr>
          <a:xfrm>
            <a:off x="950976" y="1133856"/>
            <a:ext cx="8595360" cy="448056"/>
          </a:xfrm>
          <a:prstGeom prst="rect">
            <a:avLst/>
          </a:prstGeom>
          <a:noFill/>
          <a:ln/>
        </p:spPr>
        <p:txBody>
          <a:bodyPr wrap="square" lIns="0" tIns="0" rIns="0" bIns="0" rtlCol="0" anchor="ctr">
            <a:normAutofit/>
          </a:bodyPr>
          <a:lstStyle/>
          <a:p>
            <a:pPr marL="0" indent="0" algn="l">
              <a:buNone/>
            </a:pPr>
            <a:r>
              <a:rPr lang="en-US" sz="1900" b="1" kern="0" spc="200" dirty="0">
                <a:solidFill>
                  <a:srgbClr val="FFBC56"/>
                </a:solidFill>
                <a:latin typeface="Aptos" pitchFamily="34" charset="0"/>
                <a:ea typeface="Aptos" pitchFamily="34" charset="-122"/>
                <a:cs typeface="Aptos" pitchFamily="34" charset="-120"/>
              </a:rPr>
              <a:t>PYTHON PART 3</a:t>
            </a:r>
            <a:endParaRPr lang="en-US" sz="1900" dirty="0"/>
          </a:p>
        </p:txBody>
      </p:sp>
      <p:sp>
        <p:nvSpPr>
          <p:cNvPr id="4" name="Text 2"/>
          <p:cNvSpPr/>
          <p:nvPr/>
        </p:nvSpPr>
        <p:spPr>
          <a:xfrm>
            <a:off x="950976" y="2002536"/>
            <a:ext cx="10195560" cy="1554480"/>
          </a:xfrm>
          <a:prstGeom prst="rect">
            <a:avLst/>
          </a:prstGeom>
          <a:noFill/>
          <a:ln/>
        </p:spPr>
        <p:txBody>
          <a:bodyPr wrap="square" lIns="0" tIns="0" rIns="0" bIns="0" rtlCol="0" anchor="t">
            <a:normAutofit/>
          </a:bodyPr>
          <a:lstStyle/>
          <a:p>
            <a:pPr marL="0" indent="0" algn="l">
              <a:buNone/>
            </a:pPr>
            <a:r>
              <a:rPr lang="en-US" sz="4500" b="1" dirty="0">
                <a:solidFill>
                  <a:srgbClr val="FFFFFF"/>
                </a:solidFill>
                <a:latin typeface="Aptos" pitchFamily="34" charset="0"/>
                <a:ea typeface="Aptos" pitchFamily="34" charset="-122"/>
                <a:cs typeface="Aptos" pitchFamily="34" charset="-120"/>
              </a:rPr>
              <a:t>Operators &amp; Decisions</a:t>
            </a:r>
            <a:endParaRPr lang="en-US" sz="4500" dirty="0"/>
          </a:p>
        </p:txBody>
      </p:sp>
      <p:sp>
        <p:nvSpPr>
          <p:cNvPr id="5" name="Shape 3"/>
          <p:cNvSpPr/>
          <p:nvPr/>
        </p:nvSpPr>
        <p:spPr>
          <a:xfrm>
            <a:off x="960120" y="4187952"/>
            <a:ext cx="7863840" cy="27432"/>
          </a:xfrm>
          <a:prstGeom prst="rect">
            <a:avLst/>
          </a:prstGeom>
          <a:solidFill>
            <a:srgbClr val="416273"/>
          </a:solidFill>
          <a:ln w="12700">
            <a:solidFill>
              <a:srgbClr val="416273">
                <a:alpha val="0"/>
              </a:srgbClr>
            </a:solidFill>
            <a:prstDash val="solid"/>
          </a:ln>
        </p:spPr>
      </p:sp>
      <p:sp>
        <p:nvSpPr>
          <p:cNvPr id="6" name="Text 4"/>
          <p:cNvSpPr/>
          <p:nvPr/>
        </p:nvSpPr>
        <p:spPr>
          <a:xfrm>
            <a:off x="950976" y="4517136"/>
            <a:ext cx="9875520" cy="1005840"/>
          </a:xfrm>
          <a:prstGeom prst="rect">
            <a:avLst/>
          </a:prstGeom>
          <a:noFill/>
          <a:ln/>
        </p:spPr>
        <p:txBody>
          <a:bodyPr wrap="square" lIns="0" tIns="0" rIns="0" bIns="0" rtlCol="0" anchor="ctr">
            <a:normAutofit/>
          </a:bodyPr>
          <a:lstStyle/>
          <a:p>
            <a:pPr marL="0" indent="0" algn="l">
              <a:buNone/>
            </a:pPr>
            <a:r>
              <a:rPr lang="en-US" sz="2300" dirty="0">
                <a:solidFill>
                  <a:srgbClr val="CFE4ED"/>
                </a:solidFill>
                <a:latin typeface="Aptos" pitchFamily="34" charset="0"/>
                <a:ea typeface="Aptos" pitchFamily="34" charset="-122"/>
                <a:cs typeface="Aptos" pitchFamily="34" charset="-120"/>
              </a:rPr>
              <a:t>Use expressions and conditions to control a program.</a:t>
            </a:r>
            <a:endParaRPr lang="en-US" sz="2300" dirty="0"/>
          </a:p>
        </p:txBody>
      </p:sp>
      <p:sp>
        <p:nvSpPr>
          <p:cNvPr id="7" name="Text 5"/>
          <p:cNvSpPr/>
          <p:nvPr/>
        </p:nvSpPr>
        <p:spPr>
          <a:xfrm>
            <a:off x="10698480" y="6053328"/>
            <a:ext cx="640080" cy="256032"/>
          </a:xfrm>
          <a:prstGeom prst="rect">
            <a:avLst/>
          </a:prstGeom>
          <a:noFill/>
          <a:ln/>
        </p:spPr>
        <p:txBody>
          <a:bodyPr wrap="square" lIns="0" tIns="0" rIns="0" bIns="0" rtlCol="0" anchor="ctr">
            <a:normAutofit/>
          </a:bodyPr>
          <a:lstStyle/>
          <a:p>
            <a:pPr marL="0" indent="0" algn="l">
              <a:buNone/>
            </a:pPr>
            <a:r>
              <a:rPr lang="en-US" sz="1400" dirty="0">
                <a:solidFill>
                  <a:srgbClr val="86A9BB"/>
                </a:solidFill>
                <a:latin typeface="Aptos" pitchFamily="34" charset="0"/>
                <a:ea typeface="Aptos" pitchFamily="34" charset="-122"/>
                <a:cs typeface="Aptos" pitchFamily="34" charset="-120"/>
              </a:rPr>
              <a:t>056</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an Operator?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57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An operator is a symbol or keyword that performs an operation on values.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Arithmetic: perform calculations.</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Comparison: compare two values.</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Logical: combine True/False conditions.</a:t>
            </a:r>
            <a:endParaRPr lang="en-US" sz="2250" dirty="0"/>
          </a:p>
        </p:txBody>
      </p:sp>
      <p:sp>
        <p:nvSpPr>
          <p:cNvPr id="17" name="Shape 15"/>
          <p:cNvSpPr/>
          <p:nvPr/>
        </p:nvSpPr>
        <p:spPr>
          <a:xfrm>
            <a:off x="713232" y="4965192"/>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48463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Assignment: store or update a value.</a:t>
            </a:r>
            <a:endParaRPr lang="en-US" sz="2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Arithmetic Operators — Basic</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58  /  151</a:t>
            </a:r>
            <a:endParaRPr lang="en-US" sz="1000" dirty="0"/>
          </a:p>
        </p:txBody>
      </p:sp>
      <p:sp>
        <p:nvSpPr>
          <p:cNvPr id="8" name="Text 6"/>
          <p:cNvSpPr/>
          <p:nvPr/>
        </p:nvSpPr>
        <p:spPr>
          <a:xfrm>
            <a:off x="521208" y="1389888"/>
            <a:ext cx="10972800" cy="457200"/>
          </a:xfrm>
          <a:prstGeom prst="rect">
            <a:avLst/>
          </a:prstGeom>
          <a:noFill/>
          <a:ln/>
        </p:spPr>
        <p:txBody>
          <a:bodyPr wrap="square" lIns="0" tIns="0" rIns="0" bIns="0" rtlCol="0" anchor="ctr">
            <a:normAutofit/>
          </a:bodyPr>
          <a:lstStyle/>
          <a:p>
            <a:pPr marL="0" indent="0" algn="l">
              <a:buNone/>
            </a:pPr>
            <a:endParaRPr lang="en-US" sz="1950" dirty="0"/>
          </a:p>
        </p:txBody>
      </p:sp>
      <p:sp>
        <p:nvSpPr>
          <p:cNvPr id="9" name="Shape 7"/>
          <p:cNvSpPr/>
          <p:nvPr/>
        </p:nvSpPr>
        <p:spPr>
          <a:xfrm>
            <a:off x="630936" y="1965960"/>
            <a:ext cx="2848356" cy="813816"/>
          </a:xfrm>
          <a:prstGeom prst="roundRect">
            <a:avLst>
              <a:gd name="adj" fmla="val 17978"/>
            </a:avLst>
          </a:prstGeom>
          <a:solidFill>
            <a:srgbClr val="14283E"/>
          </a:solidFill>
          <a:ln w="12700">
            <a:solidFill>
              <a:srgbClr val="14283E">
                <a:alpha val="0"/>
              </a:srgbClr>
            </a:solidFill>
            <a:prstDash val="solid"/>
          </a:ln>
        </p:spPr>
      </p:sp>
      <p:sp>
        <p:nvSpPr>
          <p:cNvPr id="10" name="Text 8"/>
          <p:cNvSpPr/>
          <p:nvPr/>
        </p:nvSpPr>
        <p:spPr>
          <a:xfrm>
            <a:off x="786384" y="2075688"/>
            <a:ext cx="259689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Operator</a:t>
            </a:r>
            <a:endParaRPr lang="en-US" sz="2000" dirty="0"/>
          </a:p>
        </p:txBody>
      </p:sp>
      <p:sp>
        <p:nvSpPr>
          <p:cNvPr id="11" name="Shape 9"/>
          <p:cNvSpPr/>
          <p:nvPr/>
        </p:nvSpPr>
        <p:spPr>
          <a:xfrm>
            <a:off x="3511296" y="1965960"/>
            <a:ext cx="3351276" cy="813816"/>
          </a:xfrm>
          <a:prstGeom prst="roundRect">
            <a:avLst>
              <a:gd name="adj" fmla="val 17978"/>
            </a:avLst>
          </a:prstGeom>
          <a:solidFill>
            <a:srgbClr val="14283E"/>
          </a:solidFill>
          <a:ln w="12700">
            <a:solidFill>
              <a:srgbClr val="14283E">
                <a:alpha val="0"/>
              </a:srgbClr>
            </a:solidFill>
            <a:prstDash val="solid"/>
          </a:ln>
        </p:spPr>
      </p:sp>
      <p:sp>
        <p:nvSpPr>
          <p:cNvPr id="12" name="Text 10"/>
          <p:cNvSpPr/>
          <p:nvPr/>
        </p:nvSpPr>
        <p:spPr>
          <a:xfrm>
            <a:off x="3666744" y="2075688"/>
            <a:ext cx="309981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Meaning</a:t>
            </a:r>
            <a:endParaRPr lang="en-US" sz="2000" dirty="0"/>
          </a:p>
        </p:txBody>
      </p:sp>
      <p:sp>
        <p:nvSpPr>
          <p:cNvPr id="13" name="Shape 11"/>
          <p:cNvSpPr/>
          <p:nvPr/>
        </p:nvSpPr>
        <p:spPr>
          <a:xfrm>
            <a:off x="6894576" y="1965960"/>
            <a:ext cx="4814316" cy="813816"/>
          </a:xfrm>
          <a:prstGeom prst="roundRect">
            <a:avLst>
              <a:gd name="adj" fmla="val 17978"/>
            </a:avLst>
          </a:prstGeom>
          <a:solidFill>
            <a:srgbClr val="14283E"/>
          </a:solidFill>
          <a:ln w="12700">
            <a:solidFill>
              <a:srgbClr val="14283E">
                <a:alpha val="0"/>
              </a:srgbClr>
            </a:solidFill>
            <a:prstDash val="solid"/>
          </a:ln>
        </p:spPr>
      </p:sp>
      <p:sp>
        <p:nvSpPr>
          <p:cNvPr id="14" name="Text 12"/>
          <p:cNvSpPr/>
          <p:nvPr/>
        </p:nvSpPr>
        <p:spPr>
          <a:xfrm>
            <a:off x="7050024" y="2075688"/>
            <a:ext cx="456285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Example</a:t>
            </a:r>
            <a:endParaRPr lang="en-US" sz="2000" dirty="0"/>
          </a:p>
        </p:txBody>
      </p:sp>
      <p:sp>
        <p:nvSpPr>
          <p:cNvPr id="15" name="Shape 13"/>
          <p:cNvSpPr/>
          <p:nvPr/>
        </p:nvSpPr>
        <p:spPr>
          <a:xfrm>
            <a:off x="630936" y="2779776"/>
            <a:ext cx="2848356" cy="813816"/>
          </a:xfrm>
          <a:prstGeom prst="roundRect">
            <a:avLst>
              <a:gd name="adj" fmla="val 17978"/>
            </a:avLst>
          </a:prstGeom>
          <a:solidFill>
            <a:srgbClr val="EDF2F6"/>
          </a:solidFill>
          <a:ln w="12700">
            <a:solidFill>
              <a:srgbClr val="EDF2F6">
                <a:alpha val="0"/>
              </a:srgbClr>
            </a:solidFill>
            <a:prstDash val="solid"/>
          </a:ln>
        </p:spPr>
      </p:sp>
      <p:sp>
        <p:nvSpPr>
          <p:cNvPr id="16" name="Text 14"/>
          <p:cNvSpPr/>
          <p:nvPr/>
        </p:nvSpPr>
        <p:spPr>
          <a:xfrm>
            <a:off x="768096" y="2898648"/>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17" name="Shape 15"/>
          <p:cNvSpPr/>
          <p:nvPr/>
        </p:nvSpPr>
        <p:spPr>
          <a:xfrm>
            <a:off x="3511296" y="2779776"/>
            <a:ext cx="3351276" cy="813816"/>
          </a:xfrm>
          <a:prstGeom prst="roundRect">
            <a:avLst>
              <a:gd name="adj" fmla="val 17978"/>
            </a:avLst>
          </a:prstGeom>
          <a:solidFill>
            <a:srgbClr val="EDF2F6"/>
          </a:solidFill>
          <a:ln w="12700">
            <a:solidFill>
              <a:srgbClr val="EDF2F6">
                <a:alpha val="0"/>
              </a:srgbClr>
            </a:solidFill>
            <a:prstDash val="solid"/>
          </a:ln>
        </p:spPr>
      </p:sp>
      <p:sp>
        <p:nvSpPr>
          <p:cNvPr id="18" name="Text 16"/>
          <p:cNvSpPr/>
          <p:nvPr/>
        </p:nvSpPr>
        <p:spPr>
          <a:xfrm>
            <a:off x="3648456" y="2898648"/>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Addition</a:t>
            </a:r>
            <a:endParaRPr lang="en-US" sz="2000" dirty="0"/>
          </a:p>
        </p:txBody>
      </p:sp>
      <p:sp>
        <p:nvSpPr>
          <p:cNvPr id="19" name="Shape 17"/>
          <p:cNvSpPr/>
          <p:nvPr/>
        </p:nvSpPr>
        <p:spPr>
          <a:xfrm>
            <a:off x="6894576" y="2779776"/>
            <a:ext cx="4814316" cy="813816"/>
          </a:xfrm>
          <a:prstGeom prst="roundRect">
            <a:avLst>
              <a:gd name="adj" fmla="val 17978"/>
            </a:avLst>
          </a:prstGeom>
          <a:solidFill>
            <a:srgbClr val="EDF2F6"/>
          </a:solidFill>
          <a:ln w="12700">
            <a:solidFill>
              <a:srgbClr val="EDF2F6">
                <a:alpha val="0"/>
              </a:srgbClr>
            </a:solidFill>
            <a:prstDash val="solid"/>
          </a:ln>
        </p:spPr>
      </p:sp>
      <p:sp>
        <p:nvSpPr>
          <p:cNvPr id="20" name="Text 18"/>
          <p:cNvSpPr/>
          <p:nvPr/>
        </p:nvSpPr>
        <p:spPr>
          <a:xfrm>
            <a:off x="7031736" y="2898648"/>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5 + 3 = 8</a:t>
            </a:r>
            <a:endParaRPr lang="en-US" sz="2000" dirty="0"/>
          </a:p>
        </p:txBody>
      </p:sp>
      <p:sp>
        <p:nvSpPr>
          <p:cNvPr id="21" name="Shape 19"/>
          <p:cNvSpPr/>
          <p:nvPr/>
        </p:nvSpPr>
        <p:spPr>
          <a:xfrm>
            <a:off x="630936" y="3593592"/>
            <a:ext cx="2848356" cy="813816"/>
          </a:xfrm>
          <a:prstGeom prst="roundRect">
            <a:avLst>
              <a:gd name="adj" fmla="val 17978"/>
            </a:avLst>
          </a:prstGeom>
          <a:solidFill>
            <a:srgbClr val="FFFFFF"/>
          </a:solidFill>
          <a:ln w="12700">
            <a:solidFill>
              <a:srgbClr val="FFFFFF">
                <a:alpha val="0"/>
              </a:srgbClr>
            </a:solidFill>
            <a:prstDash val="solid"/>
          </a:ln>
        </p:spPr>
      </p:sp>
      <p:sp>
        <p:nvSpPr>
          <p:cNvPr id="22" name="Text 20"/>
          <p:cNvSpPr/>
          <p:nvPr/>
        </p:nvSpPr>
        <p:spPr>
          <a:xfrm>
            <a:off x="768096" y="3712464"/>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23" name="Shape 21"/>
          <p:cNvSpPr/>
          <p:nvPr/>
        </p:nvSpPr>
        <p:spPr>
          <a:xfrm>
            <a:off x="3511296" y="3593592"/>
            <a:ext cx="3351276" cy="813816"/>
          </a:xfrm>
          <a:prstGeom prst="roundRect">
            <a:avLst>
              <a:gd name="adj" fmla="val 17978"/>
            </a:avLst>
          </a:prstGeom>
          <a:solidFill>
            <a:srgbClr val="FFFFFF"/>
          </a:solidFill>
          <a:ln w="12700">
            <a:solidFill>
              <a:srgbClr val="FFFFFF">
                <a:alpha val="0"/>
              </a:srgbClr>
            </a:solidFill>
            <a:prstDash val="solid"/>
          </a:ln>
        </p:spPr>
      </p:sp>
      <p:sp>
        <p:nvSpPr>
          <p:cNvPr id="24" name="Text 22"/>
          <p:cNvSpPr/>
          <p:nvPr/>
        </p:nvSpPr>
        <p:spPr>
          <a:xfrm>
            <a:off x="3648456" y="3712464"/>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Subtraction</a:t>
            </a:r>
            <a:endParaRPr lang="en-US" sz="2000" dirty="0"/>
          </a:p>
        </p:txBody>
      </p:sp>
      <p:sp>
        <p:nvSpPr>
          <p:cNvPr id="25" name="Shape 23"/>
          <p:cNvSpPr/>
          <p:nvPr/>
        </p:nvSpPr>
        <p:spPr>
          <a:xfrm>
            <a:off x="6894576" y="3593592"/>
            <a:ext cx="4814316" cy="813816"/>
          </a:xfrm>
          <a:prstGeom prst="roundRect">
            <a:avLst>
              <a:gd name="adj" fmla="val 17978"/>
            </a:avLst>
          </a:prstGeom>
          <a:solidFill>
            <a:srgbClr val="FFFFFF"/>
          </a:solidFill>
          <a:ln w="12700">
            <a:solidFill>
              <a:srgbClr val="FFFFFF">
                <a:alpha val="0"/>
              </a:srgbClr>
            </a:solidFill>
            <a:prstDash val="solid"/>
          </a:ln>
        </p:spPr>
      </p:sp>
      <p:sp>
        <p:nvSpPr>
          <p:cNvPr id="26" name="Text 24"/>
          <p:cNvSpPr/>
          <p:nvPr/>
        </p:nvSpPr>
        <p:spPr>
          <a:xfrm>
            <a:off x="7031736" y="3712464"/>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5 - 3 = 2</a:t>
            </a:r>
            <a:endParaRPr lang="en-US" sz="2000" dirty="0"/>
          </a:p>
        </p:txBody>
      </p:sp>
      <p:sp>
        <p:nvSpPr>
          <p:cNvPr id="27" name="Shape 25"/>
          <p:cNvSpPr/>
          <p:nvPr/>
        </p:nvSpPr>
        <p:spPr>
          <a:xfrm>
            <a:off x="630936" y="4407408"/>
            <a:ext cx="2848356" cy="813816"/>
          </a:xfrm>
          <a:prstGeom prst="roundRect">
            <a:avLst>
              <a:gd name="adj" fmla="val 17978"/>
            </a:avLst>
          </a:prstGeom>
          <a:solidFill>
            <a:srgbClr val="EDF2F6"/>
          </a:solidFill>
          <a:ln w="12700">
            <a:solidFill>
              <a:srgbClr val="EDF2F6">
                <a:alpha val="0"/>
              </a:srgbClr>
            </a:solidFill>
            <a:prstDash val="solid"/>
          </a:ln>
        </p:spPr>
      </p:sp>
      <p:sp>
        <p:nvSpPr>
          <p:cNvPr id="28" name="Text 26"/>
          <p:cNvSpPr/>
          <p:nvPr/>
        </p:nvSpPr>
        <p:spPr>
          <a:xfrm>
            <a:off x="768096" y="4526280"/>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29" name="Shape 27"/>
          <p:cNvSpPr/>
          <p:nvPr/>
        </p:nvSpPr>
        <p:spPr>
          <a:xfrm>
            <a:off x="3511296" y="4407408"/>
            <a:ext cx="3351276" cy="813816"/>
          </a:xfrm>
          <a:prstGeom prst="roundRect">
            <a:avLst>
              <a:gd name="adj" fmla="val 17978"/>
            </a:avLst>
          </a:prstGeom>
          <a:solidFill>
            <a:srgbClr val="EDF2F6"/>
          </a:solidFill>
          <a:ln w="12700">
            <a:solidFill>
              <a:srgbClr val="EDF2F6">
                <a:alpha val="0"/>
              </a:srgbClr>
            </a:solidFill>
            <a:prstDash val="solid"/>
          </a:ln>
        </p:spPr>
      </p:sp>
      <p:sp>
        <p:nvSpPr>
          <p:cNvPr id="30" name="Text 28"/>
          <p:cNvSpPr/>
          <p:nvPr/>
        </p:nvSpPr>
        <p:spPr>
          <a:xfrm>
            <a:off x="3648456" y="4526280"/>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Multiplication</a:t>
            </a:r>
            <a:endParaRPr lang="en-US" sz="2000" dirty="0"/>
          </a:p>
        </p:txBody>
      </p:sp>
      <p:sp>
        <p:nvSpPr>
          <p:cNvPr id="31" name="Shape 29"/>
          <p:cNvSpPr/>
          <p:nvPr/>
        </p:nvSpPr>
        <p:spPr>
          <a:xfrm>
            <a:off x="6894576" y="4407408"/>
            <a:ext cx="4814316" cy="813816"/>
          </a:xfrm>
          <a:prstGeom prst="roundRect">
            <a:avLst>
              <a:gd name="adj" fmla="val 17978"/>
            </a:avLst>
          </a:prstGeom>
          <a:solidFill>
            <a:srgbClr val="EDF2F6"/>
          </a:solidFill>
          <a:ln w="12700">
            <a:solidFill>
              <a:srgbClr val="EDF2F6">
                <a:alpha val="0"/>
              </a:srgbClr>
            </a:solidFill>
            <a:prstDash val="solid"/>
          </a:ln>
        </p:spPr>
      </p:sp>
      <p:sp>
        <p:nvSpPr>
          <p:cNvPr id="32" name="Text 30"/>
          <p:cNvSpPr/>
          <p:nvPr/>
        </p:nvSpPr>
        <p:spPr>
          <a:xfrm>
            <a:off x="7031736" y="4526280"/>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5 * 3 = 15</a:t>
            </a:r>
            <a:endParaRPr lang="en-US" sz="2000" dirty="0"/>
          </a:p>
        </p:txBody>
      </p:sp>
      <p:sp>
        <p:nvSpPr>
          <p:cNvPr id="33" name="Shape 31"/>
          <p:cNvSpPr/>
          <p:nvPr/>
        </p:nvSpPr>
        <p:spPr>
          <a:xfrm>
            <a:off x="630936" y="5221224"/>
            <a:ext cx="2848356" cy="813816"/>
          </a:xfrm>
          <a:prstGeom prst="roundRect">
            <a:avLst>
              <a:gd name="adj" fmla="val 17978"/>
            </a:avLst>
          </a:prstGeom>
          <a:solidFill>
            <a:srgbClr val="FFFFFF"/>
          </a:solidFill>
          <a:ln w="12700">
            <a:solidFill>
              <a:srgbClr val="FFFFFF">
                <a:alpha val="0"/>
              </a:srgbClr>
            </a:solidFill>
            <a:prstDash val="solid"/>
          </a:ln>
        </p:spPr>
      </p:sp>
      <p:sp>
        <p:nvSpPr>
          <p:cNvPr id="34" name="Text 32"/>
          <p:cNvSpPr/>
          <p:nvPr/>
        </p:nvSpPr>
        <p:spPr>
          <a:xfrm>
            <a:off x="768096" y="5340096"/>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35" name="Shape 33"/>
          <p:cNvSpPr/>
          <p:nvPr/>
        </p:nvSpPr>
        <p:spPr>
          <a:xfrm>
            <a:off x="3511296" y="5221224"/>
            <a:ext cx="3351276" cy="813816"/>
          </a:xfrm>
          <a:prstGeom prst="roundRect">
            <a:avLst>
              <a:gd name="adj" fmla="val 17978"/>
            </a:avLst>
          </a:prstGeom>
          <a:solidFill>
            <a:srgbClr val="FFFFFF"/>
          </a:solidFill>
          <a:ln w="12700">
            <a:solidFill>
              <a:srgbClr val="FFFFFF">
                <a:alpha val="0"/>
              </a:srgbClr>
            </a:solidFill>
            <a:prstDash val="solid"/>
          </a:ln>
        </p:spPr>
      </p:sp>
      <p:sp>
        <p:nvSpPr>
          <p:cNvPr id="36" name="Text 34"/>
          <p:cNvSpPr/>
          <p:nvPr/>
        </p:nvSpPr>
        <p:spPr>
          <a:xfrm>
            <a:off x="3648456" y="5340096"/>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Division</a:t>
            </a:r>
            <a:endParaRPr lang="en-US" sz="2000" dirty="0"/>
          </a:p>
        </p:txBody>
      </p:sp>
      <p:sp>
        <p:nvSpPr>
          <p:cNvPr id="37" name="Shape 35"/>
          <p:cNvSpPr/>
          <p:nvPr/>
        </p:nvSpPr>
        <p:spPr>
          <a:xfrm>
            <a:off x="6894576" y="5221224"/>
            <a:ext cx="4814316" cy="813816"/>
          </a:xfrm>
          <a:prstGeom prst="roundRect">
            <a:avLst>
              <a:gd name="adj" fmla="val 17978"/>
            </a:avLst>
          </a:prstGeom>
          <a:solidFill>
            <a:srgbClr val="FFFFFF"/>
          </a:solidFill>
          <a:ln w="12700">
            <a:solidFill>
              <a:srgbClr val="FFFFFF">
                <a:alpha val="0"/>
              </a:srgbClr>
            </a:solidFill>
            <a:prstDash val="solid"/>
          </a:ln>
        </p:spPr>
      </p:sp>
      <p:sp>
        <p:nvSpPr>
          <p:cNvPr id="38" name="Text 36"/>
          <p:cNvSpPr/>
          <p:nvPr/>
        </p:nvSpPr>
        <p:spPr>
          <a:xfrm>
            <a:off x="7031736" y="5340096"/>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5 / 2 = 2.5</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Arithmetic Operators — More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59  /  151</a:t>
            </a:r>
            <a:endParaRPr lang="en-US" sz="1000" dirty="0"/>
          </a:p>
        </p:txBody>
      </p:sp>
      <p:sp>
        <p:nvSpPr>
          <p:cNvPr id="8" name="Text 6"/>
          <p:cNvSpPr/>
          <p:nvPr/>
        </p:nvSpPr>
        <p:spPr>
          <a:xfrm>
            <a:off x="521208" y="1389888"/>
            <a:ext cx="10972800" cy="457200"/>
          </a:xfrm>
          <a:prstGeom prst="rect">
            <a:avLst/>
          </a:prstGeom>
          <a:noFill/>
          <a:ln/>
        </p:spPr>
        <p:txBody>
          <a:bodyPr wrap="square" lIns="0" tIns="0" rIns="0" bIns="0" rtlCol="0" anchor="ctr">
            <a:normAutofit/>
          </a:bodyPr>
          <a:lstStyle/>
          <a:p>
            <a:pPr marL="0" indent="0" algn="l">
              <a:buNone/>
            </a:pPr>
            <a:endParaRPr lang="en-US" sz="1950" dirty="0"/>
          </a:p>
        </p:txBody>
      </p:sp>
      <p:sp>
        <p:nvSpPr>
          <p:cNvPr id="9" name="Shape 7"/>
          <p:cNvSpPr/>
          <p:nvPr/>
        </p:nvSpPr>
        <p:spPr>
          <a:xfrm>
            <a:off x="630936" y="1965960"/>
            <a:ext cx="2848356" cy="813816"/>
          </a:xfrm>
          <a:prstGeom prst="roundRect">
            <a:avLst>
              <a:gd name="adj" fmla="val 17978"/>
            </a:avLst>
          </a:prstGeom>
          <a:solidFill>
            <a:srgbClr val="14283E"/>
          </a:solidFill>
          <a:ln w="12700">
            <a:solidFill>
              <a:srgbClr val="14283E">
                <a:alpha val="0"/>
              </a:srgbClr>
            </a:solidFill>
            <a:prstDash val="solid"/>
          </a:ln>
        </p:spPr>
      </p:sp>
      <p:sp>
        <p:nvSpPr>
          <p:cNvPr id="10" name="Text 8"/>
          <p:cNvSpPr/>
          <p:nvPr/>
        </p:nvSpPr>
        <p:spPr>
          <a:xfrm>
            <a:off x="786384" y="2075688"/>
            <a:ext cx="259689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Operator</a:t>
            </a:r>
            <a:endParaRPr lang="en-US" sz="2000" dirty="0"/>
          </a:p>
        </p:txBody>
      </p:sp>
      <p:sp>
        <p:nvSpPr>
          <p:cNvPr id="11" name="Shape 9"/>
          <p:cNvSpPr/>
          <p:nvPr/>
        </p:nvSpPr>
        <p:spPr>
          <a:xfrm>
            <a:off x="3511296" y="1965960"/>
            <a:ext cx="3351276" cy="813816"/>
          </a:xfrm>
          <a:prstGeom prst="roundRect">
            <a:avLst>
              <a:gd name="adj" fmla="val 17978"/>
            </a:avLst>
          </a:prstGeom>
          <a:solidFill>
            <a:srgbClr val="14283E"/>
          </a:solidFill>
          <a:ln w="12700">
            <a:solidFill>
              <a:srgbClr val="14283E">
                <a:alpha val="0"/>
              </a:srgbClr>
            </a:solidFill>
            <a:prstDash val="solid"/>
          </a:ln>
        </p:spPr>
      </p:sp>
      <p:sp>
        <p:nvSpPr>
          <p:cNvPr id="12" name="Text 10"/>
          <p:cNvSpPr/>
          <p:nvPr/>
        </p:nvSpPr>
        <p:spPr>
          <a:xfrm>
            <a:off x="3666744" y="2075688"/>
            <a:ext cx="309981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Meaning</a:t>
            </a:r>
            <a:endParaRPr lang="en-US" sz="2000" dirty="0"/>
          </a:p>
        </p:txBody>
      </p:sp>
      <p:sp>
        <p:nvSpPr>
          <p:cNvPr id="13" name="Shape 11"/>
          <p:cNvSpPr/>
          <p:nvPr/>
        </p:nvSpPr>
        <p:spPr>
          <a:xfrm>
            <a:off x="6894576" y="1965960"/>
            <a:ext cx="4814316" cy="813816"/>
          </a:xfrm>
          <a:prstGeom prst="roundRect">
            <a:avLst>
              <a:gd name="adj" fmla="val 17978"/>
            </a:avLst>
          </a:prstGeom>
          <a:solidFill>
            <a:srgbClr val="14283E"/>
          </a:solidFill>
          <a:ln w="12700">
            <a:solidFill>
              <a:srgbClr val="14283E">
                <a:alpha val="0"/>
              </a:srgbClr>
            </a:solidFill>
            <a:prstDash val="solid"/>
          </a:ln>
        </p:spPr>
      </p:sp>
      <p:sp>
        <p:nvSpPr>
          <p:cNvPr id="14" name="Text 12"/>
          <p:cNvSpPr/>
          <p:nvPr/>
        </p:nvSpPr>
        <p:spPr>
          <a:xfrm>
            <a:off x="7050024" y="2075688"/>
            <a:ext cx="456285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Example</a:t>
            </a:r>
            <a:endParaRPr lang="en-US" sz="2000" dirty="0"/>
          </a:p>
        </p:txBody>
      </p:sp>
      <p:sp>
        <p:nvSpPr>
          <p:cNvPr id="15" name="Shape 13"/>
          <p:cNvSpPr/>
          <p:nvPr/>
        </p:nvSpPr>
        <p:spPr>
          <a:xfrm>
            <a:off x="630936" y="2779776"/>
            <a:ext cx="2848356" cy="813816"/>
          </a:xfrm>
          <a:prstGeom prst="roundRect">
            <a:avLst>
              <a:gd name="adj" fmla="val 17978"/>
            </a:avLst>
          </a:prstGeom>
          <a:solidFill>
            <a:srgbClr val="EDF2F6"/>
          </a:solidFill>
          <a:ln w="12700">
            <a:solidFill>
              <a:srgbClr val="EDF2F6">
                <a:alpha val="0"/>
              </a:srgbClr>
            </a:solidFill>
            <a:prstDash val="solid"/>
          </a:ln>
        </p:spPr>
      </p:sp>
      <p:sp>
        <p:nvSpPr>
          <p:cNvPr id="16" name="Text 14"/>
          <p:cNvSpPr/>
          <p:nvPr/>
        </p:nvSpPr>
        <p:spPr>
          <a:xfrm>
            <a:off x="768096" y="2898648"/>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17" name="Shape 15"/>
          <p:cNvSpPr/>
          <p:nvPr/>
        </p:nvSpPr>
        <p:spPr>
          <a:xfrm>
            <a:off x="3511296" y="2779776"/>
            <a:ext cx="3351276" cy="813816"/>
          </a:xfrm>
          <a:prstGeom prst="roundRect">
            <a:avLst>
              <a:gd name="adj" fmla="val 17978"/>
            </a:avLst>
          </a:prstGeom>
          <a:solidFill>
            <a:srgbClr val="EDF2F6"/>
          </a:solidFill>
          <a:ln w="12700">
            <a:solidFill>
              <a:srgbClr val="EDF2F6">
                <a:alpha val="0"/>
              </a:srgbClr>
            </a:solidFill>
            <a:prstDash val="solid"/>
          </a:ln>
        </p:spPr>
      </p:sp>
      <p:sp>
        <p:nvSpPr>
          <p:cNvPr id="18" name="Text 16"/>
          <p:cNvSpPr/>
          <p:nvPr/>
        </p:nvSpPr>
        <p:spPr>
          <a:xfrm>
            <a:off x="3648456" y="2898648"/>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Floor division</a:t>
            </a:r>
            <a:endParaRPr lang="en-US" sz="2000" dirty="0"/>
          </a:p>
        </p:txBody>
      </p:sp>
      <p:sp>
        <p:nvSpPr>
          <p:cNvPr id="19" name="Shape 17"/>
          <p:cNvSpPr/>
          <p:nvPr/>
        </p:nvSpPr>
        <p:spPr>
          <a:xfrm>
            <a:off x="6894576" y="2779776"/>
            <a:ext cx="4814316" cy="813816"/>
          </a:xfrm>
          <a:prstGeom prst="roundRect">
            <a:avLst>
              <a:gd name="adj" fmla="val 17978"/>
            </a:avLst>
          </a:prstGeom>
          <a:solidFill>
            <a:srgbClr val="EDF2F6"/>
          </a:solidFill>
          <a:ln w="12700">
            <a:solidFill>
              <a:srgbClr val="EDF2F6">
                <a:alpha val="0"/>
              </a:srgbClr>
            </a:solidFill>
            <a:prstDash val="solid"/>
          </a:ln>
        </p:spPr>
      </p:sp>
      <p:sp>
        <p:nvSpPr>
          <p:cNvPr id="20" name="Text 18"/>
          <p:cNvSpPr/>
          <p:nvPr/>
        </p:nvSpPr>
        <p:spPr>
          <a:xfrm>
            <a:off x="7031736" y="2898648"/>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5 // 2 = 2</a:t>
            </a:r>
            <a:endParaRPr lang="en-US" sz="2000" dirty="0"/>
          </a:p>
        </p:txBody>
      </p:sp>
      <p:sp>
        <p:nvSpPr>
          <p:cNvPr id="21" name="Shape 19"/>
          <p:cNvSpPr/>
          <p:nvPr/>
        </p:nvSpPr>
        <p:spPr>
          <a:xfrm>
            <a:off x="630936" y="3593592"/>
            <a:ext cx="2848356" cy="813816"/>
          </a:xfrm>
          <a:prstGeom prst="roundRect">
            <a:avLst>
              <a:gd name="adj" fmla="val 17978"/>
            </a:avLst>
          </a:prstGeom>
          <a:solidFill>
            <a:srgbClr val="FFFFFF"/>
          </a:solidFill>
          <a:ln w="12700">
            <a:solidFill>
              <a:srgbClr val="FFFFFF">
                <a:alpha val="0"/>
              </a:srgbClr>
            </a:solidFill>
            <a:prstDash val="solid"/>
          </a:ln>
        </p:spPr>
      </p:sp>
      <p:sp>
        <p:nvSpPr>
          <p:cNvPr id="22" name="Text 20"/>
          <p:cNvSpPr/>
          <p:nvPr/>
        </p:nvSpPr>
        <p:spPr>
          <a:xfrm>
            <a:off x="768096" y="3712464"/>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23" name="Shape 21"/>
          <p:cNvSpPr/>
          <p:nvPr/>
        </p:nvSpPr>
        <p:spPr>
          <a:xfrm>
            <a:off x="3511296" y="3593592"/>
            <a:ext cx="3351276" cy="813816"/>
          </a:xfrm>
          <a:prstGeom prst="roundRect">
            <a:avLst>
              <a:gd name="adj" fmla="val 17978"/>
            </a:avLst>
          </a:prstGeom>
          <a:solidFill>
            <a:srgbClr val="FFFFFF"/>
          </a:solidFill>
          <a:ln w="12700">
            <a:solidFill>
              <a:srgbClr val="FFFFFF">
                <a:alpha val="0"/>
              </a:srgbClr>
            </a:solidFill>
            <a:prstDash val="solid"/>
          </a:ln>
        </p:spPr>
      </p:sp>
      <p:sp>
        <p:nvSpPr>
          <p:cNvPr id="24" name="Text 22"/>
          <p:cNvSpPr/>
          <p:nvPr/>
        </p:nvSpPr>
        <p:spPr>
          <a:xfrm>
            <a:off x="3648456" y="3712464"/>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Remainder</a:t>
            </a:r>
            <a:endParaRPr lang="en-US" sz="2000" dirty="0"/>
          </a:p>
        </p:txBody>
      </p:sp>
      <p:sp>
        <p:nvSpPr>
          <p:cNvPr id="25" name="Shape 23"/>
          <p:cNvSpPr/>
          <p:nvPr/>
        </p:nvSpPr>
        <p:spPr>
          <a:xfrm>
            <a:off x="6894576" y="3593592"/>
            <a:ext cx="4814316" cy="813816"/>
          </a:xfrm>
          <a:prstGeom prst="roundRect">
            <a:avLst>
              <a:gd name="adj" fmla="val 17978"/>
            </a:avLst>
          </a:prstGeom>
          <a:solidFill>
            <a:srgbClr val="FFFFFF"/>
          </a:solidFill>
          <a:ln w="12700">
            <a:solidFill>
              <a:srgbClr val="FFFFFF">
                <a:alpha val="0"/>
              </a:srgbClr>
            </a:solidFill>
            <a:prstDash val="solid"/>
          </a:ln>
        </p:spPr>
      </p:sp>
      <p:sp>
        <p:nvSpPr>
          <p:cNvPr id="26" name="Text 24"/>
          <p:cNvSpPr/>
          <p:nvPr/>
        </p:nvSpPr>
        <p:spPr>
          <a:xfrm>
            <a:off x="7031736" y="3712464"/>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5 % 2 = 1</a:t>
            </a:r>
            <a:endParaRPr lang="en-US" sz="2000" dirty="0"/>
          </a:p>
        </p:txBody>
      </p:sp>
      <p:sp>
        <p:nvSpPr>
          <p:cNvPr id="27" name="Shape 25"/>
          <p:cNvSpPr/>
          <p:nvPr/>
        </p:nvSpPr>
        <p:spPr>
          <a:xfrm>
            <a:off x="630936" y="4407408"/>
            <a:ext cx="2848356" cy="813816"/>
          </a:xfrm>
          <a:prstGeom prst="roundRect">
            <a:avLst>
              <a:gd name="adj" fmla="val 17978"/>
            </a:avLst>
          </a:prstGeom>
          <a:solidFill>
            <a:srgbClr val="EDF2F6"/>
          </a:solidFill>
          <a:ln w="12700">
            <a:solidFill>
              <a:srgbClr val="EDF2F6">
                <a:alpha val="0"/>
              </a:srgbClr>
            </a:solidFill>
            <a:prstDash val="solid"/>
          </a:ln>
        </p:spPr>
      </p:sp>
      <p:sp>
        <p:nvSpPr>
          <p:cNvPr id="28" name="Text 26"/>
          <p:cNvSpPr/>
          <p:nvPr/>
        </p:nvSpPr>
        <p:spPr>
          <a:xfrm>
            <a:off x="768096" y="4526280"/>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a:t>
            </a:r>
            <a:endParaRPr lang="en-US" sz="2000" dirty="0"/>
          </a:p>
        </p:txBody>
      </p:sp>
      <p:sp>
        <p:nvSpPr>
          <p:cNvPr id="29" name="Shape 27"/>
          <p:cNvSpPr/>
          <p:nvPr/>
        </p:nvSpPr>
        <p:spPr>
          <a:xfrm>
            <a:off x="3511296" y="4407408"/>
            <a:ext cx="3351276" cy="813816"/>
          </a:xfrm>
          <a:prstGeom prst="roundRect">
            <a:avLst>
              <a:gd name="adj" fmla="val 17978"/>
            </a:avLst>
          </a:prstGeom>
          <a:solidFill>
            <a:srgbClr val="EDF2F6"/>
          </a:solidFill>
          <a:ln w="12700">
            <a:solidFill>
              <a:srgbClr val="EDF2F6">
                <a:alpha val="0"/>
              </a:srgbClr>
            </a:solidFill>
            <a:prstDash val="solid"/>
          </a:ln>
        </p:spPr>
      </p:sp>
      <p:sp>
        <p:nvSpPr>
          <p:cNvPr id="30" name="Text 28"/>
          <p:cNvSpPr/>
          <p:nvPr/>
        </p:nvSpPr>
        <p:spPr>
          <a:xfrm>
            <a:off x="3648456" y="4526280"/>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Exponent</a:t>
            </a:r>
            <a:endParaRPr lang="en-US" sz="2000" dirty="0"/>
          </a:p>
        </p:txBody>
      </p:sp>
      <p:sp>
        <p:nvSpPr>
          <p:cNvPr id="31" name="Shape 29"/>
          <p:cNvSpPr/>
          <p:nvPr/>
        </p:nvSpPr>
        <p:spPr>
          <a:xfrm>
            <a:off x="6894576" y="4407408"/>
            <a:ext cx="4814316" cy="813816"/>
          </a:xfrm>
          <a:prstGeom prst="roundRect">
            <a:avLst>
              <a:gd name="adj" fmla="val 17978"/>
            </a:avLst>
          </a:prstGeom>
          <a:solidFill>
            <a:srgbClr val="EDF2F6"/>
          </a:solidFill>
          <a:ln w="12700">
            <a:solidFill>
              <a:srgbClr val="EDF2F6">
                <a:alpha val="0"/>
              </a:srgbClr>
            </a:solidFill>
            <a:prstDash val="solid"/>
          </a:ln>
        </p:spPr>
      </p:sp>
      <p:sp>
        <p:nvSpPr>
          <p:cNvPr id="32" name="Text 30"/>
          <p:cNvSpPr/>
          <p:nvPr/>
        </p:nvSpPr>
        <p:spPr>
          <a:xfrm>
            <a:off x="7031736" y="4526280"/>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2 ** 3 = 8</a:t>
            </a:r>
            <a:endParaRPr lang="en-US"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See the Operators in Python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print(5 + 3)</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print(5 /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print(5 //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print(5 %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print(2 ** 3)</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8</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Explain the difference between / and //.</a:t>
            </a:r>
            <a:endParaRPr lang="en-US" sz="1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Assignment Operators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61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Assignment operators store or update values in a variable.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 assigns a value.</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 adds to the existing value</a:t>
            </a:r>
            <a:r>
              <a:rPr lang="en-US" sz="2250" dirty="0" smtClean="0">
                <a:solidFill>
                  <a:srgbClr val="253449"/>
                </a:solidFill>
                <a:latin typeface="Aptos" pitchFamily="34" charset="0"/>
                <a:ea typeface="Aptos" pitchFamily="34" charset="-122"/>
                <a:cs typeface="Aptos" pitchFamily="34" charset="-120"/>
              </a:rPr>
              <a:t>.</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 *=, /= and other shortcuts modify the current value.</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Read x += 1 as: increase x by one.</a:t>
            </a:r>
            <a:endParaRPr lang="en-US" sz="2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Assignment Shortcuts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score = 10</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score += 5</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print(score)</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score -= 2</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print(score)</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score *= 2</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print(score)</a:t>
            </a:r>
            <a:endParaRPr lang="en-US" sz="19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26</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Operator Precedence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Operator precedence decides which part of an expression is evaluated first.</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Parentheses can force a particular order.</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Powers happen before multiplication/division.</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Multiplication/division happen before addition/subtraction.</a:t>
            </a:r>
            <a:endParaRPr lang="en-US" sz="2250" dirty="0"/>
          </a:p>
        </p:txBody>
      </p:sp>
      <p:sp>
        <p:nvSpPr>
          <p:cNvPr id="17" name="Shape 15"/>
          <p:cNvSpPr/>
          <p:nvPr/>
        </p:nvSpPr>
        <p:spPr>
          <a:xfrm>
            <a:off x="713232" y="5367528"/>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24865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parentheses when an expression could be confusing.</a:t>
            </a:r>
            <a:endParaRPr lang="en-US" sz="2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Precedence — Compare the Answers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print(2 + 3 *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print((2 + 3) *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print(2 ** 3 ** 2)</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17</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512</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Multiplication before addition.</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Powers associate from right to left.</a:t>
            </a:r>
            <a:endParaRPr lang="en-US" sz="1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Comparison Operators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Comparison operators evaluate a question and produce True or False.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 means equal to; != means not equal to.</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&gt; and &lt; compare size.</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&gt;= and &lt;= include equality.</a:t>
            </a:r>
            <a:endParaRPr lang="en-US" sz="2250" dirty="0"/>
          </a:p>
        </p:txBody>
      </p:sp>
      <p:sp>
        <p:nvSpPr>
          <p:cNvPr id="17" name="Shape 15"/>
          <p:cNvSpPr/>
          <p:nvPr/>
        </p:nvSpPr>
        <p:spPr>
          <a:xfrm>
            <a:off x="713232" y="4965192"/>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48463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Remember: = assigns; == compares.</a:t>
            </a:r>
            <a:endParaRPr lang="en-US" sz="22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Comparison Examples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18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&gt;= 18)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print(5 &lt; 10)</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False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Every comparison returns a Boolean result.</a:t>
            </a:r>
            <a:endParaRPr lang="en-US" sz="17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Logical Operators: and, or, not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67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Logical operators combine or reverse Boolean conditions.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and: both conditions must be True.</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or: at least one condition must be True.</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not: reverses a Boolean value.</a:t>
            </a:r>
            <a:endParaRPr lang="en-US" sz="2250" dirty="0"/>
          </a:p>
        </p:txBody>
      </p:sp>
      <p:sp>
        <p:nvSpPr>
          <p:cNvPr id="17" name="Shape 15"/>
          <p:cNvSpPr/>
          <p:nvPr/>
        </p:nvSpPr>
        <p:spPr>
          <a:xfrm>
            <a:off x="713232" y="4965192"/>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48463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them when an action depends on multiple rules.</a:t>
            </a:r>
            <a:endParaRPr lang="en-US" sz="22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Logical Operator Examples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has_id = True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&gt;= 18 and has_id)</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print(age &lt; 18 or has_id)</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print(not has_id)</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False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3A — Predict True/False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69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Predict each result, then test your answers:</a:t>
            </a:r>
            <a:endParaRPr lang="en-US" sz="2600" dirty="0"/>
          </a:p>
          <a:p>
            <a:pPr marL="0" indent="0" algn="l">
              <a:buNone/>
            </a:pP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print(10 &gt; 5 and 3 &gt; 7)</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print(10 &gt; 5 or 3 &gt; 7)</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print(not (3 == 3))</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Evaluate each comparison first.</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3A — Answers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print(10 &gt; 5 and 3 &gt; 7)</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print(10 &gt; 5 or 3 &gt; 7)</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print(not (3 == 3))</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False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False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Conditional Statement?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71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conditional statement chooses which code should run based on a condition.</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if runs its indented block when the condition is True.</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else provides an alternative when the condition is False.</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elif checks another condition if earlier tests fail.</a:t>
            </a:r>
            <a:endParaRPr lang="en-US" sz="2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First Decision — if</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if age &gt;= 18: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print("Adult")</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print("Program finished")</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Adult</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Program finished</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 colon (:) starts the if block.</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Four spaces indent the statements inside the block.</a:t>
            </a:r>
            <a:endParaRPr lang="en-US" sz="17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Indentation Matters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Indentation means placing spaces before a code line to show its block.</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Python uses indentation to group code.</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four spaces consistently.</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lines aligned under if belong to that condition.</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 line outside the block runs independently.</a:t>
            </a:r>
            <a:endParaRPr lang="en-US" sz="22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Choose Between Two Results — if/else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70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if marks &gt;= 50: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print("Pass")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else: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print("Try again")</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Pass</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Multiple Results — if/elif/else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75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marks = 82</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if marks &gt;= 90:</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print("A")</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elif marks &gt;= 70:</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print("B")</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else:</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print("C")</a:t>
            </a:r>
            <a:endParaRPr lang="en-US" sz="19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B</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Python checks conditions top to bottom.</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9923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Only the first matching branch runs.</a:t>
            </a:r>
            <a:endParaRPr lang="en-US" sz="17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Combine Conditions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age = 25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if age &gt;= 18 and age &lt;= 90: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print("Allowed")</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else: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print("Not allowed")</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Allowed</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You can also write 18 &lt;= age &lt;= 90.</a:t>
            </a:r>
            <a:endParaRPr lang="en-US" sz="17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3B — Simple Grade Checker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77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Ask the user to enter marks. Print "Pass" if marks are 50 or higher; otherwise print "Fail</a:t>
            </a:r>
            <a:r>
              <a:rPr lang="en-US" sz="2600" dirty="0" smtClean="0">
                <a:solidFill>
                  <a:srgbClr val="14283E"/>
                </a:solidFill>
                <a:latin typeface="Aptos" pitchFamily="34" charset="0"/>
                <a:ea typeface="Aptos" pitchFamily="34" charset="-122"/>
                <a:cs typeface="Aptos" pitchFamily="34" charset="-120"/>
              </a:rPr>
              <a:t>".</a:t>
            </a:r>
          </a:p>
          <a:p>
            <a:pPr marL="0" indent="0" algn="l">
              <a:buNone/>
            </a:pPr>
            <a:endParaRPr lang="en-US" sz="2600" dirty="0">
              <a:solidFill>
                <a:srgbClr val="14283E"/>
              </a:solidFill>
              <a:latin typeface="Aptos" pitchFamily="34" charset="0"/>
              <a:ea typeface="Aptos" pitchFamily="34" charset="-122"/>
            </a:endParaRPr>
          </a:p>
          <a:p>
            <a:endParaRPr lang="en-US" sz="2600" dirty="0">
              <a:solidFill>
                <a:srgbClr val="14283E"/>
              </a:solidFill>
              <a:latin typeface="Aptos" pitchFamily="34" charset="0"/>
              <a:ea typeface="Aptos" pitchFamily="34" charset="-122"/>
            </a:endParaRPr>
          </a:p>
          <a:p>
            <a:endParaRPr lang="en-US" sz="2600" dirty="0"/>
          </a:p>
          <a:p>
            <a:pPr marL="0" indent="0" algn="l">
              <a:buNone/>
            </a:pP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Convert input using int() and write if/else.</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3B —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int(input("Enter marks: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if marks &gt;= 50: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print("Pass")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else: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print("Fail")</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Mini Project 1 — Calculator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79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We will build a calculator using concepts already learned.</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Take two numbers as input.</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Ask which operator the user wants (+, -, *, /).</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if / elif / else to choose the calculation.</a:t>
            </a:r>
            <a:endParaRPr lang="en-US" sz="2250" dirty="0"/>
          </a:p>
        </p:txBody>
      </p:sp>
      <p:sp>
        <p:nvSpPr>
          <p:cNvPr id="17" name="Shape 15"/>
          <p:cNvSpPr/>
          <p:nvPr/>
        </p:nvSpPr>
        <p:spPr>
          <a:xfrm>
            <a:off x="713232" y="5367528"/>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24865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Display the answer; avoid division by zero.</a:t>
            </a:r>
            <a:endParaRPr lang="en-US" sz="22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Calculator — Read Inputs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 = float(input("First number: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b = float(input("Second number: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op = input("Choose +, -, *, /: ")</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First check that numeric input is converted.</a:t>
            </a:r>
            <a:endParaRPr lang="en-US" sz="17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Calculator — Make a Decision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if op == "+":</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print(a + b)</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elif op == "-":</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print(a - b)</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elif op == "*":</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print(a * b)</a:t>
            </a:r>
            <a:endParaRPr lang="en-US" sz="1950" dirty="0"/>
          </a:p>
          <a:p>
            <a:pPr>
              <a:lnSpc>
                <a:spcPct val="108000"/>
              </a:lnSpc>
            </a:pPr>
            <a:r>
              <a:rPr lang="en-US" sz="2000" dirty="0" err="1">
                <a:solidFill>
                  <a:srgbClr val="F0F7FB"/>
                </a:solidFill>
                <a:latin typeface="Consolas" pitchFamily="34" charset="0"/>
                <a:ea typeface="Consolas" pitchFamily="34" charset="-122"/>
                <a:cs typeface="Consolas" pitchFamily="34" charset="-120"/>
              </a:rPr>
              <a:t>elif</a:t>
            </a:r>
            <a:r>
              <a:rPr lang="en-US" sz="2000" dirty="0">
                <a:solidFill>
                  <a:srgbClr val="F0F7FB"/>
                </a:solidFill>
                <a:latin typeface="Consolas" pitchFamily="34" charset="0"/>
                <a:ea typeface="Consolas" pitchFamily="34" charset="-122"/>
                <a:cs typeface="Consolas" pitchFamily="34" charset="-120"/>
              </a:rPr>
              <a:t> op == "/":</a:t>
            </a:r>
          </a:p>
          <a:p>
            <a:pPr>
              <a:lnSpc>
                <a:spcPct val="108000"/>
              </a:lnSpc>
            </a:pPr>
            <a:r>
              <a:rPr lang="en-US" sz="2000" dirty="0">
                <a:solidFill>
                  <a:srgbClr val="F0F7FB"/>
                </a:solidFill>
                <a:latin typeface="Consolas" pitchFamily="34" charset="0"/>
                <a:ea typeface="Consolas" pitchFamily="34" charset="-122"/>
                <a:cs typeface="Consolas" pitchFamily="34" charset="-120"/>
              </a:rPr>
              <a:t>    if b == 0:</a:t>
            </a:r>
          </a:p>
          <a:p>
            <a:pPr>
              <a:lnSpc>
                <a:spcPct val="108000"/>
              </a:lnSpc>
            </a:pPr>
            <a:r>
              <a:rPr lang="en-US" sz="2000" dirty="0">
                <a:solidFill>
                  <a:srgbClr val="F0F7FB"/>
                </a:solidFill>
                <a:latin typeface="Consolas" pitchFamily="34" charset="0"/>
                <a:ea typeface="Consolas" pitchFamily="34" charset="-122"/>
                <a:cs typeface="Consolas" pitchFamily="34" charset="-120"/>
              </a:rPr>
              <a:t>        print("cant divide by zero")</a:t>
            </a:r>
          </a:p>
          <a:p>
            <a:pPr>
              <a:lnSpc>
                <a:spcPct val="108000"/>
              </a:lnSpc>
            </a:pPr>
            <a:r>
              <a:rPr lang="en-US" sz="2000" dirty="0">
                <a:solidFill>
                  <a:srgbClr val="F0F7FB"/>
                </a:solidFill>
                <a:latin typeface="Consolas" pitchFamily="34" charset="0"/>
                <a:ea typeface="Consolas" pitchFamily="34" charset="-122"/>
                <a:cs typeface="Consolas" pitchFamily="34" charset="-120"/>
              </a:rPr>
              <a:t>    print(a / b)</a:t>
            </a:r>
          </a:p>
          <a:p>
            <a:pPr>
              <a:lnSpc>
                <a:spcPct val="108000"/>
              </a:lnSpc>
            </a:pPr>
            <a:r>
              <a:rPr lang="en-US" sz="2000" dirty="0">
                <a:solidFill>
                  <a:srgbClr val="F0F7FB"/>
                </a:solidFill>
                <a:latin typeface="Consolas" pitchFamily="34" charset="0"/>
                <a:ea typeface="Consolas" pitchFamily="34" charset="-122"/>
                <a:cs typeface="Consolas" pitchFamily="34" charset="-120"/>
              </a:rPr>
              <a:t>else:</a:t>
            </a:r>
          </a:p>
          <a:p>
            <a:pPr>
              <a:lnSpc>
                <a:spcPct val="108000"/>
              </a:lnSpc>
            </a:pPr>
            <a:r>
              <a:rPr lang="en-US" sz="2000" dirty="0">
                <a:solidFill>
                  <a:srgbClr val="F0F7FB"/>
                </a:solidFill>
                <a:latin typeface="Consolas" pitchFamily="34" charset="0"/>
                <a:ea typeface="Consolas" pitchFamily="34" charset="-122"/>
                <a:cs typeface="Consolas" pitchFamily="34" charset="-120"/>
              </a:rPr>
              <a:t>    print("Invalid operation")</a:t>
            </a:r>
            <a:endParaRPr lang="en-US" sz="19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Combine this block with the input slide to run it.</a:t>
            </a:r>
            <a:endParaRPr lang="en-US" sz="1750" dirty="0"/>
          </a:p>
        </p:txBody>
      </p:sp>
      <p:sp>
        <p:nvSpPr>
          <p:cNvPr id="15" name="Shape 13"/>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8531352" y="299923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For any unsupported operator, add an else block.</a:t>
            </a:r>
            <a:endParaRPr lang="en-US" sz="1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Calculator — Complete the Program</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fontScale="92500" lnSpcReduction="10000"/>
          </a:bodyPr>
          <a:lstStyle/>
          <a:p>
            <a:pPr>
              <a:lnSpc>
                <a:spcPct val="108000"/>
              </a:lnSpc>
            </a:pPr>
            <a:endParaRPr lang="en-US" sz="1700" dirty="0">
              <a:solidFill>
                <a:srgbClr val="F0F7FB"/>
              </a:solidFill>
              <a:latin typeface="Consolas" pitchFamily="34" charset="0"/>
              <a:ea typeface="Consolas" pitchFamily="34" charset="-122"/>
              <a:cs typeface="Consolas" pitchFamily="34" charset="-120"/>
            </a:endParaRPr>
          </a:p>
          <a:p>
            <a:pPr>
              <a:lnSpc>
                <a:spcPct val="108000"/>
              </a:lnSpc>
            </a:pPr>
            <a:r>
              <a:rPr lang="en-US" sz="1700" dirty="0">
                <a:solidFill>
                  <a:srgbClr val="F0F7FB"/>
                </a:solidFill>
                <a:latin typeface="Consolas" pitchFamily="34" charset="0"/>
                <a:ea typeface="Consolas" pitchFamily="34" charset="-122"/>
                <a:cs typeface="Consolas" pitchFamily="34" charset="-120"/>
              </a:rPr>
              <a:t>a = float(input("First number: "))</a:t>
            </a:r>
          </a:p>
          <a:p>
            <a:pPr>
              <a:lnSpc>
                <a:spcPct val="108000"/>
              </a:lnSpc>
            </a:pPr>
            <a:r>
              <a:rPr lang="en-US" sz="1700" dirty="0">
                <a:solidFill>
                  <a:srgbClr val="F0F7FB"/>
                </a:solidFill>
                <a:latin typeface="Consolas" pitchFamily="34" charset="0"/>
                <a:ea typeface="Consolas" pitchFamily="34" charset="-122"/>
                <a:cs typeface="Consolas" pitchFamily="34" charset="-120"/>
              </a:rPr>
              <a:t>b = float(input("Second number: "))</a:t>
            </a:r>
          </a:p>
          <a:p>
            <a:pPr>
              <a:lnSpc>
                <a:spcPct val="108000"/>
              </a:lnSpc>
            </a:pPr>
            <a:r>
              <a:rPr lang="en-US" sz="1700" dirty="0">
                <a:solidFill>
                  <a:srgbClr val="F0F7FB"/>
                </a:solidFill>
                <a:latin typeface="Consolas" pitchFamily="34" charset="0"/>
                <a:ea typeface="Consolas" pitchFamily="34" charset="-122"/>
                <a:cs typeface="Consolas" pitchFamily="34" charset="-120"/>
              </a:rPr>
              <a:t>op = input("Choose +, -, *, /: ")</a:t>
            </a:r>
          </a:p>
          <a:p>
            <a:pPr>
              <a:lnSpc>
                <a:spcPct val="108000"/>
              </a:lnSpc>
            </a:pPr>
            <a:endParaRPr lang="en-US" sz="1700" dirty="0">
              <a:solidFill>
                <a:srgbClr val="F0F7FB"/>
              </a:solidFill>
              <a:latin typeface="Consolas" pitchFamily="34" charset="0"/>
              <a:ea typeface="Consolas" pitchFamily="34" charset="-122"/>
              <a:cs typeface="Consolas" pitchFamily="34" charset="-120"/>
            </a:endParaRPr>
          </a:p>
          <a:p>
            <a:pPr>
              <a:lnSpc>
                <a:spcPct val="108000"/>
              </a:lnSpc>
            </a:pPr>
            <a:r>
              <a:rPr lang="en-US" sz="1700" dirty="0">
                <a:solidFill>
                  <a:srgbClr val="F0F7FB"/>
                </a:solidFill>
                <a:latin typeface="Consolas" pitchFamily="34" charset="0"/>
                <a:ea typeface="Consolas" pitchFamily="34" charset="-122"/>
                <a:cs typeface="Consolas" pitchFamily="34" charset="-120"/>
              </a:rPr>
              <a:t>if op == "+":</a:t>
            </a:r>
          </a:p>
          <a:p>
            <a:pPr>
              <a:lnSpc>
                <a:spcPct val="108000"/>
              </a:lnSpc>
            </a:pPr>
            <a:r>
              <a:rPr lang="en-US" sz="1700" dirty="0">
                <a:solidFill>
                  <a:srgbClr val="F0F7FB"/>
                </a:solidFill>
                <a:latin typeface="Consolas" pitchFamily="34" charset="0"/>
                <a:ea typeface="Consolas" pitchFamily="34" charset="-122"/>
                <a:cs typeface="Consolas" pitchFamily="34" charset="-120"/>
              </a:rPr>
              <a:t>    print(a + b)</a:t>
            </a:r>
          </a:p>
          <a:p>
            <a:pPr>
              <a:lnSpc>
                <a:spcPct val="108000"/>
              </a:lnSpc>
            </a:pPr>
            <a:r>
              <a:rPr lang="en-US" sz="1700" dirty="0" err="1">
                <a:solidFill>
                  <a:srgbClr val="F0F7FB"/>
                </a:solidFill>
                <a:latin typeface="Consolas" pitchFamily="34" charset="0"/>
                <a:ea typeface="Consolas" pitchFamily="34" charset="-122"/>
                <a:cs typeface="Consolas" pitchFamily="34" charset="-120"/>
              </a:rPr>
              <a:t>elif</a:t>
            </a:r>
            <a:r>
              <a:rPr lang="en-US" sz="1700" dirty="0">
                <a:solidFill>
                  <a:srgbClr val="F0F7FB"/>
                </a:solidFill>
                <a:latin typeface="Consolas" pitchFamily="34" charset="0"/>
                <a:ea typeface="Consolas" pitchFamily="34" charset="-122"/>
                <a:cs typeface="Consolas" pitchFamily="34" charset="-120"/>
              </a:rPr>
              <a:t> op == "-":</a:t>
            </a:r>
          </a:p>
          <a:p>
            <a:pPr>
              <a:lnSpc>
                <a:spcPct val="108000"/>
              </a:lnSpc>
            </a:pPr>
            <a:r>
              <a:rPr lang="en-US" sz="1700" dirty="0">
                <a:solidFill>
                  <a:srgbClr val="F0F7FB"/>
                </a:solidFill>
                <a:latin typeface="Consolas" pitchFamily="34" charset="0"/>
                <a:ea typeface="Consolas" pitchFamily="34" charset="-122"/>
                <a:cs typeface="Consolas" pitchFamily="34" charset="-120"/>
              </a:rPr>
              <a:t>    print(a - b)</a:t>
            </a:r>
          </a:p>
          <a:p>
            <a:pPr>
              <a:lnSpc>
                <a:spcPct val="108000"/>
              </a:lnSpc>
            </a:pPr>
            <a:r>
              <a:rPr lang="en-US" sz="1700" dirty="0" err="1">
                <a:solidFill>
                  <a:srgbClr val="F0F7FB"/>
                </a:solidFill>
                <a:latin typeface="Consolas" pitchFamily="34" charset="0"/>
                <a:ea typeface="Consolas" pitchFamily="34" charset="-122"/>
                <a:cs typeface="Consolas" pitchFamily="34" charset="-120"/>
              </a:rPr>
              <a:t>elif</a:t>
            </a:r>
            <a:r>
              <a:rPr lang="en-US" sz="1700" dirty="0">
                <a:solidFill>
                  <a:srgbClr val="F0F7FB"/>
                </a:solidFill>
                <a:latin typeface="Consolas" pitchFamily="34" charset="0"/>
                <a:ea typeface="Consolas" pitchFamily="34" charset="-122"/>
                <a:cs typeface="Consolas" pitchFamily="34" charset="-120"/>
              </a:rPr>
              <a:t> op == "*":</a:t>
            </a:r>
          </a:p>
          <a:p>
            <a:pPr>
              <a:lnSpc>
                <a:spcPct val="108000"/>
              </a:lnSpc>
            </a:pPr>
            <a:r>
              <a:rPr lang="en-US" sz="1700" dirty="0">
                <a:solidFill>
                  <a:srgbClr val="F0F7FB"/>
                </a:solidFill>
                <a:latin typeface="Consolas" pitchFamily="34" charset="0"/>
                <a:ea typeface="Consolas" pitchFamily="34" charset="-122"/>
                <a:cs typeface="Consolas" pitchFamily="34" charset="-120"/>
              </a:rPr>
              <a:t>    print(a * b)</a:t>
            </a:r>
          </a:p>
          <a:p>
            <a:pPr>
              <a:lnSpc>
                <a:spcPct val="108000"/>
              </a:lnSpc>
            </a:pPr>
            <a:r>
              <a:rPr lang="en-US" sz="1700" dirty="0" err="1">
                <a:solidFill>
                  <a:srgbClr val="F0F7FB"/>
                </a:solidFill>
                <a:latin typeface="Consolas" pitchFamily="34" charset="0"/>
                <a:ea typeface="Consolas" pitchFamily="34" charset="-122"/>
                <a:cs typeface="Consolas" pitchFamily="34" charset="-120"/>
              </a:rPr>
              <a:t>elif</a:t>
            </a:r>
            <a:r>
              <a:rPr lang="en-US" sz="1700" dirty="0">
                <a:solidFill>
                  <a:srgbClr val="F0F7FB"/>
                </a:solidFill>
                <a:latin typeface="Consolas" pitchFamily="34" charset="0"/>
                <a:ea typeface="Consolas" pitchFamily="34" charset="-122"/>
                <a:cs typeface="Consolas" pitchFamily="34" charset="-120"/>
              </a:rPr>
              <a:t> op == "/":</a:t>
            </a:r>
          </a:p>
          <a:p>
            <a:pPr>
              <a:lnSpc>
                <a:spcPct val="108000"/>
              </a:lnSpc>
            </a:pPr>
            <a:r>
              <a:rPr lang="en-US" sz="1700" dirty="0">
                <a:solidFill>
                  <a:srgbClr val="F0F7FB"/>
                </a:solidFill>
                <a:latin typeface="Consolas" pitchFamily="34" charset="0"/>
                <a:ea typeface="Consolas" pitchFamily="34" charset="-122"/>
                <a:cs typeface="Consolas" pitchFamily="34" charset="-120"/>
              </a:rPr>
              <a:t>    if b == 0:</a:t>
            </a:r>
          </a:p>
          <a:p>
            <a:pPr>
              <a:lnSpc>
                <a:spcPct val="108000"/>
              </a:lnSpc>
            </a:pPr>
            <a:r>
              <a:rPr lang="en-US" sz="1700" dirty="0">
                <a:solidFill>
                  <a:srgbClr val="F0F7FB"/>
                </a:solidFill>
                <a:latin typeface="Consolas" pitchFamily="34" charset="0"/>
                <a:ea typeface="Consolas" pitchFamily="34" charset="-122"/>
                <a:cs typeface="Consolas" pitchFamily="34" charset="-120"/>
              </a:rPr>
              <a:t>        print("cant divide by zero")</a:t>
            </a:r>
          </a:p>
          <a:p>
            <a:pPr>
              <a:lnSpc>
                <a:spcPct val="108000"/>
              </a:lnSpc>
            </a:pPr>
            <a:r>
              <a:rPr lang="en-US" sz="1700" dirty="0">
                <a:solidFill>
                  <a:srgbClr val="F0F7FB"/>
                </a:solidFill>
                <a:latin typeface="Consolas" pitchFamily="34" charset="0"/>
                <a:ea typeface="Consolas" pitchFamily="34" charset="-122"/>
                <a:cs typeface="Consolas" pitchFamily="34" charset="-120"/>
              </a:rPr>
              <a:t>    print(a / b)</a:t>
            </a:r>
          </a:p>
          <a:p>
            <a:pPr>
              <a:lnSpc>
                <a:spcPct val="108000"/>
              </a:lnSpc>
            </a:pPr>
            <a:r>
              <a:rPr lang="en-US" sz="1700" dirty="0">
                <a:solidFill>
                  <a:srgbClr val="F0F7FB"/>
                </a:solidFill>
                <a:latin typeface="Consolas" pitchFamily="34" charset="0"/>
                <a:ea typeface="Consolas" pitchFamily="34" charset="-122"/>
                <a:cs typeface="Consolas" pitchFamily="34" charset="-120"/>
              </a:rPr>
              <a:t>else:</a:t>
            </a:r>
          </a:p>
          <a:p>
            <a:pPr>
              <a:lnSpc>
                <a:spcPct val="108000"/>
              </a:lnSpc>
            </a:pPr>
            <a:r>
              <a:rPr lang="en-US" sz="1700" dirty="0">
                <a:solidFill>
                  <a:srgbClr val="F0F7FB"/>
                </a:solidFill>
                <a:latin typeface="Consolas" pitchFamily="34" charset="0"/>
                <a:ea typeface="Consolas" pitchFamily="34" charset="-122"/>
                <a:cs typeface="Consolas" pitchFamily="34" charset="-120"/>
              </a:rPr>
              <a:t>    print("Invalid operation")</a:t>
            </a:r>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First number: 10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Second number: 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Choose +, -, *, /: *</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20.0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Complete runnable example.</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Use input → decision → output.</a:t>
            </a:r>
            <a:endParaRPr lang="en-US" sz="17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Calculator — Student Challenge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83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761488"/>
          </a:xfrm>
          <a:prstGeom prst="rect">
            <a:avLst/>
          </a:prstGeom>
          <a:noFill/>
          <a:ln/>
        </p:spPr>
        <p:txBody>
          <a:bodyPr wrap="square" lIns="0" tIns="0" rIns="0" bIns="0" rtlCol="0" anchor="t">
            <a:normAutofit/>
          </a:bodyPr>
          <a:lstStyle/>
          <a:p>
            <a:pPr marL="457200" indent="-457200">
              <a:buFont typeface="Arial" panose="020B0604020202020204" pitchFamily="34" charset="0"/>
              <a:buChar char="•"/>
            </a:pPr>
            <a:r>
              <a:rPr lang="en-US" sz="2600" dirty="0" smtClean="0">
                <a:solidFill>
                  <a:srgbClr val="14283E"/>
                </a:solidFill>
                <a:latin typeface="Aptos" pitchFamily="34" charset="0"/>
                <a:ea typeface="Aptos" pitchFamily="34" charset="-122"/>
                <a:cs typeface="Aptos" pitchFamily="34" charset="-120"/>
              </a:rPr>
              <a:t>Ask the user to enter a number , then display if the number is positive , negative or zero</a:t>
            </a:r>
            <a:r>
              <a:rPr lang="en-US" sz="2600" dirty="0">
                <a:solidFill>
                  <a:srgbClr val="14283E"/>
                </a:solidFill>
                <a:latin typeface="Aptos" pitchFamily="34" charset="0"/>
                <a:ea typeface="Aptos" pitchFamily="34" charset="-122"/>
                <a:cs typeface="Aptos" pitchFamily="34" charset="-120"/>
              </a:rPr>
              <a:t/>
            </a:r>
            <a:br>
              <a:rPr lang="en-US" sz="2600" dirty="0">
                <a:solidFill>
                  <a:srgbClr val="14283E"/>
                </a:solidFill>
                <a:latin typeface="Aptos" pitchFamily="34" charset="0"/>
                <a:ea typeface="Aptos" pitchFamily="34" charset="-122"/>
                <a:cs typeface="Aptos" pitchFamily="34" charset="-120"/>
              </a:rPr>
            </a:br>
            <a:endParaRPr lang="en-US" sz="2600" dirty="0" smtClean="0">
              <a:solidFill>
                <a:srgbClr val="14283E"/>
              </a:solidFill>
              <a:latin typeface="Aptos" pitchFamily="34" charset="0"/>
              <a:ea typeface="Aptos" pitchFamily="34" charset="-122"/>
              <a:cs typeface="Aptos" pitchFamily="34" charset="-120"/>
            </a:endParaRPr>
          </a:p>
          <a:p>
            <a:pPr marL="457200" indent="-457200">
              <a:buFont typeface="Arial" panose="020B0604020202020204" pitchFamily="34" charset="0"/>
              <a:buChar char="•"/>
            </a:pPr>
            <a:r>
              <a:rPr lang="en-US" sz="2600" dirty="0" smtClean="0">
                <a:solidFill>
                  <a:srgbClr val="14283E"/>
                </a:solidFill>
                <a:latin typeface="Aptos" pitchFamily="34" charset="0"/>
                <a:ea typeface="Aptos" pitchFamily="34" charset="-122"/>
                <a:cs typeface="Aptos" pitchFamily="34" charset="-120"/>
              </a:rPr>
              <a:t>Ask </a:t>
            </a:r>
            <a:r>
              <a:rPr lang="en-US" sz="2600" dirty="0">
                <a:solidFill>
                  <a:srgbClr val="14283E"/>
                </a:solidFill>
                <a:latin typeface="Aptos" pitchFamily="34" charset="0"/>
                <a:ea typeface="Aptos" pitchFamily="34" charset="-122"/>
                <a:cs typeface="Aptos" pitchFamily="34" charset="-120"/>
              </a:rPr>
              <a:t>the user to enter marks and Print its Grade. </a:t>
            </a:r>
            <a:endParaRPr lang="en-US" sz="2600" dirty="0" smtClean="0">
              <a:solidFill>
                <a:srgbClr val="14283E"/>
              </a:solidFill>
              <a:latin typeface="Aptos" pitchFamily="34" charset="0"/>
              <a:ea typeface="Aptos" pitchFamily="34" charset="-122"/>
              <a:cs typeface="Aptos" pitchFamily="34" charset="-120"/>
            </a:endParaRPr>
          </a:p>
          <a:p>
            <a:r>
              <a:rPr lang="en-US" sz="2600" dirty="0" smtClean="0">
                <a:solidFill>
                  <a:srgbClr val="14283E"/>
                </a:solidFill>
                <a:latin typeface="Aptos" pitchFamily="34" charset="0"/>
                <a:ea typeface="Aptos" pitchFamily="34" charset="-122"/>
              </a:rPr>
              <a:t>Above </a:t>
            </a:r>
            <a:r>
              <a:rPr lang="en-US" sz="2600" dirty="0" smtClean="0">
                <a:solidFill>
                  <a:srgbClr val="14283E"/>
                </a:solidFill>
                <a:latin typeface="Aptos" pitchFamily="34" charset="0"/>
                <a:ea typeface="Aptos" pitchFamily="34" charset="-122"/>
              </a:rPr>
              <a:t>80% grade A+, 70 to 79 grade A , 60 to 69 grade B , 50 to 59 grade C, 40 to 49 grade D , below 40 grade F</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endParaRPr lang="en-US"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FFBC56"/>
          </a:solidFill>
          <a:ln w="12700">
            <a:solidFill>
              <a:srgbClr val="FFBC56">
                <a:alpha val="0"/>
              </a:srgbClr>
            </a:solidFill>
            <a:prstDash val="solid"/>
          </a:ln>
        </p:spPr>
      </p:sp>
      <p:sp>
        <p:nvSpPr>
          <p:cNvPr id="3" name="Text 1"/>
          <p:cNvSpPr/>
          <p:nvPr/>
        </p:nvSpPr>
        <p:spPr>
          <a:xfrm>
            <a:off x="950976" y="1133856"/>
            <a:ext cx="8595360" cy="448056"/>
          </a:xfrm>
          <a:prstGeom prst="rect">
            <a:avLst/>
          </a:prstGeom>
          <a:noFill/>
          <a:ln/>
        </p:spPr>
        <p:txBody>
          <a:bodyPr wrap="square" lIns="0" tIns="0" rIns="0" bIns="0" rtlCol="0" anchor="ctr">
            <a:normAutofit/>
          </a:bodyPr>
          <a:lstStyle/>
          <a:p>
            <a:pPr marL="0" indent="0" algn="l">
              <a:buNone/>
            </a:pPr>
            <a:r>
              <a:rPr lang="en-US" sz="1900" b="1" kern="0" spc="200" dirty="0">
                <a:solidFill>
                  <a:srgbClr val="FFBC56"/>
                </a:solidFill>
                <a:latin typeface="Aptos" pitchFamily="34" charset="0"/>
                <a:ea typeface="Aptos" pitchFamily="34" charset="-122"/>
                <a:cs typeface="Aptos" pitchFamily="34" charset="-120"/>
              </a:rPr>
              <a:t>PYTHON PART 4</a:t>
            </a:r>
            <a:endParaRPr lang="en-US" sz="1900" dirty="0"/>
          </a:p>
        </p:txBody>
      </p:sp>
      <p:sp>
        <p:nvSpPr>
          <p:cNvPr id="4" name="Text 2"/>
          <p:cNvSpPr/>
          <p:nvPr/>
        </p:nvSpPr>
        <p:spPr>
          <a:xfrm>
            <a:off x="950976" y="2002536"/>
            <a:ext cx="10195560" cy="1554480"/>
          </a:xfrm>
          <a:prstGeom prst="rect">
            <a:avLst/>
          </a:prstGeom>
          <a:noFill/>
          <a:ln/>
        </p:spPr>
        <p:txBody>
          <a:bodyPr wrap="square" lIns="0" tIns="0" rIns="0" bIns="0" rtlCol="0" anchor="t">
            <a:normAutofit/>
          </a:bodyPr>
          <a:lstStyle/>
          <a:p>
            <a:pPr marL="0" indent="0" algn="l">
              <a:buNone/>
            </a:pPr>
            <a:r>
              <a:rPr lang="en-US" sz="4500" b="1" dirty="0">
                <a:solidFill>
                  <a:srgbClr val="FFFFFF"/>
                </a:solidFill>
                <a:latin typeface="Aptos" pitchFamily="34" charset="0"/>
                <a:ea typeface="Aptos" pitchFamily="34" charset="-122"/>
                <a:cs typeface="Aptos" pitchFamily="34" charset="-120"/>
              </a:rPr>
              <a:t>Loops &amp; Repetition</a:t>
            </a:r>
            <a:endParaRPr lang="en-US" sz="4500" dirty="0"/>
          </a:p>
        </p:txBody>
      </p:sp>
      <p:sp>
        <p:nvSpPr>
          <p:cNvPr id="5" name="Shape 3"/>
          <p:cNvSpPr/>
          <p:nvPr/>
        </p:nvSpPr>
        <p:spPr>
          <a:xfrm>
            <a:off x="960120" y="4187952"/>
            <a:ext cx="7863840" cy="27432"/>
          </a:xfrm>
          <a:prstGeom prst="rect">
            <a:avLst/>
          </a:prstGeom>
          <a:solidFill>
            <a:srgbClr val="416273"/>
          </a:solidFill>
          <a:ln w="12700">
            <a:solidFill>
              <a:srgbClr val="416273">
                <a:alpha val="0"/>
              </a:srgbClr>
            </a:solidFill>
            <a:prstDash val="solid"/>
          </a:ln>
        </p:spPr>
      </p:sp>
      <p:sp>
        <p:nvSpPr>
          <p:cNvPr id="6" name="Text 4"/>
          <p:cNvSpPr/>
          <p:nvPr/>
        </p:nvSpPr>
        <p:spPr>
          <a:xfrm>
            <a:off x="950976" y="4517136"/>
            <a:ext cx="9875520" cy="1005840"/>
          </a:xfrm>
          <a:prstGeom prst="rect">
            <a:avLst/>
          </a:prstGeom>
          <a:noFill/>
          <a:ln/>
        </p:spPr>
        <p:txBody>
          <a:bodyPr wrap="square" lIns="0" tIns="0" rIns="0" bIns="0" rtlCol="0" anchor="ctr">
            <a:normAutofit/>
          </a:bodyPr>
          <a:lstStyle/>
          <a:p>
            <a:pPr marL="0" indent="0" algn="l">
              <a:buNone/>
            </a:pPr>
            <a:r>
              <a:rPr lang="en-US" sz="2300" dirty="0">
                <a:solidFill>
                  <a:srgbClr val="CFE4ED"/>
                </a:solidFill>
                <a:latin typeface="Aptos" pitchFamily="34" charset="0"/>
                <a:ea typeface="Aptos" pitchFamily="34" charset="-122"/>
                <a:cs typeface="Aptos" pitchFamily="34" charset="-120"/>
              </a:rPr>
              <a:t>Repeat instructions instead of writing the same line many times.</a:t>
            </a:r>
            <a:endParaRPr lang="en-US" sz="2300" dirty="0"/>
          </a:p>
        </p:txBody>
      </p:sp>
      <p:sp>
        <p:nvSpPr>
          <p:cNvPr id="7" name="Text 5"/>
          <p:cNvSpPr/>
          <p:nvPr/>
        </p:nvSpPr>
        <p:spPr>
          <a:xfrm>
            <a:off x="10698480" y="6053328"/>
            <a:ext cx="640080" cy="256032"/>
          </a:xfrm>
          <a:prstGeom prst="rect">
            <a:avLst/>
          </a:prstGeom>
          <a:noFill/>
          <a:ln/>
        </p:spPr>
        <p:txBody>
          <a:bodyPr wrap="square" lIns="0" tIns="0" rIns="0" bIns="0" rtlCol="0" anchor="ctr">
            <a:normAutofit/>
          </a:bodyPr>
          <a:lstStyle/>
          <a:p>
            <a:pPr marL="0" indent="0" algn="l">
              <a:buNone/>
            </a:pPr>
            <a:r>
              <a:rPr lang="en-US" sz="1400" dirty="0">
                <a:solidFill>
                  <a:srgbClr val="86A9BB"/>
                </a:solidFill>
                <a:latin typeface="Aptos" pitchFamily="34" charset="0"/>
                <a:ea typeface="Aptos" pitchFamily="34" charset="-122"/>
                <a:cs typeface="Aptos" pitchFamily="34" charset="-120"/>
              </a:rPr>
              <a:t>084</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Why Do We Need Loops?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loop runs the same block of code more than once.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Useful for lists of items, number patterns, and repeated questions.</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for loops iterate through a sequence.</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while loops repeat while a condition stays True.</a:t>
            </a:r>
            <a:endParaRPr lang="en-US" sz="22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range()?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86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range() represents a sequence of integers, commonly used with for loops.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range(stop) starts at 0 and stops before stop.</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range(start, stop) starts at start.</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range(start, stop, step) changes the step.</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stop value is excluded.</a:t>
            </a:r>
            <a:endParaRPr lang="en-US" sz="22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range() — Three Examples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print(list(range(5)))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print(list(range(1, 6)))</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print(list(range(2, 11, 2)))</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[0, 1, 2, 3, 4]</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 2, 3, 4, 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 4, 6, 8, 10]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list() makes the values visible for learning.</a:t>
            </a:r>
            <a:endParaRPr lang="en-US" sz="17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while Loop?</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88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while loop repeats as long as its condition evaluates to True.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Check the condition before each </a:t>
            </a:r>
            <a:r>
              <a:rPr lang="en-US" sz="2250" dirty="0" smtClean="0">
                <a:solidFill>
                  <a:srgbClr val="253449"/>
                </a:solidFill>
                <a:latin typeface="Aptos" pitchFamily="34" charset="0"/>
                <a:ea typeface="Aptos" pitchFamily="34" charset="-122"/>
                <a:cs typeface="Aptos" pitchFamily="34" charset="-120"/>
              </a:rPr>
              <a:t>Iteration.</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Update a variable so the loop can eventually stop.</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Without an update, an infinite loop may occur.</a:t>
            </a:r>
            <a:endParaRPr lang="en-US" sz="22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while — Print 1 to 5</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89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count = 1</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while count &lt;=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print(count)</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count += 1</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5</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Trace count after each repetition.</a:t>
            </a:r>
            <a:endParaRPr lang="en-US" sz="17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while — Star Pattern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level = 1</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while level &lt;=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a:t>
            </a:r>
            <a:r>
              <a:rPr lang="en-US" sz="2150" dirty="0" smtClean="0">
                <a:solidFill>
                  <a:srgbClr val="F0F7FB"/>
                </a:solidFill>
                <a:latin typeface="Consolas" pitchFamily="34" charset="0"/>
                <a:ea typeface="Consolas" pitchFamily="34" charset="-122"/>
                <a:cs typeface="Consolas" pitchFamily="34" charset="-120"/>
              </a:rPr>
              <a:t>("*" </a:t>
            </a:r>
            <a:r>
              <a:rPr lang="en-US" sz="2150" dirty="0">
                <a:solidFill>
                  <a:srgbClr val="F0F7FB"/>
                </a:solidFill>
                <a:latin typeface="Consolas" pitchFamily="34" charset="0"/>
                <a:ea typeface="Consolas" pitchFamily="34" charset="-122"/>
                <a:cs typeface="Consolas" pitchFamily="34" charset="-120"/>
              </a:rPr>
              <a:t>* level)</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level += 1</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Multiplying a string repeats it.</a:t>
            </a:r>
            <a:endParaRPr lang="en-US" sz="17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Calculator — Student Challenge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83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3"/>
            <a:ext cx="10451592" cy="2619063"/>
          </a:xfrm>
          <a:prstGeom prst="rect">
            <a:avLst/>
          </a:prstGeom>
          <a:noFill/>
          <a:ln/>
        </p:spPr>
        <p:txBody>
          <a:bodyPr wrap="square" lIns="0" tIns="0" rIns="0" bIns="0" rtlCol="0" anchor="t">
            <a:normAutofit lnSpcReduction="10000"/>
          </a:bodyPr>
          <a:lstStyle/>
          <a:p>
            <a:r>
              <a:rPr lang="en-US" sz="2600" dirty="0" smtClean="0">
                <a:solidFill>
                  <a:srgbClr val="14283E"/>
                </a:solidFill>
                <a:latin typeface="Aptos" pitchFamily="34" charset="0"/>
                <a:ea typeface="Aptos" pitchFamily="34" charset="-122"/>
                <a:cs typeface="Aptos" pitchFamily="34" charset="-120"/>
              </a:rPr>
              <a:t>Print the following pattern using while loop</a:t>
            </a:r>
          </a:p>
          <a:p>
            <a:r>
              <a:rPr lang="en-US" sz="2600" dirty="0" smtClean="0">
                <a:solidFill>
                  <a:srgbClr val="14283E"/>
                </a:solidFill>
                <a:latin typeface="Aptos" pitchFamily="34" charset="0"/>
                <a:ea typeface="Aptos" pitchFamily="34" charset="-122"/>
              </a:rPr>
              <a:t>$$$$$$</a:t>
            </a:r>
          </a:p>
          <a:p>
            <a:r>
              <a:rPr lang="en-US" sz="2600" dirty="0" smtClean="0">
                <a:solidFill>
                  <a:srgbClr val="14283E"/>
                </a:solidFill>
                <a:latin typeface="Aptos" pitchFamily="34" charset="0"/>
                <a:ea typeface="Aptos" pitchFamily="34" charset="-122"/>
              </a:rPr>
              <a:t>$$$$$</a:t>
            </a:r>
          </a:p>
          <a:p>
            <a:r>
              <a:rPr lang="en-US" sz="2600" dirty="0" smtClean="0">
                <a:solidFill>
                  <a:srgbClr val="14283E"/>
                </a:solidFill>
                <a:latin typeface="Aptos" pitchFamily="34" charset="0"/>
                <a:ea typeface="Aptos" pitchFamily="34" charset="-122"/>
              </a:rPr>
              <a:t>$$$$</a:t>
            </a:r>
          </a:p>
          <a:p>
            <a:r>
              <a:rPr lang="en-US" sz="2600" dirty="0" smtClean="0">
                <a:solidFill>
                  <a:srgbClr val="14283E"/>
                </a:solidFill>
                <a:latin typeface="Aptos" pitchFamily="34" charset="0"/>
                <a:ea typeface="Aptos" pitchFamily="34" charset="-122"/>
              </a:rPr>
              <a:t>$$$</a:t>
            </a:r>
          </a:p>
          <a:p>
            <a:r>
              <a:rPr lang="en-US" sz="2600" dirty="0" smtClean="0">
                <a:solidFill>
                  <a:srgbClr val="14283E"/>
                </a:solidFill>
                <a:latin typeface="Aptos" pitchFamily="34" charset="0"/>
                <a:ea typeface="Aptos" pitchFamily="34" charset="-122"/>
              </a:rPr>
              <a:t>$$</a:t>
            </a:r>
          </a:p>
          <a:p>
            <a:r>
              <a:rPr lang="en-US" sz="2600" dirty="0">
                <a:solidFill>
                  <a:srgbClr val="14283E"/>
                </a:solidFill>
                <a:latin typeface="Aptos" pitchFamily="34" charset="0"/>
                <a:ea typeface="Aptos" pitchFamily="34" charset="-122"/>
              </a:rPr>
              <a:t>$</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Challenge follows the supplied PDF calculator exercise.</a:t>
            </a:r>
            <a:endParaRPr lang="en-US" sz="1800" dirty="0"/>
          </a:p>
        </p:txBody>
      </p:sp>
    </p:spTree>
    <p:extLst>
      <p:ext uri="{BB962C8B-B14F-4D97-AF65-F5344CB8AC3E}">
        <p14:creationId xmlns:p14="http://schemas.microsoft.com/office/powerpoint/2010/main" val="17196894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for Loop?</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91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for loop visits each item in a sequence one after another.</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Works with ranges, strings, lists and other iterable values.</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for value in sequence: introduces the block.</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do not normally update the loop variable manually.</a:t>
            </a:r>
            <a:endParaRPr lang="en-US" sz="22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for — Print Numbers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number in range(1, 6):</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print(number)</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5</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This does the same visible work as the while example.</a:t>
            </a:r>
            <a:endParaRPr lang="en-US" sz="17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for — Print Even Numbers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93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number in range(2, 11,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print(number)</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6</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range() step of 2 skips odd numbers.</a:t>
            </a:r>
            <a:endParaRPr lang="en-US" sz="17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for or while?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94  /  151</a:t>
            </a:r>
            <a:endParaRPr lang="en-US" sz="1000" dirty="0"/>
          </a:p>
        </p:txBody>
      </p:sp>
      <p:sp>
        <p:nvSpPr>
          <p:cNvPr id="8" name="Shape 6"/>
          <p:cNvSpPr/>
          <p:nvPr/>
        </p:nvSpPr>
        <p:spPr>
          <a:xfrm>
            <a:off x="539496" y="1581912"/>
            <a:ext cx="5321808" cy="3172968"/>
          </a:xfrm>
          <a:prstGeom prst="roundRect">
            <a:avLst>
              <a:gd name="adj" fmla="val 4611"/>
            </a:avLst>
          </a:prstGeom>
          <a:solidFill>
            <a:srgbClr val="EDF2F6"/>
          </a:solidFill>
          <a:ln w="12700">
            <a:solidFill>
              <a:srgbClr val="EDF2F6">
                <a:alpha val="0"/>
              </a:srgbClr>
            </a:solidFill>
            <a:prstDash val="solid"/>
          </a:ln>
        </p:spPr>
      </p:sp>
      <p:sp>
        <p:nvSpPr>
          <p:cNvPr id="9" name="Shape 7"/>
          <p:cNvSpPr/>
          <p:nvPr/>
        </p:nvSpPr>
        <p:spPr>
          <a:xfrm>
            <a:off x="6071616" y="1581912"/>
            <a:ext cx="5550408" cy="3172968"/>
          </a:xfrm>
          <a:prstGeom prst="roundRect">
            <a:avLst>
              <a:gd name="adj" fmla="val 4611"/>
            </a:avLst>
          </a:prstGeom>
          <a:solidFill>
            <a:srgbClr val="DDF7EE"/>
          </a:solidFill>
          <a:ln w="12700">
            <a:solidFill>
              <a:srgbClr val="DDF7EE">
                <a:alpha val="0"/>
              </a:srgbClr>
            </a:solidFill>
            <a:prstDash val="solid"/>
          </a:ln>
        </p:spPr>
      </p:sp>
      <p:sp>
        <p:nvSpPr>
          <p:cNvPr id="10" name="Text 8"/>
          <p:cNvSpPr/>
          <p:nvPr/>
        </p:nvSpPr>
        <p:spPr>
          <a:xfrm>
            <a:off x="841248" y="1801368"/>
            <a:ext cx="4114800" cy="219456"/>
          </a:xfrm>
          <a:prstGeom prst="rect">
            <a:avLst/>
          </a:prstGeom>
          <a:noFill/>
          <a:ln/>
        </p:spPr>
        <p:txBody>
          <a:bodyPr wrap="square" lIns="0" tIns="0" rIns="0" bIns="0" rtlCol="0" anchor="ctr">
            <a:normAutofit/>
          </a:bodyPr>
          <a:lstStyle/>
          <a:p>
            <a:pPr marL="0" indent="0" algn="l">
              <a:buNone/>
            </a:pPr>
            <a:r>
              <a:rPr lang="en-US" sz="1400" b="1" dirty="0">
                <a:solidFill>
                  <a:srgbClr val="597083"/>
                </a:solidFill>
                <a:latin typeface="Aptos" pitchFamily="34" charset="0"/>
                <a:ea typeface="Aptos" pitchFamily="34" charset="-122"/>
                <a:cs typeface="Aptos" pitchFamily="34" charset="-120"/>
              </a:rPr>
              <a:t>OPTION A</a:t>
            </a:r>
            <a:endParaRPr lang="en-US" sz="1400" dirty="0"/>
          </a:p>
        </p:txBody>
      </p:sp>
      <p:sp>
        <p:nvSpPr>
          <p:cNvPr id="11" name="Text 9"/>
          <p:cNvSpPr/>
          <p:nvPr/>
        </p:nvSpPr>
        <p:spPr>
          <a:xfrm>
            <a:off x="6336792" y="1801368"/>
            <a:ext cx="4114800" cy="219456"/>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OPTION B</a:t>
            </a:r>
            <a:endParaRPr lang="en-US" sz="1400" dirty="0"/>
          </a:p>
        </p:txBody>
      </p:sp>
      <p:sp>
        <p:nvSpPr>
          <p:cNvPr id="12" name="Text 10"/>
          <p:cNvSpPr/>
          <p:nvPr/>
        </p:nvSpPr>
        <p:spPr>
          <a:xfrm>
            <a:off x="841248" y="2350008"/>
            <a:ext cx="4718304" cy="1956816"/>
          </a:xfrm>
          <a:prstGeom prst="rect">
            <a:avLst/>
          </a:prstGeom>
          <a:noFill/>
          <a:ln/>
        </p:spPr>
        <p:txBody>
          <a:bodyPr wrap="square" lIns="0" tIns="0" rIns="0" bIns="0" rtlCol="0" anchor="ctr">
            <a:normAutofit/>
          </a:bodyPr>
          <a:lstStyle/>
          <a:p>
            <a:pPr marL="0" indent="0" algn="l">
              <a:buNone/>
            </a:pPr>
            <a:r>
              <a:rPr lang="en-US" sz="2600" b="1" dirty="0">
                <a:solidFill>
                  <a:srgbClr val="14283E"/>
                </a:solidFill>
                <a:latin typeface="Aptos" pitchFamily="34" charset="0"/>
                <a:ea typeface="Aptos" pitchFamily="34" charset="-122"/>
                <a:cs typeface="Aptos" pitchFamily="34" charset="-120"/>
              </a:rPr>
              <a:t>for: known sequence or collection</a:t>
            </a:r>
            <a:endParaRPr lang="en-US" sz="2600" dirty="0"/>
          </a:p>
        </p:txBody>
      </p:sp>
      <p:sp>
        <p:nvSpPr>
          <p:cNvPr id="13" name="Text 11"/>
          <p:cNvSpPr/>
          <p:nvPr/>
        </p:nvSpPr>
        <p:spPr>
          <a:xfrm>
            <a:off x="6364224" y="2350008"/>
            <a:ext cx="4727448" cy="1956816"/>
          </a:xfrm>
          <a:prstGeom prst="rect">
            <a:avLst/>
          </a:prstGeom>
          <a:noFill/>
          <a:ln/>
        </p:spPr>
        <p:txBody>
          <a:bodyPr wrap="square" lIns="0" tIns="0" rIns="0" bIns="0" rtlCol="0" anchor="ctr">
            <a:normAutofit/>
          </a:bodyPr>
          <a:lstStyle/>
          <a:p>
            <a:pPr marL="0" indent="0" algn="l">
              <a:buNone/>
            </a:pPr>
            <a:r>
              <a:rPr lang="en-US" sz="2600" b="1" dirty="0">
                <a:solidFill>
                  <a:srgbClr val="14283E"/>
                </a:solidFill>
                <a:latin typeface="Aptos" pitchFamily="34" charset="0"/>
                <a:ea typeface="Aptos" pitchFamily="34" charset="-122"/>
                <a:cs typeface="Aptos" pitchFamily="34" charset="-120"/>
              </a:rPr>
              <a:t>while: repeat while a condition is true</a:t>
            </a:r>
            <a:endParaRPr lang="en-US" sz="2600" dirty="0"/>
          </a:p>
        </p:txBody>
      </p:sp>
      <p:sp>
        <p:nvSpPr>
          <p:cNvPr id="14" name="Shape 12"/>
          <p:cNvSpPr/>
          <p:nvPr/>
        </p:nvSpPr>
        <p:spPr>
          <a:xfrm>
            <a:off x="740664" y="5120640"/>
            <a:ext cx="77724" cy="77724"/>
          </a:xfrm>
          <a:prstGeom prst="roundRect">
            <a:avLst>
              <a:gd name="adj" fmla="val 47059"/>
            </a:avLst>
          </a:prstGeom>
          <a:solidFill>
            <a:srgbClr val="008C80"/>
          </a:solidFill>
          <a:ln w="12700">
            <a:solidFill>
              <a:srgbClr val="008C80">
                <a:alpha val="0"/>
              </a:srgbClr>
            </a:solidFill>
            <a:prstDash val="solid"/>
          </a:ln>
        </p:spPr>
      </p:sp>
      <p:sp>
        <p:nvSpPr>
          <p:cNvPr id="15" name="Text 13"/>
          <p:cNvSpPr/>
          <p:nvPr/>
        </p:nvSpPr>
        <p:spPr>
          <a:xfrm>
            <a:off x="941832" y="5001768"/>
            <a:ext cx="10497312" cy="585216"/>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Use for when iterating over a list or range.</a:t>
            </a:r>
            <a:endParaRPr lang="en-US" sz="1800" dirty="0"/>
          </a:p>
        </p:txBody>
      </p:sp>
      <p:sp>
        <p:nvSpPr>
          <p:cNvPr id="16" name="Shape 14"/>
          <p:cNvSpPr/>
          <p:nvPr/>
        </p:nvSpPr>
        <p:spPr>
          <a:xfrm>
            <a:off x="740664" y="5760720"/>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941832" y="5641848"/>
            <a:ext cx="10497312" cy="585216"/>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Use while for repeated input or a condition-driven loop.</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break and continue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These statements change normal loop flow.</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break immediately stops the loop.</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continue skips the remaining code in the current iteration.</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Both are useful when searching or filtering.</a:t>
            </a:r>
            <a:endParaRPr lang="en-US" sz="22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break — Stop at a Value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number in range(1, 10):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if number ==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break</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print(number)</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continue — Skip a Value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number in range(1, 8):</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if number == 4:</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continue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print(number)</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6</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7</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4 — Loops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98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lnSpcReduction="10000"/>
          </a:bodyPr>
          <a:lstStyle/>
          <a:p>
            <a:pPr marL="0" indent="0" algn="l">
              <a:buNone/>
            </a:pPr>
            <a:r>
              <a:rPr lang="en-US" sz="2600" dirty="0">
                <a:solidFill>
                  <a:srgbClr val="14283E"/>
                </a:solidFill>
                <a:latin typeface="Aptos" pitchFamily="34" charset="0"/>
                <a:ea typeface="Aptos" pitchFamily="34" charset="-122"/>
                <a:cs typeface="Aptos" pitchFamily="34" charset="-120"/>
              </a:rPr>
              <a:t>A. Print odd numbers from 1 to 20.</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B. Print the multiplication table of 7.</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C. Print 1 to 10 but skip 5</a:t>
            </a:r>
            <a:r>
              <a:rPr lang="en-US" sz="2600" dirty="0" smtClean="0">
                <a:solidFill>
                  <a:srgbClr val="14283E"/>
                </a:solidFill>
                <a:latin typeface="Aptos" pitchFamily="34" charset="0"/>
                <a:ea typeface="Aptos" pitchFamily="34" charset="-122"/>
                <a:cs typeface="Aptos" pitchFamily="34" charset="-120"/>
              </a:rPr>
              <a:t>.</a:t>
            </a:r>
          </a:p>
          <a:p>
            <a:pPr marL="0" indent="0" algn="l">
              <a:buNone/>
            </a:pPr>
            <a:r>
              <a:rPr lang="en-US" sz="2600" dirty="0" smtClean="0">
                <a:solidFill>
                  <a:srgbClr val="14283E"/>
                </a:solidFill>
                <a:latin typeface="Aptos" pitchFamily="34" charset="0"/>
                <a:ea typeface="Aptos" pitchFamily="34" charset="-122"/>
              </a:rPr>
              <a:t>D. Print odd numbers 10 to 50 skip 25, </a:t>
            </a:r>
            <a:r>
              <a:rPr lang="en-US" sz="2600" dirty="0" smtClean="0">
                <a:solidFill>
                  <a:srgbClr val="14283E"/>
                </a:solidFill>
                <a:latin typeface="Aptos" pitchFamily="34" charset="0"/>
                <a:ea typeface="Aptos" pitchFamily="34" charset="-122"/>
              </a:rPr>
              <a:t>35,45</a:t>
            </a:r>
            <a:endParaRPr lang="en-US" sz="2600" dirty="0" smtClean="0">
              <a:solidFill>
                <a:srgbClr val="14283E"/>
              </a:solidFill>
              <a:latin typeface="Aptos" pitchFamily="34" charset="0"/>
              <a:ea typeface="Aptos" pitchFamily="34" charset="-122"/>
            </a:endParaRPr>
          </a:p>
          <a:p>
            <a:pPr marL="0" indent="0" algn="l">
              <a:buNone/>
            </a:pPr>
            <a:r>
              <a:rPr lang="en-US" sz="2600" dirty="0" smtClean="0">
                <a:solidFill>
                  <a:srgbClr val="14283E"/>
                </a:solidFill>
                <a:latin typeface="Aptos" pitchFamily="34" charset="0"/>
                <a:ea typeface="Aptos" pitchFamily="34" charset="-122"/>
              </a:rPr>
              <a:t>E. Print even numbers from 20 to 50 stop loop when number is multiple of 19</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Try range(start, stop, step) first; use continue for C.</a:t>
            </a:r>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4 — Sample Solutions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99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n in range(1, 21,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i in range(1, 11):</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print(7, "x", i, "=", 7 * i)</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4 — Skip </a:t>
            </a:r>
            <a:r>
              <a:rPr lang="en-US" sz="3100" b="1" dirty="0" smtClean="0">
                <a:solidFill>
                  <a:srgbClr val="14283E"/>
                </a:solidFill>
                <a:latin typeface="Aptos" pitchFamily="34" charset="0"/>
                <a:ea typeface="Aptos" pitchFamily="34" charset="-122"/>
                <a:cs typeface="Aptos" pitchFamily="34" charset="-120"/>
              </a:rPr>
              <a:t>values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n in range(1, 11):</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if n ==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continue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a:t>
            </a:r>
            <a:r>
              <a:rPr lang="en-US" sz="2150" dirty="0" smtClean="0">
                <a:solidFill>
                  <a:srgbClr val="F0F7FB"/>
                </a:solidFill>
                <a:latin typeface="Consolas" pitchFamily="34" charset="0"/>
                <a:ea typeface="Consolas" pitchFamily="34" charset="-122"/>
                <a:cs typeface="Consolas" pitchFamily="34" charset="-120"/>
              </a:rPr>
              <a:t>)</a:t>
            </a:r>
          </a:p>
          <a:p>
            <a:pPr marL="0" indent="0" algn="l">
              <a:lnSpc>
                <a:spcPct val="108000"/>
              </a:lnSpc>
              <a:buNone/>
            </a:pPr>
            <a:endParaRPr lang="en-US" sz="2150" dirty="0">
              <a:solidFill>
                <a:srgbClr val="F0F7FB"/>
              </a:solidFill>
              <a:latin typeface="Consolas" pitchFamily="34" charset="0"/>
            </a:endParaRPr>
          </a:p>
          <a:p>
            <a:pPr>
              <a:lnSpc>
                <a:spcPct val="108000"/>
              </a:lnSpc>
            </a:pPr>
            <a:r>
              <a:rPr lang="en-US" sz="2150" dirty="0">
                <a:solidFill>
                  <a:schemeClr val="bg1"/>
                </a:solidFill>
                <a:latin typeface="Consolas" panose="020B0609020204030204" pitchFamily="49" charset="0"/>
              </a:rPr>
              <a:t>for </a:t>
            </a:r>
            <a:r>
              <a:rPr lang="en-US" sz="2150" dirty="0" err="1">
                <a:solidFill>
                  <a:schemeClr val="bg1"/>
                </a:solidFill>
                <a:latin typeface="Consolas" panose="020B0609020204030204" pitchFamily="49" charset="0"/>
              </a:rPr>
              <a:t>i</a:t>
            </a:r>
            <a:r>
              <a:rPr lang="en-US" sz="2150" dirty="0">
                <a:solidFill>
                  <a:schemeClr val="bg1"/>
                </a:solidFill>
                <a:latin typeface="Consolas" panose="020B0609020204030204" pitchFamily="49" charset="0"/>
              </a:rPr>
              <a:t> in range(11,51,2):</a:t>
            </a:r>
          </a:p>
          <a:p>
            <a:pPr>
              <a:lnSpc>
                <a:spcPct val="108000"/>
              </a:lnSpc>
            </a:pPr>
            <a:r>
              <a:rPr lang="en-US" sz="2150" dirty="0">
                <a:solidFill>
                  <a:schemeClr val="bg1"/>
                </a:solidFill>
                <a:latin typeface="Consolas" panose="020B0609020204030204" pitchFamily="49" charset="0"/>
              </a:rPr>
              <a:t>    if </a:t>
            </a:r>
            <a:r>
              <a:rPr lang="en-US" sz="2150" dirty="0" err="1">
                <a:solidFill>
                  <a:schemeClr val="bg1"/>
                </a:solidFill>
                <a:latin typeface="Consolas" panose="020B0609020204030204" pitchFamily="49" charset="0"/>
              </a:rPr>
              <a:t>i</a:t>
            </a:r>
            <a:r>
              <a:rPr lang="en-US" sz="2150" dirty="0">
                <a:solidFill>
                  <a:schemeClr val="bg1"/>
                </a:solidFill>
                <a:latin typeface="Consolas" panose="020B0609020204030204" pitchFamily="49" charset="0"/>
              </a:rPr>
              <a:t>==25 or </a:t>
            </a:r>
            <a:r>
              <a:rPr lang="en-US" sz="2150" dirty="0" err="1">
                <a:solidFill>
                  <a:schemeClr val="bg1"/>
                </a:solidFill>
                <a:latin typeface="Consolas" panose="020B0609020204030204" pitchFamily="49" charset="0"/>
              </a:rPr>
              <a:t>i</a:t>
            </a:r>
            <a:r>
              <a:rPr lang="en-US" sz="2150" dirty="0">
                <a:solidFill>
                  <a:schemeClr val="bg1"/>
                </a:solidFill>
                <a:latin typeface="Consolas" panose="020B0609020204030204" pitchFamily="49" charset="0"/>
              </a:rPr>
              <a:t>==35 or </a:t>
            </a:r>
            <a:r>
              <a:rPr lang="en-US" sz="2150" dirty="0" err="1">
                <a:solidFill>
                  <a:schemeClr val="bg1"/>
                </a:solidFill>
                <a:latin typeface="Consolas" panose="020B0609020204030204" pitchFamily="49" charset="0"/>
              </a:rPr>
              <a:t>i</a:t>
            </a:r>
            <a:r>
              <a:rPr lang="en-US" sz="2150" dirty="0">
                <a:solidFill>
                  <a:schemeClr val="bg1"/>
                </a:solidFill>
                <a:latin typeface="Consolas" panose="020B0609020204030204" pitchFamily="49" charset="0"/>
              </a:rPr>
              <a:t>==45 :</a:t>
            </a:r>
          </a:p>
          <a:p>
            <a:pPr>
              <a:lnSpc>
                <a:spcPct val="108000"/>
              </a:lnSpc>
            </a:pPr>
            <a:r>
              <a:rPr lang="en-US" sz="2150" dirty="0">
                <a:solidFill>
                  <a:schemeClr val="bg1"/>
                </a:solidFill>
                <a:latin typeface="Consolas" panose="020B0609020204030204" pitchFamily="49" charset="0"/>
              </a:rPr>
              <a:t>        continue</a:t>
            </a:r>
          </a:p>
          <a:p>
            <a:pPr>
              <a:lnSpc>
                <a:spcPct val="108000"/>
              </a:lnSpc>
            </a:pPr>
            <a:r>
              <a:rPr lang="en-US" sz="2150" dirty="0">
                <a:solidFill>
                  <a:schemeClr val="bg1"/>
                </a:solidFill>
                <a:latin typeface="Consolas" panose="020B0609020204030204" pitchFamily="49" charset="0"/>
              </a:rPr>
              <a:t>    else:</a:t>
            </a:r>
          </a:p>
          <a:p>
            <a:pPr>
              <a:lnSpc>
                <a:spcPct val="108000"/>
              </a:lnSpc>
            </a:pPr>
            <a:r>
              <a:rPr lang="en-US" sz="2150" dirty="0">
                <a:solidFill>
                  <a:schemeClr val="bg1"/>
                </a:solidFill>
                <a:latin typeface="Consolas" panose="020B0609020204030204" pitchFamily="49" charset="0"/>
              </a:rPr>
              <a:t>        print(</a:t>
            </a:r>
            <a:r>
              <a:rPr lang="en-US" sz="2150" dirty="0" err="1">
                <a:solidFill>
                  <a:schemeClr val="bg1"/>
                </a:solidFill>
                <a:latin typeface="Consolas" panose="020B0609020204030204" pitchFamily="49" charset="0"/>
              </a:rPr>
              <a:t>i</a:t>
            </a:r>
            <a:r>
              <a:rPr lang="en-US" sz="2150" dirty="0">
                <a:solidFill>
                  <a:schemeClr val="bg1"/>
                </a:solidFill>
                <a:latin typeface="Consolas" panose="020B0609020204030204" pitchFamily="49" charset="0"/>
              </a:rPr>
              <a:t>)</a:t>
            </a:r>
          </a:p>
          <a:p>
            <a:pPr>
              <a:lnSpc>
                <a:spcPct val="108000"/>
              </a:lnSpc>
            </a:pPr>
            <a:r>
              <a:rPr lang="en-US" sz="2150" dirty="0">
                <a:solidFill>
                  <a:schemeClr val="bg1"/>
                </a:solidFill>
              </a:rPr>
              <a:t> </a:t>
            </a:r>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4 — </a:t>
            </a:r>
            <a:r>
              <a:rPr lang="en-US" sz="3100" b="1" dirty="0" smtClean="0">
                <a:solidFill>
                  <a:srgbClr val="14283E"/>
                </a:solidFill>
                <a:latin typeface="Aptos" pitchFamily="34" charset="0"/>
                <a:ea typeface="Aptos" pitchFamily="34" charset="-122"/>
                <a:cs typeface="Aptos" pitchFamily="34" charset="-120"/>
              </a:rPr>
              <a:t>stop when multiple of 19</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a:lnSpc>
                <a:spcPct val="108000"/>
              </a:lnSpc>
            </a:pPr>
            <a:r>
              <a:rPr lang="en-US" sz="2150" dirty="0">
                <a:solidFill>
                  <a:srgbClr val="F0F7FB"/>
                </a:solidFill>
                <a:latin typeface="Consolas" pitchFamily="34" charset="0"/>
                <a:ea typeface="Consolas" pitchFamily="34" charset="-122"/>
                <a:cs typeface="Consolas" pitchFamily="34" charset="-120"/>
              </a:rPr>
              <a:t>for </a:t>
            </a:r>
            <a:r>
              <a:rPr lang="en-US" sz="2150" dirty="0" err="1">
                <a:solidFill>
                  <a:srgbClr val="F0F7FB"/>
                </a:solidFill>
                <a:latin typeface="Consolas" pitchFamily="34" charset="0"/>
                <a:ea typeface="Consolas" pitchFamily="34" charset="-122"/>
                <a:cs typeface="Consolas" pitchFamily="34" charset="-120"/>
              </a:rPr>
              <a:t>i</a:t>
            </a:r>
            <a:r>
              <a:rPr lang="en-US" sz="2150" dirty="0">
                <a:solidFill>
                  <a:srgbClr val="F0F7FB"/>
                </a:solidFill>
                <a:latin typeface="Consolas" pitchFamily="34" charset="0"/>
                <a:ea typeface="Consolas" pitchFamily="34" charset="-122"/>
                <a:cs typeface="Consolas" pitchFamily="34" charset="-120"/>
              </a:rPr>
              <a:t> in range(20,40,2):</a:t>
            </a:r>
          </a:p>
          <a:p>
            <a:pPr>
              <a:lnSpc>
                <a:spcPct val="108000"/>
              </a:lnSpc>
            </a:pPr>
            <a:r>
              <a:rPr lang="en-US" sz="2150" dirty="0">
                <a:solidFill>
                  <a:srgbClr val="F0F7FB"/>
                </a:solidFill>
                <a:latin typeface="Consolas" pitchFamily="34" charset="0"/>
                <a:ea typeface="Consolas" pitchFamily="34" charset="-122"/>
                <a:cs typeface="Consolas" pitchFamily="34" charset="-120"/>
              </a:rPr>
              <a:t>    if i%19==0:</a:t>
            </a:r>
          </a:p>
          <a:p>
            <a:pPr>
              <a:lnSpc>
                <a:spcPct val="108000"/>
              </a:lnSpc>
            </a:pPr>
            <a:r>
              <a:rPr lang="en-US" sz="2150" dirty="0">
                <a:solidFill>
                  <a:srgbClr val="F0F7FB"/>
                </a:solidFill>
                <a:latin typeface="Consolas" pitchFamily="34" charset="0"/>
                <a:ea typeface="Consolas" pitchFamily="34" charset="-122"/>
                <a:cs typeface="Consolas" pitchFamily="34" charset="-120"/>
              </a:rPr>
              <a:t>        break</a:t>
            </a:r>
          </a:p>
          <a:p>
            <a:pPr>
              <a:lnSpc>
                <a:spcPct val="108000"/>
              </a:lnSpc>
            </a:pPr>
            <a:r>
              <a:rPr lang="en-US" sz="2150" dirty="0">
                <a:solidFill>
                  <a:srgbClr val="F0F7FB"/>
                </a:solidFill>
                <a:latin typeface="Consolas" pitchFamily="34" charset="0"/>
                <a:ea typeface="Consolas" pitchFamily="34" charset="-122"/>
                <a:cs typeface="Consolas" pitchFamily="34" charset="-120"/>
              </a:rPr>
              <a:t>    else:</a:t>
            </a:r>
          </a:p>
          <a:p>
            <a:pPr>
              <a:lnSpc>
                <a:spcPct val="108000"/>
              </a:lnSpc>
            </a:pPr>
            <a:r>
              <a:rPr lang="en-US" sz="2150" dirty="0">
                <a:solidFill>
                  <a:srgbClr val="F0F7FB"/>
                </a:solidFill>
                <a:latin typeface="Consolas" pitchFamily="34" charset="0"/>
                <a:ea typeface="Consolas" pitchFamily="34" charset="-122"/>
                <a:cs typeface="Consolas" pitchFamily="34" charset="-120"/>
              </a:rPr>
              <a:t>        print(</a:t>
            </a:r>
            <a:r>
              <a:rPr lang="en-US" sz="2150" dirty="0" err="1">
                <a:solidFill>
                  <a:srgbClr val="F0F7FB"/>
                </a:solidFill>
                <a:latin typeface="Consolas" pitchFamily="34" charset="0"/>
                <a:ea typeface="Consolas" pitchFamily="34" charset="-122"/>
                <a:cs typeface="Consolas" pitchFamily="34" charset="-120"/>
              </a:rPr>
              <a:t>i</a:t>
            </a:r>
            <a:r>
              <a:rPr lang="en-US" sz="2150" dirty="0">
                <a:solidFill>
                  <a:srgbClr val="F0F7FB"/>
                </a:solidFill>
                <a:latin typeface="Consolas" pitchFamily="34" charset="0"/>
                <a:ea typeface="Consolas" pitchFamily="34" charset="-122"/>
                <a:cs typeface="Consolas" pitchFamily="34" charset="-120"/>
              </a:rPr>
              <a:t>)</a:t>
            </a:r>
          </a:p>
          <a:p>
            <a:pPr>
              <a:lnSpc>
                <a:spcPct val="108000"/>
              </a:lnSpc>
            </a:pPr>
            <a:r>
              <a:rPr lang="en-US" sz="2150" dirty="0">
                <a:solidFill>
                  <a:srgbClr val="F0F7FB"/>
                </a:solidFill>
                <a:latin typeface="Consolas" pitchFamily="34" charset="0"/>
                <a:ea typeface="Consolas" pitchFamily="34" charset="-122"/>
                <a:cs typeface="Consolas" pitchFamily="34" charset="-120"/>
              </a:rPr>
              <a:t> </a:t>
            </a:r>
            <a:r>
              <a:rPr lang="en-US" sz="2150" dirty="0" smtClean="0">
                <a:solidFill>
                  <a:schemeClr val="bg1"/>
                </a:solidFill>
              </a:rPr>
              <a:t> </a:t>
            </a:r>
            <a:endParaRPr lang="en-US" sz="2150" dirty="0">
              <a:solidFill>
                <a:schemeClr val="bg1"/>
              </a:solidFill>
            </a:endParaRPr>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extLst>
      <p:ext uri="{BB962C8B-B14F-4D97-AF65-F5344CB8AC3E}">
        <p14:creationId xmlns:p14="http://schemas.microsoft.com/office/powerpoint/2010/main" val="33600920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1">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FFBC56"/>
          </a:solidFill>
          <a:ln w="12700">
            <a:solidFill>
              <a:srgbClr val="FFBC56">
                <a:alpha val="0"/>
              </a:srgbClr>
            </a:solidFill>
            <a:prstDash val="solid"/>
          </a:ln>
        </p:spPr>
      </p:sp>
      <p:sp>
        <p:nvSpPr>
          <p:cNvPr id="3" name="Text 1"/>
          <p:cNvSpPr/>
          <p:nvPr/>
        </p:nvSpPr>
        <p:spPr>
          <a:xfrm>
            <a:off x="950976" y="1133856"/>
            <a:ext cx="8595360" cy="448056"/>
          </a:xfrm>
          <a:prstGeom prst="rect">
            <a:avLst/>
          </a:prstGeom>
          <a:noFill/>
          <a:ln/>
        </p:spPr>
        <p:txBody>
          <a:bodyPr wrap="square" lIns="0" tIns="0" rIns="0" bIns="0" rtlCol="0" anchor="ctr">
            <a:normAutofit/>
          </a:bodyPr>
          <a:lstStyle/>
          <a:p>
            <a:pPr marL="0" indent="0" algn="l">
              <a:buNone/>
            </a:pPr>
            <a:r>
              <a:rPr lang="en-US" sz="1900" b="1" kern="0" spc="200" dirty="0">
                <a:solidFill>
                  <a:srgbClr val="FFBC56"/>
                </a:solidFill>
                <a:latin typeface="Aptos" pitchFamily="34" charset="0"/>
                <a:ea typeface="Aptos" pitchFamily="34" charset="-122"/>
                <a:cs typeface="Aptos" pitchFamily="34" charset="-120"/>
              </a:rPr>
              <a:t>PYTHON PART 5</a:t>
            </a:r>
            <a:endParaRPr lang="en-US" sz="1900" dirty="0"/>
          </a:p>
        </p:txBody>
      </p:sp>
      <p:sp>
        <p:nvSpPr>
          <p:cNvPr id="4" name="Text 2"/>
          <p:cNvSpPr/>
          <p:nvPr/>
        </p:nvSpPr>
        <p:spPr>
          <a:xfrm>
            <a:off x="950976" y="2002536"/>
            <a:ext cx="10195560" cy="1554480"/>
          </a:xfrm>
          <a:prstGeom prst="rect">
            <a:avLst/>
          </a:prstGeom>
          <a:noFill/>
          <a:ln/>
        </p:spPr>
        <p:txBody>
          <a:bodyPr wrap="square" lIns="0" tIns="0" rIns="0" bIns="0" rtlCol="0" anchor="t">
            <a:normAutofit/>
          </a:bodyPr>
          <a:lstStyle/>
          <a:p>
            <a:pPr marL="0" indent="0" algn="l">
              <a:buNone/>
            </a:pPr>
            <a:r>
              <a:rPr lang="en-US" sz="4500" b="1" dirty="0">
                <a:solidFill>
                  <a:srgbClr val="FFFFFF"/>
                </a:solidFill>
                <a:latin typeface="Aptos" pitchFamily="34" charset="0"/>
                <a:ea typeface="Aptos" pitchFamily="34" charset="-122"/>
                <a:cs typeface="Aptos" pitchFamily="34" charset="-120"/>
              </a:rPr>
              <a:t>Lists, Tuples, Sets &amp; Dictionaries</a:t>
            </a:r>
            <a:endParaRPr lang="en-US" sz="4500" dirty="0"/>
          </a:p>
        </p:txBody>
      </p:sp>
      <p:sp>
        <p:nvSpPr>
          <p:cNvPr id="5" name="Shape 3"/>
          <p:cNvSpPr/>
          <p:nvPr/>
        </p:nvSpPr>
        <p:spPr>
          <a:xfrm>
            <a:off x="960120" y="4187952"/>
            <a:ext cx="7863840" cy="27432"/>
          </a:xfrm>
          <a:prstGeom prst="rect">
            <a:avLst/>
          </a:prstGeom>
          <a:solidFill>
            <a:srgbClr val="416273"/>
          </a:solidFill>
          <a:ln w="12700">
            <a:solidFill>
              <a:srgbClr val="416273">
                <a:alpha val="0"/>
              </a:srgbClr>
            </a:solidFill>
            <a:prstDash val="solid"/>
          </a:ln>
        </p:spPr>
      </p:sp>
      <p:sp>
        <p:nvSpPr>
          <p:cNvPr id="6" name="Text 4"/>
          <p:cNvSpPr/>
          <p:nvPr/>
        </p:nvSpPr>
        <p:spPr>
          <a:xfrm>
            <a:off x="950976" y="4517136"/>
            <a:ext cx="9875520" cy="1005840"/>
          </a:xfrm>
          <a:prstGeom prst="rect">
            <a:avLst/>
          </a:prstGeom>
          <a:noFill/>
          <a:ln/>
        </p:spPr>
        <p:txBody>
          <a:bodyPr wrap="square" lIns="0" tIns="0" rIns="0" bIns="0" rtlCol="0" anchor="ctr">
            <a:normAutofit/>
          </a:bodyPr>
          <a:lstStyle/>
          <a:p>
            <a:pPr marL="0" indent="0" algn="l">
              <a:buNone/>
            </a:pPr>
            <a:r>
              <a:rPr lang="en-US" sz="2300" dirty="0">
                <a:solidFill>
                  <a:srgbClr val="CFE4ED"/>
                </a:solidFill>
                <a:latin typeface="Aptos" pitchFamily="34" charset="0"/>
                <a:ea typeface="Aptos" pitchFamily="34" charset="-122"/>
                <a:cs typeface="Aptos" pitchFamily="34" charset="-120"/>
              </a:rPr>
              <a:t>Choose the right way to store more than one value.</a:t>
            </a:r>
            <a:endParaRPr lang="en-US" sz="2300" dirty="0"/>
          </a:p>
        </p:txBody>
      </p:sp>
      <p:sp>
        <p:nvSpPr>
          <p:cNvPr id="7" name="Text 5"/>
          <p:cNvSpPr/>
          <p:nvPr/>
        </p:nvSpPr>
        <p:spPr>
          <a:xfrm>
            <a:off x="10698480" y="6053328"/>
            <a:ext cx="640080" cy="256032"/>
          </a:xfrm>
          <a:prstGeom prst="rect">
            <a:avLst/>
          </a:prstGeom>
          <a:noFill/>
          <a:ln/>
        </p:spPr>
        <p:txBody>
          <a:bodyPr wrap="square" lIns="0" tIns="0" rIns="0" bIns="0" rtlCol="0" anchor="ctr">
            <a:normAutofit/>
          </a:bodyPr>
          <a:lstStyle/>
          <a:p>
            <a:pPr marL="0" indent="0" algn="l">
              <a:buNone/>
            </a:pPr>
            <a:r>
              <a:rPr lang="en-US" sz="1400" dirty="0">
                <a:solidFill>
                  <a:srgbClr val="86A9BB"/>
                </a:solidFill>
                <a:latin typeface="Aptos" pitchFamily="34" charset="0"/>
                <a:ea typeface="Aptos" pitchFamily="34" charset="-122"/>
                <a:cs typeface="Aptos" pitchFamily="34" charset="-120"/>
              </a:rPr>
              <a:t>101</a:t>
            </a:r>
            <a:endParaRPr lang="en-US" sz="1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Why Do We Need Collections?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102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collection holds several related values in one place.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List: ordered, changeable items.</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Tuple: ordered, unchangeable items.</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Set: unique items.</a:t>
            </a:r>
            <a:endParaRPr lang="en-US" sz="2250" dirty="0"/>
          </a:p>
        </p:txBody>
      </p:sp>
      <p:sp>
        <p:nvSpPr>
          <p:cNvPr id="17" name="Shape 15"/>
          <p:cNvSpPr/>
          <p:nvPr/>
        </p:nvSpPr>
        <p:spPr>
          <a:xfrm>
            <a:off x="713232" y="4965192"/>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48463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Dictionary: key-value pairs.</a:t>
            </a:r>
            <a:endParaRPr lang="en-US" sz="22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List?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list is an ordered, mutable collection written with square brackets [].</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Good for student names, grades, and products.</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Items can have different types.</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 add, change, remove, and loop over items.</a:t>
            </a:r>
            <a:endParaRPr lang="en-US" sz="22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List Basics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[98, 97, 95, 93]</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print(len(marks))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print(marks[-1])</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[98, 97, 95, 93]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98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93</a:t>
            </a:r>
            <a:endParaRPr lang="en-US" sz="1900" dirty="0"/>
          </a:p>
        </p:txBody>
      </p:sp>
      <p:sp>
        <p:nvSpPr>
          <p:cNvPr id="14" name="Shape 12"/>
          <p:cNvSpPr/>
          <p:nvPr/>
        </p:nvSpPr>
        <p:spPr>
          <a:xfrm>
            <a:off x="8156448" y="1489918"/>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13064" y="185429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Index 0 means the first item.</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13064" y="2704500"/>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Index -1 means the last item.</a:t>
            </a:r>
            <a:endParaRPr lang="en-US" sz="17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List Indexing &amp; Slicing</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An index identifies one item; a slice selects a range of items.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Positive indexing starts at 0.</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Negative indexing counts backward from the end.</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list[start:stop] includes start but excludes stop.</a:t>
            </a:r>
            <a:endParaRPr lang="en-US" sz="22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List Slicing</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[98, 97, 95, 93, 90]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print(marks[0:3])</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print(marks[-2:])</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[98, 97, 95]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[93, 90]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The stop index does not appear in the slice.</a:t>
            </a:r>
            <a:endParaRPr lang="en-US" sz="17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List Methods — append() &amp; insert()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subjects = ["Math", "English"]</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subjects.append("Physics")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subjects.insert(1, "Chemistry")</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print(subjects)</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['Math', 'Chemistry', 'English', 'Physics']</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append() adds at the end.</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insert(index, item) adds at a position.</a:t>
            </a:r>
            <a:endParaRPr lang="en-US" sz="17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List Items Can Change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a:lnSpc>
                <a:spcPct val="108000"/>
              </a:lnSpc>
            </a:pPr>
            <a:r>
              <a:rPr lang="en-US" sz="2400" dirty="0">
                <a:solidFill>
                  <a:srgbClr val="F0F7FB"/>
                </a:solidFill>
                <a:latin typeface="Consolas" pitchFamily="34" charset="0"/>
                <a:ea typeface="Consolas" pitchFamily="34" charset="-122"/>
                <a:cs typeface="Consolas" pitchFamily="34" charset="-120"/>
              </a:rPr>
              <a:t>marks = [80, 85, 90]</a:t>
            </a:r>
          </a:p>
          <a:p>
            <a:pPr>
              <a:lnSpc>
                <a:spcPct val="108000"/>
              </a:lnSpc>
            </a:pPr>
            <a:r>
              <a:rPr lang="en-US" sz="2400" dirty="0">
                <a:solidFill>
                  <a:srgbClr val="F0F7FB"/>
                </a:solidFill>
                <a:latin typeface="Consolas" pitchFamily="34" charset="0"/>
                <a:ea typeface="Consolas" pitchFamily="34" charset="-122"/>
                <a:cs typeface="Consolas" pitchFamily="34" charset="-120"/>
              </a:rPr>
              <a:t>marks[0] = 95</a:t>
            </a:r>
          </a:p>
          <a:p>
            <a:pPr>
              <a:lnSpc>
                <a:spcPct val="108000"/>
              </a:lnSpc>
            </a:pPr>
            <a:r>
              <a:rPr lang="en-US" sz="2400" dirty="0">
                <a:solidFill>
                  <a:srgbClr val="F0F7FB"/>
                </a:solidFill>
                <a:latin typeface="Consolas" pitchFamily="34" charset="0"/>
                <a:ea typeface="Consolas" pitchFamily="34" charset="-122"/>
                <a:cs typeface="Consolas" pitchFamily="34" charset="-120"/>
              </a:rPr>
              <a:t>print(marks)</a:t>
            </a:r>
          </a:p>
          <a:p>
            <a:pPr>
              <a:lnSpc>
                <a:spcPct val="108000"/>
              </a:lnSpc>
            </a:pPr>
            <a:r>
              <a:rPr lang="en-US" sz="2400" dirty="0">
                <a:solidFill>
                  <a:srgbClr val="F0F7FB"/>
                </a:solidFill>
                <a:latin typeface="Consolas" pitchFamily="34" charset="0"/>
                <a:ea typeface="Consolas" pitchFamily="34" charset="-122"/>
                <a:cs typeface="Consolas" pitchFamily="34" charset="-120"/>
              </a:rPr>
              <a:t>for v in marks:</a:t>
            </a:r>
          </a:p>
          <a:p>
            <a:pPr>
              <a:lnSpc>
                <a:spcPct val="108000"/>
              </a:lnSpc>
            </a:pPr>
            <a:r>
              <a:rPr lang="en-US" sz="2400" dirty="0">
                <a:solidFill>
                  <a:srgbClr val="F0F7FB"/>
                </a:solidFill>
                <a:latin typeface="Consolas" pitchFamily="34" charset="0"/>
                <a:ea typeface="Consolas" pitchFamily="34" charset="-122"/>
                <a:cs typeface="Consolas" pitchFamily="34" charset="-120"/>
              </a:rPr>
              <a:t>	print("list </a:t>
            </a:r>
            <a:r>
              <a:rPr lang="en-US" sz="2400" dirty="0" err="1">
                <a:solidFill>
                  <a:srgbClr val="F0F7FB"/>
                </a:solidFill>
                <a:latin typeface="Consolas" pitchFamily="34" charset="0"/>
                <a:ea typeface="Consolas" pitchFamily="34" charset="-122"/>
                <a:cs typeface="Consolas" pitchFamily="34" charset="-120"/>
              </a:rPr>
              <a:t>item:",v</a:t>
            </a:r>
            <a:r>
              <a:rPr lang="en-US" sz="2400" dirty="0">
                <a:solidFill>
                  <a:srgbClr val="F0F7FB"/>
                </a:solidFill>
                <a:latin typeface="Consolas" pitchFamily="34" charset="0"/>
                <a:ea typeface="Consolas" pitchFamily="34" charset="-122"/>
                <a:cs typeface="Consolas" pitchFamily="34" charset="-120"/>
              </a:rPr>
              <a:t>)</a:t>
            </a:r>
          </a:p>
          <a:p>
            <a:pPr>
              <a:lnSpc>
                <a:spcPct val="108000"/>
              </a:lnSpc>
            </a:pPr>
            <a:r>
              <a:rPr lang="en-US" sz="2400" dirty="0" err="1">
                <a:solidFill>
                  <a:srgbClr val="F0F7FB"/>
                </a:solidFill>
                <a:latin typeface="Consolas" pitchFamily="34" charset="0"/>
                <a:ea typeface="Consolas" pitchFamily="34" charset="-122"/>
                <a:cs typeface="Consolas" pitchFamily="34" charset="-120"/>
              </a:rPr>
              <a:t>marks.clear</a:t>
            </a:r>
            <a:r>
              <a:rPr lang="en-US" sz="2400" dirty="0">
                <a:solidFill>
                  <a:srgbClr val="F0F7FB"/>
                </a:solidFill>
                <a:latin typeface="Consolas" pitchFamily="34" charset="0"/>
                <a:ea typeface="Consolas" pitchFamily="34" charset="-122"/>
                <a:cs typeface="Consolas" pitchFamily="34" charset="-120"/>
              </a:rPr>
              <a:t>()</a:t>
            </a:r>
          </a:p>
          <a:p>
            <a:pPr>
              <a:lnSpc>
                <a:spcPct val="108000"/>
              </a:lnSpc>
            </a:pPr>
            <a:r>
              <a:rPr lang="en-US" sz="2400" dirty="0">
                <a:solidFill>
                  <a:srgbClr val="F0F7FB"/>
                </a:solidFill>
                <a:latin typeface="Consolas" pitchFamily="34" charset="0"/>
                <a:ea typeface="Consolas" pitchFamily="34" charset="-122"/>
                <a:cs typeface="Consolas" pitchFamily="34" charset="-120"/>
              </a:rPr>
              <a:t>print(marks)</a:t>
            </a:r>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[95, 85, 90]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Mutable means changeable.</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clear() removes all items.</a:t>
            </a:r>
            <a:endParaRPr lang="en-US" sz="17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5A — List of Names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109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139696"/>
            <a:ext cx="10451592" cy="2962656"/>
          </a:xfrm>
          <a:prstGeom prst="rect">
            <a:avLst/>
          </a:prstGeom>
          <a:noFill/>
          <a:ln/>
        </p:spPr>
        <p:txBody>
          <a:bodyPr wrap="square" lIns="0" tIns="0" rIns="0" bIns="0" rtlCol="0" anchor="t">
            <a:normAutofit/>
          </a:bodyPr>
          <a:lstStyle/>
          <a:p>
            <a:pPr lvl="0" eaLnBrk="0" fontAlgn="base" hangingPunct="0">
              <a:spcBef>
                <a:spcPct val="0"/>
              </a:spcBef>
              <a:spcAft>
                <a:spcPct val="0"/>
              </a:spcAft>
            </a:pPr>
            <a:r>
              <a:rPr lang="en-US" altLang="en-US" sz="2000" dirty="0" smtClean="0">
                <a:latin typeface="Arial" panose="020B0604020202020204" pitchFamily="34" charset="0"/>
              </a:rPr>
              <a:t>Imagine </a:t>
            </a:r>
            <a:r>
              <a:rPr lang="en-US" altLang="en-US" sz="2000" dirty="0">
                <a:latin typeface="Arial" panose="020B0604020202020204" pitchFamily="34" charset="0"/>
              </a:rPr>
              <a:t>you are maintaining a list of your </a:t>
            </a:r>
            <a:r>
              <a:rPr lang="en-US" altLang="en-US" sz="2000" dirty="0" err="1">
                <a:latin typeface="Arial" panose="020B0604020202020204" pitchFamily="34" charset="0"/>
              </a:rPr>
              <a:t>favourite</a:t>
            </a:r>
            <a:r>
              <a:rPr lang="en-US" altLang="en-US" sz="2000" dirty="0">
                <a:latin typeface="Arial" panose="020B0604020202020204" pitchFamily="34" charset="0"/>
              </a:rPr>
              <a:t> books: </a:t>
            </a:r>
            <a:r>
              <a:rPr lang="en-US" altLang="en-US" sz="2000" dirty="0">
                <a:latin typeface="Arial Unicode MS"/>
              </a:rPr>
              <a:t>["Data Structure", "Object Oriented Programming", "Web Development", "Python Programming"]</a:t>
            </a:r>
            <a:r>
              <a:rPr lang="en-US" altLang="en-US" sz="2000" dirty="0"/>
              <a:t>.</a:t>
            </a:r>
            <a:endParaRPr lang="en-US" altLang="en-US" sz="2000" dirty="0">
              <a:latin typeface="Arial" panose="020B0604020202020204" pitchFamily="34" charset="0"/>
            </a:endParaRPr>
          </a:p>
          <a:p>
            <a:pPr lvl="0" eaLnBrk="0" fontAlgn="base" hangingPunct="0">
              <a:spcBef>
                <a:spcPct val="0"/>
              </a:spcBef>
              <a:spcAft>
                <a:spcPct val="0"/>
              </a:spcAft>
            </a:pPr>
            <a:r>
              <a:rPr lang="en-US" altLang="en-US" sz="2000" dirty="0">
                <a:latin typeface="Arial" panose="020B0604020202020204" pitchFamily="34" charset="0"/>
              </a:rPr>
              <a:t>Perform the following tasks using Python:</a:t>
            </a:r>
          </a:p>
          <a:p>
            <a:pPr lvl="0" eaLnBrk="0" fontAlgn="base" hangingPunct="0">
              <a:spcBef>
                <a:spcPct val="0"/>
              </a:spcBef>
              <a:spcAft>
                <a:spcPct val="0"/>
              </a:spcAft>
              <a:buFontTx/>
              <a:buAutoNum type="arabicPeriod"/>
            </a:pPr>
            <a:r>
              <a:rPr lang="en-US" altLang="en-US" sz="2000" dirty="0">
                <a:latin typeface="Arial" panose="020B0604020202020204" pitchFamily="34" charset="0"/>
              </a:rPr>
              <a:t>Add a new book "Artificial Intelligence" to </a:t>
            </a:r>
            <a:r>
              <a:rPr lang="en-US" altLang="en-US" sz="2000" dirty="0" smtClean="0">
                <a:latin typeface="Arial" panose="020B0604020202020204" pitchFamily="34" charset="0"/>
              </a:rPr>
              <a:t>the end of </a:t>
            </a:r>
            <a:r>
              <a:rPr lang="en-US" altLang="en-US" sz="2000" dirty="0">
                <a:latin typeface="Arial" panose="020B0604020202020204" pitchFamily="34" charset="0"/>
              </a:rPr>
              <a:t>list.</a:t>
            </a:r>
          </a:p>
          <a:p>
            <a:pPr lvl="0" eaLnBrk="0" fontAlgn="base" hangingPunct="0">
              <a:spcBef>
                <a:spcPct val="0"/>
              </a:spcBef>
              <a:spcAft>
                <a:spcPct val="0"/>
              </a:spcAft>
              <a:buFontTx/>
              <a:buAutoNum type="arabicPeriod" startAt="2"/>
            </a:pPr>
            <a:r>
              <a:rPr lang="en-US" altLang="en-US" sz="2000" dirty="0">
                <a:latin typeface="Arial" panose="020B0604020202020204" pitchFamily="34" charset="0"/>
              </a:rPr>
              <a:t>Replace "Web development" with "AI Development".</a:t>
            </a:r>
          </a:p>
          <a:p>
            <a:pPr lvl="0" eaLnBrk="0" fontAlgn="base" hangingPunct="0">
              <a:spcBef>
                <a:spcPct val="0"/>
              </a:spcBef>
              <a:spcAft>
                <a:spcPct val="0"/>
              </a:spcAft>
              <a:buFontTx/>
              <a:buAutoNum type="arabicPeriod" startAt="3"/>
            </a:pPr>
            <a:r>
              <a:rPr lang="en-US" altLang="en-US" sz="2000" dirty="0">
                <a:latin typeface="Arial" panose="020B0604020202020204" pitchFamily="34" charset="0"/>
              </a:rPr>
              <a:t>Remove "Python Programming" from the list.</a:t>
            </a:r>
          </a:p>
          <a:p>
            <a:pPr lvl="0" eaLnBrk="0" fontAlgn="base" hangingPunct="0">
              <a:spcBef>
                <a:spcPct val="0"/>
              </a:spcBef>
              <a:spcAft>
                <a:spcPct val="0"/>
              </a:spcAft>
              <a:buFontTx/>
              <a:buAutoNum type="arabicPeriod" startAt="4"/>
            </a:pPr>
            <a:r>
              <a:rPr lang="en-US" altLang="en-US" sz="2000" dirty="0">
                <a:latin typeface="Arial" panose="020B0604020202020204" pitchFamily="34" charset="0"/>
              </a:rPr>
              <a:t>Merge this list with another list of books: </a:t>
            </a:r>
            <a:r>
              <a:rPr lang="en-US" altLang="en-US" sz="2000" dirty="0">
                <a:latin typeface="Arial Unicode MS"/>
              </a:rPr>
              <a:t>["Machine Learning", "Deep Learning"]</a:t>
            </a:r>
            <a:r>
              <a:rPr lang="en-US" altLang="en-US" sz="2000" dirty="0"/>
              <a:t>.</a:t>
            </a:r>
            <a:endParaRPr lang="en-US" altLang="en-US" sz="2000" dirty="0">
              <a:latin typeface="Arial" panose="020B0604020202020204" pitchFamily="34" charset="0"/>
            </a:endParaRPr>
          </a:p>
          <a:p>
            <a:pPr lvl="0" eaLnBrk="0" fontAlgn="base" hangingPunct="0">
              <a:spcBef>
                <a:spcPct val="0"/>
              </a:spcBef>
              <a:spcAft>
                <a:spcPct val="0"/>
              </a:spcAft>
              <a:buFontTx/>
              <a:buAutoNum type="arabicPeriod" startAt="5"/>
            </a:pPr>
            <a:r>
              <a:rPr lang="en-US" altLang="en-US" sz="2000" dirty="0">
                <a:latin typeface="Arial" panose="020B0604020202020204" pitchFamily="34" charset="0"/>
              </a:rPr>
              <a:t>Print the final list of books.</a:t>
            </a:r>
          </a:p>
          <a:p>
            <a:pPr lvl="0" eaLnBrk="0" fontAlgn="base" hangingPunct="0">
              <a:spcBef>
                <a:spcPct val="0"/>
              </a:spcBef>
              <a:spcAft>
                <a:spcPct val="0"/>
              </a:spcAft>
            </a:pPr>
            <a:endParaRPr lang="en-US" altLang="en-US" sz="2000" dirty="0">
              <a:latin typeface="Arial" panose="020B0604020202020204" pitchFamily="34" charset="0"/>
            </a:endParaRPr>
          </a:p>
          <a:p>
            <a:pPr marL="0" indent="0" algn="l">
              <a:buNone/>
            </a:pPr>
            <a:endParaRPr lang="en-US" sz="20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append(), </a:t>
            </a:r>
            <a:r>
              <a:rPr lang="en-US" sz="1800" dirty="0" smtClean="0">
                <a:solidFill>
                  <a:srgbClr val="253449"/>
                </a:solidFill>
                <a:latin typeface="Aptos" pitchFamily="34" charset="0"/>
                <a:ea typeface="Aptos" pitchFamily="34" charset="-122"/>
                <a:cs typeface="Aptos" pitchFamily="34" charset="-120"/>
              </a:rPr>
              <a:t>list[index] </a:t>
            </a:r>
            <a:r>
              <a:rPr lang="en-US" sz="1800" dirty="0">
                <a:solidFill>
                  <a:srgbClr val="253449"/>
                </a:solidFill>
                <a:latin typeface="Aptos" pitchFamily="34" charset="0"/>
                <a:ea typeface="Aptos" pitchFamily="34" charset="-122"/>
                <a:cs typeface="Aptos" pitchFamily="34" charset="-120"/>
              </a:rPr>
              <a:t>= ..., for name in </a:t>
            </a:r>
            <a:r>
              <a:rPr lang="en-US" dirty="0" smtClean="0">
                <a:solidFill>
                  <a:srgbClr val="253449"/>
                </a:solidFill>
                <a:latin typeface="Aptos" pitchFamily="34" charset="0"/>
                <a:ea typeface="Aptos" pitchFamily="34" charset="-122"/>
                <a:cs typeface="Aptos" pitchFamily="34" charset="-120"/>
              </a:rPr>
              <a:t>list</a:t>
            </a:r>
            <a:endParaRPr lang="en-US" sz="1800" dirty="0"/>
          </a:p>
        </p:txBody>
      </p:sp>
      <p:sp>
        <p:nvSpPr>
          <p:cNvPr id="15"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5A —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lnSpcReduction="10000"/>
          </a:bodyPr>
          <a:lstStyle/>
          <a:p>
            <a:pPr>
              <a:lnSpc>
                <a:spcPct val="108000"/>
              </a:lnSpc>
            </a:pPr>
            <a:r>
              <a:rPr lang="en-US" sz="2150" dirty="0">
                <a:solidFill>
                  <a:srgbClr val="F0F7FB"/>
                </a:solidFill>
                <a:latin typeface="Consolas" pitchFamily="34" charset="0"/>
                <a:ea typeface="Consolas" pitchFamily="34" charset="-122"/>
                <a:cs typeface="Consolas" pitchFamily="34" charset="-120"/>
              </a:rPr>
              <a:t>books = ["Data </a:t>
            </a:r>
            <a:r>
              <a:rPr lang="en-US" sz="2150" dirty="0" err="1">
                <a:solidFill>
                  <a:srgbClr val="F0F7FB"/>
                </a:solidFill>
                <a:latin typeface="Consolas" pitchFamily="34" charset="0"/>
                <a:ea typeface="Consolas" pitchFamily="34" charset="-122"/>
                <a:cs typeface="Consolas" pitchFamily="34" charset="-120"/>
              </a:rPr>
              <a:t>Structure","Object</a:t>
            </a:r>
            <a:r>
              <a:rPr lang="en-US" sz="2150" dirty="0">
                <a:solidFill>
                  <a:srgbClr val="F0F7FB"/>
                </a:solidFill>
                <a:latin typeface="Consolas" pitchFamily="34" charset="0"/>
                <a:ea typeface="Consolas" pitchFamily="34" charset="-122"/>
                <a:cs typeface="Consolas" pitchFamily="34" charset="-120"/>
              </a:rPr>
              <a:t> Oriented </a:t>
            </a:r>
            <a:r>
              <a:rPr lang="en-US" sz="2150" dirty="0" err="1">
                <a:solidFill>
                  <a:srgbClr val="F0F7FB"/>
                </a:solidFill>
                <a:latin typeface="Consolas" pitchFamily="34" charset="0"/>
                <a:ea typeface="Consolas" pitchFamily="34" charset="-122"/>
                <a:cs typeface="Consolas" pitchFamily="34" charset="-120"/>
              </a:rPr>
              <a:t>Programming","Web</a:t>
            </a:r>
            <a:r>
              <a:rPr lang="en-US" sz="2150" dirty="0">
                <a:solidFill>
                  <a:srgbClr val="F0F7FB"/>
                </a:solidFill>
                <a:latin typeface="Consolas" pitchFamily="34" charset="0"/>
                <a:ea typeface="Consolas" pitchFamily="34" charset="-122"/>
                <a:cs typeface="Consolas" pitchFamily="34" charset="-120"/>
              </a:rPr>
              <a:t> Development ","Python Programming"]</a:t>
            </a:r>
          </a:p>
          <a:p>
            <a:pPr>
              <a:lnSpc>
                <a:spcPct val="108000"/>
              </a:lnSpc>
            </a:pPr>
            <a:r>
              <a:rPr lang="en-US" sz="2150" dirty="0" err="1">
                <a:solidFill>
                  <a:srgbClr val="F0F7FB"/>
                </a:solidFill>
                <a:latin typeface="Consolas" pitchFamily="34" charset="0"/>
                <a:ea typeface="Consolas" pitchFamily="34" charset="-122"/>
                <a:cs typeface="Consolas" pitchFamily="34" charset="-120"/>
              </a:rPr>
              <a:t>books.append</a:t>
            </a:r>
            <a:r>
              <a:rPr lang="en-US" sz="2150" dirty="0">
                <a:solidFill>
                  <a:srgbClr val="F0F7FB"/>
                </a:solidFill>
                <a:latin typeface="Consolas" pitchFamily="34" charset="0"/>
                <a:ea typeface="Consolas" pitchFamily="34" charset="-122"/>
                <a:cs typeface="Consolas" pitchFamily="34" charset="-120"/>
              </a:rPr>
              <a:t>("Artificial Intelligence")</a:t>
            </a:r>
          </a:p>
          <a:p>
            <a:pPr>
              <a:lnSpc>
                <a:spcPct val="108000"/>
              </a:lnSpc>
            </a:pPr>
            <a:r>
              <a:rPr lang="en-US" sz="2150" dirty="0">
                <a:solidFill>
                  <a:srgbClr val="F0F7FB"/>
                </a:solidFill>
                <a:latin typeface="Consolas" pitchFamily="34" charset="0"/>
                <a:ea typeface="Consolas" pitchFamily="34" charset="-122"/>
                <a:cs typeface="Consolas" pitchFamily="34" charset="-120"/>
              </a:rPr>
              <a:t>print(books)</a:t>
            </a:r>
          </a:p>
          <a:p>
            <a:pPr>
              <a:lnSpc>
                <a:spcPct val="108000"/>
              </a:lnSpc>
            </a:pPr>
            <a:r>
              <a:rPr lang="en-US" sz="2150" dirty="0">
                <a:solidFill>
                  <a:srgbClr val="F0F7FB"/>
                </a:solidFill>
                <a:latin typeface="Consolas" pitchFamily="34" charset="0"/>
                <a:ea typeface="Consolas" pitchFamily="34" charset="-122"/>
                <a:cs typeface="Consolas" pitchFamily="34" charset="-120"/>
              </a:rPr>
              <a:t>books[2]="AI Development"</a:t>
            </a:r>
          </a:p>
          <a:p>
            <a:pPr>
              <a:lnSpc>
                <a:spcPct val="108000"/>
              </a:lnSpc>
            </a:pPr>
            <a:r>
              <a:rPr lang="en-US" sz="2150" dirty="0" err="1">
                <a:solidFill>
                  <a:srgbClr val="F0F7FB"/>
                </a:solidFill>
                <a:latin typeface="Consolas" pitchFamily="34" charset="0"/>
                <a:ea typeface="Consolas" pitchFamily="34" charset="-122"/>
                <a:cs typeface="Consolas" pitchFamily="34" charset="-120"/>
              </a:rPr>
              <a:t>books.remove</a:t>
            </a:r>
            <a:r>
              <a:rPr lang="en-US" sz="2150" dirty="0">
                <a:solidFill>
                  <a:srgbClr val="F0F7FB"/>
                </a:solidFill>
                <a:latin typeface="Consolas" pitchFamily="34" charset="0"/>
                <a:ea typeface="Consolas" pitchFamily="34" charset="-122"/>
                <a:cs typeface="Consolas" pitchFamily="34" charset="-120"/>
              </a:rPr>
              <a:t>("Python Programming")</a:t>
            </a:r>
          </a:p>
          <a:p>
            <a:pPr>
              <a:lnSpc>
                <a:spcPct val="108000"/>
              </a:lnSpc>
            </a:pPr>
            <a:r>
              <a:rPr lang="en-US" sz="2150" dirty="0">
                <a:solidFill>
                  <a:srgbClr val="F0F7FB"/>
                </a:solidFill>
                <a:latin typeface="Consolas" pitchFamily="34" charset="0"/>
                <a:ea typeface="Consolas" pitchFamily="34" charset="-122"/>
                <a:cs typeface="Consolas" pitchFamily="34" charset="-120"/>
              </a:rPr>
              <a:t>print(books)</a:t>
            </a:r>
          </a:p>
          <a:p>
            <a:pPr>
              <a:lnSpc>
                <a:spcPct val="108000"/>
              </a:lnSpc>
            </a:pPr>
            <a:r>
              <a:rPr lang="en-US" sz="2150" dirty="0" err="1">
                <a:solidFill>
                  <a:srgbClr val="F0F7FB"/>
                </a:solidFill>
                <a:latin typeface="Consolas" pitchFamily="34" charset="0"/>
                <a:ea typeface="Consolas" pitchFamily="34" charset="-122"/>
                <a:cs typeface="Consolas" pitchFamily="34" charset="-120"/>
              </a:rPr>
              <a:t>newbooks</a:t>
            </a:r>
            <a:r>
              <a:rPr lang="en-US" sz="2150" dirty="0">
                <a:solidFill>
                  <a:srgbClr val="F0F7FB"/>
                </a:solidFill>
                <a:latin typeface="Consolas" pitchFamily="34" charset="0"/>
                <a:ea typeface="Consolas" pitchFamily="34" charset="-122"/>
                <a:cs typeface="Consolas" pitchFamily="34" charset="-120"/>
              </a:rPr>
              <a:t>=["ML","DL"]</a:t>
            </a:r>
          </a:p>
          <a:p>
            <a:pPr>
              <a:lnSpc>
                <a:spcPct val="108000"/>
              </a:lnSpc>
            </a:pPr>
            <a:r>
              <a:rPr lang="en-US" sz="2150" dirty="0">
                <a:solidFill>
                  <a:srgbClr val="F0F7FB"/>
                </a:solidFill>
                <a:latin typeface="Consolas" pitchFamily="34" charset="0"/>
                <a:ea typeface="Consolas" pitchFamily="34" charset="-122"/>
                <a:cs typeface="Consolas" pitchFamily="34" charset="-120"/>
              </a:rPr>
              <a:t>books=</a:t>
            </a:r>
            <a:r>
              <a:rPr lang="en-US" sz="2150" dirty="0" err="1">
                <a:solidFill>
                  <a:srgbClr val="F0F7FB"/>
                </a:solidFill>
                <a:latin typeface="Consolas" pitchFamily="34" charset="0"/>
                <a:ea typeface="Consolas" pitchFamily="34" charset="-122"/>
                <a:cs typeface="Consolas" pitchFamily="34" charset="-120"/>
              </a:rPr>
              <a:t>books+newbooks</a:t>
            </a:r>
            <a:endParaRPr lang="en-US" sz="2150" dirty="0">
              <a:solidFill>
                <a:srgbClr val="F0F7FB"/>
              </a:solidFill>
              <a:latin typeface="Consolas" pitchFamily="34" charset="0"/>
              <a:ea typeface="Consolas" pitchFamily="34" charset="-122"/>
              <a:cs typeface="Consolas" pitchFamily="34" charset="-120"/>
            </a:endParaRPr>
          </a:p>
          <a:p>
            <a:pPr>
              <a:lnSpc>
                <a:spcPct val="108000"/>
              </a:lnSpc>
            </a:pPr>
            <a:r>
              <a:rPr lang="en-US" sz="2150" dirty="0">
                <a:solidFill>
                  <a:srgbClr val="F0F7FB"/>
                </a:solidFill>
                <a:latin typeface="Consolas" pitchFamily="34" charset="0"/>
                <a:ea typeface="Consolas" pitchFamily="34" charset="-122"/>
                <a:cs typeface="Consolas" pitchFamily="34" charset="-120"/>
              </a:rPr>
              <a:t>print("new List of books")</a:t>
            </a:r>
          </a:p>
          <a:p>
            <a:pPr>
              <a:lnSpc>
                <a:spcPct val="108000"/>
              </a:lnSpc>
            </a:pPr>
            <a:r>
              <a:rPr lang="en-US" sz="2150" dirty="0">
                <a:solidFill>
                  <a:srgbClr val="F0F7FB"/>
                </a:solidFill>
                <a:latin typeface="Consolas" pitchFamily="34" charset="0"/>
                <a:ea typeface="Consolas" pitchFamily="34" charset="-122"/>
                <a:cs typeface="Consolas" pitchFamily="34" charset="-120"/>
              </a:rPr>
              <a:t>print(books)</a:t>
            </a:r>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TEACHING TIP</a:t>
            </a:r>
            <a:endParaRPr lang="en-US" sz="1300" dirty="0"/>
          </a:p>
        </p:txBody>
      </p:sp>
      <p:sp>
        <p:nvSpPr>
          <p:cNvPr id="13" name="Text 11"/>
          <p:cNvSpPr/>
          <p:nvPr/>
        </p:nvSpPr>
        <p:spPr>
          <a:xfrm>
            <a:off x="8321040" y="1901952"/>
            <a:ext cx="3236976" cy="4242816"/>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Run the program, then change one value. Ask learners to predict the output first.</a:t>
            </a:r>
            <a:endParaRPr lang="en-US" sz="1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Tuple?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111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tuple is an ordered, immutable collection usually written in parentheses ().</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when a group of values should not change.</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 access tuple items by index.</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count() counts repetitions and index() finds a position.</a:t>
            </a:r>
            <a:endParaRPr lang="en-US" sz="22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Tuple — count() and index()</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(98, 95, 93, 95, 95)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print(marks.count(95))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print(marks.index(93))</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98</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An item cannot be reassigned inside a tuple.</a:t>
            </a:r>
            <a:endParaRPr lang="en-US" sz="17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Set?</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set is a collection that keeps only unique values.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Set items do not have a guaranteed display order.</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You cannot access elements by index.</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add() to insert a new value.</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An empty set is created with set(), not {}.</a:t>
            </a:r>
            <a:endParaRPr lang="en-US" sz="22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Set — Remove Duplicates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rolls = </a:t>
            </a:r>
            <a:r>
              <a:rPr lang="en-US" sz="2150" dirty="0" smtClean="0">
                <a:solidFill>
                  <a:srgbClr val="F0F7FB"/>
                </a:solidFill>
                <a:latin typeface="Consolas" pitchFamily="34" charset="0"/>
                <a:ea typeface="Consolas" pitchFamily="34" charset="-122"/>
                <a:cs typeface="Consolas" pitchFamily="34" charset="-120"/>
              </a:rPr>
              <a:t>{101</a:t>
            </a:r>
            <a:r>
              <a:rPr lang="en-US" sz="2150" dirty="0">
                <a:solidFill>
                  <a:srgbClr val="F0F7FB"/>
                </a:solidFill>
                <a:latin typeface="Consolas" pitchFamily="34" charset="0"/>
                <a:ea typeface="Consolas" pitchFamily="34" charset="-122"/>
                <a:cs typeface="Consolas" pitchFamily="34" charset="-120"/>
              </a:rPr>
              <a:t>, 102, 101, </a:t>
            </a:r>
            <a:r>
              <a:rPr lang="en-US" sz="2150" dirty="0" smtClean="0">
                <a:solidFill>
                  <a:srgbClr val="F0F7FB"/>
                </a:solidFill>
                <a:latin typeface="Consolas" pitchFamily="34" charset="0"/>
                <a:ea typeface="Consolas" pitchFamily="34" charset="-122"/>
                <a:cs typeface="Consolas" pitchFamily="34" charset="-120"/>
              </a:rPr>
              <a:t>103}</a:t>
            </a:r>
            <a:endParaRPr lang="en-US" sz="2150" dirty="0"/>
          </a:p>
          <a:p>
            <a:pPr marL="0" indent="0" algn="l">
              <a:lnSpc>
                <a:spcPct val="108000"/>
              </a:lnSpc>
              <a:buNone/>
            </a:pPr>
            <a:r>
              <a:rPr lang="en-US" sz="2150" dirty="0" smtClean="0">
                <a:solidFill>
                  <a:srgbClr val="F0F7FB"/>
                </a:solidFill>
                <a:latin typeface="Consolas" pitchFamily="34" charset="0"/>
                <a:ea typeface="Consolas" pitchFamily="34" charset="-122"/>
                <a:cs typeface="Consolas" pitchFamily="34" charset="-120"/>
              </a:rPr>
              <a:t>print(</a:t>
            </a:r>
            <a:r>
              <a:rPr lang="en-US" sz="2150" dirty="0" err="1" smtClean="0">
                <a:solidFill>
                  <a:srgbClr val="F0F7FB"/>
                </a:solidFill>
                <a:latin typeface="Consolas" pitchFamily="34" charset="0"/>
                <a:ea typeface="Consolas" pitchFamily="34" charset="-122"/>
                <a:cs typeface="Consolas" pitchFamily="34" charset="-120"/>
              </a:rPr>
              <a:t>len</a:t>
            </a:r>
            <a:r>
              <a:rPr lang="en-US" sz="2150" dirty="0" smtClean="0">
                <a:solidFill>
                  <a:srgbClr val="F0F7FB"/>
                </a:solidFill>
                <a:latin typeface="Consolas" pitchFamily="34" charset="0"/>
                <a:ea typeface="Consolas" pitchFamily="34" charset="-122"/>
                <a:cs typeface="Consolas" pitchFamily="34" charset="-120"/>
              </a:rPr>
              <a:t>(rolls</a:t>
            </a:r>
            <a:r>
              <a:rPr lang="en-US" sz="2150" dirty="0">
                <a:solidFill>
                  <a:srgbClr val="F0F7FB"/>
                </a:solidFill>
                <a:latin typeface="Consolas" pitchFamily="34" charset="0"/>
                <a:ea typeface="Consolas" pitchFamily="34" charset="-122"/>
                <a:cs typeface="Consolas" pitchFamily="34" charset="-120"/>
              </a:rPr>
              <a:t>))</a:t>
            </a:r>
            <a:endParaRPr lang="en-US" sz="2150" dirty="0"/>
          </a:p>
          <a:p>
            <a:pPr marL="0" indent="0" algn="l">
              <a:lnSpc>
                <a:spcPct val="108000"/>
              </a:lnSpc>
              <a:buNone/>
            </a:pPr>
            <a:r>
              <a:rPr lang="en-US" sz="2150" dirty="0" err="1" smtClean="0">
                <a:solidFill>
                  <a:srgbClr val="F0F7FB"/>
                </a:solidFill>
                <a:latin typeface="Consolas" pitchFamily="34" charset="0"/>
                <a:ea typeface="Consolas" pitchFamily="34" charset="-122"/>
                <a:cs typeface="Consolas" pitchFamily="34" charset="-120"/>
              </a:rPr>
              <a:t>rolls.add</a:t>
            </a:r>
            <a:r>
              <a:rPr lang="en-US" sz="2150" dirty="0" smtClean="0">
                <a:solidFill>
                  <a:srgbClr val="F0F7FB"/>
                </a:solidFill>
                <a:latin typeface="Consolas" pitchFamily="34" charset="0"/>
                <a:ea typeface="Consolas" pitchFamily="34" charset="-122"/>
                <a:cs typeface="Consolas" pitchFamily="34" charset="-120"/>
              </a:rPr>
              <a:t>(104</a:t>
            </a:r>
            <a:r>
              <a:rPr lang="en-US" sz="2150" dirty="0">
                <a:solidFill>
                  <a:srgbClr val="F0F7FB"/>
                </a:solidFill>
                <a:latin typeface="Consolas" pitchFamily="34" charset="0"/>
                <a:ea typeface="Consolas" pitchFamily="34" charset="-122"/>
                <a:cs typeface="Consolas" pitchFamily="34" charset="-120"/>
              </a:rPr>
              <a:t>)</a:t>
            </a:r>
            <a:endParaRPr lang="en-US" sz="2150" dirty="0"/>
          </a:p>
          <a:p>
            <a:pPr marL="0" indent="0" algn="l">
              <a:lnSpc>
                <a:spcPct val="108000"/>
              </a:lnSpc>
              <a:buNone/>
            </a:pPr>
            <a:r>
              <a:rPr lang="en-US" sz="2150" dirty="0" smtClean="0">
                <a:solidFill>
                  <a:srgbClr val="F0F7FB"/>
                </a:solidFill>
                <a:latin typeface="Consolas" pitchFamily="34" charset="0"/>
                <a:ea typeface="Consolas" pitchFamily="34" charset="-122"/>
                <a:cs typeface="Consolas" pitchFamily="34" charset="-120"/>
              </a:rPr>
              <a:t>print(</a:t>
            </a:r>
            <a:r>
              <a:rPr lang="en-US" sz="2150" dirty="0" err="1" smtClean="0">
                <a:solidFill>
                  <a:srgbClr val="F0F7FB"/>
                </a:solidFill>
                <a:latin typeface="Consolas" pitchFamily="34" charset="0"/>
                <a:ea typeface="Consolas" pitchFamily="34" charset="-122"/>
                <a:cs typeface="Consolas" pitchFamily="34" charset="-120"/>
              </a:rPr>
              <a:t>len</a:t>
            </a:r>
            <a:r>
              <a:rPr lang="en-US" sz="2150" dirty="0" smtClean="0">
                <a:solidFill>
                  <a:srgbClr val="F0F7FB"/>
                </a:solidFill>
                <a:latin typeface="Consolas" pitchFamily="34" charset="0"/>
                <a:ea typeface="Consolas" pitchFamily="34" charset="-122"/>
                <a:cs typeface="Consolas" pitchFamily="34" charset="-120"/>
              </a:rPr>
              <a:t>(rolls</a:t>
            </a:r>
            <a:r>
              <a:rPr lang="en-US" sz="2150" dirty="0">
                <a:solidFill>
                  <a:srgbClr val="F0F7FB"/>
                </a:solidFill>
                <a:latin typeface="Consolas" pitchFamily="34" charset="0"/>
                <a:ea typeface="Consolas" pitchFamily="34" charset="-122"/>
                <a:cs typeface="Consolas" pitchFamily="34" charset="-120"/>
              </a:rPr>
              <a:t>))</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Count is reliable; order of printed set items is not.</a:t>
            </a:r>
            <a:endParaRPr lang="en-US" sz="17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Dictionary?</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dictionary stores information as key: value pairs.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Keys identify values (e.g. subject → marks).</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Keys must be unique.</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Access a value by writing dictionary[key].</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Pairs can be added or updated.</a:t>
            </a:r>
            <a:endParaRPr lang="en-US" sz="22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Dictionary — Read &amp; Update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{"Math": 95, "Physics": 97}</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print(marks["Physics"])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marks["English"] = 90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marks["Physics"] = 99</a:t>
            </a:r>
            <a:endParaRPr lang="en-US" sz="2150" dirty="0"/>
          </a:p>
          <a:p>
            <a:pPr>
              <a:lnSpc>
                <a:spcPct val="108000"/>
              </a:lnSpc>
            </a:pPr>
            <a:r>
              <a:rPr lang="en-US" sz="2150" dirty="0">
                <a:solidFill>
                  <a:srgbClr val="F0F7FB"/>
                </a:solidFill>
                <a:latin typeface="Consolas" pitchFamily="34" charset="0"/>
                <a:ea typeface="Consolas" pitchFamily="34" charset="-122"/>
                <a:cs typeface="Consolas" pitchFamily="34" charset="-120"/>
              </a:rPr>
              <a:t>print(marks["Physics"])</a:t>
            </a:r>
            <a:br>
              <a:rPr lang="en-US" sz="2150" dirty="0">
                <a:solidFill>
                  <a:srgbClr val="F0F7FB"/>
                </a:solidFill>
                <a:latin typeface="Consolas" pitchFamily="34" charset="0"/>
                <a:ea typeface="Consolas" pitchFamily="34" charset="-122"/>
                <a:cs typeface="Consolas" pitchFamily="34" charset="-120"/>
              </a:rPr>
            </a:br>
            <a:r>
              <a:rPr lang="en-US" sz="2150" dirty="0">
                <a:solidFill>
                  <a:srgbClr val="F0F7FB"/>
                </a:solidFill>
                <a:latin typeface="Consolas" pitchFamily="34" charset="0"/>
                <a:ea typeface="Consolas" pitchFamily="34" charset="-122"/>
                <a:cs typeface="Consolas" pitchFamily="34" charset="-120"/>
              </a:rPr>
              <a:t>print(</a:t>
            </a:r>
            <a:r>
              <a:rPr lang="en-US" sz="2150" dirty="0" err="1">
                <a:solidFill>
                  <a:srgbClr val="F0F7FB"/>
                </a:solidFill>
                <a:latin typeface="Consolas" pitchFamily="34" charset="0"/>
                <a:ea typeface="Consolas" pitchFamily="34" charset="-122"/>
                <a:cs typeface="Consolas" pitchFamily="34" charset="-120"/>
              </a:rPr>
              <a:t>marks.keys</a:t>
            </a:r>
            <a:r>
              <a:rPr lang="en-US" sz="2150" dirty="0">
                <a:solidFill>
                  <a:srgbClr val="F0F7FB"/>
                </a:solidFill>
                <a:latin typeface="Consolas" pitchFamily="34" charset="0"/>
                <a:ea typeface="Consolas" pitchFamily="34" charset="-122"/>
                <a:cs typeface="Consolas" pitchFamily="34" charset="-120"/>
              </a:rPr>
              <a:t>())</a:t>
            </a:r>
          </a:p>
          <a:p>
            <a:pPr>
              <a:lnSpc>
                <a:spcPct val="108000"/>
              </a:lnSpc>
            </a:pPr>
            <a:r>
              <a:rPr lang="en-US" sz="2150" dirty="0">
                <a:solidFill>
                  <a:srgbClr val="F0F7FB"/>
                </a:solidFill>
                <a:latin typeface="Consolas" pitchFamily="34" charset="0"/>
                <a:ea typeface="Consolas" pitchFamily="34" charset="-122"/>
                <a:cs typeface="Consolas" pitchFamily="34" charset="-120"/>
              </a:rPr>
              <a:t>print(</a:t>
            </a:r>
            <a:r>
              <a:rPr lang="en-US" sz="2150" dirty="0" err="1">
                <a:solidFill>
                  <a:srgbClr val="F0F7FB"/>
                </a:solidFill>
                <a:latin typeface="Consolas" pitchFamily="34" charset="0"/>
                <a:ea typeface="Consolas" pitchFamily="34" charset="-122"/>
                <a:cs typeface="Consolas" pitchFamily="34" charset="-120"/>
              </a:rPr>
              <a:t>marks.values</a:t>
            </a:r>
            <a:r>
              <a:rPr lang="en-US" sz="2150" dirty="0">
                <a:solidFill>
                  <a:srgbClr val="F0F7FB"/>
                </a:solidFill>
                <a:latin typeface="Consolas" pitchFamily="34" charset="0"/>
                <a:ea typeface="Consolas" pitchFamily="34" charset="-122"/>
                <a:cs typeface="Consolas" pitchFamily="34" charset="-120"/>
              </a:rPr>
              <a:t>())</a:t>
            </a:r>
          </a:p>
          <a:p>
            <a:pPr>
              <a:lnSpc>
                <a:spcPct val="108000"/>
              </a:lnSpc>
            </a:pPr>
            <a:r>
              <a:rPr lang="en-US" sz="2150" dirty="0">
                <a:solidFill>
                  <a:srgbClr val="F0F7FB"/>
                </a:solidFill>
                <a:latin typeface="Consolas" pitchFamily="34" charset="0"/>
                <a:ea typeface="Consolas" pitchFamily="34" charset="-122"/>
                <a:cs typeface="Consolas" pitchFamily="34" charset="-120"/>
              </a:rPr>
              <a:t>print(</a:t>
            </a:r>
            <a:r>
              <a:rPr lang="en-US" sz="2150" dirty="0" err="1">
                <a:solidFill>
                  <a:srgbClr val="F0F7FB"/>
                </a:solidFill>
                <a:latin typeface="Consolas" pitchFamily="34" charset="0"/>
                <a:ea typeface="Consolas" pitchFamily="34" charset="-122"/>
                <a:cs typeface="Consolas" pitchFamily="34" charset="-120"/>
              </a:rPr>
              <a:t>marks.items</a:t>
            </a:r>
            <a:r>
              <a:rPr lang="en-US" sz="2150" dirty="0">
                <a:solidFill>
                  <a:srgbClr val="F0F7FB"/>
                </a:solidFill>
                <a:latin typeface="Consolas" pitchFamily="34" charset="0"/>
                <a:ea typeface="Consolas" pitchFamily="34" charset="-122"/>
                <a:cs typeface="Consolas" pitchFamily="34" charset="-120"/>
              </a:rPr>
              <a:t>())</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97</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99</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 dictionary is ideal when each item has a meaningful name.</a:t>
            </a:r>
            <a:endParaRPr lang="en-US" sz="17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Loop Through a Dictionary</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{"Math": 95, "English": 90}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for subject in marks: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print(subject, marks[subject])</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Math 95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English 90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Each iteration supplies a key.</a:t>
            </a:r>
            <a:endParaRPr lang="en-US" sz="17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How to Choose a Collection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118  /  151</a:t>
            </a:r>
            <a:endParaRPr lang="en-US" sz="1000" dirty="0"/>
          </a:p>
        </p:txBody>
      </p:sp>
      <p:sp>
        <p:nvSpPr>
          <p:cNvPr id="8" name="Text 6"/>
          <p:cNvSpPr/>
          <p:nvPr/>
        </p:nvSpPr>
        <p:spPr>
          <a:xfrm>
            <a:off x="521208" y="1389888"/>
            <a:ext cx="10972800" cy="457200"/>
          </a:xfrm>
          <a:prstGeom prst="rect">
            <a:avLst/>
          </a:prstGeom>
          <a:noFill/>
          <a:ln/>
        </p:spPr>
        <p:txBody>
          <a:bodyPr wrap="square" lIns="0" tIns="0" rIns="0" bIns="0" rtlCol="0" anchor="ctr">
            <a:normAutofit/>
          </a:bodyPr>
          <a:lstStyle/>
          <a:p>
            <a:pPr marL="0" indent="0" algn="l">
              <a:buNone/>
            </a:pPr>
            <a:endParaRPr lang="en-US" sz="1950" dirty="0"/>
          </a:p>
        </p:txBody>
      </p:sp>
      <p:sp>
        <p:nvSpPr>
          <p:cNvPr id="9" name="Shape 7"/>
          <p:cNvSpPr/>
          <p:nvPr/>
        </p:nvSpPr>
        <p:spPr>
          <a:xfrm>
            <a:off x="630936" y="1965960"/>
            <a:ext cx="2848356" cy="813816"/>
          </a:xfrm>
          <a:prstGeom prst="roundRect">
            <a:avLst>
              <a:gd name="adj" fmla="val 17978"/>
            </a:avLst>
          </a:prstGeom>
          <a:solidFill>
            <a:srgbClr val="14283E"/>
          </a:solidFill>
          <a:ln w="12700">
            <a:solidFill>
              <a:srgbClr val="14283E">
                <a:alpha val="0"/>
              </a:srgbClr>
            </a:solidFill>
            <a:prstDash val="solid"/>
          </a:ln>
        </p:spPr>
      </p:sp>
      <p:sp>
        <p:nvSpPr>
          <p:cNvPr id="10" name="Text 8"/>
          <p:cNvSpPr/>
          <p:nvPr/>
        </p:nvSpPr>
        <p:spPr>
          <a:xfrm>
            <a:off x="786384" y="2075688"/>
            <a:ext cx="259689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Type</a:t>
            </a:r>
            <a:endParaRPr lang="en-US" sz="2000" dirty="0"/>
          </a:p>
        </p:txBody>
      </p:sp>
      <p:sp>
        <p:nvSpPr>
          <p:cNvPr id="11" name="Shape 9"/>
          <p:cNvSpPr/>
          <p:nvPr/>
        </p:nvSpPr>
        <p:spPr>
          <a:xfrm>
            <a:off x="3511296" y="1965960"/>
            <a:ext cx="3351276" cy="813816"/>
          </a:xfrm>
          <a:prstGeom prst="roundRect">
            <a:avLst>
              <a:gd name="adj" fmla="val 17978"/>
            </a:avLst>
          </a:prstGeom>
          <a:solidFill>
            <a:srgbClr val="14283E"/>
          </a:solidFill>
          <a:ln w="12700">
            <a:solidFill>
              <a:srgbClr val="14283E">
                <a:alpha val="0"/>
              </a:srgbClr>
            </a:solidFill>
            <a:prstDash val="solid"/>
          </a:ln>
        </p:spPr>
      </p:sp>
      <p:sp>
        <p:nvSpPr>
          <p:cNvPr id="12" name="Text 10"/>
          <p:cNvSpPr/>
          <p:nvPr/>
        </p:nvSpPr>
        <p:spPr>
          <a:xfrm>
            <a:off x="3666744" y="2075688"/>
            <a:ext cx="309981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Syntax</a:t>
            </a:r>
            <a:endParaRPr lang="en-US" sz="2000" dirty="0"/>
          </a:p>
        </p:txBody>
      </p:sp>
      <p:sp>
        <p:nvSpPr>
          <p:cNvPr id="13" name="Shape 11"/>
          <p:cNvSpPr/>
          <p:nvPr/>
        </p:nvSpPr>
        <p:spPr>
          <a:xfrm>
            <a:off x="6894576" y="1965960"/>
            <a:ext cx="4814316" cy="813816"/>
          </a:xfrm>
          <a:prstGeom prst="roundRect">
            <a:avLst>
              <a:gd name="adj" fmla="val 17978"/>
            </a:avLst>
          </a:prstGeom>
          <a:solidFill>
            <a:srgbClr val="14283E"/>
          </a:solidFill>
          <a:ln w="12700">
            <a:solidFill>
              <a:srgbClr val="14283E">
                <a:alpha val="0"/>
              </a:srgbClr>
            </a:solidFill>
            <a:prstDash val="solid"/>
          </a:ln>
        </p:spPr>
      </p:sp>
      <p:sp>
        <p:nvSpPr>
          <p:cNvPr id="14" name="Text 12"/>
          <p:cNvSpPr/>
          <p:nvPr/>
        </p:nvSpPr>
        <p:spPr>
          <a:xfrm>
            <a:off x="7050024" y="2075688"/>
            <a:ext cx="4562856" cy="667512"/>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Main idea</a:t>
            </a:r>
            <a:endParaRPr lang="en-US" sz="2000" dirty="0"/>
          </a:p>
        </p:txBody>
      </p:sp>
      <p:sp>
        <p:nvSpPr>
          <p:cNvPr id="15" name="Shape 13"/>
          <p:cNvSpPr/>
          <p:nvPr/>
        </p:nvSpPr>
        <p:spPr>
          <a:xfrm>
            <a:off x="630936" y="2779776"/>
            <a:ext cx="2848356" cy="813816"/>
          </a:xfrm>
          <a:prstGeom prst="roundRect">
            <a:avLst>
              <a:gd name="adj" fmla="val 17978"/>
            </a:avLst>
          </a:prstGeom>
          <a:solidFill>
            <a:srgbClr val="EDF2F6"/>
          </a:solidFill>
          <a:ln w="12700">
            <a:solidFill>
              <a:srgbClr val="EDF2F6">
                <a:alpha val="0"/>
              </a:srgbClr>
            </a:solidFill>
            <a:prstDash val="solid"/>
          </a:ln>
        </p:spPr>
      </p:sp>
      <p:sp>
        <p:nvSpPr>
          <p:cNvPr id="16" name="Text 14"/>
          <p:cNvSpPr/>
          <p:nvPr/>
        </p:nvSpPr>
        <p:spPr>
          <a:xfrm>
            <a:off x="768096" y="2898648"/>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List</a:t>
            </a:r>
            <a:endParaRPr lang="en-US" sz="2000" dirty="0"/>
          </a:p>
        </p:txBody>
      </p:sp>
      <p:sp>
        <p:nvSpPr>
          <p:cNvPr id="17" name="Shape 15"/>
          <p:cNvSpPr/>
          <p:nvPr/>
        </p:nvSpPr>
        <p:spPr>
          <a:xfrm>
            <a:off x="3511296" y="2779776"/>
            <a:ext cx="3351276" cy="813816"/>
          </a:xfrm>
          <a:prstGeom prst="roundRect">
            <a:avLst>
              <a:gd name="adj" fmla="val 17978"/>
            </a:avLst>
          </a:prstGeom>
          <a:solidFill>
            <a:srgbClr val="EDF2F6"/>
          </a:solidFill>
          <a:ln w="12700">
            <a:solidFill>
              <a:srgbClr val="EDF2F6">
                <a:alpha val="0"/>
              </a:srgbClr>
            </a:solidFill>
            <a:prstDash val="solid"/>
          </a:ln>
        </p:spPr>
      </p:sp>
      <p:sp>
        <p:nvSpPr>
          <p:cNvPr id="18" name="Text 16"/>
          <p:cNvSpPr/>
          <p:nvPr/>
        </p:nvSpPr>
        <p:spPr>
          <a:xfrm>
            <a:off x="3648456" y="2898648"/>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[1, 2, 3]</a:t>
            </a:r>
            <a:endParaRPr lang="en-US" sz="2000" dirty="0"/>
          </a:p>
        </p:txBody>
      </p:sp>
      <p:sp>
        <p:nvSpPr>
          <p:cNvPr id="19" name="Shape 17"/>
          <p:cNvSpPr/>
          <p:nvPr/>
        </p:nvSpPr>
        <p:spPr>
          <a:xfrm>
            <a:off x="6894576" y="2779776"/>
            <a:ext cx="4814316" cy="813816"/>
          </a:xfrm>
          <a:prstGeom prst="roundRect">
            <a:avLst>
              <a:gd name="adj" fmla="val 17978"/>
            </a:avLst>
          </a:prstGeom>
          <a:solidFill>
            <a:srgbClr val="EDF2F6"/>
          </a:solidFill>
          <a:ln w="12700">
            <a:solidFill>
              <a:srgbClr val="EDF2F6">
                <a:alpha val="0"/>
              </a:srgbClr>
            </a:solidFill>
            <a:prstDash val="solid"/>
          </a:ln>
        </p:spPr>
      </p:sp>
      <p:sp>
        <p:nvSpPr>
          <p:cNvPr id="20" name="Text 18"/>
          <p:cNvSpPr/>
          <p:nvPr/>
        </p:nvSpPr>
        <p:spPr>
          <a:xfrm>
            <a:off x="7031736" y="2898648"/>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Ordered, editable</a:t>
            </a:r>
            <a:endParaRPr lang="en-US" sz="2000" dirty="0"/>
          </a:p>
        </p:txBody>
      </p:sp>
      <p:sp>
        <p:nvSpPr>
          <p:cNvPr id="21" name="Shape 19"/>
          <p:cNvSpPr/>
          <p:nvPr/>
        </p:nvSpPr>
        <p:spPr>
          <a:xfrm>
            <a:off x="630936" y="3593592"/>
            <a:ext cx="2848356" cy="813816"/>
          </a:xfrm>
          <a:prstGeom prst="roundRect">
            <a:avLst>
              <a:gd name="adj" fmla="val 17978"/>
            </a:avLst>
          </a:prstGeom>
          <a:solidFill>
            <a:srgbClr val="FFFFFF"/>
          </a:solidFill>
          <a:ln w="12700">
            <a:solidFill>
              <a:srgbClr val="FFFFFF">
                <a:alpha val="0"/>
              </a:srgbClr>
            </a:solidFill>
            <a:prstDash val="solid"/>
          </a:ln>
        </p:spPr>
      </p:sp>
      <p:sp>
        <p:nvSpPr>
          <p:cNvPr id="22" name="Text 20"/>
          <p:cNvSpPr/>
          <p:nvPr/>
        </p:nvSpPr>
        <p:spPr>
          <a:xfrm>
            <a:off x="768096" y="3712464"/>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Tuple</a:t>
            </a:r>
            <a:endParaRPr lang="en-US" sz="2000" dirty="0"/>
          </a:p>
        </p:txBody>
      </p:sp>
      <p:sp>
        <p:nvSpPr>
          <p:cNvPr id="23" name="Shape 21"/>
          <p:cNvSpPr/>
          <p:nvPr/>
        </p:nvSpPr>
        <p:spPr>
          <a:xfrm>
            <a:off x="3511296" y="3593592"/>
            <a:ext cx="3351276" cy="813816"/>
          </a:xfrm>
          <a:prstGeom prst="roundRect">
            <a:avLst>
              <a:gd name="adj" fmla="val 17978"/>
            </a:avLst>
          </a:prstGeom>
          <a:solidFill>
            <a:srgbClr val="FFFFFF"/>
          </a:solidFill>
          <a:ln w="12700">
            <a:solidFill>
              <a:srgbClr val="FFFFFF">
                <a:alpha val="0"/>
              </a:srgbClr>
            </a:solidFill>
            <a:prstDash val="solid"/>
          </a:ln>
        </p:spPr>
      </p:sp>
      <p:sp>
        <p:nvSpPr>
          <p:cNvPr id="24" name="Text 22"/>
          <p:cNvSpPr/>
          <p:nvPr/>
        </p:nvSpPr>
        <p:spPr>
          <a:xfrm>
            <a:off x="3648456" y="3712464"/>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(1, 2, 3)</a:t>
            </a:r>
            <a:endParaRPr lang="en-US" sz="2000" dirty="0"/>
          </a:p>
        </p:txBody>
      </p:sp>
      <p:sp>
        <p:nvSpPr>
          <p:cNvPr id="25" name="Shape 23"/>
          <p:cNvSpPr/>
          <p:nvPr/>
        </p:nvSpPr>
        <p:spPr>
          <a:xfrm>
            <a:off x="6894576" y="3593592"/>
            <a:ext cx="4814316" cy="813816"/>
          </a:xfrm>
          <a:prstGeom prst="roundRect">
            <a:avLst>
              <a:gd name="adj" fmla="val 17978"/>
            </a:avLst>
          </a:prstGeom>
          <a:solidFill>
            <a:srgbClr val="FFFFFF"/>
          </a:solidFill>
          <a:ln w="12700">
            <a:solidFill>
              <a:srgbClr val="FFFFFF">
                <a:alpha val="0"/>
              </a:srgbClr>
            </a:solidFill>
            <a:prstDash val="solid"/>
          </a:ln>
        </p:spPr>
      </p:sp>
      <p:sp>
        <p:nvSpPr>
          <p:cNvPr id="26" name="Text 24"/>
          <p:cNvSpPr/>
          <p:nvPr/>
        </p:nvSpPr>
        <p:spPr>
          <a:xfrm>
            <a:off x="7031736" y="3712464"/>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Ordered, fixed</a:t>
            </a:r>
            <a:endParaRPr lang="en-US" sz="2000" dirty="0"/>
          </a:p>
        </p:txBody>
      </p:sp>
      <p:sp>
        <p:nvSpPr>
          <p:cNvPr id="27" name="Shape 25"/>
          <p:cNvSpPr/>
          <p:nvPr/>
        </p:nvSpPr>
        <p:spPr>
          <a:xfrm>
            <a:off x="630936" y="4407408"/>
            <a:ext cx="2848356" cy="813816"/>
          </a:xfrm>
          <a:prstGeom prst="roundRect">
            <a:avLst>
              <a:gd name="adj" fmla="val 17978"/>
            </a:avLst>
          </a:prstGeom>
          <a:solidFill>
            <a:srgbClr val="EDF2F6"/>
          </a:solidFill>
          <a:ln w="12700">
            <a:solidFill>
              <a:srgbClr val="EDF2F6">
                <a:alpha val="0"/>
              </a:srgbClr>
            </a:solidFill>
            <a:prstDash val="solid"/>
          </a:ln>
        </p:spPr>
      </p:sp>
      <p:sp>
        <p:nvSpPr>
          <p:cNvPr id="28" name="Text 26"/>
          <p:cNvSpPr/>
          <p:nvPr/>
        </p:nvSpPr>
        <p:spPr>
          <a:xfrm>
            <a:off x="768096" y="4526280"/>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Set</a:t>
            </a:r>
            <a:endParaRPr lang="en-US" sz="2000" dirty="0"/>
          </a:p>
        </p:txBody>
      </p:sp>
      <p:sp>
        <p:nvSpPr>
          <p:cNvPr id="29" name="Shape 27"/>
          <p:cNvSpPr/>
          <p:nvPr/>
        </p:nvSpPr>
        <p:spPr>
          <a:xfrm>
            <a:off x="3511296" y="4407408"/>
            <a:ext cx="3351276" cy="813816"/>
          </a:xfrm>
          <a:prstGeom prst="roundRect">
            <a:avLst>
              <a:gd name="adj" fmla="val 17978"/>
            </a:avLst>
          </a:prstGeom>
          <a:solidFill>
            <a:srgbClr val="EDF2F6"/>
          </a:solidFill>
          <a:ln w="12700">
            <a:solidFill>
              <a:srgbClr val="EDF2F6">
                <a:alpha val="0"/>
              </a:srgbClr>
            </a:solidFill>
            <a:prstDash val="solid"/>
          </a:ln>
        </p:spPr>
      </p:sp>
      <p:sp>
        <p:nvSpPr>
          <p:cNvPr id="30" name="Text 28"/>
          <p:cNvSpPr/>
          <p:nvPr/>
        </p:nvSpPr>
        <p:spPr>
          <a:xfrm>
            <a:off x="3648456" y="4526280"/>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{1, 2, 3}</a:t>
            </a:r>
            <a:endParaRPr lang="en-US" sz="2000" dirty="0"/>
          </a:p>
        </p:txBody>
      </p:sp>
      <p:sp>
        <p:nvSpPr>
          <p:cNvPr id="31" name="Shape 29"/>
          <p:cNvSpPr/>
          <p:nvPr/>
        </p:nvSpPr>
        <p:spPr>
          <a:xfrm>
            <a:off x="6894576" y="4407408"/>
            <a:ext cx="4814316" cy="813816"/>
          </a:xfrm>
          <a:prstGeom prst="roundRect">
            <a:avLst>
              <a:gd name="adj" fmla="val 17978"/>
            </a:avLst>
          </a:prstGeom>
          <a:solidFill>
            <a:srgbClr val="EDF2F6"/>
          </a:solidFill>
          <a:ln w="12700">
            <a:solidFill>
              <a:srgbClr val="EDF2F6">
                <a:alpha val="0"/>
              </a:srgbClr>
            </a:solidFill>
            <a:prstDash val="solid"/>
          </a:ln>
        </p:spPr>
      </p:sp>
      <p:sp>
        <p:nvSpPr>
          <p:cNvPr id="32" name="Text 30"/>
          <p:cNvSpPr/>
          <p:nvPr/>
        </p:nvSpPr>
        <p:spPr>
          <a:xfrm>
            <a:off x="7031736" y="4526280"/>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Unique values</a:t>
            </a:r>
            <a:endParaRPr lang="en-US" sz="2000" dirty="0"/>
          </a:p>
        </p:txBody>
      </p:sp>
      <p:sp>
        <p:nvSpPr>
          <p:cNvPr id="33" name="Shape 31"/>
          <p:cNvSpPr/>
          <p:nvPr/>
        </p:nvSpPr>
        <p:spPr>
          <a:xfrm>
            <a:off x="630936" y="5221224"/>
            <a:ext cx="2848356" cy="813816"/>
          </a:xfrm>
          <a:prstGeom prst="roundRect">
            <a:avLst>
              <a:gd name="adj" fmla="val 17978"/>
            </a:avLst>
          </a:prstGeom>
          <a:solidFill>
            <a:srgbClr val="FFFFFF"/>
          </a:solidFill>
          <a:ln w="12700">
            <a:solidFill>
              <a:srgbClr val="FFFFFF">
                <a:alpha val="0"/>
              </a:srgbClr>
            </a:solidFill>
            <a:prstDash val="solid"/>
          </a:ln>
        </p:spPr>
      </p:sp>
      <p:sp>
        <p:nvSpPr>
          <p:cNvPr id="34" name="Text 32"/>
          <p:cNvSpPr/>
          <p:nvPr/>
        </p:nvSpPr>
        <p:spPr>
          <a:xfrm>
            <a:off x="768096" y="5340096"/>
            <a:ext cx="260604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Dictionary</a:t>
            </a:r>
            <a:endParaRPr lang="en-US" sz="2000" dirty="0"/>
          </a:p>
        </p:txBody>
      </p:sp>
      <p:sp>
        <p:nvSpPr>
          <p:cNvPr id="35" name="Shape 33"/>
          <p:cNvSpPr/>
          <p:nvPr/>
        </p:nvSpPr>
        <p:spPr>
          <a:xfrm>
            <a:off x="3511296" y="5221224"/>
            <a:ext cx="3351276" cy="813816"/>
          </a:xfrm>
          <a:prstGeom prst="roundRect">
            <a:avLst>
              <a:gd name="adj" fmla="val 17978"/>
            </a:avLst>
          </a:prstGeom>
          <a:solidFill>
            <a:srgbClr val="FFFFFF"/>
          </a:solidFill>
          <a:ln w="12700">
            <a:solidFill>
              <a:srgbClr val="FFFFFF">
                <a:alpha val="0"/>
              </a:srgbClr>
            </a:solidFill>
            <a:prstDash val="solid"/>
          </a:ln>
        </p:spPr>
      </p:sp>
      <p:sp>
        <p:nvSpPr>
          <p:cNvPr id="36" name="Text 34"/>
          <p:cNvSpPr/>
          <p:nvPr/>
        </p:nvSpPr>
        <p:spPr>
          <a:xfrm>
            <a:off x="3648456" y="5340096"/>
            <a:ext cx="310896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{"Math": 90}</a:t>
            </a:r>
            <a:endParaRPr lang="en-US" sz="2000" dirty="0"/>
          </a:p>
        </p:txBody>
      </p:sp>
      <p:sp>
        <p:nvSpPr>
          <p:cNvPr id="37" name="Shape 35"/>
          <p:cNvSpPr/>
          <p:nvPr/>
        </p:nvSpPr>
        <p:spPr>
          <a:xfrm>
            <a:off x="6894576" y="5221224"/>
            <a:ext cx="4814316" cy="813816"/>
          </a:xfrm>
          <a:prstGeom prst="roundRect">
            <a:avLst>
              <a:gd name="adj" fmla="val 17978"/>
            </a:avLst>
          </a:prstGeom>
          <a:solidFill>
            <a:srgbClr val="FFFFFF"/>
          </a:solidFill>
          <a:ln w="12700">
            <a:solidFill>
              <a:srgbClr val="FFFFFF">
                <a:alpha val="0"/>
              </a:srgbClr>
            </a:solidFill>
            <a:prstDash val="solid"/>
          </a:ln>
        </p:spPr>
      </p:sp>
      <p:sp>
        <p:nvSpPr>
          <p:cNvPr id="38" name="Text 36"/>
          <p:cNvSpPr/>
          <p:nvPr/>
        </p:nvSpPr>
        <p:spPr>
          <a:xfrm>
            <a:off x="7031736" y="5340096"/>
            <a:ext cx="4572000" cy="649224"/>
          </a:xfrm>
          <a:prstGeom prst="rect">
            <a:avLst/>
          </a:prstGeom>
          <a:noFill/>
          <a:ln/>
        </p:spPr>
        <p:txBody>
          <a:bodyPr wrap="square" lIns="0" tIns="0" rIns="0" bIns="0" rtlCol="0" anchor="ctr">
            <a:normAutofit/>
          </a:bodyPr>
          <a:lstStyle/>
          <a:p>
            <a:pPr marL="0" indent="0" algn="l">
              <a:buNone/>
            </a:pPr>
            <a:r>
              <a:rPr lang="en-US" sz="2000" dirty="0">
                <a:solidFill>
                  <a:srgbClr val="253449"/>
                </a:solidFill>
                <a:latin typeface="Aptos" pitchFamily="34" charset="0"/>
                <a:ea typeface="Aptos" pitchFamily="34" charset="-122"/>
                <a:cs typeface="Aptos" pitchFamily="34" charset="-120"/>
              </a:rPr>
              <a:t>Key-value pairs</a:t>
            </a:r>
            <a:endParaRPr lang="en-US" sz="2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5B — Collections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119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A. Remove duplicate student roll numbers.</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B. Store the marks of three subjects in a dictionary.</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C. Print the marks for one subject.</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Use set(), a dictionary literal, and dictionary["key"].</a:t>
            </a:r>
            <a:endParaRPr lang="en-US" sz="1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5B — Sample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rolls = [1, 2, 1, 3,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print(len(set(rolls)))</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marks = {"Math": 90, "CS": 95, "English": 85}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print(marks["CS"])</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3</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95</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LISTS, TUPLES, SETS &amp; DICTIONARIES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5C — Find an Employee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121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Create a small dictionary where each employee ID maps to a name. Ask for an ID and display the name, or say "Not found".</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Use a dictionary and the in operator.</a:t>
            </a:r>
            <a:endParaRPr lang="en-US" sz="1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LISTS, TUPLES, SETS &amp; DICTIONARIES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5C — One Solution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employees = {101: "Ali", 102: "Sara", 103: "Hamza"}</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search_id = int(input("Enter employee ID: "))</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if search_id in employees: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print("Employee:", employees[search_id])</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else: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print("Not found")</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Enter employee ID: 102</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Employee: Sara</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 dictionary maps a key to a value.</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Use in before looking up a key.</a:t>
            </a:r>
            <a:endParaRPr lang="en-US" sz="17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3">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10312" cy="6858000"/>
          </a:xfrm>
          <a:prstGeom prst="rect">
            <a:avLst/>
          </a:prstGeom>
          <a:solidFill>
            <a:srgbClr val="FFBC56"/>
          </a:solidFill>
          <a:ln w="12700">
            <a:solidFill>
              <a:srgbClr val="FFBC56">
                <a:alpha val="0"/>
              </a:srgbClr>
            </a:solidFill>
            <a:prstDash val="solid"/>
          </a:ln>
        </p:spPr>
      </p:sp>
      <p:sp>
        <p:nvSpPr>
          <p:cNvPr id="3" name="Text 1"/>
          <p:cNvSpPr/>
          <p:nvPr/>
        </p:nvSpPr>
        <p:spPr>
          <a:xfrm>
            <a:off x="950976" y="1133856"/>
            <a:ext cx="8595360" cy="448056"/>
          </a:xfrm>
          <a:prstGeom prst="rect">
            <a:avLst/>
          </a:prstGeom>
          <a:noFill/>
          <a:ln/>
        </p:spPr>
        <p:txBody>
          <a:bodyPr wrap="square" lIns="0" tIns="0" rIns="0" bIns="0" rtlCol="0" anchor="ctr">
            <a:normAutofit/>
          </a:bodyPr>
          <a:lstStyle/>
          <a:p>
            <a:pPr marL="0" indent="0" algn="l">
              <a:buNone/>
            </a:pPr>
            <a:r>
              <a:rPr lang="en-US" sz="1900" b="1" kern="0" spc="200" dirty="0">
                <a:solidFill>
                  <a:srgbClr val="FFBC56"/>
                </a:solidFill>
                <a:latin typeface="Aptos" pitchFamily="34" charset="0"/>
                <a:ea typeface="Aptos" pitchFamily="34" charset="-122"/>
                <a:cs typeface="Aptos" pitchFamily="34" charset="-120"/>
              </a:rPr>
              <a:t>PYTHON PART 6</a:t>
            </a:r>
            <a:endParaRPr lang="en-US" sz="1900" dirty="0"/>
          </a:p>
        </p:txBody>
      </p:sp>
      <p:sp>
        <p:nvSpPr>
          <p:cNvPr id="4" name="Text 2"/>
          <p:cNvSpPr/>
          <p:nvPr/>
        </p:nvSpPr>
        <p:spPr>
          <a:xfrm>
            <a:off x="950976" y="2002536"/>
            <a:ext cx="10195560" cy="1554480"/>
          </a:xfrm>
          <a:prstGeom prst="rect">
            <a:avLst/>
          </a:prstGeom>
          <a:noFill/>
          <a:ln/>
        </p:spPr>
        <p:txBody>
          <a:bodyPr wrap="square" lIns="0" tIns="0" rIns="0" bIns="0" rtlCol="0" anchor="t">
            <a:normAutofit/>
          </a:bodyPr>
          <a:lstStyle/>
          <a:p>
            <a:pPr marL="0" indent="0" algn="l">
              <a:buNone/>
            </a:pPr>
            <a:r>
              <a:rPr lang="en-US" sz="4500" b="1" dirty="0">
                <a:solidFill>
                  <a:srgbClr val="FFFFFF"/>
                </a:solidFill>
                <a:latin typeface="Aptos" pitchFamily="34" charset="0"/>
                <a:ea typeface="Aptos" pitchFamily="34" charset="-122"/>
                <a:cs typeface="Aptos" pitchFamily="34" charset="-120"/>
              </a:rPr>
              <a:t>Functions, Modules &amp; Mini Project</a:t>
            </a:r>
            <a:endParaRPr lang="en-US" sz="4500" dirty="0"/>
          </a:p>
        </p:txBody>
      </p:sp>
      <p:sp>
        <p:nvSpPr>
          <p:cNvPr id="5" name="Shape 3"/>
          <p:cNvSpPr/>
          <p:nvPr/>
        </p:nvSpPr>
        <p:spPr>
          <a:xfrm>
            <a:off x="960120" y="4187952"/>
            <a:ext cx="7863840" cy="27432"/>
          </a:xfrm>
          <a:prstGeom prst="rect">
            <a:avLst/>
          </a:prstGeom>
          <a:solidFill>
            <a:srgbClr val="416273"/>
          </a:solidFill>
          <a:ln w="12700">
            <a:solidFill>
              <a:srgbClr val="416273">
                <a:alpha val="0"/>
              </a:srgbClr>
            </a:solidFill>
            <a:prstDash val="solid"/>
          </a:ln>
        </p:spPr>
      </p:sp>
      <p:sp>
        <p:nvSpPr>
          <p:cNvPr id="6" name="Text 4"/>
          <p:cNvSpPr/>
          <p:nvPr/>
        </p:nvSpPr>
        <p:spPr>
          <a:xfrm>
            <a:off x="950976" y="4517136"/>
            <a:ext cx="9875520" cy="1005840"/>
          </a:xfrm>
          <a:prstGeom prst="rect">
            <a:avLst/>
          </a:prstGeom>
          <a:noFill/>
          <a:ln/>
        </p:spPr>
        <p:txBody>
          <a:bodyPr wrap="square" lIns="0" tIns="0" rIns="0" bIns="0" rtlCol="0" anchor="ctr">
            <a:normAutofit/>
          </a:bodyPr>
          <a:lstStyle/>
          <a:p>
            <a:pPr marL="0" indent="0" algn="l">
              <a:buNone/>
            </a:pPr>
            <a:r>
              <a:rPr lang="en-US" sz="2300" dirty="0">
                <a:solidFill>
                  <a:srgbClr val="CFE4ED"/>
                </a:solidFill>
                <a:latin typeface="Aptos" pitchFamily="34" charset="0"/>
                <a:ea typeface="Aptos" pitchFamily="34" charset="-122"/>
                <a:cs typeface="Aptos" pitchFamily="34" charset="-120"/>
              </a:rPr>
              <a:t>Turn repeated code into small, reusable tasks.</a:t>
            </a:r>
            <a:endParaRPr lang="en-US" sz="2300" dirty="0"/>
          </a:p>
        </p:txBody>
      </p:sp>
      <p:sp>
        <p:nvSpPr>
          <p:cNvPr id="7" name="Text 5"/>
          <p:cNvSpPr/>
          <p:nvPr/>
        </p:nvSpPr>
        <p:spPr>
          <a:xfrm>
            <a:off x="10698480" y="6053328"/>
            <a:ext cx="640080" cy="256032"/>
          </a:xfrm>
          <a:prstGeom prst="rect">
            <a:avLst/>
          </a:prstGeom>
          <a:noFill/>
          <a:ln/>
        </p:spPr>
        <p:txBody>
          <a:bodyPr wrap="square" lIns="0" tIns="0" rIns="0" bIns="0" rtlCol="0" anchor="ctr">
            <a:normAutofit/>
          </a:bodyPr>
          <a:lstStyle/>
          <a:p>
            <a:pPr marL="0" indent="0" algn="l">
              <a:buNone/>
            </a:pPr>
            <a:r>
              <a:rPr lang="en-US" sz="1400" dirty="0">
                <a:solidFill>
                  <a:srgbClr val="86A9BB"/>
                </a:solidFill>
                <a:latin typeface="Aptos" pitchFamily="34" charset="0"/>
                <a:ea typeface="Aptos" pitchFamily="34" charset="-122"/>
                <a:cs typeface="Aptos" pitchFamily="34" charset="-120"/>
              </a:rPr>
              <a:t>123</a:t>
            </a:r>
            <a:endParaRPr lang="en-US" sz="1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Function?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124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function is a named, reusable block of code that performs a task.</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Write the instructions once, call them whenever needed.</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Functions reduce repetition and make code easier to understand.</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Create a function with def; execute it by calling its name.</a:t>
            </a:r>
            <a:endParaRPr lang="en-US" sz="22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Without vs With a Function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125  /  151</a:t>
            </a:r>
            <a:endParaRPr lang="en-US" sz="1000" dirty="0"/>
          </a:p>
        </p:txBody>
      </p:sp>
      <p:sp>
        <p:nvSpPr>
          <p:cNvPr id="8" name="Shape 6"/>
          <p:cNvSpPr/>
          <p:nvPr/>
        </p:nvSpPr>
        <p:spPr>
          <a:xfrm>
            <a:off x="539496" y="1581912"/>
            <a:ext cx="5321808" cy="3172968"/>
          </a:xfrm>
          <a:prstGeom prst="roundRect">
            <a:avLst>
              <a:gd name="adj" fmla="val 4611"/>
            </a:avLst>
          </a:prstGeom>
          <a:solidFill>
            <a:srgbClr val="EDF2F6"/>
          </a:solidFill>
          <a:ln w="12700">
            <a:solidFill>
              <a:srgbClr val="EDF2F6">
                <a:alpha val="0"/>
              </a:srgbClr>
            </a:solidFill>
            <a:prstDash val="solid"/>
          </a:ln>
        </p:spPr>
      </p:sp>
      <p:sp>
        <p:nvSpPr>
          <p:cNvPr id="9" name="Shape 7"/>
          <p:cNvSpPr/>
          <p:nvPr/>
        </p:nvSpPr>
        <p:spPr>
          <a:xfrm>
            <a:off x="6071616" y="1581912"/>
            <a:ext cx="5550408" cy="3172968"/>
          </a:xfrm>
          <a:prstGeom prst="roundRect">
            <a:avLst>
              <a:gd name="adj" fmla="val 4611"/>
            </a:avLst>
          </a:prstGeom>
          <a:solidFill>
            <a:srgbClr val="DDF7EE"/>
          </a:solidFill>
          <a:ln w="12700">
            <a:solidFill>
              <a:srgbClr val="DDF7EE">
                <a:alpha val="0"/>
              </a:srgbClr>
            </a:solidFill>
            <a:prstDash val="solid"/>
          </a:ln>
        </p:spPr>
      </p:sp>
      <p:sp>
        <p:nvSpPr>
          <p:cNvPr id="10" name="Text 8"/>
          <p:cNvSpPr/>
          <p:nvPr/>
        </p:nvSpPr>
        <p:spPr>
          <a:xfrm>
            <a:off x="841248" y="1801368"/>
            <a:ext cx="4114800" cy="219456"/>
          </a:xfrm>
          <a:prstGeom prst="rect">
            <a:avLst/>
          </a:prstGeom>
          <a:noFill/>
          <a:ln/>
        </p:spPr>
        <p:txBody>
          <a:bodyPr wrap="square" lIns="0" tIns="0" rIns="0" bIns="0" rtlCol="0" anchor="ctr">
            <a:normAutofit/>
          </a:bodyPr>
          <a:lstStyle/>
          <a:p>
            <a:pPr marL="0" indent="0" algn="l">
              <a:buNone/>
            </a:pPr>
            <a:r>
              <a:rPr lang="en-US" sz="1400" b="1" dirty="0">
                <a:solidFill>
                  <a:srgbClr val="597083"/>
                </a:solidFill>
                <a:latin typeface="Aptos" pitchFamily="34" charset="0"/>
                <a:ea typeface="Aptos" pitchFamily="34" charset="-122"/>
                <a:cs typeface="Aptos" pitchFamily="34" charset="-120"/>
              </a:rPr>
              <a:t>OPTION A</a:t>
            </a:r>
            <a:endParaRPr lang="en-US" sz="1400" dirty="0"/>
          </a:p>
        </p:txBody>
      </p:sp>
      <p:sp>
        <p:nvSpPr>
          <p:cNvPr id="11" name="Text 9"/>
          <p:cNvSpPr/>
          <p:nvPr/>
        </p:nvSpPr>
        <p:spPr>
          <a:xfrm>
            <a:off x="6336792" y="1801368"/>
            <a:ext cx="4114800" cy="219456"/>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OPTION B</a:t>
            </a:r>
            <a:endParaRPr lang="en-US" sz="1400" dirty="0"/>
          </a:p>
        </p:txBody>
      </p:sp>
      <p:sp>
        <p:nvSpPr>
          <p:cNvPr id="12" name="Text 10"/>
          <p:cNvSpPr/>
          <p:nvPr/>
        </p:nvSpPr>
        <p:spPr>
          <a:xfrm>
            <a:off x="841248" y="2350008"/>
            <a:ext cx="4718304" cy="1956816"/>
          </a:xfrm>
          <a:prstGeom prst="rect">
            <a:avLst/>
          </a:prstGeom>
          <a:noFill/>
          <a:ln/>
        </p:spPr>
        <p:txBody>
          <a:bodyPr wrap="square" lIns="0" tIns="0" rIns="0" bIns="0" rtlCol="0" anchor="ctr">
            <a:normAutofit/>
          </a:bodyPr>
          <a:lstStyle/>
          <a:p>
            <a:pPr marL="0" indent="0" algn="l">
              <a:buNone/>
            </a:pPr>
            <a:r>
              <a:rPr lang="en-US" sz="2600" b="1" dirty="0">
                <a:solidFill>
                  <a:srgbClr val="14283E"/>
                </a:solidFill>
                <a:latin typeface="Aptos" pitchFamily="34" charset="0"/>
                <a:ea typeface="Aptos" pitchFamily="34" charset="-122"/>
                <a:cs typeface="Aptos" pitchFamily="34" charset="-120"/>
              </a:rPr>
              <a:t>Rewrite a calculation every time</a:t>
            </a:r>
            <a:endParaRPr lang="en-US" sz="2600" dirty="0"/>
          </a:p>
        </p:txBody>
      </p:sp>
      <p:sp>
        <p:nvSpPr>
          <p:cNvPr id="13" name="Text 11"/>
          <p:cNvSpPr/>
          <p:nvPr/>
        </p:nvSpPr>
        <p:spPr>
          <a:xfrm>
            <a:off x="6364224" y="2350008"/>
            <a:ext cx="4727448" cy="1956816"/>
          </a:xfrm>
          <a:prstGeom prst="rect">
            <a:avLst/>
          </a:prstGeom>
          <a:noFill/>
          <a:ln/>
        </p:spPr>
        <p:txBody>
          <a:bodyPr wrap="square" lIns="0" tIns="0" rIns="0" bIns="0" rtlCol="0" anchor="ctr">
            <a:normAutofit/>
          </a:bodyPr>
          <a:lstStyle/>
          <a:p>
            <a:pPr marL="0" indent="0" algn="l">
              <a:buNone/>
            </a:pPr>
            <a:r>
              <a:rPr lang="en-US" sz="2600" b="1" dirty="0">
                <a:solidFill>
                  <a:srgbClr val="14283E"/>
                </a:solidFill>
                <a:latin typeface="Aptos" pitchFamily="34" charset="0"/>
                <a:ea typeface="Aptos" pitchFamily="34" charset="-122"/>
                <a:cs typeface="Aptos" pitchFamily="34" charset="-120"/>
              </a:rPr>
              <a:t>Define once, then call it again</a:t>
            </a:r>
            <a:endParaRPr lang="en-US" sz="2600" dirty="0"/>
          </a:p>
        </p:txBody>
      </p:sp>
      <p:sp>
        <p:nvSpPr>
          <p:cNvPr id="14" name="Shape 12"/>
          <p:cNvSpPr/>
          <p:nvPr/>
        </p:nvSpPr>
        <p:spPr>
          <a:xfrm>
            <a:off x="740664" y="5120640"/>
            <a:ext cx="77724" cy="77724"/>
          </a:xfrm>
          <a:prstGeom prst="roundRect">
            <a:avLst>
              <a:gd name="adj" fmla="val 47059"/>
            </a:avLst>
          </a:prstGeom>
          <a:solidFill>
            <a:srgbClr val="008C80"/>
          </a:solidFill>
          <a:ln w="12700">
            <a:solidFill>
              <a:srgbClr val="008C80">
                <a:alpha val="0"/>
              </a:srgbClr>
            </a:solidFill>
            <a:prstDash val="solid"/>
          </a:ln>
        </p:spPr>
      </p:sp>
      <p:sp>
        <p:nvSpPr>
          <p:cNvPr id="15" name="Text 13"/>
          <p:cNvSpPr/>
          <p:nvPr/>
        </p:nvSpPr>
        <p:spPr>
          <a:xfrm>
            <a:off x="941832" y="5001768"/>
            <a:ext cx="10497312" cy="585216"/>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Functions give repeated tasks a clear name.</a:t>
            </a:r>
            <a:endParaRPr lang="en-US" sz="1800" dirty="0"/>
          </a:p>
        </p:txBody>
      </p:sp>
      <p:sp>
        <p:nvSpPr>
          <p:cNvPr id="16" name="Shape 14"/>
          <p:cNvSpPr/>
          <p:nvPr/>
        </p:nvSpPr>
        <p:spPr>
          <a:xfrm>
            <a:off x="740664" y="5760720"/>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941832" y="5641848"/>
            <a:ext cx="10497312" cy="585216"/>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A function can receive values and return a result.</a:t>
            </a:r>
            <a:endParaRPr lang="en-US" sz="1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Define &amp; Call a Function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greet():</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print("Welcome to Python!")</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greet()</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greet()</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Welcome to Python!</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Welcome to Python!</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def begins the function definition.</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585216"/>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Indent the body.</a:t>
            </a:r>
            <a:endParaRPr lang="en-US" sz="17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Parameters and Arguments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127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parameter is a variable in the function definition; an argument is the value passed when calling it.</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Parameters make functions flexible.</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same function can be used with different arguments.</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 function can have one, many, or no parameters.</a:t>
            </a:r>
            <a:endParaRPr lang="en-US" sz="22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2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Function with One Parameter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greet(name):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print("Hello,", name)</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greet("Ali")</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greet("Sara")</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Hello, Ali</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Hello, Sara</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585216"/>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name is the parameter.</a:t>
            </a:r>
            <a:endParaRPr lang="en-US" sz="1750" dirty="0"/>
          </a:p>
        </p:txBody>
      </p:sp>
      <p:sp>
        <p:nvSpPr>
          <p:cNvPr id="18" name="Shape 16"/>
          <p:cNvSpPr/>
          <p:nvPr/>
        </p:nvSpPr>
        <p:spPr>
          <a:xfrm>
            <a:off x="8330184" y="2834640"/>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715768"/>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"Ali" and "Sara" are arguments.</a:t>
            </a:r>
            <a:endParaRPr lang="en-US" sz="17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Function with Two Parameters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129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add_numbers(a, b):</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print(a + b)</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add_numbers(10,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add_numbers(3, 4)</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30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7</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The function receives two values.</a:t>
            </a:r>
            <a:endParaRPr lang="en-US" sz="17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print() vs return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130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print() displays a result; return sends a result back to the caller.</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print() when you only want to show something.</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return when you want to save or reuse a calculated value.</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A return statement ends that function call.</a:t>
            </a:r>
            <a:endParaRPr lang="en-US" sz="22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Function That Returns a Value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add_numbers(a, b):</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return a + b</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total = add_numbers(10, 20)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print("Total:", total)</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Total: 30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The caller receives 30 as the return value.</a:t>
            </a:r>
            <a:endParaRPr lang="en-US" sz="17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GST Example from the Notes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add_gst(price):</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return price + (0.18 * price)</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print(add_gst(100))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print(add_gst(200))</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118.0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236.0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The 18% rate is a classroom example, not tax advice.</a:t>
            </a:r>
            <a:endParaRPr lang="en-US" sz="17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Built-in Functions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133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Built-in functions are ready to use without importing a module.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print() / input() display and receive text.</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len() counts items; type() checks a type.</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int(), float(), str() convert values.</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max(), min(), sum() work with numbers.</a:t>
            </a:r>
            <a:endParaRPr lang="en-US" sz="22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Built-in Functions in Action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134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nums = [1, 2, 3, 4, 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print(len(nums))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print(max(nums))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print(min(nums))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print(sum(nums))</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15</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Useful for lists and many beginner programs.</a:t>
            </a:r>
            <a:endParaRPr lang="en-US" sz="17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What is a Module?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135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module is a Python file containing functions and other reusable code.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Import a module to use its functionality.</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math module provides mathematical operations.</a:t>
            </a:r>
            <a:endParaRPr lang="en-US" sz="2250" dirty="0"/>
          </a:p>
        </p:txBody>
      </p:sp>
      <p:sp>
        <p:nvSpPr>
          <p:cNvPr id="15" name="Shape 13"/>
          <p:cNvSpPr/>
          <p:nvPr/>
        </p:nvSpPr>
        <p:spPr>
          <a:xfrm>
            <a:off x="713232" y="4608576"/>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48970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Call imported functions with module.function() when importing a whole module.</a:t>
            </a:r>
            <a:endParaRPr lang="en-US" sz="22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Import the math Module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import math</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print(math.sqrt(16))</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print(math.ceil(4.2))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print(math.floor(4.8))</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4.0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5</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sqrt() is square root; ceil() rounds up; floor() rounds down.</a:t>
            </a:r>
            <a:endParaRPr lang="en-US" sz="17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Import a Specific Function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137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from math import sqrt, log2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print(sqrt(25))</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print(log2(8))</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5.0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When imported by name, no math. prefix is needed.</a:t>
            </a:r>
            <a:endParaRPr lang="en-US" sz="17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3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FUNCTIONS, MODULES &amp; MINI PROJECT</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More math Tools: pow(), pi &amp; dir()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138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import math</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print(math.pow(2, 3))</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print(round(math.pi, 2))</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print("sqrt" in dir(math))</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8.0</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3.14</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pow(2, 3) calculates 2 to the power 3.</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9923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math.pi is a value, not a function.</a:t>
            </a:r>
            <a:endParaRPr lang="en-US" sz="17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3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6A — Write Your Functions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139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779776"/>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A. Write check_odd_even(number).</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B. Write average_marks(scores) to return the mean.</a:t>
            </a:r>
            <a:endParaRPr lang="en-US" sz="2600" dirty="0"/>
          </a:p>
          <a:p>
            <a:pPr lvl="0"/>
            <a:r>
              <a:rPr lang="en-US" sz="2600" dirty="0">
                <a:solidFill>
                  <a:srgbClr val="14283E"/>
                </a:solidFill>
                <a:latin typeface="Aptos" pitchFamily="34" charset="0"/>
                <a:ea typeface="Aptos" pitchFamily="34" charset="-122"/>
                <a:cs typeface="Aptos" pitchFamily="34" charset="-120"/>
              </a:rPr>
              <a:t>C. Call both functions with sample values</a:t>
            </a:r>
            <a:r>
              <a:rPr lang="en-US" sz="2600" dirty="0" smtClean="0">
                <a:solidFill>
                  <a:srgbClr val="14283E"/>
                </a:solidFill>
                <a:latin typeface="Aptos" pitchFamily="34" charset="0"/>
                <a:ea typeface="Aptos" pitchFamily="34" charset="-122"/>
                <a:cs typeface="Aptos" pitchFamily="34" charset="-120"/>
              </a:rPr>
              <a:t>.</a:t>
            </a:r>
            <a:br>
              <a:rPr lang="en-US" sz="2600" dirty="0" smtClean="0">
                <a:solidFill>
                  <a:srgbClr val="14283E"/>
                </a:solidFill>
                <a:latin typeface="Aptos" pitchFamily="34" charset="0"/>
                <a:ea typeface="Aptos" pitchFamily="34" charset="-122"/>
                <a:cs typeface="Aptos" pitchFamily="34" charset="-120"/>
              </a:rPr>
            </a:br>
            <a:r>
              <a:rPr lang="en-US" sz="2600" dirty="0" smtClean="0">
                <a:solidFill>
                  <a:srgbClr val="14283E"/>
                </a:solidFill>
                <a:latin typeface="Aptos" pitchFamily="34" charset="0"/>
                <a:ea typeface="Aptos" pitchFamily="34" charset="-122"/>
                <a:cs typeface="Aptos" pitchFamily="34" charset="-120"/>
              </a:rPr>
              <a:t>D. </a:t>
            </a:r>
            <a:r>
              <a:rPr lang="en-US" altLang="en-US" sz="2400" dirty="0">
                <a:latin typeface="Arial" panose="020B0604020202020204" pitchFamily="34" charset="0"/>
              </a:rPr>
              <a:t>Write a Python program that defines a function named </a:t>
            </a:r>
            <a:r>
              <a:rPr lang="en-US" altLang="en-US" sz="2400" dirty="0" err="1" smtClean="0">
                <a:latin typeface="Arial Unicode MS"/>
              </a:rPr>
              <a:t>count_vowels</a:t>
            </a:r>
            <a:r>
              <a:rPr lang="en-US" altLang="en-US" sz="2400" dirty="0" smtClean="0">
                <a:latin typeface="Arial Unicode MS"/>
              </a:rPr>
              <a:t>()</a:t>
            </a:r>
            <a:r>
              <a:rPr lang="en-US" altLang="en-US" sz="2400" dirty="0" smtClean="0"/>
              <a:t> </a:t>
            </a:r>
            <a:r>
              <a:rPr lang="en-US" altLang="en-US" sz="2400" dirty="0">
                <a:latin typeface="Arial" panose="020B0604020202020204" pitchFamily="34" charset="0"/>
              </a:rPr>
              <a:t>to count the total number of </a:t>
            </a:r>
            <a:r>
              <a:rPr lang="en-US" altLang="en-US" sz="2400" dirty="0" smtClean="0">
                <a:latin typeface="Arial" panose="020B0604020202020204" pitchFamily="34" charset="0"/>
              </a:rPr>
              <a:t>vowels in </a:t>
            </a:r>
            <a:r>
              <a:rPr lang="en-US" altLang="en-US" sz="2400" dirty="0">
                <a:latin typeface="Arial" panose="020B0604020202020204" pitchFamily="34" charset="0"/>
              </a:rPr>
              <a:t>a given string </a:t>
            </a:r>
            <a:r>
              <a:rPr lang="en-US" altLang="en-US" sz="2400" dirty="0" smtClean="0">
                <a:latin typeface="Arial" panose="020B0604020202020204" pitchFamily="34" charset="0"/>
              </a:rPr>
              <a:t/>
            </a:r>
            <a:br>
              <a:rPr lang="en-US" altLang="en-US" sz="2400" dirty="0" smtClean="0">
                <a:latin typeface="Arial" panose="020B0604020202020204" pitchFamily="34" charset="0"/>
              </a:rPr>
            </a:br>
            <a:r>
              <a:rPr lang="en-US" altLang="en-US" sz="2400" dirty="0" smtClean="0">
                <a:latin typeface="Arial" panose="020B0604020202020204" pitchFamily="34" charset="0"/>
              </a:rPr>
              <a:t>E. Write a Python program that takes a number and check if it is a prime number or not using function</a:t>
            </a:r>
            <a:endParaRPr lang="en-US" altLang="en-US" sz="2400" dirty="0">
              <a:latin typeface="Arial" panose="020B0604020202020204" pitchFamily="34" charset="0"/>
            </a:endParaRPr>
          </a:p>
          <a:p>
            <a:pPr marL="0" indent="0" algn="l">
              <a:buNone/>
            </a:pP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Odd/even uses %. Average uses sum() / len().</a:t>
            </a:r>
            <a:endParaRPr lang="en-US" sz="18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6A — Odd or Even</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140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check_odd_even(number):</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if number % 2 == 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return "Even"</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return "Odd"</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print(check_odd_even(7))</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Odd</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a:t>
            </a:r>
            <a:r>
              <a:rPr lang="en-US" sz="3100" b="1" dirty="0" smtClean="0">
                <a:solidFill>
                  <a:srgbClr val="14283E"/>
                </a:solidFill>
                <a:latin typeface="Aptos" pitchFamily="34" charset="0"/>
                <a:ea typeface="Aptos" pitchFamily="34" charset="-122"/>
                <a:cs typeface="Aptos" pitchFamily="34" charset="-120"/>
              </a:rPr>
              <a:t>6B </a:t>
            </a:r>
            <a:r>
              <a:rPr lang="en-US" sz="3100" b="1" dirty="0">
                <a:solidFill>
                  <a:srgbClr val="14283E"/>
                </a:solidFill>
                <a:latin typeface="Aptos" pitchFamily="34" charset="0"/>
                <a:ea typeface="Aptos" pitchFamily="34" charset="-122"/>
                <a:cs typeface="Aptos" pitchFamily="34" charset="-120"/>
              </a:rPr>
              <a:t>— Average</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141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WORKED SOLUTION</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def average_marks(scores):</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if len(scores) == 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return 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    return sum(scores) / len(scores)</a:t>
            </a:r>
            <a:endParaRPr lang="en-US" sz="2150" dirty="0"/>
          </a:p>
          <a:p>
            <a:pPr marL="0" indent="0" algn="l">
              <a:lnSpc>
                <a:spcPct val="108000"/>
              </a:lnSpc>
              <a:buNone/>
            </a:pP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print(average_marks([80, 90, 100]))</a:t>
            </a:r>
            <a:endParaRPr lang="en-US" sz="21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90.0</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21040" y="1563624"/>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STEP BY STEP</a:t>
            </a:r>
            <a:endParaRPr lang="en-US" sz="1300" dirty="0"/>
          </a:p>
        </p:txBody>
      </p:sp>
      <p:sp>
        <p:nvSpPr>
          <p:cNvPr id="16" name="Text 14"/>
          <p:cNvSpPr/>
          <p:nvPr/>
        </p:nvSpPr>
        <p:spPr>
          <a:xfrm>
            <a:off x="8321040" y="1901952"/>
            <a:ext cx="3236976" cy="1417320"/>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Aptos" pitchFamily="34" charset="0"/>
                <a:ea typeface="Aptos" pitchFamily="34" charset="-122"/>
                <a:cs typeface="Aptos" pitchFamily="34" charset="-120"/>
              </a:rPr>
              <a:t>Read each line and predict the result before running the program.</a:t>
            </a:r>
            <a:endParaRPr lang="en-US" sz="1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FUNCTIONS, MODULES &amp; MINI PROJECT</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a:t>
            </a:r>
            <a:r>
              <a:rPr lang="en-US" sz="3100" b="1" dirty="0" smtClean="0">
                <a:solidFill>
                  <a:srgbClr val="14283E"/>
                </a:solidFill>
                <a:latin typeface="Aptos" pitchFamily="34" charset="0"/>
                <a:ea typeface="Aptos" pitchFamily="34" charset="-122"/>
                <a:cs typeface="Aptos" pitchFamily="34" charset="-120"/>
              </a:rPr>
              <a:t>6C </a:t>
            </a:r>
            <a:r>
              <a:rPr lang="en-US" sz="3100" b="1" dirty="0">
                <a:solidFill>
                  <a:srgbClr val="14283E"/>
                </a:solidFill>
                <a:latin typeface="Aptos" pitchFamily="34" charset="0"/>
                <a:ea typeface="Aptos" pitchFamily="34" charset="-122"/>
                <a:cs typeface="Aptos" pitchFamily="34" charset="-120"/>
              </a:rPr>
              <a:t>— Count Vowels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142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def count_vowels(text):</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count = 0</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for letter in text.lower():</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if letter in "aeiou":</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count += 1</a:t>
            </a: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    return count</a:t>
            </a:r>
            <a:endParaRPr lang="en-US" sz="1950" dirty="0"/>
          </a:p>
          <a:p>
            <a:pPr marL="0" indent="0" algn="l">
              <a:lnSpc>
                <a:spcPct val="108000"/>
              </a:lnSpc>
              <a:buNone/>
            </a:pPr>
            <a:endParaRPr lang="en-US" sz="1950" dirty="0"/>
          </a:p>
          <a:p>
            <a:pPr marL="0" indent="0" algn="l">
              <a:lnSpc>
                <a:spcPct val="108000"/>
              </a:lnSpc>
              <a:buNone/>
            </a:pPr>
            <a:r>
              <a:rPr lang="en-US" sz="1950" dirty="0">
                <a:solidFill>
                  <a:srgbClr val="F0F7FB"/>
                </a:solidFill>
                <a:latin typeface="Consolas" pitchFamily="34" charset="0"/>
                <a:ea typeface="Consolas" pitchFamily="34" charset="-122"/>
                <a:cs typeface="Consolas" pitchFamily="34" charset="-120"/>
              </a:rPr>
              <a:t>print(count_vowels("Python Course"))</a:t>
            </a:r>
            <a:endParaRPr lang="en-US" sz="195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4</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 function can loop over a string.</a:t>
            </a:r>
            <a:endParaRPr lang="en-US" sz="1750" dirty="0"/>
          </a:p>
        </p:txBody>
      </p:sp>
      <p:sp>
        <p:nvSpPr>
          <p:cNvPr id="18" name="Shape 16"/>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16936"/>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Return the count to use it again.</a:t>
            </a:r>
            <a:endParaRPr lang="en-US" sz="17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a:solidFill>
                  <a:srgbClr val="008C80"/>
                </a:solidFill>
                <a:latin typeface="Aptos" pitchFamily="34" charset="0"/>
                <a:ea typeface="Aptos" pitchFamily="34" charset="-122"/>
                <a:cs typeface="Aptos" pitchFamily="34" charset="-120"/>
              </a:rPr>
              <a:t>FUNCTIONS, MODULES &amp; MINI PROJECT</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Practice </a:t>
            </a:r>
            <a:r>
              <a:rPr lang="en-US" sz="3100" b="1" dirty="0" smtClean="0">
                <a:solidFill>
                  <a:srgbClr val="14283E"/>
                </a:solidFill>
                <a:latin typeface="Aptos" pitchFamily="34" charset="0"/>
                <a:ea typeface="Aptos" pitchFamily="34" charset="-122"/>
                <a:cs typeface="Aptos" pitchFamily="34" charset="-120"/>
              </a:rPr>
              <a:t>6D </a:t>
            </a:r>
            <a:r>
              <a:rPr lang="en-US" sz="3100" b="1" dirty="0">
                <a:solidFill>
                  <a:srgbClr val="14283E"/>
                </a:solidFill>
                <a:latin typeface="Aptos" pitchFamily="34" charset="0"/>
                <a:ea typeface="Aptos" pitchFamily="34" charset="-122"/>
                <a:cs typeface="Aptos" pitchFamily="34" charset="-120"/>
              </a:rPr>
              <a:t>— Check Prime Number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143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def is_prime(number):</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if number &lt;= 1:</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return False</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for i in range(2, number):</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if number % i == 0:</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return False</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return True</a:t>
            </a:r>
            <a:endParaRPr lang="en-US" sz="1800" dirty="0"/>
          </a:p>
          <a:p>
            <a:pPr marL="0" indent="0" algn="l">
              <a:lnSpc>
                <a:spcPct val="108000"/>
              </a:lnSpc>
              <a:buNone/>
            </a:pP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print(is_prime(7))</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print(is_prime(10))</a:t>
            </a:r>
            <a:endParaRPr lang="en-US" sz="1800" dirty="0"/>
          </a:p>
        </p:txBody>
      </p:sp>
      <p:sp>
        <p:nvSpPr>
          <p:cNvPr id="11" name="Shape 9"/>
          <p:cNvSpPr/>
          <p:nvPr/>
        </p:nvSpPr>
        <p:spPr>
          <a:xfrm>
            <a:off x="8156448" y="3557016"/>
            <a:ext cx="3566160" cy="2651760"/>
          </a:xfrm>
          <a:prstGeom prst="roundRect">
            <a:avLst>
              <a:gd name="adj" fmla="val 5517"/>
            </a:avLst>
          </a:prstGeom>
          <a:solidFill>
            <a:srgbClr val="EDF2F6"/>
          </a:solidFill>
          <a:ln w="12700">
            <a:solidFill>
              <a:srgbClr val="EDF2F6">
                <a:alpha val="0"/>
              </a:srgbClr>
            </a:solidFill>
            <a:prstDash val="solid"/>
          </a:ln>
        </p:spPr>
      </p:sp>
      <p:sp>
        <p:nvSpPr>
          <p:cNvPr id="12" name="Text 10"/>
          <p:cNvSpPr/>
          <p:nvPr/>
        </p:nvSpPr>
        <p:spPr>
          <a:xfrm>
            <a:off x="8321040" y="3694176"/>
            <a:ext cx="3236976" cy="265176"/>
          </a:xfrm>
          <a:prstGeom prst="rect">
            <a:avLst/>
          </a:prstGeom>
          <a:noFill/>
          <a:ln/>
        </p:spPr>
        <p:txBody>
          <a:bodyPr wrap="square" lIns="0" tIns="0" rIns="0" bIns="0" rtlCol="0" anchor="ctr">
            <a:normAutofit/>
          </a:bodyPr>
          <a:lstStyle/>
          <a:p>
            <a:pPr marL="0" indent="0" algn="l">
              <a:buNone/>
            </a:pPr>
            <a:r>
              <a:rPr lang="en-US" sz="1300" b="1" dirty="0">
                <a:solidFill>
                  <a:srgbClr val="008C80"/>
                </a:solidFill>
                <a:latin typeface="Aptos" pitchFamily="34" charset="0"/>
                <a:ea typeface="Aptos" pitchFamily="34" charset="-122"/>
                <a:cs typeface="Aptos" pitchFamily="34" charset="-120"/>
              </a:rPr>
              <a:t>EXPECTED OUTPUT</a:t>
            </a:r>
            <a:endParaRPr lang="en-US" sz="1300" dirty="0"/>
          </a:p>
        </p:txBody>
      </p:sp>
      <p:sp>
        <p:nvSpPr>
          <p:cNvPr id="13" name="Text 11"/>
          <p:cNvSpPr/>
          <p:nvPr/>
        </p:nvSpPr>
        <p:spPr>
          <a:xfrm>
            <a:off x="8321040" y="4032504"/>
            <a:ext cx="3236976" cy="2084832"/>
          </a:xfrm>
          <a:prstGeom prst="rect">
            <a:avLst/>
          </a:prstGeom>
          <a:noFill/>
          <a:ln/>
        </p:spPr>
        <p:txBody>
          <a:bodyPr wrap="square" lIns="0" tIns="0" rIns="0" bIns="0" rtlCol="0" anchor="t">
            <a:normAutofit/>
          </a:bodyPr>
          <a:lstStyle/>
          <a:p>
            <a:pPr marL="0" indent="0" algn="l">
              <a:buNone/>
            </a:pPr>
            <a:r>
              <a:rPr lang="en-US" sz="1900" dirty="0">
                <a:solidFill>
                  <a:srgbClr val="253449"/>
                </a:solidFill>
                <a:latin typeface="Consolas" pitchFamily="34" charset="0"/>
                <a:ea typeface="Consolas" pitchFamily="34" charset="-122"/>
                <a:cs typeface="Consolas" pitchFamily="34" charset="-120"/>
              </a:rPr>
              <a:t>True</a:t>
            </a:r>
            <a:endParaRPr lang="en-US" sz="1900" dirty="0"/>
          </a:p>
          <a:p>
            <a:pPr marL="0" indent="0" algn="l">
              <a:buNone/>
            </a:pPr>
            <a:r>
              <a:rPr lang="en-US" sz="1900" dirty="0">
                <a:solidFill>
                  <a:srgbClr val="253449"/>
                </a:solidFill>
                <a:latin typeface="Consolas" pitchFamily="34" charset="0"/>
                <a:ea typeface="Consolas" pitchFamily="34" charset="-122"/>
                <a:cs typeface="Consolas" pitchFamily="34" charset="-120"/>
              </a:rPr>
              <a:t>False</a:t>
            </a:r>
            <a:endParaRPr lang="en-US" sz="1900" dirty="0"/>
          </a:p>
        </p:txBody>
      </p:sp>
      <p:sp>
        <p:nvSpPr>
          <p:cNvPr id="14" name="Shape 12"/>
          <p:cNvSpPr/>
          <p:nvPr/>
        </p:nvSpPr>
        <p:spPr>
          <a:xfrm>
            <a:off x="8156448" y="1426464"/>
            <a:ext cx="3566160" cy="1984248"/>
          </a:xfrm>
          <a:prstGeom prst="roundRect">
            <a:avLst>
              <a:gd name="adj" fmla="val 7373"/>
            </a:avLst>
          </a:prstGeom>
          <a:solidFill>
            <a:srgbClr val="DDF7EE"/>
          </a:solidFill>
          <a:ln w="12700">
            <a:solidFill>
              <a:srgbClr val="DDF7EE">
                <a:alpha val="0"/>
              </a:srgbClr>
            </a:solidFill>
            <a:prstDash val="solid"/>
          </a:ln>
        </p:spPr>
      </p:sp>
      <p:sp>
        <p:nvSpPr>
          <p:cNvPr id="15" name="Text 13"/>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6" name="Shape 14"/>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7" name="Text 15"/>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A prime number is greater than 1 and has no factors except 1 and itself.</a:t>
            </a:r>
            <a:endParaRPr lang="en-US" sz="1750" dirty="0"/>
          </a:p>
        </p:txBody>
      </p:sp>
      <p:sp>
        <p:nvSpPr>
          <p:cNvPr id="18" name="Shape 16"/>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9" name="Text 17"/>
          <p:cNvSpPr/>
          <p:nvPr/>
        </p:nvSpPr>
        <p:spPr>
          <a:xfrm>
            <a:off x="8531352" y="299923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Test possible divisors with a loop.</a:t>
            </a:r>
            <a:endParaRPr lang="en-US" sz="17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Mini Project 2 — Guess the Number</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144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A fun project that combines input, conditions, loops and a module.</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computer secretly chooses a number.</a:t>
            </a:r>
            <a:endParaRPr lang="en-US" sz="2250" dirty="0"/>
          </a:p>
        </p:txBody>
      </p:sp>
      <p:sp>
        <p:nvSpPr>
          <p:cNvPr id="13" name="Shape 11"/>
          <p:cNvSpPr/>
          <p:nvPr/>
        </p:nvSpPr>
        <p:spPr>
          <a:xfrm>
            <a:off x="713232" y="384962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73075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player guesses it.</a:t>
            </a:r>
            <a:endParaRPr lang="en-US" sz="2250" dirty="0"/>
          </a:p>
        </p:txBody>
      </p:sp>
      <p:sp>
        <p:nvSpPr>
          <p:cNvPr id="15" name="Shape 13"/>
          <p:cNvSpPr/>
          <p:nvPr/>
        </p:nvSpPr>
        <p:spPr>
          <a:xfrm>
            <a:off x="713232" y="44074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28853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program says Too high, Too low, or Correct.</a:t>
            </a:r>
            <a:endParaRPr lang="en-US" sz="2250" dirty="0"/>
          </a:p>
        </p:txBody>
      </p:sp>
      <p:sp>
        <p:nvSpPr>
          <p:cNvPr id="17" name="Shape 15"/>
          <p:cNvSpPr/>
          <p:nvPr/>
        </p:nvSpPr>
        <p:spPr>
          <a:xfrm>
            <a:off x="713232" y="5166360"/>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047488"/>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The loop stops after a correct guess.</a:t>
            </a:r>
            <a:endParaRPr lang="en-US" sz="22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Guess the Number — Setup</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145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import random</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secret = random.randint(1, 10)</a:t>
            </a:r>
            <a:endParaRPr lang="en-US" sz="2150" dirty="0"/>
          </a:p>
          <a:p>
            <a:pPr marL="0" indent="0" algn="l">
              <a:lnSpc>
                <a:spcPct val="108000"/>
              </a:lnSpc>
              <a:buNone/>
            </a:pPr>
            <a:r>
              <a:rPr lang="en-US" sz="2150" dirty="0">
                <a:solidFill>
                  <a:srgbClr val="F0F7FB"/>
                </a:solidFill>
                <a:latin typeface="Consolas" pitchFamily="34" charset="0"/>
                <a:ea typeface="Consolas" pitchFamily="34" charset="-122"/>
                <a:cs typeface="Consolas" pitchFamily="34" charset="-120"/>
              </a:rPr>
              <a:t>print("Guess a number from 1 to 10")</a:t>
            </a:r>
            <a:endParaRPr lang="en-US" sz="215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randint(1, 10) chooses an integer from 1 to 10.</a:t>
            </a:r>
            <a:endParaRPr lang="en-US" sz="1750" dirty="0"/>
          </a:p>
        </p:txBody>
      </p:sp>
      <p:sp>
        <p:nvSpPr>
          <p:cNvPr id="15" name="Shape 13"/>
          <p:cNvSpPr/>
          <p:nvPr/>
        </p:nvSpPr>
        <p:spPr>
          <a:xfrm>
            <a:off x="8330184" y="311810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8531352" y="2999232"/>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Do not print secret in the finished game.</a:t>
            </a:r>
            <a:endParaRPr lang="en-US" sz="17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Guess the Number — Game Loop</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while True:</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guess = int(input("Your guess: "))</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if guess == secret:</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print("Correct!")</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break</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elif guess &gt; secret:</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print("Too high")</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else:</a:t>
            </a:r>
            <a:endParaRPr lang="en-US" sz="1800" dirty="0"/>
          </a:p>
          <a:p>
            <a:pPr marL="0" indent="0" algn="l">
              <a:lnSpc>
                <a:spcPct val="108000"/>
              </a:lnSpc>
              <a:buNone/>
            </a:pPr>
            <a:r>
              <a:rPr lang="en-US" sz="1800" dirty="0">
                <a:solidFill>
                  <a:srgbClr val="F0F7FB"/>
                </a:solidFill>
                <a:latin typeface="Consolas" pitchFamily="34" charset="0"/>
                <a:ea typeface="Consolas" pitchFamily="34" charset="-122"/>
                <a:cs typeface="Consolas" pitchFamily="34" charset="-120"/>
              </a:rPr>
              <a:t>        print("Too low")</a:t>
            </a:r>
            <a:endParaRPr lang="en-US" sz="1800" dirty="0"/>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Run this after the setup slide.</a:t>
            </a:r>
            <a:endParaRPr lang="en-US" sz="1750" dirty="0"/>
          </a:p>
        </p:txBody>
      </p:sp>
      <p:sp>
        <p:nvSpPr>
          <p:cNvPr id="15" name="Shape 13"/>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8531352" y="29169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Shows a while loop, if/elif/else, and break.</a:t>
            </a:r>
            <a:endParaRPr lang="en-US" sz="17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Guessing Game — Student Improvements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147  /  151</a:t>
            </a:r>
            <a:endParaRPr lang="en-US" sz="1000" dirty="0"/>
          </a:p>
        </p:txBody>
      </p:sp>
      <p:sp>
        <p:nvSpPr>
          <p:cNvPr id="8" name="Shape 6"/>
          <p:cNvSpPr/>
          <p:nvPr/>
        </p:nvSpPr>
        <p:spPr>
          <a:xfrm>
            <a:off x="502920" y="1490472"/>
            <a:ext cx="11173968" cy="3785616"/>
          </a:xfrm>
          <a:prstGeom prst="roundRect">
            <a:avLst>
              <a:gd name="adj" fmla="val 3865"/>
            </a:avLst>
          </a:prstGeom>
          <a:solidFill>
            <a:srgbClr val="FFF3DE"/>
          </a:solidFill>
          <a:ln w="12700">
            <a:solidFill>
              <a:srgbClr val="FFF3DE">
                <a:alpha val="0"/>
              </a:srgbClr>
            </a:solidFill>
            <a:prstDash val="solid"/>
          </a:ln>
        </p:spPr>
      </p:sp>
      <p:sp>
        <p:nvSpPr>
          <p:cNvPr id="9" name="Text 7"/>
          <p:cNvSpPr/>
          <p:nvPr/>
        </p:nvSpPr>
        <p:spPr>
          <a:xfrm>
            <a:off x="777240" y="1819656"/>
            <a:ext cx="9875520" cy="320040"/>
          </a:xfrm>
          <a:prstGeom prst="rect">
            <a:avLst/>
          </a:prstGeom>
          <a:noFill/>
          <a:ln/>
        </p:spPr>
        <p:txBody>
          <a:bodyPr wrap="square" lIns="0" tIns="0" rIns="0" bIns="0" rtlCol="0" anchor="ctr">
            <a:normAutofit/>
          </a:bodyPr>
          <a:lstStyle/>
          <a:p>
            <a:pPr marL="0" indent="0" algn="l">
              <a:buNone/>
            </a:pPr>
            <a:r>
              <a:rPr lang="en-US" sz="1900" b="1" dirty="0">
                <a:solidFill>
                  <a:srgbClr val="BE5C1E"/>
                </a:solidFill>
                <a:latin typeface="Aptos" pitchFamily="34" charset="0"/>
                <a:ea typeface="Aptos" pitchFamily="34" charset="-122"/>
                <a:cs typeface="Aptos" pitchFamily="34" charset="-120"/>
              </a:rPr>
              <a:t>TRY IT YOURSELF</a:t>
            </a:r>
            <a:endParaRPr lang="en-US" sz="1900" dirty="0"/>
          </a:p>
        </p:txBody>
      </p:sp>
      <p:sp>
        <p:nvSpPr>
          <p:cNvPr id="10" name="Text 8"/>
          <p:cNvSpPr/>
          <p:nvPr/>
        </p:nvSpPr>
        <p:spPr>
          <a:xfrm>
            <a:off x="777240" y="2340864"/>
            <a:ext cx="10451592" cy="2359152"/>
          </a:xfrm>
          <a:prstGeom prst="rect">
            <a:avLst/>
          </a:prstGeom>
          <a:noFill/>
          <a:ln/>
        </p:spPr>
        <p:txBody>
          <a:bodyPr wrap="square" lIns="0" tIns="0" rIns="0" bIns="0" rtlCol="0" anchor="t">
            <a:normAutofit/>
          </a:bodyPr>
          <a:lstStyle/>
          <a:p>
            <a:pPr marL="0" indent="0" algn="l">
              <a:buNone/>
            </a:pPr>
            <a:r>
              <a:rPr lang="en-US" sz="2600" dirty="0">
                <a:solidFill>
                  <a:srgbClr val="14283E"/>
                </a:solidFill>
                <a:latin typeface="Aptos" pitchFamily="34" charset="0"/>
                <a:ea typeface="Aptos" pitchFamily="34" charset="-122"/>
                <a:cs typeface="Aptos" pitchFamily="34" charset="-120"/>
              </a:rPr>
              <a:t>1. Count how many guesses the player makes.</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2. Ask if the player wants to try again.</a:t>
            </a:r>
            <a:endParaRPr lang="en-US" sz="2600" dirty="0"/>
          </a:p>
          <a:p>
            <a:pPr marL="0" indent="0" algn="l">
              <a:buNone/>
            </a:pPr>
            <a:r>
              <a:rPr lang="en-US" sz="2600" dirty="0">
                <a:solidFill>
                  <a:srgbClr val="14283E"/>
                </a:solidFill>
                <a:latin typeface="Aptos" pitchFamily="34" charset="0"/>
                <a:ea typeface="Aptos" pitchFamily="34" charset="-122"/>
                <a:cs typeface="Aptos" pitchFamily="34" charset="-120"/>
              </a:rPr>
              <a:t>3. Change the range from 1–10 to 1–20.</a:t>
            </a:r>
            <a:endParaRPr lang="en-US" sz="2600" dirty="0"/>
          </a:p>
        </p:txBody>
      </p:sp>
      <p:sp>
        <p:nvSpPr>
          <p:cNvPr id="11" name="Shape 9"/>
          <p:cNvSpPr/>
          <p:nvPr/>
        </p:nvSpPr>
        <p:spPr>
          <a:xfrm>
            <a:off x="502920" y="5468112"/>
            <a:ext cx="11173968" cy="694944"/>
          </a:xfrm>
          <a:prstGeom prst="roundRect">
            <a:avLst>
              <a:gd name="adj" fmla="val 21053"/>
            </a:avLst>
          </a:prstGeom>
          <a:solidFill>
            <a:srgbClr val="DDF7EE"/>
          </a:solidFill>
          <a:ln w="12700">
            <a:solidFill>
              <a:srgbClr val="DDF7EE">
                <a:alpha val="0"/>
              </a:srgbClr>
            </a:solidFill>
            <a:prstDash val="solid"/>
          </a:ln>
        </p:spPr>
      </p:sp>
      <p:sp>
        <p:nvSpPr>
          <p:cNvPr id="12" name="Text 10"/>
          <p:cNvSpPr/>
          <p:nvPr/>
        </p:nvSpPr>
        <p:spPr>
          <a:xfrm>
            <a:off x="786384" y="5596128"/>
            <a:ext cx="10332720" cy="429768"/>
          </a:xfrm>
          <a:prstGeom prst="rect">
            <a:avLst/>
          </a:prstGeom>
          <a:noFill/>
          <a:ln/>
        </p:spPr>
        <p:txBody>
          <a:bodyPr wrap="square" lIns="0" tIns="0" rIns="0" bIns="0" rtlCol="0" anchor="ctr">
            <a:normAutofit/>
          </a:bodyPr>
          <a:lstStyle/>
          <a:p>
            <a:pPr marL="0" indent="0" algn="l">
              <a:buNone/>
            </a:pPr>
            <a:r>
              <a:rPr lang="en-US" sz="1800" dirty="0">
                <a:solidFill>
                  <a:srgbClr val="253449"/>
                </a:solidFill>
                <a:latin typeface="Aptos" pitchFamily="34" charset="0"/>
                <a:ea typeface="Aptos" pitchFamily="34" charset="-122"/>
                <a:cs typeface="Aptos" pitchFamily="34" charset="-120"/>
              </a:rPr>
              <a:t>HINT  Starter task: add attempts = 0 before the loop and attempts += 1 inside.</a:t>
            </a:r>
            <a:endParaRPr lang="en-US" sz="1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Guess the Number — Game Loop</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146  /  151</a:t>
            </a:r>
            <a:endParaRPr lang="en-US" sz="1000" dirty="0"/>
          </a:p>
        </p:txBody>
      </p:sp>
      <p:sp>
        <p:nvSpPr>
          <p:cNvPr id="8" name="Shape 6"/>
          <p:cNvSpPr/>
          <p:nvPr/>
        </p:nvSpPr>
        <p:spPr>
          <a:xfrm>
            <a:off x="466344" y="1426464"/>
            <a:ext cx="7498080" cy="4809744"/>
          </a:xfrm>
          <a:prstGeom prst="roundRect">
            <a:avLst>
              <a:gd name="adj" fmla="val 3042"/>
            </a:avLst>
          </a:prstGeom>
          <a:solidFill>
            <a:srgbClr val="122435"/>
          </a:solidFill>
          <a:ln w="12700">
            <a:solidFill>
              <a:srgbClr val="122435">
                <a:alpha val="0"/>
              </a:srgbClr>
            </a:solidFill>
            <a:prstDash val="solid"/>
          </a:ln>
        </p:spPr>
      </p:sp>
      <p:sp>
        <p:nvSpPr>
          <p:cNvPr id="9" name="Text 7"/>
          <p:cNvSpPr/>
          <p:nvPr/>
        </p:nvSpPr>
        <p:spPr>
          <a:xfrm>
            <a:off x="685800" y="1581912"/>
            <a:ext cx="713232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84D7CF"/>
                </a:solidFill>
                <a:latin typeface="Aptos" pitchFamily="34" charset="0"/>
                <a:ea typeface="Aptos" pitchFamily="34" charset="-122"/>
                <a:cs typeface="Aptos" pitchFamily="34" charset="-120"/>
              </a:rPr>
              <a:t>PYTHON CODE</a:t>
            </a:r>
            <a:endParaRPr lang="en-US" sz="1200" dirty="0"/>
          </a:p>
        </p:txBody>
      </p:sp>
      <p:sp>
        <p:nvSpPr>
          <p:cNvPr id="10" name="Text 8"/>
          <p:cNvSpPr/>
          <p:nvPr/>
        </p:nvSpPr>
        <p:spPr>
          <a:xfrm>
            <a:off x="676656" y="1947672"/>
            <a:ext cx="7068312" cy="4215384"/>
          </a:xfrm>
          <a:prstGeom prst="rect">
            <a:avLst/>
          </a:prstGeom>
          <a:noFill/>
          <a:ln/>
        </p:spPr>
        <p:txBody>
          <a:bodyPr wrap="square" lIns="0" tIns="0" rIns="0" bIns="0" rtlCol="0" anchor="t">
            <a:normAutofit fontScale="62500" lnSpcReduction="20000"/>
          </a:bodyPr>
          <a:lstStyle/>
          <a:p>
            <a:pPr>
              <a:lnSpc>
                <a:spcPct val="108000"/>
              </a:lnSpc>
            </a:pPr>
            <a:endParaRPr lang="en-US" dirty="0">
              <a:solidFill>
                <a:schemeClr val="bg1"/>
              </a:solidFill>
            </a:endParaRPr>
          </a:p>
          <a:p>
            <a:pPr>
              <a:lnSpc>
                <a:spcPct val="108000"/>
              </a:lnSpc>
            </a:pPr>
            <a:r>
              <a:rPr lang="en-US" dirty="0">
                <a:solidFill>
                  <a:schemeClr val="bg1"/>
                </a:solidFill>
              </a:rPr>
              <a:t>import random</a:t>
            </a:r>
          </a:p>
          <a:p>
            <a:pPr>
              <a:lnSpc>
                <a:spcPct val="108000"/>
              </a:lnSpc>
            </a:pPr>
            <a:endParaRPr lang="en-US" dirty="0">
              <a:solidFill>
                <a:schemeClr val="bg1"/>
              </a:solidFill>
            </a:endParaRPr>
          </a:p>
          <a:p>
            <a:pPr>
              <a:lnSpc>
                <a:spcPct val="108000"/>
              </a:lnSpc>
            </a:pPr>
            <a:r>
              <a:rPr lang="en-US" dirty="0">
                <a:solidFill>
                  <a:schemeClr val="bg1"/>
                </a:solidFill>
              </a:rPr>
              <a:t>while True:</a:t>
            </a:r>
          </a:p>
          <a:p>
            <a:pPr>
              <a:lnSpc>
                <a:spcPct val="108000"/>
              </a:lnSpc>
            </a:pPr>
            <a:r>
              <a:rPr lang="en-US" dirty="0">
                <a:solidFill>
                  <a:schemeClr val="bg1"/>
                </a:solidFill>
              </a:rPr>
              <a:t>    secret = </a:t>
            </a:r>
            <a:r>
              <a:rPr lang="en-US" dirty="0" err="1">
                <a:solidFill>
                  <a:schemeClr val="bg1"/>
                </a:solidFill>
              </a:rPr>
              <a:t>random.randint</a:t>
            </a:r>
            <a:r>
              <a:rPr lang="en-US" dirty="0">
                <a:solidFill>
                  <a:schemeClr val="bg1"/>
                </a:solidFill>
              </a:rPr>
              <a:t>(1, 20)</a:t>
            </a:r>
          </a:p>
          <a:p>
            <a:pPr>
              <a:lnSpc>
                <a:spcPct val="108000"/>
              </a:lnSpc>
            </a:pPr>
            <a:r>
              <a:rPr lang="en-US" dirty="0">
                <a:solidFill>
                  <a:schemeClr val="bg1"/>
                </a:solidFill>
              </a:rPr>
              <a:t>    attempts = 0</a:t>
            </a:r>
          </a:p>
          <a:p>
            <a:pPr>
              <a:lnSpc>
                <a:spcPct val="108000"/>
              </a:lnSpc>
            </a:pPr>
            <a:endParaRPr lang="en-US" dirty="0">
              <a:solidFill>
                <a:schemeClr val="bg1"/>
              </a:solidFill>
            </a:endParaRPr>
          </a:p>
          <a:p>
            <a:pPr>
              <a:lnSpc>
                <a:spcPct val="108000"/>
              </a:lnSpc>
            </a:pPr>
            <a:r>
              <a:rPr lang="en-US" dirty="0">
                <a:solidFill>
                  <a:schemeClr val="bg1"/>
                </a:solidFill>
              </a:rPr>
              <a:t>    print("Guess a number from 1 to 20")</a:t>
            </a:r>
          </a:p>
          <a:p>
            <a:pPr>
              <a:lnSpc>
                <a:spcPct val="108000"/>
              </a:lnSpc>
            </a:pPr>
            <a:endParaRPr lang="en-US" dirty="0">
              <a:solidFill>
                <a:schemeClr val="bg1"/>
              </a:solidFill>
            </a:endParaRPr>
          </a:p>
          <a:p>
            <a:pPr>
              <a:lnSpc>
                <a:spcPct val="108000"/>
              </a:lnSpc>
            </a:pPr>
            <a:r>
              <a:rPr lang="en-US" dirty="0">
                <a:solidFill>
                  <a:schemeClr val="bg1"/>
                </a:solidFill>
              </a:rPr>
              <a:t>    while True:</a:t>
            </a:r>
          </a:p>
          <a:p>
            <a:pPr>
              <a:lnSpc>
                <a:spcPct val="108000"/>
              </a:lnSpc>
            </a:pPr>
            <a:r>
              <a:rPr lang="en-US" dirty="0">
                <a:solidFill>
                  <a:schemeClr val="bg1"/>
                </a:solidFill>
              </a:rPr>
              <a:t>        guess = </a:t>
            </a:r>
            <a:r>
              <a:rPr lang="en-US" dirty="0" err="1">
                <a:solidFill>
                  <a:schemeClr val="bg1"/>
                </a:solidFill>
              </a:rPr>
              <a:t>int</a:t>
            </a:r>
            <a:r>
              <a:rPr lang="en-US" dirty="0">
                <a:solidFill>
                  <a:schemeClr val="bg1"/>
                </a:solidFill>
              </a:rPr>
              <a:t>(input("Your guess: "))</a:t>
            </a:r>
          </a:p>
          <a:p>
            <a:pPr>
              <a:lnSpc>
                <a:spcPct val="108000"/>
              </a:lnSpc>
            </a:pPr>
            <a:r>
              <a:rPr lang="en-US" dirty="0">
                <a:solidFill>
                  <a:schemeClr val="bg1"/>
                </a:solidFill>
              </a:rPr>
              <a:t>        attempts += 1</a:t>
            </a:r>
          </a:p>
          <a:p>
            <a:pPr>
              <a:lnSpc>
                <a:spcPct val="108000"/>
              </a:lnSpc>
            </a:pPr>
            <a:endParaRPr lang="en-US" dirty="0">
              <a:solidFill>
                <a:schemeClr val="bg1"/>
              </a:solidFill>
            </a:endParaRPr>
          </a:p>
          <a:p>
            <a:pPr>
              <a:lnSpc>
                <a:spcPct val="108000"/>
              </a:lnSpc>
            </a:pPr>
            <a:r>
              <a:rPr lang="en-US" dirty="0">
                <a:solidFill>
                  <a:schemeClr val="bg1"/>
                </a:solidFill>
              </a:rPr>
              <a:t>        if guess == secret:</a:t>
            </a:r>
          </a:p>
          <a:p>
            <a:pPr>
              <a:lnSpc>
                <a:spcPct val="108000"/>
              </a:lnSpc>
            </a:pPr>
            <a:r>
              <a:rPr lang="en-US" dirty="0">
                <a:solidFill>
                  <a:schemeClr val="bg1"/>
                </a:solidFill>
              </a:rPr>
              <a:t>            print("Correct!")</a:t>
            </a:r>
          </a:p>
          <a:p>
            <a:pPr>
              <a:lnSpc>
                <a:spcPct val="108000"/>
              </a:lnSpc>
            </a:pPr>
            <a:r>
              <a:rPr lang="en-US" dirty="0">
                <a:solidFill>
                  <a:schemeClr val="bg1"/>
                </a:solidFill>
              </a:rPr>
              <a:t>            print("You guessed in", attempts, "attempts!")</a:t>
            </a:r>
          </a:p>
          <a:p>
            <a:pPr>
              <a:lnSpc>
                <a:spcPct val="108000"/>
              </a:lnSpc>
            </a:pPr>
            <a:r>
              <a:rPr lang="en-US" dirty="0">
                <a:solidFill>
                  <a:schemeClr val="bg1"/>
                </a:solidFill>
              </a:rPr>
              <a:t>            break</a:t>
            </a:r>
          </a:p>
          <a:p>
            <a:pPr>
              <a:lnSpc>
                <a:spcPct val="108000"/>
              </a:lnSpc>
            </a:pPr>
            <a:r>
              <a:rPr lang="en-US" dirty="0">
                <a:solidFill>
                  <a:schemeClr val="bg1"/>
                </a:solidFill>
              </a:rPr>
              <a:t>        </a:t>
            </a:r>
            <a:r>
              <a:rPr lang="en-US" dirty="0" err="1">
                <a:solidFill>
                  <a:schemeClr val="bg1"/>
                </a:solidFill>
              </a:rPr>
              <a:t>elif</a:t>
            </a:r>
            <a:r>
              <a:rPr lang="en-US" dirty="0">
                <a:solidFill>
                  <a:schemeClr val="bg1"/>
                </a:solidFill>
              </a:rPr>
              <a:t> guess &gt; secret:</a:t>
            </a:r>
          </a:p>
          <a:p>
            <a:pPr>
              <a:lnSpc>
                <a:spcPct val="108000"/>
              </a:lnSpc>
            </a:pPr>
            <a:r>
              <a:rPr lang="en-US" dirty="0">
                <a:solidFill>
                  <a:schemeClr val="bg1"/>
                </a:solidFill>
              </a:rPr>
              <a:t>            print("Too high")</a:t>
            </a:r>
          </a:p>
          <a:p>
            <a:pPr>
              <a:lnSpc>
                <a:spcPct val="108000"/>
              </a:lnSpc>
            </a:pPr>
            <a:r>
              <a:rPr lang="en-US" dirty="0">
                <a:solidFill>
                  <a:schemeClr val="bg1"/>
                </a:solidFill>
              </a:rPr>
              <a:t>        else:</a:t>
            </a:r>
          </a:p>
          <a:p>
            <a:pPr>
              <a:lnSpc>
                <a:spcPct val="108000"/>
              </a:lnSpc>
            </a:pPr>
            <a:r>
              <a:rPr lang="en-US" dirty="0">
                <a:solidFill>
                  <a:schemeClr val="bg1"/>
                </a:solidFill>
              </a:rPr>
              <a:t>            print("Too low")</a:t>
            </a:r>
          </a:p>
          <a:p>
            <a:pPr>
              <a:lnSpc>
                <a:spcPct val="108000"/>
              </a:lnSpc>
            </a:pPr>
            <a:endParaRPr lang="en-US" dirty="0">
              <a:solidFill>
                <a:schemeClr val="bg1"/>
              </a:solidFill>
            </a:endParaRPr>
          </a:p>
          <a:p>
            <a:pPr>
              <a:lnSpc>
                <a:spcPct val="108000"/>
              </a:lnSpc>
            </a:pPr>
            <a:r>
              <a:rPr lang="en-US" dirty="0">
                <a:solidFill>
                  <a:schemeClr val="bg1"/>
                </a:solidFill>
              </a:rPr>
              <a:t>    again = input("Do you want to play again? (yes/no): ")</a:t>
            </a:r>
          </a:p>
          <a:p>
            <a:pPr>
              <a:lnSpc>
                <a:spcPct val="108000"/>
              </a:lnSpc>
            </a:pPr>
            <a:endParaRPr lang="en-US" dirty="0">
              <a:solidFill>
                <a:schemeClr val="bg1"/>
              </a:solidFill>
            </a:endParaRPr>
          </a:p>
          <a:p>
            <a:pPr>
              <a:lnSpc>
                <a:spcPct val="108000"/>
              </a:lnSpc>
            </a:pPr>
            <a:r>
              <a:rPr lang="en-US" dirty="0">
                <a:solidFill>
                  <a:schemeClr val="bg1"/>
                </a:solidFill>
              </a:rPr>
              <a:t>    if </a:t>
            </a:r>
            <a:r>
              <a:rPr lang="en-US" dirty="0" err="1">
                <a:solidFill>
                  <a:schemeClr val="bg1"/>
                </a:solidFill>
              </a:rPr>
              <a:t>again.lower</a:t>
            </a:r>
            <a:r>
              <a:rPr lang="en-US" dirty="0">
                <a:solidFill>
                  <a:schemeClr val="bg1"/>
                </a:solidFill>
              </a:rPr>
              <a:t>() != "yes":</a:t>
            </a:r>
          </a:p>
          <a:p>
            <a:pPr>
              <a:lnSpc>
                <a:spcPct val="108000"/>
              </a:lnSpc>
            </a:pPr>
            <a:r>
              <a:rPr lang="en-US" dirty="0">
                <a:solidFill>
                  <a:schemeClr val="bg1"/>
                </a:solidFill>
              </a:rPr>
              <a:t>        print("Thanks for playing!")</a:t>
            </a:r>
          </a:p>
          <a:p>
            <a:pPr>
              <a:lnSpc>
                <a:spcPct val="108000"/>
              </a:lnSpc>
            </a:pPr>
            <a:r>
              <a:rPr lang="en-US" dirty="0">
                <a:solidFill>
                  <a:schemeClr val="bg1"/>
                </a:solidFill>
              </a:rPr>
              <a:t>        break</a:t>
            </a:r>
          </a:p>
          <a:p>
            <a:pPr marL="0" indent="0" algn="l">
              <a:lnSpc>
                <a:spcPct val="108000"/>
              </a:lnSpc>
              <a:buNone/>
            </a:pPr>
            <a:endParaRPr lang="en-US" sz="1800" dirty="0">
              <a:solidFill>
                <a:schemeClr val="bg1"/>
              </a:solidFill>
            </a:endParaRPr>
          </a:p>
        </p:txBody>
      </p:sp>
      <p:sp>
        <p:nvSpPr>
          <p:cNvPr id="11" name="Shape 9"/>
          <p:cNvSpPr/>
          <p:nvPr/>
        </p:nvSpPr>
        <p:spPr>
          <a:xfrm>
            <a:off x="8156448" y="1426464"/>
            <a:ext cx="3566160" cy="4809744"/>
          </a:xfrm>
          <a:prstGeom prst="roundRect">
            <a:avLst>
              <a:gd name="adj" fmla="val 4103"/>
            </a:avLst>
          </a:prstGeom>
          <a:solidFill>
            <a:srgbClr val="DDF7EE"/>
          </a:solidFill>
          <a:ln w="12700">
            <a:solidFill>
              <a:srgbClr val="DDF7EE">
                <a:alpha val="0"/>
              </a:srgbClr>
            </a:solidFill>
            <a:prstDash val="solid"/>
          </a:ln>
        </p:spPr>
      </p:sp>
      <p:sp>
        <p:nvSpPr>
          <p:cNvPr id="12" name="Text 10"/>
          <p:cNvSpPr/>
          <p:nvPr/>
        </p:nvSpPr>
        <p:spPr>
          <a:xfrm>
            <a:off x="8339328" y="1609344"/>
            <a:ext cx="3108960" cy="237744"/>
          </a:xfrm>
          <a:prstGeom prst="rect">
            <a:avLst/>
          </a:prstGeom>
          <a:noFill/>
          <a:ln/>
        </p:spPr>
        <p:txBody>
          <a:bodyPr wrap="square" lIns="0" tIns="0" rIns="0" bIns="0" rtlCol="0" anchor="ctr">
            <a:normAutofit/>
          </a:bodyPr>
          <a:lstStyle/>
          <a:p>
            <a:pPr marL="0" indent="0" algn="l">
              <a:buNone/>
            </a:pPr>
            <a:r>
              <a:rPr lang="en-US" sz="1400" b="1" dirty="0">
                <a:solidFill>
                  <a:srgbClr val="008C80"/>
                </a:solidFill>
                <a:latin typeface="Aptos" pitchFamily="34" charset="0"/>
                <a:ea typeface="Aptos" pitchFamily="34" charset="-122"/>
                <a:cs typeface="Aptos" pitchFamily="34" charset="-120"/>
              </a:rPr>
              <a:t>EXPLAIN</a:t>
            </a:r>
            <a:endParaRPr lang="en-US" sz="1400" dirty="0"/>
          </a:p>
        </p:txBody>
      </p:sp>
      <p:sp>
        <p:nvSpPr>
          <p:cNvPr id="13" name="Shape 11"/>
          <p:cNvSpPr/>
          <p:nvPr/>
        </p:nvSpPr>
        <p:spPr>
          <a:xfrm>
            <a:off x="8330184" y="2157984"/>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8531352" y="2039112"/>
            <a:ext cx="2935224" cy="786384"/>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Run this after the setup slide.</a:t>
            </a:r>
            <a:endParaRPr lang="en-US" sz="1750" dirty="0"/>
          </a:p>
        </p:txBody>
      </p:sp>
      <p:sp>
        <p:nvSpPr>
          <p:cNvPr id="15" name="Shape 13"/>
          <p:cNvSpPr/>
          <p:nvPr/>
        </p:nvSpPr>
        <p:spPr>
          <a:xfrm>
            <a:off x="8330184" y="3035808"/>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8531352" y="2916936"/>
            <a:ext cx="2935224" cy="868680"/>
          </a:xfrm>
          <a:prstGeom prst="rect">
            <a:avLst/>
          </a:prstGeom>
          <a:noFill/>
          <a:ln/>
        </p:spPr>
        <p:txBody>
          <a:bodyPr wrap="square" lIns="0" tIns="0" rIns="0" bIns="0" rtlCol="0" anchor="ctr">
            <a:normAutofit/>
          </a:bodyPr>
          <a:lstStyle/>
          <a:p>
            <a:pPr marL="0" indent="0" algn="l">
              <a:buNone/>
            </a:pPr>
            <a:r>
              <a:rPr lang="en-US" sz="1750" dirty="0">
                <a:solidFill>
                  <a:srgbClr val="253449"/>
                </a:solidFill>
                <a:latin typeface="Aptos" pitchFamily="34" charset="0"/>
                <a:ea typeface="Aptos" pitchFamily="34" charset="-122"/>
                <a:cs typeface="Aptos" pitchFamily="34" charset="-120"/>
              </a:rPr>
              <a:t>Shows a while loop, if/elif/else, and break.</a:t>
            </a:r>
            <a:endParaRPr lang="en-US" sz="1750" dirty="0"/>
          </a:p>
        </p:txBody>
      </p:sp>
    </p:spTree>
    <p:extLst>
      <p:ext uri="{BB962C8B-B14F-4D97-AF65-F5344CB8AC3E}">
        <p14:creationId xmlns:p14="http://schemas.microsoft.com/office/powerpoint/2010/main" val="13615933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4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smtClean="0">
                <a:solidFill>
                  <a:srgbClr val="14283E"/>
                </a:solidFill>
                <a:latin typeface="Aptos" pitchFamily="34" charset="0"/>
                <a:ea typeface="Aptos" pitchFamily="34" charset="-122"/>
                <a:cs typeface="Aptos" pitchFamily="34" charset="-120"/>
              </a:rPr>
              <a:t>SATURDAY </a:t>
            </a:r>
            <a:r>
              <a:rPr lang="en-US" sz="3100" b="1" dirty="0">
                <a:solidFill>
                  <a:srgbClr val="14283E"/>
                </a:solidFill>
                <a:latin typeface="Aptos" pitchFamily="34" charset="0"/>
                <a:ea typeface="Aptos" pitchFamily="34" charset="-122"/>
                <a:cs typeface="Aptos" pitchFamily="34" charset="-120"/>
              </a:rPr>
              <a:t>Recap — Core Skills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148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Today we learned how to write and understand small Python programs.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Display output, store variables, read user input, and convert data types.</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Work with text, operators, and if/elif/else decisions.</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384048"/>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Repeat tasks with for and while loops.</a:t>
            </a:r>
            <a:endParaRPr lang="en-US" sz="2250" dirty="0"/>
          </a:p>
        </p:txBody>
      </p:sp>
      <p:sp>
        <p:nvSpPr>
          <p:cNvPr id="17" name="Shape 15"/>
          <p:cNvSpPr/>
          <p:nvPr/>
        </p:nvSpPr>
        <p:spPr>
          <a:xfrm>
            <a:off x="713232" y="5367528"/>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248656"/>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Use collections and functions to organise code.</a:t>
            </a:r>
            <a:endParaRPr lang="en-US" sz="22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4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PYTHON BASICS</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Exit Ticket — Explain It in Your Own Words</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149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a:solidFill>
                  <a:srgbClr val="14283E"/>
                </a:solidFill>
                <a:latin typeface="Aptos" pitchFamily="34" charset="0"/>
                <a:ea typeface="Aptos" pitchFamily="34" charset="-122"/>
                <a:cs typeface="Aptos" pitchFamily="34" charset="-120"/>
              </a:rPr>
              <a:t>Before leaving, answer these questions: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Why does input() return text, and when should you use int()?</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What is the difference between a list and a tuple?</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When would you choose a while loop over a for loop?</a:t>
            </a:r>
            <a:endParaRPr lang="en-US" sz="2250" dirty="0"/>
          </a:p>
        </p:txBody>
      </p:sp>
      <p:sp>
        <p:nvSpPr>
          <p:cNvPr id="17" name="Shape 15"/>
          <p:cNvSpPr/>
          <p:nvPr/>
        </p:nvSpPr>
        <p:spPr>
          <a:xfrm>
            <a:off x="713232" y="5568696"/>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449824"/>
            <a:ext cx="10543032" cy="585216"/>
          </a:xfrm>
          <a:prstGeom prst="rect">
            <a:avLst/>
          </a:prstGeom>
          <a:noFill/>
          <a:ln/>
        </p:spPr>
        <p:txBody>
          <a:bodyPr wrap="square" lIns="0" tIns="0" rIns="0" bIns="0" rtlCol="0" anchor="ctr">
            <a:normAutofit/>
          </a:bodyPr>
          <a:lstStyle/>
          <a:p>
            <a:pPr marL="0" indent="0" algn="l">
              <a:buNone/>
            </a:pPr>
            <a:r>
              <a:rPr lang="en-US" sz="2250" dirty="0">
                <a:solidFill>
                  <a:srgbClr val="253449"/>
                </a:solidFill>
                <a:latin typeface="Aptos" pitchFamily="34" charset="0"/>
                <a:ea typeface="Aptos" pitchFamily="34" charset="-122"/>
                <a:cs typeface="Aptos" pitchFamily="34" charset="-120"/>
              </a:rPr>
              <a:t>What is the difference between print() and </a:t>
            </a:r>
            <a:r>
              <a:rPr lang="en-US" sz="2250" dirty="0" smtClean="0">
                <a:solidFill>
                  <a:srgbClr val="253449"/>
                </a:solidFill>
                <a:latin typeface="Aptos" pitchFamily="34" charset="0"/>
                <a:ea typeface="Aptos" pitchFamily="34" charset="-122"/>
                <a:cs typeface="Aptos" pitchFamily="34" charset="-120"/>
              </a:rPr>
              <a:t>return?</a:t>
            </a:r>
            <a:endParaRPr lang="en-US" sz="22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5156" cy="6858000"/>
          </a:xfrm>
          <a:prstGeom prst="rect">
            <a:avLst/>
          </a:prstGeom>
          <a:solidFill>
            <a:srgbClr val="008C80"/>
          </a:solidFill>
          <a:ln w="12700">
            <a:solidFill>
              <a:srgbClr val="008C80">
                <a:alpha val="0"/>
              </a:srgbClr>
            </a:solidFill>
            <a:prstDash val="solid"/>
          </a:ln>
        </p:spPr>
      </p:sp>
      <p:sp>
        <p:nvSpPr>
          <p:cNvPr id="3" name="Text 1"/>
          <p:cNvSpPr/>
          <p:nvPr/>
        </p:nvSpPr>
        <p:spPr>
          <a:xfrm>
            <a:off x="411480" y="210312"/>
            <a:ext cx="10789920" cy="265176"/>
          </a:xfrm>
          <a:prstGeom prst="rect">
            <a:avLst/>
          </a:prstGeom>
          <a:noFill/>
          <a:ln/>
        </p:spPr>
        <p:txBody>
          <a:bodyPr wrap="square" lIns="0" tIns="0" rIns="0" bIns="0" rtlCol="0" anchor="ctr">
            <a:normAutofit/>
          </a:bodyPr>
          <a:lstStyle/>
          <a:p>
            <a:pPr marL="0" indent="0" algn="l">
              <a:buNone/>
            </a:pPr>
            <a:r>
              <a:rPr lang="en-US" sz="1200" b="1" kern="0" spc="130" dirty="0" smtClean="0">
                <a:solidFill>
                  <a:srgbClr val="008C80"/>
                </a:solidFill>
                <a:latin typeface="Aptos" pitchFamily="34" charset="0"/>
                <a:ea typeface="Aptos" pitchFamily="34" charset="-122"/>
                <a:cs typeface="Aptos" pitchFamily="34" charset="-120"/>
              </a:rPr>
              <a:t>SATURDAY </a:t>
            </a:r>
            <a:r>
              <a:rPr lang="en-US" sz="1200" b="1" kern="0" spc="130" dirty="0">
                <a:solidFill>
                  <a:srgbClr val="008C80"/>
                </a:solidFill>
                <a:latin typeface="Aptos" pitchFamily="34" charset="0"/>
                <a:ea typeface="Aptos" pitchFamily="34" charset="-122"/>
                <a:cs typeface="Aptos" pitchFamily="34" charset="-120"/>
              </a:rPr>
              <a:t>SUMMARY</a:t>
            </a:r>
            <a:endParaRPr lang="en-US" sz="1200" dirty="0"/>
          </a:p>
        </p:txBody>
      </p:sp>
      <p:sp>
        <p:nvSpPr>
          <p:cNvPr id="4" name="Text 2"/>
          <p:cNvSpPr/>
          <p:nvPr/>
        </p:nvSpPr>
        <p:spPr>
          <a:xfrm>
            <a:off x="411480" y="603504"/>
            <a:ext cx="11365992" cy="484632"/>
          </a:xfrm>
          <a:prstGeom prst="rect">
            <a:avLst/>
          </a:prstGeom>
          <a:noFill/>
          <a:ln/>
        </p:spPr>
        <p:txBody>
          <a:bodyPr wrap="square" lIns="0" tIns="0" rIns="0" bIns="0" rtlCol="0" anchor="ctr">
            <a:normAutofit/>
          </a:bodyPr>
          <a:lstStyle/>
          <a:p>
            <a:pPr marL="0" indent="0" algn="l">
              <a:buNone/>
            </a:pPr>
            <a:r>
              <a:rPr lang="en-US" sz="3100" b="1" dirty="0">
                <a:solidFill>
                  <a:srgbClr val="14283E"/>
                </a:solidFill>
                <a:latin typeface="Aptos" pitchFamily="34" charset="0"/>
                <a:ea typeface="Aptos" pitchFamily="34" charset="-122"/>
                <a:cs typeface="Aptos" pitchFamily="34" charset="-120"/>
              </a:rPr>
              <a:t>Source Materials &amp; Learning Approach</a:t>
            </a:r>
            <a:endParaRPr lang="en-US" sz="3100" dirty="0"/>
          </a:p>
        </p:txBody>
      </p:sp>
      <p:sp>
        <p:nvSpPr>
          <p:cNvPr id="5" name="Shape 3"/>
          <p:cNvSpPr/>
          <p:nvPr/>
        </p:nvSpPr>
        <p:spPr>
          <a:xfrm>
            <a:off x="411480" y="1207008"/>
            <a:ext cx="11375136" cy="27432"/>
          </a:xfrm>
          <a:prstGeom prst="rect">
            <a:avLst/>
          </a:prstGeom>
          <a:solidFill>
            <a:srgbClr val="D9E5EC"/>
          </a:solidFill>
          <a:ln w="12700">
            <a:solidFill>
              <a:srgbClr val="D9E5EC">
                <a:alpha val="0"/>
              </a:srgbClr>
            </a:solidFill>
            <a:prstDash val="solid"/>
          </a:ln>
        </p:spPr>
      </p:sp>
      <p:sp>
        <p:nvSpPr>
          <p:cNvPr id="6" name="Text 4"/>
          <p:cNvSpPr/>
          <p:nvPr/>
        </p:nvSpPr>
        <p:spPr>
          <a:xfrm>
            <a:off x="411480" y="6528816"/>
            <a:ext cx="9418320" cy="173736"/>
          </a:xfrm>
          <a:prstGeom prst="rect">
            <a:avLst/>
          </a:prstGeom>
          <a:noFill/>
          <a:ln/>
        </p:spPr>
        <p:txBody>
          <a:bodyPr wrap="square" lIns="0" tIns="0" rIns="0" bIns="0" rtlCol="0" anchor="ctr">
            <a:normAutofit/>
          </a:bodyPr>
          <a:lstStyle/>
          <a:p>
            <a:pPr marL="0" indent="0" algn="l">
              <a:buNone/>
            </a:pPr>
            <a:r>
              <a:rPr lang="en-US" sz="1000" dirty="0" smtClean="0">
                <a:solidFill>
                  <a:srgbClr val="597083"/>
                </a:solidFill>
                <a:latin typeface="Aptos" pitchFamily="34" charset="0"/>
                <a:ea typeface="Aptos" pitchFamily="34" charset="-122"/>
                <a:cs typeface="Aptos" pitchFamily="34" charset="-120"/>
              </a:rPr>
              <a:t>SATURDAY  </a:t>
            </a:r>
            <a:r>
              <a:rPr lang="en-US" sz="1000" dirty="0">
                <a:solidFill>
                  <a:srgbClr val="597083"/>
                </a:solidFill>
                <a:latin typeface="Aptos" pitchFamily="34" charset="0"/>
                <a:ea typeface="Aptos" pitchFamily="34" charset="-122"/>
                <a:cs typeface="Aptos" pitchFamily="34" charset="-120"/>
              </a:rPr>
              <a:t>•  CONCEPT → CODE → PRACTICE</a:t>
            </a:r>
            <a:endParaRPr lang="en-US" sz="1000" dirty="0"/>
          </a:p>
        </p:txBody>
      </p:sp>
      <p:sp>
        <p:nvSpPr>
          <p:cNvPr id="7" name="Text 5"/>
          <p:cNvSpPr/>
          <p:nvPr/>
        </p:nvSpPr>
        <p:spPr>
          <a:xfrm>
            <a:off x="10753344" y="6510528"/>
            <a:ext cx="914400" cy="182880"/>
          </a:xfrm>
          <a:prstGeom prst="rect">
            <a:avLst/>
          </a:prstGeom>
          <a:noFill/>
          <a:ln/>
        </p:spPr>
        <p:txBody>
          <a:bodyPr wrap="square" lIns="0" tIns="0" rIns="0" bIns="0" rtlCol="0" anchor="ctr">
            <a:normAutofit/>
          </a:bodyPr>
          <a:lstStyle/>
          <a:p>
            <a:pPr marL="0" indent="0" algn="r">
              <a:buNone/>
            </a:pPr>
            <a:r>
              <a:rPr lang="en-US" sz="1000" dirty="0">
                <a:solidFill>
                  <a:srgbClr val="597083"/>
                </a:solidFill>
                <a:latin typeface="Aptos" pitchFamily="34" charset="0"/>
                <a:ea typeface="Aptos" pitchFamily="34" charset="-122"/>
                <a:cs typeface="Aptos" pitchFamily="34" charset="-120"/>
              </a:rPr>
              <a:t>150  /  151</a:t>
            </a:r>
            <a:endParaRPr lang="en-US" sz="1000" dirty="0"/>
          </a:p>
        </p:txBody>
      </p:sp>
      <p:sp>
        <p:nvSpPr>
          <p:cNvPr id="8" name="Shape 6"/>
          <p:cNvSpPr/>
          <p:nvPr/>
        </p:nvSpPr>
        <p:spPr>
          <a:xfrm>
            <a:off x="438912" y="1453896"/>
            <a:ext cx="11301984" cy="1481328"/>
          </a:xfrm>
          <a:prstGeom prst="roundRect">
            <a:avLst>
              <a:gd name="adj" fmla="val 9877"/>
            </a:avLst>
          </a:prstGeom>
          <a:solidFill>
            <a:srgbClr val="DDF7EE"/>
          </a:solidFill>
          <a:ln w="12700">
            <a:solidFill>
              <a:srgbClr val="DDF7EE">
                <a:alpha val="0"/>
              </a:srgbClr>
            </a:solidFill>
            <a:prstDash val="solid"/>
          </a:ln>
        </p:spPr>
      </p:sp>
      <p:sp>
        <p:nvSpPr>
          <p:cNvPr id="9" name="Text 7"/>
          <p:cNvSpPr/>
          <p:nvPr/>
        </p:nvSpPr>
        <p:spPr>
          <a:xfrm>
            <a:off x="713232" y="1627632"/>
            <a:ext cx="4389120" cy="228600"/>
          </a:xfrm>
          <a:prstGeom prst="rect">
            <a:avLst/>
          </a:prstGeom>
          <a:noFill/>
          <a:ln/>
        </p:spPr>
        <p:txBody>
          <a:bodyPr wrap="square" lIns="0" tIns="0" rIns="0" bIns="0" rtlCol="0" anchor="ctr">
            <a:normAutofit/>
          </a:bodyPr>
          <a:lstStyle/>
          <a:p>
            <a:pPr marL="0" indent="0" algn="l">
              <a:buNone/>
            </a:pPr>
            <a:r>
              <a:rPr lang="en-US" sz="1300" b="1" kern="0" spc="120" dirty="0">
                <a:solidFill>
                  <a:srgbClr val="008C80"/>
                </a:solidFill>
                <a:latin typeface="Aptos" pitchFamily="34" charset="0"/>
                <a:ea typeface="Aptos" pitchFamily="34" charset="-122"/>
                <a:cs typeface="Aptos" pitchFamily="34" charset="-120"/>
              </a:rPr>
              <a:t>DEFINITION / BIG IDEA</a:t>
            </a:r>
            <a:endParaRPr lang="en-US" sz="1300" dirty="0"/>
          </a:p>
        </p:txBody>
      </p:sp>
      <p:sp>
        <p:nvSpPr>
          <p:cNvPr id="10" name="Text 8"/>
          <p:cNvSpPr/>
          <p:nvPr/>
        </p:nvSpPr>
        <p:spPr>
          <a:xfrm>
            <a:off x="704088" y="1929384"/>
            <a:ext cx="10735056" cy="795528"/>
          </a:xfrm>
          <a:prstGeom prst="rect">
            <a:avLst/>
          </a:prstGeom>
          <a:noFill/>
          <a:ln/>
        </p:spPr>
        <p:txBody>
          <a:bodyPr wrap="square" lIns="0" tIns="0" rIns="0" bIns="0" rtlCol="0" anchor="ctr">
            <a:normAutofit/>
          </a:bodyPr>
          <a:lstStyle/>
          <a:p>
            <a:pPr marL="0" indent="0" algn="l">
              <a:buNone/>
            </a:pPr>
            <a:r>
              <a:rPr lang="en-US" sz="2300" b="1" dirty="0" smtClean="0">
                <a:solidFill>
                  <a:srgbClr val="14283E"/>
                </a:solidFill>
                <a:latin typeface="Aptos" pitchFamily="34" charset="0"/>
                <a:ea typeface="Aptos" pitchFamily="34" charset="-122"/>
              </a:rPr>
              <a:t>REFERENCES</a:t>
            </a:r>
            <a:endParaRPr lang="en-US" sz="2300" dirty="0"/>
          </a:p>
        </p:txBody>
      </p:sp>
      <p:sp>
        <p:nvSpPr>
          <p:cNvPr id="11" name="Shape 9"/>
          <p:cNvSpPr/>
          <p:nvPr/>
        </p:nvSpPr>
        <p:spPr>
          <a:xfrm>
            <a:off x="713232" y="3291840"/>
            <a:ext cx="77724" cy="77724"/>
          </a:xfrm>
          <a:prstGeom prst="roundRect">
            <a:avLst>
              <a:gd name="adj" fmla="val 47059"/>
            </a:avLst>
          </a:prstGeom>
          <a:solidFill>
            <a:srgbClr val="008C80"/>
          </a:solidFill>
          <a:ln w="12700">
            <a:solidFill>
              <a:srgbClr val="008C80">
                <a:alpha val="0"/>
              </a:srgbClr>
            </a:solidFill>
            <a:prstDash val="solid"/>
          </a:ln>
        </p:spPr>
      </p:sp>
      <p:sp>
        <p:nvSpPr>
          <p:cNvPr id="12" name="Text 10"/>
          <p:cNvSpPr/>
          <p:nvPr/>
        </p:nvSpPr>
        <p:spPr>
          <a:xfrm>
            <a:off x="914400" y="3172968"/>
            <a:ext cx="10543032" cy="585216"/>
          </a:xfrm>
          <a:prstGeom prst="rect">
            <a:avLst/>
          </a:prstGeom>
          <a:noFill/>
          <a:ln/>
        </p:spPr>
        <p:txBody>
          <a:bodyPr wrap="square" lIns="0" tIns="0" rIns="0" bIns="0" rtlCol="0" anchor="ctr">
            <a:normAutofit/>
          </a:bodyPr>
          <a:lstStyle/>
          <a:p>
            <a:r>
              <a:rPr lang="en-US" sz="2250" dirty="0">
                <a:solidFill>
                  <a:srgbClr val="253449"/>
                </a:solidFill>
                <a:latin typeface="Aptos" pitchFamily="34" charset="0"/>
                <a:ea typeface="Aptos" pitchFamily="34" charset="-122"/>
                <a:cs typeface="Aptos" pitchFamily="34" charset="-120"/>
              </a:rPr>
              <a:t>https://www.slideshare.net/slideshow/python-programmong-ppt/237987115.</a:t>
            </a:r>
            <a:endParaRPr lang="en-US" sz="2250" dirty="0"/>
          </a:p>
        </p:txBody>
      </p:sp>
      <p:sp>
        <p:nvSpPr>
          <p:cNvPr id="13" name="Shape 11"/>
          <p:cNvSpPr/>
          <p:nvPr/>
        </p:nvSpPr>
        <p:spPr>
          <a:xfrm>
            <a:off x="713232" y="4050792"/>
            <a:ext cx="77724" cy="77724"/>
          </a:xfrm>
          <a:prstGeom prst="roundRect">
            <a:avLst>
              <a:gd name="adj" fmla="val 47059"/>
            </a:avLst>
          </a:prstGeom>
          <a:solidFill>
            <a:srgbClr val="008C80"/>
          </a:solidFill>
          <a:ln w="12700">
            <a:solidFill>
              <a:srgbClr val="008C80">
                <a:alpha val="0"/>
              </a:srgbClr>
            </a:solidFill>
            <a:prstDash val="solid"/>
          </a:ln>
        </p:spPr>
      </p:sp>
      <p:sp>
        <p:nvSpPr>
          <p:cNvPr id="14" name="Text 12"/>
          <p:cNvSpPr/>
          <p:nvPr/>
        </p:nvSpPr>
        <p:spPr>
          <a:xfrm>
            <a:off x="914400" y="3931920"/>
            <a:ext cx="10543032" cy="585216"/>
          </a:xfrm>
          <a:prstGeom prst="rect">
            <a:avLst/>
          </a:prstGeom>
          <a:noFill/>
          <a:ln/>
        </p:spPr>
        <p:txBody>
          <a:bodyPr wrap="square" lIns="0" tIns="0" rIns="0" bIns="0" rtlCol="0" anchor="ctr">
            <a:normAutofit/>
          </a:bodyPr>
          <a:lstStyle/>
          <a:p>
            <a:r>
              <a:rPr lang="en-US" sz="2250" dirty="0">
                <a:solidFill>
                  <a:srgbClr val="253449"/>
                </a:solidFill>
                <a:latin typeface="Aptos" pitchFamily="34" charset="0"/>
                <a:ea typeface="Aptos" pitchFamily="34" charset="-122"/>
                <a:cs typeface="Aptos" pitchFamily="34" charset="-120"/>
              </a:rPr>
              <a:t>https://github.com/jyheo/python-lecture</a:t>
            </a:r>
            <a:endParaRPr lang="en-US" sz="2250" dirty="0"/>
          </a:p>
        </p:txBody>
      </p:sp>
      <p:sp>
        <p:nvSpPr>
          <p:cNvPr id="15" name="Shape 13"/>
          <p:cNvSpPr/>
          <p:nvPr/>
        </p:nvSpPr>
        <p:spPr>
          <a:xfrm>
            <a:off x="713232" y="4809744"/>
            <a:ext cx="77724" cy="77724"/>
          </a:xfrm>
          <a:prstGeom prst="roundRect">
            <a:avLst>
              <a:gd name="adj" fmla="val 47059"/>
            </a:avLst>
          </a:prstGeom>
          <a:solidFill>
            <a:srgbClr val="008C80"/>
          </a:solidFill>
          <a:ln w="12700">
            <a:solidFill>
              <a:srgbClr val="008C80">
                <a:alpha val="0"/>
              </a:srgbClr>
            </a:solidFill>
            <a:prstDash val="solid"/>
          </a:ln>
        </p:spPr>
      </p:sp>
      <p:sp>
        <p:nvSpPr>
          <p:cNvPr id="16" name="Text 14"/>
          <p:cNvSpPr/>
          <p:nvPr/>
        </p:nvSpPr>
        <p:spPr>
          <a:xfrm>
            <a:off x="914400" y="4690872"/>
            <a:ext cx="10543032" cy="585216"/>
          </a:xfrm>
          <a:prstGeom prst="rect">
            <a:avLst/>
          </a:prstGeom>
          <a:noFill/>
          <a:ln/>
        </p:spPr>
        <p:txBody>
          <a:bodyPr wrap="square" lIns="0" tIns="0" rIns="0" bIns="0" rtlCol="0" anchor="ctr">
            <a:normAutofit/>
          </a:bodyPr>
          <a:lstStyle/>
          <a:p>
            <a:r>
              <a:rPr lang="en-US" sz="2250" dirty="0">
                <a:solidFill>
                  <a:srgbClr val="253449"/>
                </a:solidFill>
                <a:latin typeface="Aptos" pitchFamily="34" charset="0"/>
                <a:ea typeface="Aptos" pitchFamily="34" charset="-122"/>
                <a:cs typeface="Aptos" pitchFamily="34" charset="-120"/>
              </a:rPr>
              <a:t>https://f1000research.com/slides/12-574</a:t>
            </a:r>
            <a:endParaRPr lang="en-US" sz="2250" dirty="0"/>
          </a:p>
        </p:txBody>
      </p:sp>
      <p:sp>
        <p:nvSpPr>
          <p:cNvPr id="17" name="Shape 15"/>
          <p:cNvSpPr/>
          <p:nvPr/>
        </p:nvSpPr>
        <p:spPr>
          <a:xfrm>
            <a:off x="713232" y="5568696"/>
            <a:ext cx="77724" cy="77724"/>
          </a:xfrm>
          <a:prstGeom prst="roundRect">
            <a:avLst>
              <a:gd name="adj" fmla="val 47059"/>
            </a:avLst>
          </a:prstGeom>
          <a:solidFill>
            <a:srgbClr val="008C80"/>
          </a:solidFill>
          <a:ln w="12700">
            <a:solidFill>
              <a:srgbClr val="008C80">
                <a:alpha val="0"/>
              </a:srgbClr>
            </a:solidFill>
            <a:prstDash val="solid"/>
          </a:ln>
        </p:spPr>
      </p:sp>
      <p:sp>
        <p:nvSpPr>
          <p:cNvPr id="18" name="Text 16"/>
          <p:cNvSpPr/>
          <p:nvPr/>
        </p:nvSpPr>
        <p:spPr>
          <a:xfrm>
            <a:off x="914400" y="5449824"/>
            <a:ext cx="10543032" cy="786384"/>
          </a:xfrm>
          <a:prstGeom prst="rect">
            <a:avLst/>
          </a:prstGeom>
          <a:noFill/>
          <a:ln/>
        </p:spPr>
        <p:txBody>
          <a:bodyPr wrap="square" lIns="0" tIns="0" rIns="0" bIns="0" rtlCol="0" anchor="ctr">
            <a:normAutofit/>
          </a:bodyPr>
          <a:lstStyle/>
          <a:p>
            <a:pPr marL="0" indent="0" algn="l">
              <a:buNone/>
            </a:pPr>
            <a:r>
              <a:rPr lang="en-US" sz="2250" dirty="0" smtClean="0">
                <a:solidFill>
                  <a:srgbClr val="253449"/>
                </a:solidFill>
                <a:latin typeface="Aptos" pitchFamily="34" charset="0"/>
                <a:ea typeface="Aptos" pitchFamily="34" charset="-122"/>
              </a:rPr>
              <a:t>Honorable </a:t>
            </a:r>
            <a:r>
              <a:rPr lang="en-US" sz="2250" dirty="0" smtClean="0">
                <a:solidFill>
                  <a:srgbClr val="253449"/>
                </a:solidFill>
                <a:latin typeface="Aptos" pitchFamily="34" charset="0"/>
                <a:ea typeface="Aptos" pitchFamily="34" charset="-122"/>
              </a:rPr>
              <a:t>mentions: </a:t>
            </a:r>
            <a:r>
              <a:rPr lang="en-US" sz="2250" dirty="0" err="1" smtClean="0">
                <a:solidFill>
                  <a:srgbClr val="253449"/>
                </a:solidFill>
                <a:latin typeface="Aptos" pitchFamily="34" charset="0"/>
                <a:ea typeface="Aptos" pitchFamily="34" charset="-122"/>
              </a:rPr>
              <a:t>ChatGPT</a:t>
            </a:r>
            <a:r>
              <a:rPr lang="en-US" sz="2250" dirty="0" smtClean="0">
                <a:solidFill>
                  <a:srgbClr val="253449"/>
                </a:solidFill>
                <a:latin typeface="Aptos" pitchFamily="34" charset="0"/>
                <a:ea typeface="Aptos" pitchFamily="34" charset="-122"/>
              </a:rPr>
              <a:t> ,</a:t>
            </a:r>
            <a:r>
              <a:rPr lang="en-US" sz="2250" dirty="0" err="1" smtClean="0">
                <a:solidFill>
                  <a:srgbClr val="253449"/>
                </a:solidFill>
                <a:latin typeface="Aptos" pitchFamily="34" charset="0"/>
                <a:ea typeface="Aptos" pitchFamily="34" charset="-122"/>
              </a:rPr>
              <a:t>Cluade</a:t>
            </a:r>
            <a:r>
              <a:rPr lang="en-US" sz="2250" dirty="0" smtClean="0">
                <a:solidFill>
                  <a:srgbClr val="253449"/>
                </a:solidFill>
                <a:latin typeface="Aptos" pitchFamily="34" charset="0"/>
                <a:ea typeface="Aptos" pitchFamily="34" charset="-122"/>
              </a:rPr>
              <a:t> ,Gemini</a:t>
            </a:r>
            <a:endParaRPr lang="en-US" sz="22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1">
    <p:bg>
      <p:bgPr>
        <a:solidFill>
          <a:srgbClr val="0B1E30"/>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B5F1D6"/>
          </a:solidFill>
          <a:ln w="12700">
            <a:solidFill>
              <a:srgbClr val="B5F1D6">
                <a:alpha val="0"/>
              </a:srgbClr>
            </a:solidFill>
            <a:prstDash val="solid"/>
          </a:ln>
        </p:spPr>
      </p:sp>
      <p:sp>
        <p:nvSpPr>
          <p:cNvPr id="3" name="Text 1"/>
          <p:cNvSpPr/>
          <p:nvPr/>
        </p:nvSpPr>
        <p:spPr>
          <a:xfrm>
            <a:off x="941832" y="1947672"/>
            <a:ext cx="10332720" cy="1152144"/>
          </a:xfrm>
          <a:prstGeom prst="rect">
            <a:avLst/>
          </a:prstGeom>
          <a:noFill/>
          <a:ln/>
        </p:spPr>
        <p:txBody>
          <a:bodyPr wrap="square" lIns="0" tIns="0" rIns="0" bIns="0" rtlCol="0" anchor="ctr">
            <a:normAutofit/>
          </a:bodyPr>
          <a:lstStyle/>
          <a:p>
            <a:pPr marL="0" indent="0" algn="l">
              <a:buNone/>
            </a:pPr>
            <a:r>
              <a:rPr lang="en-US" sz="5200" b="1" dirty="0">
                <a:solidFill>
                  <a:srgbClr val="FFFFFF"/>
                </a:solidFill>
                <a:latin typeface="Aptos" pitchFamily="34" charset="0"/>
                <a:ea typeface="Aptos" pitchFamily="34" charset="-122"/>
                <a:cs typeface="Aptos" pitchFamily="34" charset="-120"/>
              </a:rPr>
              <a:t>YOU CAN NOW WRITE PYTHON!</a:t>
            </a:r>
            <a:endParaRPr lang="en-US" sz="5200" dirty="0"/>
          </a:p>
        </p:txBody>
      </p:sp>
      <p:sp>
        <p:nvSpPr>
          <p:cNvPr id="4" name="Text 2"/>
          <p:cNvSpPr/>
          <p:nvPr/>
        </p:nvSpPr>
        <p:spPr>
          <a:xfrm>
            <a:off x="978408" y="3547872"/>
            <a:ext cx="9784080" cy="822960"/>
          </a:xfrm>
          <a:prstGeom prst="rect">
            <a:avLst/>
          </a:prstGeom>
          <a:noFill/>
          <a:ln/>
        </p:spPr>
        <p:txBody>
          <a:bodyPr wrap="square" lIns="0" tIns="0" rIns="0" bIns="0" rtlCol="0" anchor="ctr">
            <a:normAutofit/>
          </a:bodyPr>
          <a:lstStyle/>
          <a:p>
            <a:pPr marL="0" indent="0" algn="l">
              <a:buNone/>
            </a:pPr>
            <a:r>
              <a:rPr lang="en-US" sz="2500" dirty="0">
                <a:solidFill>
                  <a:srgbClr val="C9E5E0"/>
                </a:solidFill>
                <a:latin typeface="Aptos" pitchFamily="34" charset="0"/>
                <a:ea typeface="Aptos" pitchFamily="34" charset="-122"/>
                <a:cs typeface="Aptos" pitchFamily="34" charset="-120"/>
              </a:rPr>
              <a:t>Next step: practise these fundamentals before OOP and software engineering.</a:t>
            </a:r>
            <a:endParaRPr lang="en-US" sz="2500" dirty="0"/>
          </a:p>
        </p:txBody>
      </p:sp>
      <p:sp>
        <p:nvSpPr>
          <p:cNvPr id="5" name="Text 3"/>
          <p:cNvSpPr/>
          <p:nvPr/>
        </p:nvSpPr>
        <p:spPr>
          <a:xfrm>
            <a:off x="950976" y="6053328"/>
            <a:ext cx="8229600" cy="219456"/>
          </a:xfrm>
          <a:prstGeom prst="rect">
            <a:avLst/>
          </a:prstGeom>
          <a:noFill/>
          <a:ln/>
        </p:spPr>
        <p:txBody>
          <a:bodyPr wrap="square" lIns="0" tIns="0" rIns="0" bIns="0" rtlCol="0" anchor="ctr">
            <a:normAutofit/>
          </a:bodyPr>
          <a:lstStyle/>
          <a:p>
            <a:pPr marL="0" indent="0" algn="l">
              <a:buNone/>
            </a:pPr>
            <a:r>
              <a:rPr lang="en-US" sz="1300" dirty="0" smtClean="0">
                <a:solidFill>
                  <a:srgbClr val="9AB9BF"/>
                </a:solidFill>
                <a:latin typeface="Aptos" pitchFamily="34" charset="0"/>
                <a:ea typeface="Aptos" pitchFamily="34" charset="-122"/>
                <a:cs typeface="Aptos" pitchFamily="34" charset="-120"/>
              </a:rPr>
              <a:t>SATURDAY </a:t>
            </a:r>
            <a:r>
              <a:rPr lang="en-US" sz="1300" dirty="0">
                <a:solidFill>
                  <a:srgbClr val="9AB9BF"/>
                </a:solidFill>
                <a:latin typeface="Aptos" pitchFamily="34" charset="0"/>
                <a:ea typeface="Aptos" pitchFamily="34" charset="-122"/>
                <a:cs typeface="Aptos" pitchFamily="34" charset="-120"/>
              </a:rPr>
              <a:t>· PYTHON FUNDAMENTALS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810</TotalTime>
  <Words>13765</Words>
  <Application>Microsoft Office PowerPoint</Application>
  <PresentationFormat>Widescreen</PresentationFormat>
  <Paragraphs>2259</Paragraphs>
  <Slides>154</Slides>
  <Notes>152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154</vt:i4>
      </vt:variant>
    </vt:vector>
  </HeadingPairs>
  <TitlesOfParts>
    <vt:vector size="162" baseType="lpstr">
      <vt:lpstr>Aptos</vt:lpstr>
      <vt:lpstr>Arial</vt:lpstr>
      <vt:lpstr>Arial Unicode MS</vt:lpstr>
      <vt:lpstr>Calibri</vt:lpstr>
      <vt:lpstr>Consolas</vt:lpstr>
      <vt:lpstr>Inter</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Engineering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Friday Python Crash Course | AI Engineering Foundation</dc:title>
  <dc:subject>Friday: Python Crash Course based on supplied PDF and YouTube chapter sequence</dc:subject>
  <dc:creator>AI Engineering Course Team</dc:creator>
  <cp:lastModifiedBy>au84b</cp:lastModifiedBy>
  <cp:revision>34</cp:revision>
  <dcterms:created xsi:type="dcterms:W3CDTF">2026-10-22T14:14:00Z</dcterms:created>
  <dcterms:modified xsi:type="dcterms:W3CDTF">2026-10-24T12:03:25Z</dcterms:modified>
</cp:coreProperties>
</file>